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9" r:id="rId5"/>
    <p:sldId id="317" r:id="rId60"/>
    <p:sldId id="261" r:id="rId7"/>
    <p:sldId id="300" r:id="rId43"/>
    <p:sldId id="301" r:id="rId44"/>
    <p:sldId id="302" r:id="rId45"/>
    <p:sldId id="323" r:id="rId66"/>
    <p:sldId id="328" r:id="rId71"/>
    <p:sldId id="260" r:id="rId6"/>
    <p:sldId id="283" r:id="rId34"/>
    <p:sldId id="325" r:id="rId68"/>
    <p:sldId id="326" r:id="rId69"/>
    <p:sldId id="336" r:id="rId79"/>
    <p:sldId id="337" r:id="rId80"/>
    <p:sldId id="338" r:id="rId81"/>
    <p:sldId id="340" r:id="rId83"/>
    <p:sldId id="324" r:id="rId67"/>
    <p:sldId id="329" r:id="rId72"/>
    <p:sldId id="339" r:id="rId82"/>
    <p:sldId id="332" r:id="rId75"/>
    <p:sldId id="333" r:id="rId76"/>
    <p:sldId id="334" r:id="rId77"/>
    <p:sldId id="335" r:id="rId78"/>
    <p:sldId id="330" r:id="rId73"/>
    <p:sldId id="331" r:id="rId74"/>
    <p:sldId id="321" r:id="rId64"/>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5" r:id="rId58"/>
    <p:sldId id="327" r:id="rId70"/>
    <p:sldId id="291" r:id="rId35"/>
    <p:sldId id="293" r:id="rId30"/>
    <p:sldId id="308" r:id="rId51"/>
    <p:sldId id="307" r:id="rId50"/>
    <p:sldId id="309" r:id="rId52"/>
    <p:sldId id="310" r:id="rId53"/>
    <p:sldId id="311" r:id="rId54"/>
    <p:sldId id="312" r:id="rId55"/>
    <p:sldId id="313" r:id="rId56"/>
    <p:sldId id="314" r:id="rId57"/>
    <p:sldId id="263" r:id="rId9"/>
    <p:sldId id="294" r:id="rId28"/>
    <p:sldId id="292" r:id="rId32"/>
    <p:sldId id="275" r:id="rId26"/>
    <p:sldId id="276" r:id="rId27"/>
    <p:sldId id="264" r:id="rId10"/>
    <p:sldId id="273" r:id="rId24"/>
    <p:sldId id="285" r:id="rId36"/>
    <p:sldId id="319" r:id="rId62"/>
    <p:sldId id="320" r:id="rId63"/>
    <p:sldId id="322" r:id="rId65"/>
    <p:sldId id="318" r:id="rId61"/>
    <p:sldId id="262" r:id="rId8"/>
    <p:sldId id="272" r:id="rId23"/>
    <p:sldId id="344" r:id="rId87"/>
    <p:sldId id="271" r:id="rId22"/>
    <p:sldId id="265" r:id="rId11"/>
    <p:sldId id="290" r:id="rId41"/>
    <p:sldId id="316" r:id="rId5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3.5 %, on 36 corners.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4.7 % of the gain over a fixed word and ONE comparator.' Build it in three steps. (1) Choosing the fixed word well is worth 26.5 %. (2) Adapting per corner adds only 2.6 % — a eleventh of the total. (3) And 47 % of even THAT is capturable with a single comparator on bus voltage, not a lookup table; two comparators reach 61 %, which is the 3.4 %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and no silicon has been measured. Do NOT concede the single device model any more either - 24 devices were sampled with Vth, gm, Cgs and Cgd varied jointly, the shipped word stays safe on every one, and the ordering survives on every one.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0.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3.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3.mp4"/><Relationship Id="rId5" Type="http://schemas.openxmlformats.org/officeDocument/2006/relationships/video" Target="../media/media3.mp4"/><Relationship Id="rId6" Type="http://schemas.openxmlformats.org/officeDocument/2006/relationships/image" Target="../media/image44.png"/><Relationship Id="rId7" Type="http://schemas.openxmlformats.org/officeDocument/2006/relationships/image" Target="../media/image4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7.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4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4.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56.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Review-II  ·  30.09.2026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Review-II — 30.09.2026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32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48.50 V DC out at 4.869 A, 97.49 %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 (That 1.65 V is our device model’s; how much the result depends on the model is itself a finding, and it has its own slide.)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2.6 %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29</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2.6 %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36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Every one of them is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48.50 V DC out at 4.869 A: 236.26 W delivered, 97.49 %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23 — </a:t>
            </a:r>
            <a:r>
              <a:rPr lang="en-US" sz="1200" b="1" dirty="0">
                <a:solidFill>
                  <a:srgbClr val="000000"/>
                </a:solidFill>
                <a:latin typeface="Calibri" pitchFamily="34" charset="0"/>
                <a:ea typeface="Calibri" pitchFamily="34" charset="-122"/>
                <a:cs typeface="Calibri" pitchFamily="34" charset="-120"/>
              </a:rPr>
              <a:t> Drawn diagram,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sch_converter.png"/>
          <p:cNvPicPr>
            <a:picLocks noChangeAspect="1"/>
          </p:cNvPicPr>
          <p:nvPr/>
        </p:nvPicPr>
        <p:blipFill>
          <a:blip r:embed="rId6"/>
          <a:stretch>
            <a:fillRect/>
          </a:stretch>
        </p:blipFill>
        <p:spPr>
          <a:xfrm>
            <a:off x="426567" y="1060704"/>
            <a:ext cx="11338557" cy="3874007"/>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GaN synchronous buck converter, drawn from sim/buck.cir by scripts/kicad_schematic.py — every value on it is read out of the netlist at build time. “Buck” means step-down: 100 V in, 48.50 V out. Left to right: the 100 V supply with its power-loop R and L, the damped bus decoupling branch (Ldec, Cdec, Rdec at 1 Ω), the two GaN HEMTs whose gates the segmented drivers drive,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11</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13 blocks, weighted by how much of the project each is. 11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290648">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100 V → 48.50 V at 4.869 A, 97.49 % efficient (buck.cir)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6.2 W vs 12.6 W at 500 kHz, on the shipped word; 3 sweeps, 4 duty profiles</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zhangdrv.lib in our deck and in the converter — at 100 V only</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66,924 transients over 36 corners — all on dpt.cir, not the converter</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6</a:t>
                      </a:r>
                    </a:p>
                  </a:txBody>
                  <a:tcPr marL="50292" marR="50292" marT="27432" marB="27432"/>
                </a:tc>
                <a:tc>
                  <a:txBody>
                    <a:bodyPr wrap="square"/>
                    <a:lstStyle/>
                    <a:p>
                      <a:r>
                        <a:rPr sz="900" b="0">
                          <a:latin typeface="Calibri"/>
                        </a:rPr>
                        <a:t>type-III loop: 0.02 % error through a 2x load and a 20 % line step</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29064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290648">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swept across its stated envelope</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8 bus×load points: margin +2.14 to +2.61 V everywhere, and the envelope corrected to 50–150 V because a 200 V part cannot run a 200 V bus</a:t>
                      </a:r>
                    </a:p>
                  </a:txBody>
                  <a:tcPr marL="50292" marR="50292" marT="27432" marB="27432"/>
                </a:tc>
              </a:tr>
              <a:tr h="29065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5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simulation study is complete. </a:t>
            </a:r>
            <a:r>
              <a:rPr lang="en-US" sz="1300" dirty="0">
                <a:solidFill>
                  <a:srgbClr val="000000"/>
                </a:solidFill>
                <a:latin typeface="Calibri" pitchFamily="34" charset="0"/>
                <a:ea typeface="Calibri" pitchFamily="34" charset="-122"/>
                <a:cs typeface="Calibri" pitchFamily="34" charset="-120"/>
              </a:rPr>
              <a:t xml:space="preserve">What remains needs a bench: place-and-route on a chosen board, and one measured half-bridge. Simulating harder will not deliver either.</a:t>
            </a:r>
          </a:p>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by the count above. </a:t>
            </a:r>
            <a:r>
              <a:rPr lang="en-US" sz="1250" dirty="0">
                <a:solidFill>
                  <a:srgbClr val="000000"/>
                </a:solidFill>
                <a:latin typeface="Calibri" pitchFamily="34" charset="0"/>
                <a:ea typeface="Calibri" pitchFamily="34" charset="-122"/>
                <a:cs typeface="Calibri" pitchFamily="34" charset="-120"/>
              </a:rPr>
              <a:t xml:space="preserve">The weights are on this slide because we would rather they were argued with than discovered. Score the hardware higher than 7 and the number falls — that is a fair reading, and it is the one we cannot answer without a bench.</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Nothing has been measured on silicon.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47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33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42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44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3.5 %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45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3.5 %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over 36 corners (= 2.6 %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Over 36 points the fixed word costs 0.01 % to 14.2 %; worst is 200 V / 2 A / 125 °C.</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3.5 % on the full 36-corner grid — 720 words at each, 25,911 transients. The four-corner study said 5.2 %.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26.5 %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2.6 %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1.2 %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8.9 % of the total gain — 2.6 points of 29.0, over 36 operating points; the other 91.1 %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4.7 % of the total gain over a fixed word plus one comparator (load current at 10 A, which takes 47 % of the adaptive gap), or 3.4 % over a fixed word plus two. One threshold cannot do better: ten distinct best words spread over the 36 corners, and bus, load and temperature each disagree internally. The four-corner study named bus voltage at 75 V here; on the full grid the comparator is load current.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46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48.50 V DC out at 4.869 A — 236.26 W, 97.49 %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26.5 %.   Changing it per operating point: 2.6 %.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load current at 10 A — gets 47 % of that 2.6 %; two comparators get 61 %.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Review-III — place-and-route on a chosen board, then a hardware half-bridge measured on a bench. That is the whole of the remaining risk: nothing here has been built.</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Also at 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66,924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papers this design engages with directly. [10] is the base paper, reimplemented in models/zhangdrv.lib and measured against throughout.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wider survey: read and recorded, not cited in the slides above. Kept only where the publisher record carried a real author list.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43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26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A project file, typeset.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gives 48.50 V on the shipped word. The LTspice cross-check is pending a re-run: its schematic gained the damped decoupling branch, so the previously quoted 48.84 V describes a circuit that no longer exists.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6.2 W against silicon's 12.6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36 operating points = 25,920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Four of the 36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22015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35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on the shipped word. 100 V and 2.423 A in, 48.50 V and 4.869 A out: 242.33 W drawn, 236.26 W delivered, 97.49 % efficient. Peak switch node 115.1 V, 15.1 % overshoot at this deck's 0.2 ns step; resolving the edge at 0.02 ns gives 18.0 %, of which the −2 V rail is +11.3 points — the margin is not free. scripts/overshoot_audit.py. The two comparison tables read 97.42 % for this same word: those runs start pre-charged in steady state and average 20 cycles, this one starts from zero and averages 10. The gap is the start-up transient, not a disagreement.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as ngspice reports it</a:t>
            </a:r>
            <a:endParaRPr lang="en-US" sz="2800" dirty="0"/>
          </a:p>
        </p:txBody>
      </p:sp>
      <p:pic>
        <p:nvPicPr>
          <p:cNvPr id="5" name="Picture 4" descr="19-ngspice-listing.png"/>
          <p:cNvPicPr>
            <a:picLocks noChangeAspect="1"/>
          </p:cNvPicPr>
          <p:nvPr/>
        </p:nvPicPr>
        <p:blipFill>
          <a:blip r:embed="rId4"/>
          <a:stretch>
            <a:fillRect/>
          </a:stretch>
        </p:blipFill>
        <p:spPr>
          <a:xfrm>
            <a:off x="2282031" y="1188720"/>
            <a:ext cx="762763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34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ngspice cannot draw a schematic. It can say what it parsed, which is better evidence: a drawing is what somebody believes the circuit is, this is what was solved. Note rpu1–rpu8 and rpd1–rpd8 — the sixteen slices, switched in by {runit+(npu&gt;=n?0:1e9)} — rclk the clamp, and rdec at 1 Ω, the damped value. scripts/netlist_listing.py regenerates it, so it cannot go stale.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36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TOP: the switch node falls from 106 V in 2.90 ns, peaking at 124 V/ns — that dv/dt drives i = C_GD·dv/dt into the OFF device's gate, and is the cause. BOTTOM: that gate. Without the clamp it rests at +0.005 V, is lifted +1.643 V and peaks at +1.649 V, past the 1.4 V threshold — false_turn_on = 1. With the clamp and the −2 V rail it rests at -1.941 V, is lifted only +0.765 V and peaks at -1.176 V — false_turn_on = 0. The two fixes are not one mechanism: the rail moves where the gate STARTS, the clamp shortens the LIFT by giving the injected charge a 0.5 Ω path out. scripts/waveform_anatomy.py.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37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cheapest is 15 ns at full load, 5 ns at light load.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38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36 corners. Ceiling on scheduling 3.5 %; per-corner penalty 1.1 / 2.3 / 12.7 / 3.8 %.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scripts/grid_analyse.py over 36 corners. Choosing a fixed word (A) 26.5 %; adapting per operating point (B) 2.6 %; B is 8.9 % of the gain. Across 106 overshoot weights (A) stays 23.4–29.0 %, (B) 1.3–6.4 %.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40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41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the driver, built and measured, on this machine</a:t>
            </a:r>
            <a:endParaRPr lang="en-US" sz="2800" dirty="0"/>
          </a:p>
        </p:txBody>
      </p:sp>
      <p:pic>
        <p:nvPicPr>
          <p:cNvPr id="5" name="demo_review2.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979676" y="1005840"/>
            <a:ext cx="8229600" cy="4626864"/>
          </a:xfrm>
          <a:prstGeom prst="rect">
            <a:avLst/>
          </a:prstGeom>
        </p:spPr>
      </p:pic>
      <p:sp>
        <p:nvSpPr>
          <p:cNvPr id="6" name="TextBox 5"/>
          <p:cNvSpPr txBox="1"/>
          <p:nvPr/>
        </p:nvSpPr>
        <p:spPr>
          <a:xfrm>
            <a:off x="502920" y="5724144"/>
            <a:ext cx="10838382" cy="1078992"/>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30 — </a:t>
            </a:r>
            <a:r>
              <a:rPr lang="en-US" sz="1150" dirty="0">
                <a:solidFill>
                  <a:srgbClr val="000000"/>
                </a:solidFill>
                <a:latin typeface="Calibri" pitchFamily="34" charset="0"/>
                <a:ea typeface="Calibri" pitchFamily="34" charset="-122"/>
                <a:cs typeface="Calibri" pitchFamily="34" charset="-120"/>
              </a:rPr>
              <a:t xml:space="preserve">Nine chapters, 103 s, click to play. The netlists as they are on disk, the KiCad sheets drawn from them, ngspice's own output from three runs made while the film was built, the waveforms those runs produced, and 7 result cards — each printing the file its number came from. The bench: +1.65 V on the OFF gate without the clamp against a 1.4 V threshold, −1.18 V with it. The converter: 48.50 V out at 236.26 W, 97.49 % efficient. Rebuilt by scripts/demo_review2.py, so every number on screen is computed, not captioned.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6.2 W against silicon's 12.6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Title says converter, work says driver — one claim.  </a:t>
            </a:r>
            <a:r>
              <a:rPr lang="en-US" sz="1250" dirty="0">
                <a:solidFill>
                  <a:srgbClr val="000000"/>
                </a:solidFill>
                <a:latin typeface="Calibri" pitchFamily="34" charset="0"/>
                <a:ea typeface="Calibri" pitchFamily="34" charset="-122"/>
                <a:cs typeface="Calibri" pitchFamily="34" charset="-120"/>
              </a:rPr>
              <a:t xml:space="preserve">On GaN the driver is the part that decides whether the converter is buildable at speed. Every number here is measured on the converter: 97.49 % open loop, 96.1 % regulated.</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36 operating points, every combination run.</a:t>
                      </a:r>
                    </a:p>
                  </a:txBody>
                  <a:tcPr marL="50292" marR="50292" marT="27432" marB="27432"/>
                </a:tc>
                <a:tc>
                  <a:txBody>
                    <a:bodyPr wrap="square"/>
                    <a:lstStyle/>
                    <a:p>
                      <a:r>
                        <a:rPr sz="800" b="0">
                          <a:latin typeface="Calibri"/>
                        </a:rPr>
                        <a:t>Fixed 26.5 %, adaptive 2.6 % — adaptive is 8.9 % of the gain, on 36 corners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(load current at 10 A) takes 47 %. 4.7 %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plus a clamp plus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Identical to the global fixed word on all 36 held-out corners. Nothing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0.02 % error through a 2× load step and a 20 % line step; open loop walks to 58.3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but the clamp on its own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which is a result rather than a failure, and one that needs a bench. The honest summary is that the architecture is finished and the measurement of it on real silicon is not.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and neither half of the verification could have seen it alone.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58.3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runs the same power stage and the same segmented drivers, now regulated by a type-III loop and then disturbed on purpose. Closed loop 50.01 / 50.00 / 50.00 V through a 2× load step and a 100 → 120 V line step; worst error 0.02 % against open loop's 16.65 %. Load step recovers in 4 µs, line step in 22 µs. Ripple 0.25 %, efficiency 96.1 %, start-up overshoot 3.8 %.</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18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One caveat: models/zhangdrv.lib is our implementation of the scheme as they (their netlist is not published), run in our testbench with our parasitics. It is not 5.5–12.4× their measured result, and we do not claim it is.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49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on its own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GaN against silicon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driver, same on-resistance class. Only the device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GaN HEMT</a:t>
                      </a:r>
                    </a:p>
                  </a:txBody>
                  <a:tcPr marL="50292" marR="50292" marT="27432" marB="27432"/>
                </a:tc>
                <a:tc>
                  <a:txBody>
                    <a:bodyPr wrap="square"/>
                    <a:lstStyle/>
                    <a:p>
                      <a:r>
                        <a:rPr sz="1250" b="1">
                          <a:latin typeface="Calibri"/>
                        </a:rPr>
                        <a:t>Si MOSFET</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GaN HEMT vs Si MOSFET</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17.55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6.3×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6.65</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8.5×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8.60</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3.3×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1.489</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42.7× less</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95.06</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+2.36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-1.5</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+19.4 pts</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last row honestly: GaN loses it. Silicon does not overshoot because its edge is nine times slower — the same slowness that costs it 6.1 W. Speed and device stress are the same knob, and choosing GaN is choosing to manage the stress.</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100 V → 50 V, 500 kHz, 10 Ω, 3 nH loop. Each device is driven at its own rated gate voltage — 5 V for GaN, 10 V for silicon — because a silicon MOSFET at 5 V would be barely enhanced and would lose on a technicality rather than on physics. Power is averaged over the last 20 of 150 whole cycles; latency and edge come from a separate 3-cycle run at a 0.02 ns step, because a 2 ns edge and a 300 µs average cannot share one transient.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win, and where we lose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parameters, both comparisons. Blue is better, red is worse, and the red bars are drawn at full length.</a:t>
            </a:r>
          </a:p>
        </p:txBody>
      </p:sp>
      <p:pic>
        <p:nvPicPr>
          <p:cNvPr id="6" name="Picture 5" descr="fig_winlose.png"/>
          <p:cNvPicPr>
            <a:picLocks noChangeAspect="1"/>
          </p:cNvPicPr>
          <p:nvPr/>
        </p:nvPicPr>
        <p:blipFill>
          <a:blip r:embed="rId4"/>
          <a:stretch>
            <a:fillRect/>
          </a:stretch>
        </p:blipFill>
        <p:spPr>
          <a:xfrm>
            <a:off x="2350572" y="1463040"/>
            <a:ext cx="7490550" cy="3858768"/>
          </a:xfrm>
          <a:prstGeom prst="rect">
            <a:avLst/>
          </a:prstGeom>
        </p:spPr>
      </p:pic>
      <p:sp>
        <p:nvSpPr>
          <p:cNvPr id="7" name="TextBox 6"/>
          <p:cNvSpPr txBox="1"/>
          <p:nvPr/>
        </p:nvSpPr>
        <p:spPr>
          <a:xfrm>
            <a:off x="502920" y="5431536"/>
            <a:ext cx="11201400"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Bars are a symmetric relative difference, bounded to ±100 %, because the six parameters are in four different units — one axis, never two. Plain percentage change was tried first and was wrong: silicon's overshoot is −1.5 %, so dividing by a near-zero opposite-sign baseline put that row at −1284 %. Raw values under every bar. scripts/winlose_figure.py.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driver, drawn — the reimplementation</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built as a schematic from our implementation of it.</a:t>
            </a:r>
          </a:p>
        </p:txBody>
      </p:sp>
      <p:pic>
        <p:nvPicPr>
          <p:cNvPr id="6" name="Picture 5" descr="fig_sch_base.png"/>
          <p:cNvPicPr>
            <a:picLocks noChangeAspect="1"/>
          </p:cNvPicPr>
          <p:nvPr/>
        </p:nvPicPr>
        <p:blipFill>
          <a:blip r:embed="rId4"/>
          <a:stretch>
            <a:fillRect/>
          </a:stretch>
        </p:blipFill>
        <p:spPr>
          <a:xfrm>
            <a:off x="2926474" y="1463040"/>
            <a:ext cx="6338746"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14 columns per bank, because their seven slices are split across two stages and each stage is its own branch. The stage-2 branches carry an extra series switch gated by the pattern step — that switch is their mechanism. Every resistor shows its own conditional, so the sheet can be checked against models/zhangdrv.lib line by line. No clamp branch, and the off rail is tied to its reference.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driver, drawn — the same stage, improved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models/segdrv.lib. Eight slices a bank, switching together, plus the two blocks they do not have.</a:t>
            </a:r>
          </a:p>
        </p:txBody>
      </p:sp>
      <p:pic>
        <p:nvPicPr>
          <p:cNvPr id="6" name="Picture 5" descr="fig_sch_ours.png"/>
          <p:cNvPicPr>
            <a:picLocks noChangeAspect="1"/>
          </p:cNvPicPr>
          <p:nvPr/>
        </p:nvPicPr>
        <p:blipFill>
          <a:blip r:embed="rId4"/>
          <a:stretch>
            <a:fillRect/>
          </a:stretch>
        </p:blipFill>
        <p:spPr>
          <a:xfrm>
            <a:off x="1669564" y="1463040"/>
            <a:ext cx="8852567"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Each slice is a switch and a resistor, and the resistor carries the code: Rpu3 is 8 Ω if the word asks for three or more slices and 1 GΩ if it does not. Drive strength is how many of the eight parallel paths are live. On the right, Sclk and Rclk — the active Miller clamp, pulling the gate to the off rail through 0.5 Ω.</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Or we can run it now</a:t>
            </a:r>
            <a:endParaRPr lang="en-US" sz="2800" dirty="0"/>
          </a:p>
        </p:txBody>
      </p:sp>
      <p:sp>
        <p:nvSpPr>
          <p:cNvPr id="5" name="TextBox 4"/>
          <p:cNvSpPr txBox="1"/>
          <p:nvPr/>
        </p:nvSpPr>
        <p:spPr>
          <a:xfrm>
            <a:off x="640080" y="1005840"/>
            <a:ext cx="11064240" cy="402336"/>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bash proof/LIVE-SIM.sh</a:t>
            </a:r>
            <a:r>
              <a:rPr lang="en-US" sz="1400" dirty="0">
                <a:solidFill>
                  <a:srgbClr val="000000"/>
                </a:solidFill>
                <a:latin typeface="Calibri" pitchFamily="34" charset="0"/>
                <a:ea typeface="Calibri" pitchFamily="34" charset="-122"/>
                <a:cs typeface="Calibri" pitchFamily="34" charset="-120"/>
              </a:rPr>
              <a:t xml:space="preserve">   — two ngspice transients, about ten seconds, on whatever machine is in this room.</a:t>
            </a:r>
          </a:p>
        </p:txBody>
      </p:sp>
      <p:pic>
        <p:nvPicPr>
          <p:cNvPr id="6" name="live_demo_recording.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777240" y="1645920"/>
            <a:ext cx="5029200" cy="2825496"/>
          </a:xfrm>
          <a:prstGeom prst="rect">
            <a:avLst/>
          </a:prstGeom>
        </p:spPr>
      </p:pic>
      <p:pic>
        <p:nvPicPr>
          <p:cNvPr id="7" name="Picture 6" descr="fig_live_sim.png"/>
          <p:cNvPicPr>
            <a:picLocks noChangeAspect="1"/>
          </p:cNvPicPr>
          <p:nvPr/>
        </p:nvPicPr>
        <p:blipFill>
          <a:blip r:embed="rId7"/>
          <a:stretch>
            <a:fillRect/>
          </a:stretch>
        </p:blipFill>
        <p:spPr>
          <a:xfrm>
            <a:off x="6812280" y="1645920"/>
            <a:ext cx="3961520" cy="2825496"/>
          </a:xfrm>
          <a:prstGeom prst="rect">
            <a:avLst/>
          </a:prstGeom>
        </p:spPr>
      </p:pic>
      <p:sp>
        <p:nvSpPr>
          <p:cNvPr id="8" name="TextBox 7"/>
          <p:cNvSpPr txBox="1"/>
          <p:nvPr/>
        </p:nvSpPr>
        <p:spPr>
          <a:xfrm>
            <a:off x="777240" y="4553712"/>
            <a:ext cx="50292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recording, if the room will not cooperate</a:t>
            </a:r>
          </a:p>
        </p:txBody>
      </p:sp>
      <p:sp>
        <p:nvSpPr>
          <p:cNvPr id="9" name="TextBox 8"/>
          <p:cNvSpPr txBox="1"/>
          <p:nvPr/>
        </p:nvSpPr>
        <p:spPr>
          <a:xfrm>
            <a:off x="6812280" y="4553712"/>
            <a:ext cx="457200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what it draws when it does</a:t>
            </a:r>
          </a:p>
        </p:txBody>
      </p:sp>
      <p:sp>
        <p:nvSpPr>
          <p:cNvPr id="10" name="TextBox 9"/>
          <p:cNvSpPr txBox="1"/>
          <p:nvPr/>
        </p:nvSpPr>
        <p:spPr>
          <a:xfrm>
            <a:off x="502920" y="4974336"/>
            <a:ext cx="11201400" cy="128016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runs of ONE circuit file. Between them only CLKEN (the Miller clamp) and VNEG (the gate off rail) change, so nothing else can be moving. It prints what it measured beside what these slides claim — OFF gate 1.649 V against the deck's 1.65, margin 2.576 V against the deck's 2.576 — then draws the waveforms those two runs produced. 3.8 s of that is ngspice; the rest is drawing. scripts/live_demo.py.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Latency and device power — the two you asked for</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Same converter, same device class. Silicon → base paper changes the device; base paper → ours changes the control.</a:t>
            </a:r>
          </a:p>
        </p:txBody>
      </p:sp>
      <p:pic>
        <p:nvPicPr>
          <p:cNvPr id="6" name="Picture 5" descr="fig_latency_power.png"/>
          <p:cNvPicPr>
            <a:picLocks noChangeAspect="1"/>
          </p:cNvPicPr>
          <p:nvPr/>
        </p:nvPicPr>
        <p:blipFill>
          <a:blip r:embed="rId4"/>
          <a:stretch>
            <a:fillRect/>
          </a:stretch>
        </p:blipFill>
        <p:spPr>
          <a:xfrm>
            <a:off x="975792" y="1645920"/>
            <a:ext cx="10240108" cy="3749039"/>
          </a:xfrm>
          <a:prstGeom prst="rect">
            <a:avLst/>
          </a:prstGeom>
        </p:spPr>
      </p:pic>
      <p:sp>
        <p:nvSpPr>
          <p:cNvPr id="7" name="TextBox 6"/>
          <p:cNvSpPr txBox="1"/>
          <p:nvPr/>
        </p:nvSpPr>
        <p:spPr>
          <a:xfrm>
            <a:off x="502920" y="5577840"/>
            <a:ext cx="10838382"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Against silicon that is 6.3× and 3.3×; against the base paper's control on the same GaN device, 1.5× and 1.1×. The device swap buys most of it and the control swap buys the rest — which is the honest shape of the result. Same file the tables read, results/panel_metrics.csv. scripts/latency_power_figure.py.</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Silicon, the base paper, and ours — six parameters</a:t>
            </a:r>
            <a:endParaRPr lang="en-US" sz="2800" dirty="0"/>
          </a:p>
        </p:txBody>
      </p:sp>
      <p:sp>
        <p:nvSpPr>
          <p:cNvPr id="5" name="TextBox 4"/>
          <p:cNvSpPr txBox="1"/>
          <p:nvPr/>
        </p:nvSpPr>
        <p:spPr>
          <a:xfrm>
            <a:off x="640080" y="1005840"/>
            <a:ext cx="1106424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Column 1 → 2 changes only the device. Column 2 → 3 changes only the control.</a:t>
            </a:r>
          </a:p>
        </p:txBody>
      </p:sp>
      <p:pic>
        <p:nvPicPr>
          <p:cNvPr id="6" name="Picture 5" descr="fig_three_way.png"/>
          <p:cNvPicPr>
            <a:picLocks noChangeAspect="1"/>
          </p:cNvPicPr>
          <p:nvPr/>
        </p:nvPicPr>
        <p:blipFill>
          <a:blip r:embed="rId4"/>
          <a:stretch>
            <a:fillRect/>
          </a:stretch>
        </p:blipFill>
        <p:spPr>
          <a:xfrm>
            <a:off x="3540923" y="1389888"/>
            <a:ext cx="5109848" cy="4114800"/>
          </a:xfrm>
          <a:prstGeom prst="rect">
            <a:avLst/>
          </a:prstGeom>
        </p:spPr>
      </p:pic>
      <p:sp>
        <p:nvSpPr>
          <p:cNvPr id="7" name="TextBox 6"/>
          <p:cNvSpPr txBox="1"/>
          <p:nvPr/>
        </p:nvSpPr>
        <p:spPr>
          <a:xfrm>
            <a:off x="502920" y="5687568"/>
            <a:ext cx="10838382" cy="10058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Latency 17.55 → 4.04 → 2.78 ns and device power 8.60 → 2.93 → 2.60 W, left to right. The device swap buys most of it; the control swap buys the rest. Overshoot is the row that runs the other way, and it runs that way for the same reason the other five do not: silicon does not overshoot because its edge is nine times slower, and that slowness is what costs it 6.0 W. Speed and device stress are one knob. scripts/three_way_figure.py, from results/panel_metrics.csv.</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the negative rail costs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V_off swept 0 to −5 V at two loads. Margin against dead-time energy.</a:t>
            </a:r>
          </a:p>
        </p:txBody>
      </p:sp>
      <p:pic>
        <p:nvPicPr>
          <p:cNvPr id="6" name="Picture 5" descr="fig_voff_tradeoff.png"/>
          <p:cNvPicPr>
            <a:picLocks noChangeAspect="1"/>
          </p:cNvPicPr>
          <p:nvPr/>
        </p:nvPicPr>
        <p:blipFill>
          <a:blip r:embed="rId4"/>
          <a:stretch>
            <a:fillRect/>
          </a:stretch>
        </p:blipFill>
        <p:spPr>
          <a:xfrm>
            <a:off x="3874357" y="1463040"/>
            <a:ext cx="4442980"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−2 V rail was chosen from the crosstalk side alone, and this is the other side of that choice. An E-mode GaN HEMT has no body diode, so during dead time it conducts in the third quadrant at roughly V_th + |V_off| + I·R_ds(on) — every volt of off-bias is paid on every dead-time interval. Margin rises at a flat 1 V per volt throughout. The cost does not: at 10 A it is 0.004 µJ/V just above −2 V and 0.246 µJ/V just below, sixty times steeper. −2 V sits on the knee, which is a result rather than a justification. scripts/voff_sweep.py.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hot-corner lead rest on two typed-in numbers?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Both derating slopes perturbed ±50 %, hot corner re-run for both drivers.</a:t>
            </a:r>
          </a:p>
        </p:txBody>
      </p:sp>
      <p:pic>
        <p:nvPicPr>
          <p:cNvPr id="6" name="Picture 5" descr="fig_temp_sensitivity.png"/>
          <p:cNvPicPr>
            <a:picLocks noChangeAspect="1"/>
          </p:cNvPicPr>
          <p:nvPr/>
        </p:nvPicPr>
        <p:blipFill>
          <a:blip r:embed="rId4"/>
          <a:stretch>
            <a:fillRect/>
          </a:stretch>
        </p:blipFill>
        <p:spPr>
          <a:xfrm>
            <a:off x="1412198" y="1463040"/>
            <a:ext cx="9367298" cy="3675887"/>
          </a:xfrm>
          <a:prstGeom prst="rect">
            <a:avLst/>
          </a:prstGeom>
        </p:spPr>
      </p:pic>
      <p:sp>
        <p:nvSpPr>
          <p:cNvPr id="7" name="TextBox 6"/>
          <p:cNvSpPr txBox="1"/>
          <p:nvPr/>
        </p:nvSpPr>
        <p:spPr>
          <a:xfrm>
            <a:off x="502920" y="5266944"/>
            <a:ext cx="11201400" cy="11887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17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sim/dpt.cir derates the device through KT = 1 + 0.009·(TJ−25) and V_th = 1.4 − 0.0015·(TJ−25). Neither is a datasheet fit — there is no vendor model in the repository to fit against, and that is remaining work, not a result. What can be shown is whether the lead is manufactured by their exact values, and it is not: across ±50 % on either slope the lead runs 9.1–20.3× against 12.4× as shipped. Our margin barely moves; theirs collapses either way. scripts/temp_sensitivity.py.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answer depend on the weight we chose?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cost = E_tot + W_OV · ov_pct, swept over two orders of magnitude.</a:t>
            </a:r>
          </a:p>
        </p:txBody>
      </p:sp>
      <p:pic>
        <p:nvPicPr>
          <p:cNvPr id="6" name="Picture 5" descr="fig_wov_sensitivity.png"/>
          <p:cNvPicPr>
            <a:picLocks noChangeAspect="1"/>
          </p:cNvPicPr>
          <p:nvPr/>
        </p:nvPicPr>
        <p:blipFill>
          <a:blip r:embed="rId4"/>
          <a:stretch>
            <a:fillRect/>
          </a:stretch>
        </p:blipFill>
        <p:spPr>
          <a:xfrm>
            <a:off x="3170048" y="1463040"/>
            <a:ext cx="5851599"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The honest answer is two-part, and the second part is the one to say. (B) ranges 8.3–23.1 % of the gain across the sweep, so the 8.9 % headline IS weight-dependent — weight overshoot harder and adapting matters more, which is physical, because overshoot is what varies most across corners. What does not move: the fixed word takes at least 77 % of the gain at every weight tried. scripts/grid_robustness.py.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distribution behind the 2.6 %</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What one fixed word costs at each of the 36 corners, sorted.</a:t>
            </a:r>
          </a:p>
        </p:txBody>
      </p:sp>
      <p:pic>
        <p:nvPicPr>
          <p:cNvPr id="6" name="Picture 5" descr="fig_corner_penalty.png"/>
          <p:cNvPicPr>
            <a:picLocks noChangeAspect="1"/>
          </p:cNvPicPr>
          <p:nvPr/>
        </p:nvPicPr>
        <p:blipFill>
          <a:blip r:embed="rId4"/>
          <a:stretch>
            <a:fillRect/>
          </a:stretch>
        </p:blipFill>
        <p:spPr>
          <a:xfrm>
            <a:off x="3005495" y="1463040"/>
            <a:ext cx="6180704"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2.6 % is a mean over these 36 bars and the mean alone is not the whole truth: the median is 1.9 %, but 10 of 36 corners cost more than 5 % and the worst — 200 V / 2 A / 125 °C — costs 16.5 %. That corner is also outside the 50–150 V envelope this device is rated for. Quote the distribution, not the mean.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optimum moves. The cost of ignoring it does not.</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Per-corner best word against the one fixed word, all 36 corners.</a:t>
            </a:r>
          </a:p>
        </p:txBody>
      </p:sp>
      <p:pic>
        <p:nvPicPr>
          <p:cNvPr id="6" name="Picture 5" descr="fig_fixed_vs_optimum.png"/>
          <p:cNvPicPr>
            <a:picLocks noChangeAspect="1"/>
          </p:cNvPicPr>
          <p:nvPr/>
        </p:nvPicPr>
        <p:blipFill>
          <a:blip r:embed="rId4"/>
          <a:stretch>
            <a:fillRect/>
          </a:stretch>
        </p:blipFill>
        <p:spPr>
          <a:xfrm>
            <a:off x="2864825" y="1463040"/>
            <a:ext cx="6462045"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Ten distinct words win across the 36 corners, so the optimum genuinely moves — and that is the objection this slide answers. The two curves sit on top of each other anyway: the shaded gap between them IS the adaptive gain, 2.6 % of the baseline. Segmentation still shapes the edge; it just does not need to be scheduled.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Is the 36-corner grid dense enough?</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split re-estimated on 250 random corner subsets at each size.</a:t>
            </a:r>
          </a:p>
        </p:txBody>
      </p:sp>
      <p:pic>
        <p:nvPicPr>
          <p:cNvPr id="6" name="Picture 5" descr="fig_grid_subsample.png"/>
          <p:cNvPicPr>
            <a:picLocks noChangeAspect="1"/>
          </p:cNvPicPr>
          <p:nvPr/>
        </p:nvPicPr>
        <p:blipFill>
          <a:blip r:embed="rId4"/>
          <a:stretch>
            <a:fillRect/>
          </a:stretch>
        </p:blipFill>
        <p:spPr>
          <a:xfrm>
            <a:off x="2840687" y="1463040"/>
            <a:ext cx="6510320" cy="3767328"/>
          </a:xfrm>
          <a:prstGeom prst="rect">
            <a:avLst/>
          </a:prstGeom>
        </p:spPr>
      </p:pic>
      <p:sp>
        <p:nvSpPr>
          <p:cNvPr id="7" name="TextBox 6"/>
          <p:cNvSpPr txBox="1"/>
          <p:nvPr/>
        </p:nvSpPr>
        <p:spPr>
          <a:xfrm>
            <a:off x="502920" y="5340096"/>
            <a:ext cx="11201400" cy="106070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At four corners the estimate scatters over 0–23 %, which is why the earlier n = 4 study reported a different share; by 27 it sits on the full-grid answer. Stated precisely: this tests stability under COARSENING and is evidence the grid is dense enough. It cannot prove a finer grid would agree — that needs new transients.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and ours, side by side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Six shared rows. A difference is a difference in one row, and nothing else moves.</a:t>
            </a:r>
          </a:p>
        </p:txBody>
      </p:sp>
      <p:pic>
        <p:nvPicPr>
          <p:cNvPr id="6" name="Picture 5" descr="fig_arch_sidebyside.png"/>
          <p:cNvPicPr>
            <a:picLocks noChangeAspect="1"/>
          </p:cNvPicPr>
          <p:nvPr/>
        </p:nvPicPr>
        <p:blipFill>
          <a:blip r:embed="rId4"/>
          <a:stretch>
            <a:fillRect/>
          </a:stretch>
        </p:blipFill>
        <p:spPr>
          <a:xfrm>
            <a:off x="2617157" y="1481328"/>
            <a:ext cx="6957380" cy="3931920"/>
          </a:xfrm>
          <a:prstGeom prst="rect">
            <a:avLst/>
          </a:prstGeom>
        </p:spPr>
      </p:pic>
      <p:sp>
        <p:nvSpPr>
          <p:cNvPr id="7" name="TextBox 6"/>
          <p:cNvSpPr txBox="1"/>
          <p:nvPr/>
        </p:nvSpPr>
        <p:spPr>
          <a:xfrm>
            <a:off x="502920" y="5522976"/>
            <a:ext cx="11201400" cy="877824"/>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Block counts and values are parsed from models/zhangdrv.lib and models/segdrv.lib, not restated from memory — if either library changes this figure changes with it. The one dotted row is the one they do not have. The red line is where our design loses, and it is on the slide for the same reason the rest of it is.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 architecture — the base paper's blocks</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Zhang et al., ISPSD 2020. One bias resistor sets the whole pattern.</a:t>
            </a:r>
          </a:p>
        </p:txBody>
      </p:sp>
      <p:pic>
        <p:nvPicPr>
          <p:cNvPr id="6" name="Picture 5" descr="fig_arch_base.png"/>
          <p:cNvPicPr>
            <a:picLocks noChangeAspect="1"/>
          </p:cNvPicPr>
          <p:nvPr/>
        </p:nvPicPr>
        <p:blipFill>
          <a:blip r:embed="rId4"/>
          <a:stretch>
            <a:fillRect/>
          </a:stretch>
        </p:blipFill>
        <p:spPr>
          <a:xfrm>
            <a:off x="2338805" y="1481328"/>
            <a:ext cx="7514083"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The two dotted slots are what their design does not have.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Our architecture — same stage, three blocks added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same output stage. Three blocks added, in green.</a:t>
            </a:r>
          </a:p>
        </p:txBody>
      </p:sp>
      <p:pic>
        <p:nvPicPr>
          <p:cNvPr id="6" name="Picture 5" descr="fig_arch_ours.png"/>
          <p:cNvPicPr>
            <a:picLocks noChangeAspect="1"/>
          </p:cNvPicPr>
          <p:nvPr/>
        </p:nvPicPr>
        <p:blipFill>
          <a:blip r:embed="rId4"/>
          <a:stretch>
            <a:fillRect/>
          </a:stretch>
        </p:blipFill>
        <p:spPr>
          <a:xfrm>
            <a:off x="772370" y="1481328"/>
            <a:ext cx="10646952" cy="3749039"/>
          </a:xfrm>
          <a:prstGeom prst="rect">
            <a:avLst/>
          </a:prstGeom>
        </p:spPr>
      </p:pic>
      <p:sp>
        <p:nvSpPr>
          <p:cNvPr id="7" name="TextBox 6"/>
          <p:cNvSpPr txBox="1"/>
          <p:nvPr/>
        </p:nvSpPr>
        <p:spPr>
          <a:xfrm>
            <a:off x="502920" y="5303520"/>
            <a:ext cx="11201400" cy="10972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9 — </a:t>
            </a:r>
            <a:r>
              <a:rPr lang="en-US" sz="1150" b="1" dirty="0">
                <a:solidFill>
                  <a:srgbClr val="000000"/>
                </a:solidFill>
                <a:latin typeface="Calibri" pitchFamily="34" charset="0"/>
                <a:ea typeface="Calibri" pitchFamily="34" charset="-122"/>
                <a:cs typeface="Calibri" pitchFamily="34" charset="-120"/>
              </a:rPr>
              <a:t xml:space="preserve"> Drawn diagram, not simulation output. </a:t>
            </a:r>
            <a:r>
              <a:rPr lang="en-US" sz="1150" dirty="0">
                <a:solidFill>
                  <a:srgbClr val="000000"/>
                </a:solidFill>
                <a:latin typeface="Calibri" pitchFamily="34" charset="0"/>
                <a:ea typeface="Calibri" pitchFamily="34" charset="-122"/>
                <a:cs typeface="Calibri" pitchFamily="34" charset="-120"/>
              </a:rPr>
              <a:t xml:space="preserve">Drawn to the same grid: a block that exists in both sits in the same place in both, so a missing block leaves a visible hole. The drawing and models/zhangdrv.lib are the same claim — seven slices, two stages, one bias resistor, no clamp, no negative rail — so either can be checked against the other. Green marks what is ours: digital 6-field control, the active clamp, the switchable −2 V rail.</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converter across its own envelope</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Every bus and load point, not just the one the headline is quoted at.</a:t>
            </a:r>
          </a:p>
        </p:txBody>
      </p:sp>
      <p:graphicFrame>
        <p:nvGraphicFramePr>
          <p:cNvPr id="6" name="Table 5"/>
          <p:cNvGraphicFramePr>
            <a:graphicFrameLocks noGrp="1"/>
          </p:cNvGraphicFramePr>
          <p:nvPr/>
        </p:nvGraphicFramePr>
        <p:xfrm>
          <a:off x="640080" y="1554480"/>
          <a:ext cx="11064235" cy="3246120"/>
        </p:xfrm>
        <a:graphic>
          <a:graphicData uri="http://schemas.openxmlformats.org/drawingml/2006/table">
            <a:tbl>
              <a:tblPr firstRow="1">
                <a:tableStyleId>{5C22544A-7EE6-4342-B048-85BDC9FD1C3A}</a:tableStyleId>
              </a:tblPr>
              <a:tblGrid>
                <a:gridCol w="995781"/>
                <a:gridCol w="995781"/>
                <a:gridCol w="1548993"/>
                <a:gridCol w="1327708"/>
                <a:gridCol w="1548993"/>
                <a:gridCol w="1327708"/>
                <a:gridCol w="1438351"/>
                <a:gridCol w="1880920"/>
              </a:tblGrid>
              <a:tr h="360680">
                <a:tc>
                  <a:txBody>
                    <a:bodyPr wrap="square"/>
                    <a:lstStyle/>
                    <a:p>
                      <a:r>
                        <a:rPr sz="1150" b="1">
                          <a:latin typeface="Calibri"/>
                        </a:rPr>
                        <a:t>bus</a:t>
                      </a:r>
                    </a:p>
                  </a:txBody>
                  <a:tcPr marL="50292" marR="50292" marT="27432" marB="27432"/>
                </a:tc>
                <a:tc>
                  <a:txBody>
                    <a:bodyPr wrap="square"/>
                    <a:lstStyle/>
                    <a:p>
                      <a:r>
                        <a:rPr sz="1150" b="1">
                          <a:latin typeface="Calibri"/>
                        </a:rPr>
                        <a:t>load</a:t>
                      </a:r>
                    </a:p>
                  </a:txBody>
                  <a:tcPr marL="50292" marR="50292" marT="27432" marB="27432"/>
                </a:tc>
                <a:tc>
                  <a:txBody>
                    <a:bodyPr wrap="square"/>
                    <a:lstStyle/>
                    <a:p>
                      <a:r>
                        <a:rPr sz="1150" b="1">
                          <a:latin typeface="Calibri"/>
                        </a:rPr>
                        <a:t>peak v(sw)</a:t>
                      </a:r>
                    </a:p>
                  </a:txBody>
                  <a:tcPr marL="50292" marR="50292" marT="27432" marB="27432"/>
                </a:tc>
                <a:tc>
                  <a:txBody>
                    <a:bodyPr wrap="square"/>
                    <a:lstStyle/>
                    <a:p>
                      <a:r>
                        <a:rPr sz="1150" b="1">
                          <a:latin typeface="Calibri"/>
                        </a:rPr>
                        <a:t>overshoot</a:t>
                      </a:r>
                    </a:p>
                  </a:txBody>
                  <a:tcPr marL="50292" marR="50292" marT="27432" marB="27432"/>
                </a:tc>
                <a:tc>
                  <a:txBody>
                    <a:bodyPr wrap="square"/>
                    <a:lstStyle/>
                    <a:p>
                      <a:r>
                        <a:rPr sz="1150" b="1">
                          <a:latin typeface="Calibri"/>
                        </a:rPr>
                        <a:t>gate, HS on</a:t>
                      </a:r>
                    </a:p>
                  </a:txBody>
                  <a:tcPr marL="50292" marR="50292" marT="27432" marB="27432"/>
                </a:tc>
                <a:tc>
                  <a:txBody>
                    <a:bodyPr wrap="square"/>
                    <a:lstStyle/>
                    <a:p>
                      <a:r>
                        <a:rPr sz="1150" b="1">
                          <a:latin typeface="Calibri"/>
                        </a:rPr>
                        <a:t>margin</a:t>
                      </a:r>
                    </a:p>
                  </a:txBody>
                  <a:tcPr marL="50292" marR="50292" marT="27432" marB="27432"/>
                </a:tc>
                <a:tc>
                  <a:txBody>
                    <a:bodyPr wrap="square"/>
                    <a:lstStyle/>
                    <a:p>
                      <a:r>
                        <a:rPr sz="1150" b="1">
                          <a:latin typeface="Calibri"/>
                        </a:rPr>
                        <a:t>efficiency</a:t>
                      </a:r>
                    </a:p>
                  </a:txBody>
                  <a:tcPr marL="50292" marR="50292" marT="27432" marB="27432"/>
                </a:tc>
                <a:tc>
                  <a:txBody>
                    <a:bodyPr wrap="square"/>
                    <a:lstStyle/>
                    <a:p>
                      <a:r>
                        <a:rPr sz="1150" b="1">
                          <a:latin typeface="Calibri"/>
                        </a:rPr>
                        <a:t>verdict</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68.1 V</a:t>
                      </a:r>
                    </a:p>
                  </a:txBody>
                  <a:tcPr marL="50292" marR="50292" marT="27432" marB="27432"/>
                </a:tc>
                <a:tc>
                  <a:txBody>
                    <a:bodyPr wrap="square"/>
                    <a:lstStyle/>
                    <a:p>
                      <a:r>
                        <a:rPr sz="1150" b="0">
                          <a:latin typeface="Calibri"/>
                        </a:rPr>
                        <a:t>36.1 %</a:t>
                      </a:r>
                    </a:p>
                  </a:txBody>
                  <a:tcPr marL="50292" marR="50292" marT="27432" marB="27432"/>
                </a:tc>
                <a:tc>
                  <a:txBody>
                    <a:bodyPr wrap="square"/>
                    <a:lstStyle/>
                    <a:p>
                      <a:r>
                        <a:rPr sz="1150" b="0">
                          <a:latin typeface="Calibri"/>
                        </a:rPr>
                        <a:t>-0.98 V</a:t>
                      </a:r>
                    </a:p>
                  </a:txBody>
                  <a:tcPr marL="50292" marR="50292" marT="27432" marB="27432"/>
                </a:tc>
                <a:tc>
                  <a:txBody>
                    <a:bodyPr wrap="square"/>
                    <a:lstStyle/>
                    <a:p>
                      <a:r>
                        <a:rPr sz="1150" b="0">
                          <a:latin typeface="Calibri"/>
                        </a:rPr>
                        <a:t>+2.38 V</a:t>
                      </a:r>
                    </a:p>
                  </a:txBody>
                  <a:tcPr marL="50292" marR="50292" marT="27432" marB="27432"/>
                </a:tc>
                <a:tc>
                  <a:txBody>
                    <a:bodyPr wrap="square"/>
                    <a:lstStyle/>
                    <a:p>
                      <a:r>
                        <a:rPr sz="1150" b="0">
                          <a:latin typeface="Calibri"/>
                        </a:rPr>
                        <a:t>97.08 %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61.8 V</a:t>
                      </a:r>
                    </a:p>
                  </a:txBody>
                  <a:tcPr marL="50292" marR="50292" marT="27432" marB="27432"/>
                </a:tc>
                <a:tc>
                  <a:txBody>
                    <a:bodyPr wrap="square"/>
                    <a:lstStyle/>
                    <a:p>
                      <a:r>
                        <a:rPr sz="1150" b="0">
                          <a:latin typeface="Calibri"/>
                        </a:rPr>
                        <a:t>23.6 %</a:t>
                      </a:r>
                    </a:p>
                  </a:txBody>
                  <a:tcPr marL="50292" marR="50292" marT="27432" marB="27432"/>
                </a:tc>
                <a:tc>
                  <a:txBody>
                    <a:bodyPr wrap="square"/>
                    <a:lstStyle/>
                    <a:p>
                      <a:r>
                        <a:rPr sz="1150" b="0">
                          <a:latin typeface="Calibri"/>
                        </a:rPr>
                        <a:t>-1.12 V</a:t>
                      </a:r>
                    </a:p>
                  </a:txBody>
                  <a:tcPr marL="50292" marR="50292" marT="27432" marB="27432"/>
                </a:tc>
                <a:tc>
                  <a:txBody>
                    <a:bodyPr wrap="square"/>
                    <a:lstStyle/>
                    <a:p>
                      <a:r>
                        <a:rPr sz="1150" b="0">
                          <a:latin typeface="Calibri"/>
                        </a:rPr>
                        <a:t>+2.52 V</a:t>
                      </a:r>
                    </a:p>
                  </a:txBody>
                  <a:tcPr marL="50292" marR="50292" marT="27432" marB="27432"/>
                </a:tc>
                <a:tc>
                  <a:txBody>
                    <a:bodyPr wrap="square"/>
                    <a:lstStyle/>
                    <a:p>
                      <a:r>
                        <a:rPr sz="1150" b="0">
                          <a:latin typeface="Calibri"/>
                        </a:rPr>
                        <a:t>92.86 %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113.6 V</a:t>
                      </a:r>
                    </a:p>
                  </a:txBody>
                  <a:tcPr marL="50292" marR="50292" marT="27432" marB="27432"/>
                </a:tc>
                <a:tc>
                  <a:txBody>
                    <a:bodyPr wrap="square"/>
                    <a:lstStyle/>
                    <a:p>
                      <a:r>
                        <a:rPr sz="1150" b="0">
                          <a:latin typeface="Calibri"/>
                        </a:rPr>
                        <a:t>13.6 %</a:t>
                      </a:r>
                    </a:p>
                  </a:txBody>
                  <a:tcPr marL="50292" marR="50292" marT="27432" marB="27432"/>
                </a:tc>
                <a:tc>
                  <a:txBody>
                    <a:bodyPr wrap="square"/>
                    <a:lstStyle/>
                    <a:p>
                      <a:r>
                        <a:rPr sz="1150" b="0">
                          <a:latin typeface="Calibri"/>
                        </a:rPr>
                        <a:t>-1.16 V</a:t>
                      </a:r>
                    </a:p>
                  </a:txBody>
                  <a:tcPr marL="50292" marR="50292" marT="27432" marB="27432"/>
                </a:tc>
                <a:tc>
                  <a:txBody>
                    <a:bodyPr wrap="square"/>
                    <a:lstStyle/>
                    <a:p>
                      <a:r>
                        <a:rPr sz="1150" b="0">
                          <a:latin typeface="Calibri"/>
                        </a:rPr>
                        <a:t>+2.56 V</a:t>
                      </a:r>
                    </a:p>
                  </a:txBody>
                  <a:tcPr marL="50292" marR="50292" marT="27432" marB="27432"/>
                </a:tc>
                <a:tc>
                  <a:txBody>
                    <a:bodyPr wrap="square"/>
                    <a:lstStyle/>
                    <a:p>
                      <a:r>
                        <a:rPr sz="1150" b="0">
                          <a:latin typeface="Calibri"/>
                        </a:rPr>
                        <a:t>97.67 %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110.1 V</a:t>
                      </a:r>
                    </a:p>
                  </a:txBody>
                  <a:tcPr marL="50292" marR="50292" marT="27432" marB="27432"/>
                </a:tc>
                <a:tc>
                  <a:txBody>
                    <a:bodyPr wrap="square"/>
                    <a:lstStyle/>
                    <a:p>
                      <a:r>
                        <a:rPr sz="1150" b="0">
                          <a:latin typeface="Calibri"/>
                        </a:rPr>
                        <a:t>10.1 %</a:t>
                      </a:r>
                    </a:p>
                  </a:txBody>
                  <a:tcPr marL="50292" marR="50292" marT="27432" marB="27432"/>
                </a:tc>
                <a:tc>
                  <a:txBody>
                    <a:bodyPr wrap="square"/>
                    <a:lstStyle/>
                    <a:p>
                      <a:r>
                        <a:rPr sz="1150" b="0">
                          <a:latin typeface="Calibri"/>
                        </a:rPr>
                        <a:t>-1.21 V</a:t>
                      </a:r>
                    </a:p>
                  </a:txBody>
                  <a:tcPr marL="50292" marR="50292" marT="27432" marB="27432"/>
                </a:tc>
                <a:tc>
                  <a:txBody>
                    <a:bodyPr wrap="square"/>
                    <a:lstStyle/>
                    <a:p>
                      <a:r>
                        <a:rPr sz="1150" b="0">
                          <a:latin typeface="Calibri"/>
                        </a:rPr>
                        <a:t>+2.61 V</a:t>
                      </a:r>
                    </a:p>
                  </a:txBody>
                  <a:tcPr marL="50292" marR="50292" marT="27432" marB="27432"/>
                </a:tc>
                <a:tc>
                  <a:txBody>
                    <a:bodyPr wrap="square"/>
                    <a:lstStyle/>
                    <a:p>
                      <a:r>
                        <a:rPr sz="1150" b="0">
                          <a:latin typeface="Calibri"/>
                        </a:rPr>
                        <a:t>96.02 %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171.3 V</a:t>
                      </a:r>
                    </a:p>
                  </a:txBody>
                  <a:tcPr marL="50292" marR="50292" marT="27432" marB="27432"/>
                </a:tc>
                <a:tc>
                  <a:txBody>
                    <a:bodyPr wrap="square"/>
                    <a:lstStyle/>
                    <a:p>
                      <a:r>
                        <a:rPr sz="1150" b="0">
                          <a:latin typeface="Calibri"/>
                        </a:rPr>
                        <a:t>14.2 %</a:t>
                      </a:r>
                    </a:p>
                  </a:txBody>
                  <a:tcPr marL="50292" marR="50292" marT="27432" marB="27432"/>
                </a:tc>
                <a:tc>
                  <a:txBody>
                    <a:bodyPr wrap="square"/>
                    <a:lstStyle/>
                    <a:p>
                      <a:r>
                        <a:rPr sz="1150" b="0">
                          <a:latin typeface="Calibri"/>
                        </a:rPr>
                        <a:t>-0.86 V</a:t>
                      </a:r>
                    </a:p>
                  </a:txBody>
                  <a:tcPr marL="50292" marR="50292" marT="27432" marB="27432"/>
                </a:tc>
                <a:tc>
                  <a:txBody>
                    <a:bodyPr wrap="square"/>
                    <a:lstStyle/>
                    <a:p>
                      <a:r>
                        <a:rPr sz="1150" b="0">
                          <a:latin typeface="Calibri"/>
                        </a:rPr>
                        <a:t>+2.26 V</a:t>
                      </a:r>
                    </a:p>
                  </a:txBody>
                  <a:tcPr marL="50292" marR="50292" marT="27432" marB="27432"/>
                </a:tc>
                <a:tc>
                  <a:txBody>
                    <a:bodyPr wrap="square"/>
                    <a:lstStyle/>
                    <a:p>
                      <a:r>
                        <a:rPr sz="1150" b="0">
                          <a:latin typeface="Calibri"/>
                        </a:rPr>
                        <a:t>98.07 %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150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164.6 V</a:t>
                      </a:r>
                    </a:p>
                  </a:txBody>
                  <a:tcPr marL="50292" marR="50292" marT="27432" marB="27432"/>
                </a:tc>
                <a:tc>
                  <a:txBody>
                    <a:bodyPr wrap="square"/>
                    <a:lstStyle/>
                    <a:p>
                      <a:r>
                        <a:rPr sz="1150" b="0">
                          <a:latin typeface="Calibri"/>
                        </a:rPr>
                        <a:t>9.8 %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97.11 %</a:t>
                      </a:r>
                    </a:p>
                  </a:txBody>
                  <a:tcPr marL="50292" marR="50292" marT="27432" marB="27432"/>
                </a:tc>
                <a:tc>
                  <a:txBody>
                    <a:bodyPr wrap="square"/>
                    <a:lstStyle/>
                    <a:p>
                      <a:r>
                        <a:rPr sz="1150" b="1">
                          <a:solidFill>
                            <a:srgbClr val="1B7F5F"/>
                          </a:solidFill>
                          <a:latin typeface="Calibri"/>
                        </a:rPr>
                        <a:t>safe</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2 A</a:t>
                      </a:r>
                    </a:p>
                  </a:txBody>
                  <a:tcPr marL="50292" marR="50292" marT="27432" marB="27432"/>
                </a:tc>
                <a:tc>
                  <a:txBody>
                    <a:bodyPr wrap="square"/>
                    <a:lstStyle/>
                    <a:p>
                      <a:r>
                        <a:rPr sz="1150" b="0">
                          <a:latin typeface="Calibri"/>
                        </a:rPr>
                        <a:t>206.2 V</a:t>
                      </a:r>
                    </a:p>
                  </a:txBody>
                  <a:tcPr marL="50292" marR="50292" marT="27432" marB="27432"/>
                </a:tc>
                <a:tc>
                  <a:txBody>
                    <a:bodyPr wrap="square"/>
                    <a:lstStyle/>
                    <a:p>
                      <a:r>
                        <a:rPr sz="1150" b="0">
                          <a:latin typeface="Calibri"/>
                        </a:rPr>
                        <a:t>3.1 %</a:t>
                      </a:r>
                    </a:p>
                  </a:txBody>
                  <a:tcPr marL="50292" marR="50292" marT="27432" marB="27432"/>
                </a:tc>
                <a:tc>
                  <a:txBody>
                    <a:bodyPr wrap="square"/>
                    <a:lstStyle/>
                    <a:p>
                      <a:r>
                        <a:rPr sz="1150" b="0">
                          <a:latin typeface="Calibri"/>
                        </a:rPr>
                        <a:t>-1.09 V</a:t>
                      </a:r>
                    </a:p>
                  </a:txBody>
                  <a:tcPr marL="50292" marR="50292" marT="27432" marB="27432"/>
                </a:tc>
                <a:tc>
                  <a:txBody>
                    <a:bodyPr wrap="square"/>
                    <a:lstStyle/>
                    <a:p>
                      <a:r>
                        <a:rPr sz="1150" b="0">
                          <a:latin typeface="Calibri"/>
                        </a:rPr>
                        <a:t>+2.49 V</a:t>
                      </a:r>
                    </a:p>
                  </a:txBody>
                  <a:tcPr marL="50292" marR="50292" marT="27432" marB="27432"/>
                </a:tc>
                <a:tc>
                  <a:txBody>
                    <a:bodyPr wrap="square"/>
                    <a:lstStyle/>
                    <a:p>
                      <a:r>
                        <a:rPr sz="1150" b="0">
                          <a:latin typeface="Calibri"/>
                        </a:rPr>
                        <a:t>98.42 %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r h="360680">
                <a:tc>
                  <a:txBody>
                    <a:bodyPr wrap="square"/>
                    <a:lstStyle/>
                    <a:p>
                      <a:r>
                        <a:rPr sz="1150" b="0">
                          <a:latin typeface="Calibri"/>
                        </a:rPr>
                        <a:t>200 V</a:t>
                      </a:r>
                    </a:p>
                  </a:txBody>
                  <a:tcPr marL="50292" marR="50292" marT="27432" marB="27432"/>
                </a:tc>
                <a:tc>
                  <a:txBody>
                    <a:bodyPr wrap="square"/>
                    <a:lstStyle/>
                    <a:p>
                      <a:r>
                        <a:rPr sz="1150" b="0">
                          <a:latin typeface="Calibri"/>
                        </a:rPr>
                        <a:t>10 A</a:t>
                      </a:r>
                    </a:p>
                  </a:txBody>
                  <a:tcPr marL="50292" marR="50292" marT="27432" marB="27432"/>
                </a:tc>
                <a:tc>
                  <a:txBody>
                    <a:bodyPr wrap="square"/>
                    <a:lstStyle/>
                    <a:p>
                      <a:r>
                        <a:rPr sz="1150" b="0">
                          <a:latin typeface="Calibri"/>
                        </a:rPr>
                        <a:t>208.2 V</a:t>
                      </a:r>
                    </a:p>
                  </a:txBody>
                  <a:tcPr marL="50292" marR="50292" marT="27432" marB="27432"/>
                </a:tc>
                <a:tc>
                  <a:txBody>
                    <a:bodyPr wrap="square"/>
                    <a:lstStyle/>
                    <a:p>
                      <a:r>
                        <a:rPr sz="1150" b="0">
                          <a:latin typeface="Calibri"/>
                        </a:rPr>
                        <a:t>4.1 %</a:t>
                      </a:r>
                    </a:p>
                  </a:txBody>
                  <a:tcPr marL="50292" marR="50292" marT="27432" marB="27432"/>
                </a:tc>
                <a:tc>
                  <a:txBody>
                    <a:bodyPr wrap="square"/>
                    <a:lstStyle/>
                    <a:p>
                      <a:r>
                        <a:rPr sz="1150" b="0">
                          <a:latin typeface="Calibri"/>
                        </a:rPr>
                        <a:t>-0.74 V</a:t>
                      </a:r>
                    </a:p>
                  </a:txBody>
                  <a:tcPr marL="50292" marR="50292" marT="27432" marB="27432"/>
                </a:tc>
                <a:tc>
                  <a:txBody>
                    <a:bodyPr wrap="square"/>
                    <a:lstStyle/>
                    <a:p>
                      <a:r>
                        <a:rPr sz="1150" b="0">
                          <a:latin typeface="Calibri"/>
                        </a:rPr>
                        <a:t>+2.14 V</a:t>
                      </a:r>
                    </a:p>
                  </a:txBody>
                  <a:tcPr marL="50292" marR="50292" marT="27432" marB="27432"/>
                </a:tc>
                <a:tc>
                  <a:txBody>
                    <a:bodyPr wrap="square"/>
                    <a:lstStyle/>
                    <a:p>
                      <a:r>
                        <a:rPr sz="1150" b="0">
                          <a:latin typeface="Calibri"/>
                        </a:rPr>
                        <a:t>97.65 %</a:t>
                      </a:r>
                    </a:p>
                  </a:txBody>
                  <a:tcPr marL="50292" marR="50292" marT="27432" marB="27432"/>
                </a:tc>
                <a:tc>
                  <a:txBody>
                    <a:bodyPr wrap="square"/>
                    <a:lstStyle/>
                    <a:p>
                      <a:r>
                        <a:rPr sz="1150" b="1">
                          <a:solidFill>
                            <a:srgbClr val="B00000"/>
                          </a:solidFill>
                          <a:latin typeface="Calibri"/>
                        </a:rPr>
                        <a:t>OVER-RATING</a:t>
                      </a:r>
                    </a:p>
                  </a:txBody>
                  <a:tcPr marL="50292" marR="50292" marT="27432" marB="27432"/>
                </a:tc>
              </a:tr>
            </a:tbl>
          </a:graphicData>
        </a:graphic>
      </p:graphicFrame>
      <p:sp>
        <p:nvSpPr>
          <p:cNvPr id="7" name="TextBox 6"/>
          <p:cNvSpPr txBox="1"/>
          <p:nvPr/>
        </p:nvSpPr>
        <p:spPr>
          <a:xfrm>
            <a:off x="640080" y="4974336"/>
            <a:ext cx="11064240" cy="1143000"/>
          </a:xfrm>
          <a:prstGeom prst="rect">
            <a:avLst/>
          </a:prstGeom>
          <a:noFill/>
        </p:spPr>
        <p:txBody>
          <a:bodyPr wrap="square" lIns="0" tIns="0" rIns="0" bIns="0">
            <a:spAutoFit/>
          </a:bodyPr>
          <a:lstStyle/>
          <a:p>
            <a:pPr marL="177800" indent="0">
              <a:spcAft>
                <a:spcPts val="11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column is the answer. </a:t>
            </a:r>
            <a:r>
              <a:rPr lang="en-US" sz="1150" dirty="0">
                <a:solidFill>
                  <a:srgbClr val="000000"/>
                </a:solidFill>
                <a:latin typeface="Calibri" pitchFamily="34" charset="0"/>
                <a:ea typeface="Calibri" pitchFamily="34" charset="-122"/>
                <a:cs typeface="Calibri" pitchFamily="34" charset="-120"/>
              </a:rPr>
              <a:t xml:space="preserve">It is the 1.4 V threshold minus the highest the OFF gate reaches while the other device is conducting, and it is positive at all eight points — +2.14 V at the worst. The off device stays off everywhere in the range.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200 V rows are not a driver failure. </a:t>
            </a:r>
            <a:r>
              <a:rPr lang="en-US" sz="1150" dirty="0">
                <a:solidFill>
                  <a:srgbClr val="000000"/>
                </a:solidFill>
                <a:latin typeface="Calibri" pitchFamily="34" charset="0"/>
                <a:ea typeface="Calibri" pitchFamily="34" charset="-122"/>
                <a:cs typeface="Calibri" pitchFamily="34" charset="-120"/>
              </a:rPr>
              <a:t xml:space="preserve">Their overshoot is the smallest in the sweep, 3.1 % and 4.1 %. The problem is running a 200 V-rated part on a 200 V bus, where any overshoot at all exceeds the rating. So the envelope is stated as 50–150 V on this device; 200 V needs a higher-rated part, not a different driver.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Theirs and ours — six parameters, measured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Same converter, same GaN device, same output stage. Only the control changes.</a:t>
            </a:r>
          </a:p>
        </p:txBody>
      </p:sp>
      <p:graphicFrame>
        <p:nvGraphicFramePr>
          <p:cNvPr id="6" name="Table 5"/>
          <p:cNvGraphicFramePr>
            <a:graphicFrameLocks noGrp="1"/>
          </p:cNvGraphicFramePr>
          <p:nvPr/>
        </p:nvGraphicFramePr>
        <p:xfrm>
          <a:off x="640080" y="1572768"/>
          <a:ext cx="11064239" cy="2834640"/>
        </p:xfrm>
        <a:graphic>
          <a:graphicData uri="http://schemas.openxmlformats.org/drawingml/2006/table">
            <a:tbl>
              <a:tblPr firstRow="1">
                <a:tableStyleId>{5C22544A-7EE6-4342-B048-85BDC9FD1C3A}</a:tableStyleId>
              </a:tblPr>
              <a:tblGrid>
                <a:gridCol w="4088958"/>
                <a:gridCol w="1803952"/>
                <a:gridCol w="1803952"/>
                <a:gridCol w="841844"/>
                <a:gridCol w="2525533"/>
              </a:tblGrid>
              <a:tr h="404948">
                <a:tc>
                  <a:txBody>
                    <a:bodyPr wrap="square"/>
                    <a:lstStyle/>
                    <a:p>
                      <a:r>
                        <a:rPr sz="1250" b="1">
                          <a:latin typeface="Calibri"/>
                        </a:rPr>
                        <a:t>Parameter</a:t>
                      </a:r>
                    </a:p>
                  </a:txBody>
                  <a:tcPr marL="50292" marR="50292" marT="27432" marB="27432"/>
                </a:tc>
                <a:tc>
                  <a:txBody>
                    <a:bodyPr wrap="square"/>
                    <a:lstStyle/>
                    <a:p>
                      <a:r>
                        <a:rPr sz="1250" b="1">
                          <a:latin typeface="Calibri"/>
                        </a:rPr>
                        <a:t>Ours</a:t>
                      </a:r>
                    </a:p>
                  </a:txBody>
                  <a:tcPr marL="50292" marR="50292" marT="27432" marB="27432"/>
                </a:tc>
                <a:tc>
                  <a:txBody>
                    <a:bodyPr wrap="square"/>
                    <a:lstStyle/>
                    <a:p>
                      <a:r>
                        <a:rPr sz="1250" b="1">
                          <a:latin typeface="Calibri"/>
                        </a:rPr>
                        <a:t>Base paper</a:t>
                      </a:r>
                    </a:p>
                  </a:txBody>
                  <a:tcPr marL="50292" marR="50292" marT="27432" marB="27432"/>
                </a:tc>
                <a:tc>
                  <a:txBody>
                    <a:bodyPr wrap="square"/>
                    <a:lstStyle/>
                    <a:p>
                      <a:r>
                        <a:rPr sz="1250" b="1">
                          <a:latin typeface="Calibri"/>
                        </a:rPr>
                        <a:t>unit</a:t>
                      </a:r>
                    </a:p>
                  </a:txBody>
                  <a:tcPr marL="50292" marR="50292" marT="27432" marB="27432"/>
                </a:tc>
                <a:tc>
                  <a:txBody>
                    <a:bodyPr wrap="square"/>
                    <a:lstStyle/>
                    <a:p>
                      <a:r>
                        <a:rPr sz="1250" b="1">
                          <a:latin typeface="Calibri"/>
                        </a:rPr>
                        <a:t>Ours vs Base paper</a:t>
                      </a:r>
                    </a:p>
                  </a:txBody>
                  <a:tcPr marL="50292" marR="50292" marT="27432" marB="27432"/>
                </a:tc>
              </a:tr>
              <a:tr h="404948">
                <a:tc>
                  <a:txBody>
                    <a:bodyPr wrap="square"/>
                    <a:lstStyle/>
                    <a:p>
                      <a:r>
                        <a:rPr sz="1250" b="0">
                          <a:latin typeface="Calibri"/>
                        </a:rPr>
                        <a:t>Latency, PWM → switch node at 50 %</a:t>
                      </a:r>
                    </a:p>
                  </a:txBody>
                  <a:tcPr marL="50292" marR="50292" marT="27432" marB="27432"/>
                </a:tc>
                <a:tc>
                  <a:txBody>
                    <a:bodyPr wrap="square"/>
                    <a:lstStyle/>
                    <a:p>
                      <a:r>
                        <a:rPr sz="1250" b="0">
                          <a:latin typeface="Calibri"/>
                        </a:rPr>
                        <a:t>2.78</a:t>
                      </a:r>
                    </a:p>
                  </a:txBody>
                  <a:tcPr marL="50292" marR="50292" marT="27432" marB="27432"/>
                </a:tc>
                <a:tc>
                  <a:txBody>
                    <a:bodyPr wrap="square"/>
                    <a:lstStyle/>
                    <a:p>
                      <a:r>
                        <a:rPr sz="1250" b="0">
                          <a:latin typeface="Calibri"/>
                        </a:rPr>
                        <a:t>4.04</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1.5× less</a:t>
                      </a:r>
                    </a:p>
                  </a:txBody>
                  <a:tcPr marL="50292" marR="50292" marT="27432" marB="27432"/>
                </a:tc>
              </a:tr>
              <a:tr h="404948">
                <a:tc>
                  <a:txBody>
                    <a:bodyPr wrap="square"/>
                    <a:lstStyle/>
                    <a:p>
                      <a:r>
                        <a:rPr sz="1250" b="0">
                          <a:latin typeface="Calibri"/>
                        </a:rPr>
                        <a:t>Edge, 10 % → 90 % of bus</a:t>
                      </a:r>
                    </a:p>
                  </a:txBody>
                  <a:tcPr marL="50292" marR="50292" marT="27432" marB="27432"/>
                </a:tc>
                <a:tc>
                  <a:txBody>
                    <a:bodyPr wrap="square"/>
                    <a:lstStyle/>
                    <a:p>
                      <a:r>
                        <a:rPr sz="1250" b="0">
                          <a:latin typeface="Calibri"/>
                        </a:rPr>
                        <a:t>0.78</a:t>
                      </a:r>
                    </a:p>
                  </a:txBody>
                  <a:tcPr marL="50292" marR="50292" marT="27432" marB="27432"/>
                </a:tc>
                <a:tc>
                  <a:txBody>
                    <a:bodyPr wrap="square"/>
                    <a:lstStyle/>
                    <a:p>
                      <a:r>
                        <a:rPr sz="1250" b="0">
                          <a:latin typeface="Calibri"/>
                        </a:rPr>
                        <a:t>2.06</a:t>
                      </a:r>
                    </a:p>
                  </a:txBody>
                  <a:tcPr marL="50292" marR="50292" marT="27432" marB="27432"/>
                </a:tc>
                <a:tc>
                  <a:txBody>
                    <a:bodyPr wrap="square"/>
                    <a:lstStyle/>
                    <a:p>
                      <a:r>
                        <a:rPr sz="1250" b="0">
                          <a:latin typeface="Calibri"/>
                        </a:rPr>
                        <a:t>ns</a:t>
                      </a:r>
                    </a:p>
                  </a:txBody>
                  <a:tcPr marL="50292" marR="50292" marT="27432" marB="27432"/>
                </a:tc>
                <a:tc>
                  <a:txBody>
                    <a:bodyPr wrap="square"/>
                    <a:lstStyle/>
                    <a:p>
                      <a:r>
                        <a:rPr sz="1250" b="1">
                          <a:solidFill>
                            <a:srgbClr val="1B7F5F"/>
                          </a:solidFill>
                          <a:latin typeface="Calibri"/>
                        </a:rPr>
                        <a:t>2.6× less</a:t>
                      </a:r>
                    </a:p>
                  </a:txBody>
                  <a:tcPr marL="50292" marR="50292" marT="27432" marB="27432"/>
                </a:tc>
              </a:tr>
              <a:tr h="404948">
                <a:tc>
                  <a:txBody>
                    <a:bodyPr wrap="square"/>
                    <a:lstStyle/>
                    <a:p>
                      <a:r>
                        <a:rPr sz="1250" b="0">
                          <a:latin typeface="Calibri"/>
                        </a:rPr>
                        <a:t>Power in the devices</a:t>
                      </a:r>
                    </a:p>
                  </a:txBody>
                  <a:tcPr marL="50292" marR="50292" marT="27432" marB="27432"/>
                </a:tc>
                <a:tc>
                  <a:txBody>
                    <a:bodyPr wrap="square"/>
                    <a:lstStyle/>
                    <a:p>
                      <a:r>
                        <a:rPr sz="1250" b="0">
                          <a:latin typeface="Calibri"/>
                        </a:rPr>
                        <a:t>2.60</a:t>
                      </a:r>
                    </a:p>
                  </a:txBody>
                  <a:tcPr marL="50292" marR="50292" marT="27432" marB="27432"/>
                </a:tc>
                <a:tc>
                  <a:txBody>
                    <a:bodyPr wrap="square"/>
                    <a:lstStyle/>
                    <a:p>
                      <a:r>
                        <a:rPr sz="1250" b="0">
                          <a:latin typeface="Calibri"/>
                        </a:rPr>
                        <a:t>2.93</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1B7F5F"/>
                          </a:solidFill>
                          <a:latin typeface="Calibri"/>
                        </a:rPr>
                        <a:t>1.1× less</a:t>
                      </a:r>
                    </a:p>
                  </a:txBody>
                  <a:tcPr marL="50292" marR="50292" marT="27432" marB="27432"/>
                </a:tc>
              </a:tr>
              <a:tr h="404948">
                <a:tc>
                  <a:txBody>
                    <a:bodyPr wrap="square"/>
                    <a:lstStyle/>
                    <a:p>
                      <a:r>
                        <a:rPr sz="1250" b="0">
                          <a:latin typeface="Calibri"/>
                        </a:rPr>
                        <a:t>Power in the gate drive</a:t>
                      </a:r>
                    </a:p>
                  </a:txBody>
                  <a:tcPr marL="50292" marR="50292" marT="27432" marB="27432"/>
                </a:tc>
                <a:tc>
                  <a:txBody>
                    <a:bodyPr wrap="square"/>
                    <a:lstStyle/>
                    <a:p>
                      <a:r>
                        <a:rPr sz="1250" b="0">
                          <a:latin typeface="Calibri"/>
                        </a:rPr>
                        <a:t>0.035</a:t>
                      </a:r>
                    </a:p>
                  </a:txBody>
                  <a:tcPr marL="50292" marR="50292" marT="27432" marB="27432"/>
                </a:tc>
                <a:tc>
                  <a:txBody>
                    <a:bodyPr wrap="square"/>
                    <a:lstStyle/>
                    <a:p>
                      <a:r>
                        <a:rPr sz="1250" b="0">
                          <a:latin typeface="Calibri"/>
                        </a:rPr>
                        <a:t>0.031</a:t>
                      </a:r>
                    </a:p>
                  </a:txBody>
                  <a:tcPr marL="50292" marR="50292" marT="27432" marB="27432"/>
                </a:tc>
                <a:tc>
                  <a:txBody>
                    <a:bodyPr wrap="square"/>
                    <a:lstStyle/>
                    <a:p>
                      <a:r>
                        <a:rPr sz="1250" b="0">
                          <a:latin typeface="Calibri"/>
                        </a:rPr>
                        <a:t>W</a:t>
                      </a:r>
                    </a:p>
                  </a:txBody>
                  <a:tcPr marL="50292" marR="50292" marT="27432" marB="27432"/>
                </a:tc>
                <a:tc>
                  <a:txBody>
                    <a:bodyPr wrap="square"/>
                    <a:lstStyle/>
                    <a:p>
                      <a:r>
                        <a:rPr sz="1250" b="1">
                          <a:solidFill>
                            <a:srgbClr val="B00000"/>
                          </a:solidFill>
                          <a:latin typeface="Calibri"/>
                        </a:rPr>
                        <a:t>1.1× more</a:t>
                      </a:r>
                    </a:p>
                  </a:txBody>
                  <a:tcPr marL="50292" marR="50292" marT="27432" marB="27432"/>
                </a:tc>
              </a:tr>
              <a:tr h="404948">
                <a:tc>
                  <a:txBody>
                    <a:bodyPr wrap="square"/>
                    <a:lstStyle/>
                    <a:p>
                      <a:r>
                        <a:rPr sz="1250" b="0">
                          <a:latin typeface="Calibri"/>
                        </a:rPr>
                        <a:t>Converter efficiency</a:t>
                      </a:r>
                    </a:p>
                  </a:txBody>
                  <a:tcPr marL="50292" marR="50292" marT="27432" marB="27432"/>
                </a:tc>
                <a:tc>
                  <a:txBody>
                    <a:bodyPr wrap="square"/>
                    <a:lstStyle/>
                    <a:p>
                      <a:r>
                        <a:rPr sz="1250" b="0">
                          <a:latin typeface="Calibri"/>
                        </a:rPr>
                        <a:t>97.42</a:t>
                      </a:r>
                    </a:p>
                  </a:txBody>
                  <a:tcPr marL="50292" marR="50292" marT="27432" marB="27432"/>
                </a:tc>
                <a:tc>
                  <a:txBody>
                    <a:bodyPr wrap="square"/>
                    <a:lstStyle/>
                    <a:p>
                      <a:r>
                        <a:rPr sz="1250" b="0">
                          <a:latin typeface="Calibri"/>
                        </a:rPr>
                        <a:t>97.31</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1B7F5F"/>
                          </a:solidFill>
                          <a:latin typeface="Calibri"/>
                        </a:rPr>
                        <a:t>+0.11 pts</a:t>
                      </a:r>
                    </a:p>
                  </a:txBody>
                  <a:tcPr marL="50292" marR="50292" marT="27432" marB="27432"/>
                </a:tc>
              </a:tr>
              <a:tr h="404952">
                <a:tc>
                  <a:txBody>
                    <a:bodyPr wrap="square"/>
                    <a:lstStyle/>
                    <a:p>
                      <a:r>
                        <a:rPr sz="1250" b="0">
                          <a:latin typeface="Calibri"/>
                        </a:rPr>
                        <a:t>Switch-node overshoot</a:t>
                      </a:r>
                    </a:p>
                  </a:txBody>
                  <a:tcPr marL="50292" marR="50292" marT="27432" marB="27432"/>
                </a:tc>
                <a:tc>
                  <a:txBody>
                    <a:bodyPr wrap="square"/>
                    <a:lstStyle/>
                    <a:p>
                      <a:r>
                        <a:rPr sz="1250" b="0">
                          <a:latin typeface="Calibri"/>
                        </a:rPr>
                        <a:t>17.9</a:t>
                      </a:r>
                    </a:p>
                  </a:txBody>
                  <a:tcPr marL="50292" marR="50292" marT="27432" marB="27432"/>
                </a:tc>
                <a:tc>
                  <a:txBody>
                    <a:bodyPr wrap="square"/>
                    <a:lstStyle/>
                    <a:p>
                      <a:r>
                        <a:rPr sz="1250" b="0">
                          <a:latin typeface="Calibri"/>
                        </a:rPr>
                        <a:t>2.9</a:t>
                      </a:r>
                    </a:p>
                  </a:txBody>
                  <a:tcPr marL="50292" marR="50292" marT="27432" marB="27432"/>
                </a:tc>
                <a:tc>
                  <a:txBody>
                    <a:bodyPr wrap="square"/>
                    <a:lstStyle/>
                    <a:p>
                      <a:r>
                        <a:rPr sz="1250" b="0">
                          <a:latin typeface="Calibri"/>
                        </a:rPr>
                        <a:t>%</a:t>
                      </a:r>
                    </a:p>
                  </a:txBody>
                  <a:tcPr marL="50292" marR="50292" marT="27432" marB="27432"/>
                </a:tc>
                <a:tc>
                  <a:txBody>
                    <a:bodyPr wrap="square"/>
                    <a:lstStyle/>
                    <a:p>
                      <a:r>
                        <a:rPr sz="1250" b="1">
                          <a:solidFill>
                            <a:srgbClr val="B00000"/>
                          </a:solidFill>
                          <a:latin typeface="Calibri"/>
                        </a:rPr>
                        <a:t>6.2× more</a:t>
                      </a:r>
                    </a:p>
                  </a:txBody>
                  <a:tcPr marL="50292" marR="50292" marT="27432" marB="27432"/>
                </a:tc>
              </a:tr>
            </a:tbl>
          </a:graphicData>
        </a:graphic>
      </p:graphicFrame>
      <p:sp>
        <p:nvSpPr>
          <p:cNvPr id="7" name="TextBox 6"/>
          <p:cNvSpPr txBox="1"/>
          <p:nvPr/>
        </p:nvSpPr>
        <p:spPr>
          <a:xfrm>
            <a:off x="640080" y="4590288"/>
            <a:ext cx="11064240" cy="47548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last two rows are ours to answer. We spend 11 % more gate power and we overshoot 15 points harder, because we switch faster. That buys 1.3 ns of latency, 0.33 W in the devices and the crosstalk margin on the next slide.</a:t>
            </a:r>
          </a:p>
        </p:txBody>
      </p:sp>
      <p:sp>
        <p:nvSpPr>
          <p:cNvPr id="8" name="TextBox 7"/>
          <p:cNvSpPr txBox="1"/>
          <p:nvPr/>
        </p:nvSpPr>
        <p:spPr>
          <a:xfrm>
            <a:off x="640080" y="5138927"/>
            <a:ext cx="11064240" cy="10058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ngspice on sim/buck.cir with the driver subcircuit swapped: models/segdrv.lib against models/zhangdrv.lib. Identical devices, parasitics, timing and solver options, so any difference here is the control scheme and nothing else. Their pattern step is a delayed copy of their own PWM, so it lands the same distance after turn-on on every cycle, which is what their one-knob scheme does.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0.02 %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51.03 V</a:t>
                      </a:r>
                    </a:p>
                  </a:txBody>
                  <a:tcPr marL="50292" marR="50292" marT="27432" marB="27432"/>
                </a:tc>
                <a:tc>
                  <a:txBody>
                    <a:bodyPr wrap="square"/>
                    <a:lstStyle/>
                    <a:p>
                      <a:r>
                        <a:rPr sz="1100" b="0">
                          <a:latin typeface="Calibri"/>
                        </a:rPr>
                        <a:t>50.15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1.4 %, recovers in 22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60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we are not claiming.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hardware, costed</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7 of the 10 points outstanding. Not vague — three tiers, and we know which one is which.</a:t>
            </a:r>
          </a:p>
        </p:txBody>
      </p:sp>
      <p:graphicFrame>
        <p:nvGraphicFramePr>
          <p:cNvPr id="6" name="Table 5"/>
          <p:cNvGraphicFramePr>
            <a:graphicFrameLocks noGrp="1"/>
          </p:cNvGraphicFramePr>
          <p:nvPr/>
        </p:nvGraphicFramePr>
        <p:xfrm>
          <a:off x="640080" y="1572768"/>
          <a:ext cx="11064239" cy="2423160"/>
        </p:xfrm>
        <a:graphic>
          <a:graphicData uri="http://schemas.openxmlformats.org/drawingml/2006/table">
            <a:tbl>
              <a:tblPr firstRow="1">
                <a:tableStyleId>{5C22544A-7EE6-4342-B048-85BDC9FD1C3A}</a:tableStyleId>
              </a:tblPr>
              <a:tblGrid>
                <a:gridCol w="2323490"/>
                <a:gridCol w="4425696"/>
                <a:gridCol w="1438351"/>
                <a:gridCol w="1106424"/>
                <a:gridCol w="1770278"/>
              </a:tblGrid>
              <a:tr h="605790">
                <a:tc>
                  <a:txBody>
                    <a:bodyPr wrap="square"/>
                    <a:lstStyle/>
                    <a:p>
                      <a:r>
                        <a:rPr sz="1150" b="1">
                          <a:latin typeface="Calibri"/>
                        </a:rPr>
                        <a:t/>
                      </a:r>
                    </a:p>
                  </a:txBody>
                  <a:tcPr marL="50292" marR="50292" marT="27432" marB="27432"/>
                </a:tc>
                <a:tc>
                  <a:txBody>
                    <a:bodyPr wrap="square"/>
                    <a:lstStyle/>
                    <a:p>
                      <a:r>
                        <a:rPr sz="1150" b="1">
                          <a:latin typeface="Calibri"/>
                        </a:rPr>
                        <a:t>What gets measured</a:t>
                      </a:r>
                    </a:p>
                  </a:txBody>
                  <a:tcPr marL="50292" marR="50292" marT="27432" marB="27432"/>
                </a:tc>
                <a:tc>
                  <a:txBody>
                    <a:bodyPr wrap="square"/>
                    <a:lstStyle/>
                    <a:p>
                      <a:r>
                        <a:rPr sz="1150" b="1">
                          <a:latin typeface="Calibri"/>
                        </a:rPr>
                        <a:t>Cost</a:t>
                      </a:r>
                    </a:p>
                  </a:txBody>
                  <a:tcPr marL="50292" marR="50292" marT="27432" marB="27432"/>
                </a:tc>
                <a:tc>
                  <a:txBody>
                    <a:bodyPr wrap="square"/>
                    <a:lstStyle/>
                    <a:p>
                      <a:r>
                        <a:rPr sz="1150" b="1">
                          <a:latin typeface="Calibri"/>
                        </a:rPr>
                        <a:t>Time</a:t>
                      </a:r>
                    </a:p>
                  </a:txBody>
                  <a:tcPr marL="50292" marR="50292" marT="27432" marB="27432"/>
                </a:tc>
                <a:tc>
                  <a:txBody>
                    <a:bodyPr wrap="square"/>
                    <a:lstStyle/>
                    <a:p>
                      <a:r>
                        <a:rPr sz="1150" b="1">
                          <a:latin typeface="Calibri"/>
                        </a:rPr>
                        <a:t>Status</a:t>
                      </a:r>
                    </a:p>
                  </a:txBody>
                  <a:tcPr marL="50292" marR="50292" marT="27432" marB="27432"/>
                </a:tc>
              </a:tr>
              <a:tr h="605790">
                <a:tc>
                  <a:txBody>
                    <a:bodyPr wrap="square"/>
                    <a:lstStyle/>
                    <a:p>
                      <a:r>
                        <a:rPr sz="1100" b="0">
                          <a:latin typeface="Calibri"/>
                        </a:rPr>
                        <a:t>1.  FPGA on a real board</a:t>
                      </a:r>
                    </a:p>
                  </a:txBody>
                  <a:tcPr marL="50292" marR="50292" marT="27432" marB="27432"/>
                </a:tc>
                <a:tc>
                  <a:txBody>
                    <a:bodyPr wrap="square"/>
                    <a:lstStyle/>
                    <a:p>
                      <a:r>
                        <a:rPr sz="1100" b="0">
                          <a:latin typeface="Calibri"/>
                        </a:rPr>
                        <a:t>The 8+8 slice outputs toggling and dead_time_gen.v sweeping 5–35 ns, on silicon rather than in a report</a:t>
                      </a:r>
                    </a:p>
                  </a:txBody>
                  <a:tcPr marL="50292" marR="50292" marT="27432" marB="27432"/>
                </a:tc>
                <a:tc>
                  <a:txBody>
                    <a:bodyPr wrap="square"/>
                    <a:lstStyle/>
                    <a:p>
                      <a:r>
                        <a:rPr sz="1100" b="0">
                          <a:latin typeface="Calibri"/>
                        </a:rPr>
                        <a:t>₹8–12k
or a lab board</a:t>
                      </a:r>
                    </a:p>
                  </a:txBody>
                  <a:tcPr marL="50292" marR="50292" marT="27432" marB="27432"/>
                </a:tc>
                <a:tc>
                  <a:txBody>
                    <a:bodyPr wrap="square"/>
                    <a:lstStyle/>
                    <a:p>
                      <a:r>
                        <a:rPr sz="1100" b="0">
                          <a:latin typeface="Calibri"/>
                        </a:rPr>
                        <a:t>days</a:t>
                      </a:r>
                    </a:p>
                  </a:txBody>
                  <a:tcPr marL="50292" marR="50292" marT="27432" marB="27432"/>
                </a:tc>
                <a:tc>
                  <a:txBody>
                    <a:bodyPr wrap="square"/>
                    <a:lstStyle/>
                    <a:p>
                      <a:r>
                        <a:rPr sz="1100" b="1">
                          <a:solidFill>
                            <a:srgbClr val="1B7F5F"/>
                          </a:solidFill>
                          <a:latin typeface="Calibri"/>
                        </a:rPr>
                        <a:t>nearest</a:t>
                      </a:r>
                    </a:p>
                  </a:txBody>
                  <a:tcPr marL="50292" marR="50292" marT="27432" marB="27432"/>
                </a:tc>
              </a:tr>
              <a:tr h="605790">
                <a:tc>
                  <a:txBody>
                    <a:bodyPr wrap="square"/>
                    <a:lstStyle/>
                    <a:p>
                      <a:r>
                        <a:rPr sz="1100" b="0">
                          <a:latin typeface="Calibri"/>
                        </a:rPr>
                        <a:t>2.  GaN half-bridge eval board, 48 V</a:t>
                      </a:r>
                    </a:p>
                  </a:txBody>
                  <a:tcPr marL="50292" marR="50292" marT="27432" marB="27432"/>
                </a:tc>
                <a:tc>
                  <a:txBody>
                    <a:bodyPr wrap="square"/>
                    <a:lstStyle/>
                    <a:p>
                      <a:r>
                        <a:rPr sz="1100" b="0">
                          <a:latin typeface="Calibri"/>
                        </a:rPr>
                        <a:t>The OFF device's gate during the other's turn-on, with and without the −2 V rail — our central claim, on real silicon</a:t>
                      </a:r>
                    </a:p>
                  </a:txBody>
                  <a:tcPr marL="50292" marR="50292" marT="27432" marB="27432"/>
                </a:tc>
                <a:tc>
                  <a:txBody>
                    <a:bodyPr wrap="square"/>
                    <a:lstStyle/>
                    <a:p>
                      <a:r>
                        <a:rPr sz="1100" b="0">
                          <a:latin typeface="Calibri"/>
                        </a:rPr>
                        <a:t>₹15–25k</a:t>
                      </a:r>
                    </a:p>
                  </a:txBody>
                  <a:tcPr marL="50292" marR="50292" marT="27432" marB="27432"/>
                </a:tc>
                <a:tc>
                  <a:txBody>
                    <a:bodyPr wrap="square"/>
                    <a:lstStyle/>
                    <a:p>
                      <a:r>
                        <a:rPr sz="1100" b="0">
                          <a:latin typeface="Calibri"/>
                        </a:rPr>
                        <a:t>2–4 weeks</a:t>
                      </a:r>
                    </a:p>
                  </a:txBody>
                  <a:tcPr marL="50292" marR="50292" marT="27432" marB="27432"/>
                </a:tc>
                <a:tc>
                  <a:txBody>
                    <a:bodyPr wrap="square"/>
                    <a:lstStyle/>
                    <a:p>
                      <a:r>
                        <a:rPr sz="1100" b="1">
                          <a:solidFill>
                            <a:srgbClr val="1B7F5F"/>
                          </a:solidFill>
                          <a:latin typeface="Calibri"/>
                        </a:rPr>
                        <a:t>the one that matters</a:t>
                      </a:r>
                    </a:p>
                  </a:txBody>
                  <a:tcPr marL="50292" marR="50292" marT="27432" marB="27432"/>
                </a:tc>
              </a:tr>
              <a:tr h="605790">
                <a:tc>
                  <a:txBody>
                    <a:bodyPr wrap="square"/>
                    <a:lstStyle/>
                    <a:p>
                      <a:r>
                        <a:rPr sz="1100" b="0">
                          <a:latin typeface="Calibri"/>
                        </a:rPr>
                        <a:t>3.  The segmented driver itself</a:t>
                      </a:r>
                    </a:p>
                  </a:txBody>
                  <a:tcPr marL="50292" marR="50292" marT="27432" marB="27432"/>
                </a:tc>
                <a:tc>
                  <a:txBody>
                    <a:bodyPr wrap="square"/>
                    <a:lstStyle/>
                    <a:p>
                      <a:r>
                        <a:rPr sz="1100" b="0">
                          <a:latin typeface="Calibri"/>
                        </a:rPr>
                        <a:t>Everything above, on our own 8-slice stage at 100 V / 500 kHz</a:t>
                      </a:r>
                    </a:p>
                  </a:txBody>
                  <a:tcPr marL="50292" marR="50292" marT="27432" marB="27432"/>
                </a:tc>
                <a:tc>
                  <a:txBody>
                    <a:bodyPr wrap="square"/>
                    <a:lstStyle/>
                    <a:p>
                      <a:r>
                        <a:rPr sz="1100" b="0">
                          <a:latin typeface="Calibri"/>
                        </a:rPr>
                        <a:t>custom PCB,
several spins</a:t>
                      </a:r>
                    </a:p>
                  </a:txBody>
                  <a:tcPr marL="50292" marR="50292" marT="27432" marB="27432"/>
                </a:tc>
                <a:tc>
                  <a:txBody>
                    <a:bodyPr wrap="square"/>
                    <a:lstStyle/>
                    <a:p>
                      <a:r>
                        <a:rPr sz="1100" b="0">
                          <a:latin typeface="Calibri"/>
                        </a:rPr>
                        <a:t>months</a:t>
                      </a:r>
                    </a:p>
                  </a:txBody>
                  <a:tcPr marL="50292" marR="50292" marT="27432" marB="27432"/>
                </a:tc>
                <a:tc>
                  <a:txBody>
                    <a:bodyPr wrap="square"/>
                    <a:lstStyle/>
                    <a:p>
                      <a:r>
                        <a:rPr sz="1100" b="1">
                          <a:solidFill>
                            <a:srgbClr val="B00000"/>
                          </a:solidFill>
                          <a:latin typeface="Calibri"/>
                        </a:rPr>
                        <a:t>Review-III</a:t>
                      </a:r>
                    </a:p>
                  </a:txBody>
                  <a:tcPr marL="50292" marR="50292" marT="27432" marB="27432"/>
                </a:tc>
              </a:tr>
            </a:tbl>
          </a:graphicData>
        </a:graphic>
      </p:graphicFrame>
      <p:sp>
        <p:nvSpPr>
          <p:cNvPr id="7" name="TextBox 6"/>
          <p:cNvSpPr txBox="1"/>
          <p:nvPr/>
        </p:nvSpPr>
        <p:spPr>
          <a:xfrm>
            <a:off x="640080" y="4169663"/>
            <a:ext cx="11064240" cy="192024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constraints we already know, because they decide whether tier 2 produces evidence or noise.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Scope bandwidth. </a:t>
            </a:r>
            <a:r>
              <a:rPr lang="en-US" sz="1200" dirty="0">
                <a:solidFill>
                  <a:srgbClr val="000000"/>
                </a:solidFill>
                <a:latin typeface="Calibri" pitchFamily="34" charset="0"/>
                <a:ea typeface="Calibri" pitchFamily="34" charset="-122"/>
                <a:cs typeface="Calibri" pitchFamily="34" charset="-120"/>
              </a:rPr>
              <a:t xml:space="preserve">Our edge is 0.78 ns. Bandwidth needed is 0.35 / 0.78 ns ≈ 450 MHz to see the edge at all, realistically 1 GHz. On a 100 MHz teaching-lab scope the measurement would be of the scope.</a:t>
            </a:r>
          </a:p>
          <a:p>
            <a:pPr marL="177800" indent="-177800">
              <a:spcAft>
                <a:spcPts val="150"/>
              </a:spcAft>
              <a:buSzPct val="100000"/>
              <a:buChar char="•"/>
            </a:pPr>
            <a:r>
              <a:rPr lang="en-US" sz="1200" b="1" dirty="0">
                <a:solidFill>
                  <a:srgbClr val="000000"/>
                </a:solidFill>
                <a:latin typeface="Calibri" pitchFamily="34" charset="0"/>
                <a:ea typeface="Calibri" pitchFamily="34" charset="-122"/>
                <a:cs typeface="Calibri" pitchFamily="34" charset="-120"/>
              </a:rPr>
              <a:t xml:space="preserve">Probe grounding. </a:t>
            </a:r>
            <a:r>
              <a:rPr lang="en-US" sz="1200" dirty="0">
                <a:solidFill>
                  <a:srgbClr val="000000"/>
                </a:solidFill>
                <a:latin typeface="Calibri" pitchFamily="34" charset="0"/>
                <a:ea typeface="Calibri" pitchFamily="34" charset="-122"/>
                <a:cs typeface="Calibri" pitchFamily="34" charset="-120"/>
              </a:rPr>
              <a:t xml:space="preserve">A 10:1 probe with a ground clip carries roughly 10 nH in its ground lead, which manufactures ringing that is not in the circuit. A GaN gate has to be probed with a short pigtail or a coaxial connection, or the trace shows the probe.</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And one thing that is not a constraint but a fact: no commercial IC implements an 8-slice independently controllable segmented driver. Tier 3 is eight single-channel drivers in parallel, enabled per slice, summed through 8 Ω — which is exactly what models/segdrv.lib already describes.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