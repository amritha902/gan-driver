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317" r:id="rId60"/>
    <p:sldId id="261" r:id="rId7"/>
    <p:sldId id="300" r:id="rId43"/>
    <p:sldId id="301" r:id="rId44"/>
    <p:sldId id="302" r:id="rId45"/>
    <p:sldId id="323" r:id="rId66"/>
    <p:sldId id="328" r:id="rId71"/>
    <p:sldId id="260" r:id="rId6"/>
    <p:sldId id="283" r:id="rId34"/>
    <p:sldId id="325" r:id="rId68"/>
    <p:sldId id="326" r:id="rId69"/>
    <p:sldId id="336" r:id="rId79"/>
    <p:sldId id="337" r:id="rId80"/>
    <p:sldId id="338" r:id="rId81"/>
    <p:sldId id="340" r:id="rId83"/>
    <p:sldId id="324" r:id="rId67"/>
    <p:sldId id="329" r:id="rId72"/>
    <p:sldId id="339" r:id="rId82"/>
    <p:sldId id="332" r:id="rId75"/>
    <p:sldId id="333" r:id="rId76"/>
    <p:sldId id="334" r:id="rId77"/>
    <p:sldId id="335" r:id="rId78"/>
    <p:sldId id="330" r:id="rId73"/>
    <p:sldId id="331" r:id="rId74"/>
    <p:sldId id="321" r:id="rId6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5" r:id="rId58"/>
    <p:sldId id="327" r:id="rId70"/>
    <p:sldId id="291" r:id="rId35"/>
    <p:sldId id="293" r:id="rId30"/>
    <p:sldId id="308" r:id="rId51"/>
    <p:sldId id="307" r:id="rId50"/>
    <p:sldId id="309" r:id="rId52"/>
    <p:sldId id="310" r:id="rId53"/>
    <p:sldId id="311" r:id="rId54"/>
    <p:sldId id="312" r:id="rId55"/>
    <p:sldId id="313" r:id="rId56"/>
    <p:sldId id="314" r:id="rId57"/>
    <p:sldId id="263" r:id="rId9"/>
    <p:sldId id="294" r:id="rId28"/>
    <p:sldId id="292" r:id="rId32"/>
    <p:sldId id="275" r:id="rId26"/>
    <p:sldId id="276" r:id="rId27"/>
    <p:sldId id="264" r:id="rId10"/>
    <p:sldId id="273" r:id="rId24"/>
    <p:sldId id="285" r:id="rId36"/>
    <p:sldId id="319" r:id="rId62"/>
    <p:sldId id="320" r:id="rId63"/>
    <p:sldId id="322" r:id="rId65"/>
    <p:sldId id="318" r:id="rId61"/>
    <p:sldId id="262" r:id="rId8"/>
    <p:sldId id="272" r:id="rId23"/>
    <p:sldId id="344" r:id="rId87"/>
    <p:sldId id="271" r:id="rId22"/>
    <p:sldId id="265" r:id="rId11"/>
    <p:sldId id="290" r:id="rId4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6.xml"/><Relationship Id="rId3"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10.xml"/><Relationship Id="rId7" Type="http://schemas.openxmlformats.org/officeDocument/2006/relationships/slide" Target="slides/slide4.xml"/><Relationship Id="rId8" Type="http://schemas.openxmlformats.org/officeDocument/2006/relationships/slide" Target="slides/slide65.xml"/><Relationship Id="rId9" Type="http://schemas.openxmlformats.org/officeDocument/2006/relationships/slide" Target="slides/slide53.xml"/><Relationship Id="rId10" Type="http://schemas.openxmlformats.org/officeDocument/2006/relationships/slide" Target="slides/slide58.xml"/><Relationship Id="rId11" Type="http://schemas.openxmlformats.org/officeDocument/2006/relationships/slide" Target="slides/slide69.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28.xml"/><Relationship Id="rId19" Type="http://schemas.openxmlformats.org/officeDocument/2006/relationships/slide" Target="slides/slide37.xml"/><Relationship Id="rId21" Type="http://schemas.openxmlformats.org/officeDocument/2006/relationships/slide" Target="slides/slide40.xml"/><Relationship Id="rId22" Type="http://schemas.openxmlformats.org/officeDocument/2006/relationships/slide" Target="slides/slide68.xml"/><Relationship Id="rId23" Type="http://schemas.openxmlformats.org/officeDocument/2006/relationships/slide" Target="slides/slide66.xml"/><Relationship Id="rId24" Type="http://schemas.openxmlformats.org/officeDocument/2006/relationships/slide" Target="slides/slide59.xml"/><Relationship Id="rId26" Type="http://schemas.openxmlformats.org/officeDocument/2006/relationships/slide" Target="slides/slide56.xml"/><Relationship Id="rId27" Type="http://schemas.openxmlformats.org/officeDocument/2006/relationships/slide" Target="slides/slide57.xml"/><Relationship Id="rId28" Type="http://schemas.openxmlformats.org/officeDocument/2006/relationships/slide" Target="slides/slide54.xml"/><Relationship Id="rId29" Type="http://schemas.openxmlformats.org/officeDocument/2006/relationships/slide" Target="slides/slide35.xml"/><Relationship Id="rId30" Type="http://schemas.openxmlformats.org/officeDocument/2006/relationships/slide" Target="slides/slide44.xml"/><Relationship Id="rId31" Type="http://schemas.openxmlformats.org/officeDocument/2006/relationships/slide" Target="slides/slide34.xml"/><Relationship Id="rId32" Type="http://schemas.openxmlformats.org/officeDocument/2006/relationships/slide" Target="slides/slide55.xml"/><Relationship Id="rId33" Type="http://schemas.openxmlformats.org/officeDocument/2006/relationships/slide" Target="slides/slide29.xml"/><Relationship Id="rId34" Type="http://schemas.openxmlformats.org/officeDocument/2006/relationships/slide" Target="slides/slide11.xml"/><Relationship Id="rId35" Type="http://schemas.openxmlformats.org/officeDocument/2006/relationships/slide" Target="slides/slide43.xml"/><Relationship Id="rId36" Type="http://schemas.openxmlformats.org/officeDocument/2006/relationships/slide" Target="slides/slide60.xml"/><Relationship Id="rId40" Type="http://schemas.openxmlformats.org/officeDocument/2006/relationships/slide" Target="slides/slide38.xml"/><Relationship Id="rId41" Type="http://schemas.openxmlformats.org/officeDocument/2006/relationships/slide" Target="slides/slide70.xml"/><Relationship Id="rId42" Type="http://schemas.openxmlformats.org/officeDocument/2006/relationships/slide" Target="slides/slide39.xml"/><Relationship Id="rId43" Type="http://schemas.openxmlformats.org/officeDocument/2006/relationships/slide" Target="slides/slide5.xml"/><Relationship Id="rId44" Type="http://schemas.openxmlformats.org/officeDocument/2006/relationships/slide" Target="slides/slide6.xml"/><Relationship Id="rId45" Type="http://schemas.openxmlformats.org/officeDocument/2006/relationships/slide" Target="slides/slide7.xml"/><Relationship Id="rId46" Type="http://schemas.openxmlformats.org/officeDocument/2006/relationships/slide" Target="slides/slide30.xml"/><Relationship Id="rId47" Type="http://schemas.openxmlformats.org/officeDocument/2006/relationships/slide" Target="slides/slide31.xml"/><Relationship Id="rId48" Type="http://schemas.openxmlformats.org/officeDocument/2006/relationships/slide" Target="slides/slide32.xml"/><Relationship Id="rId49" Type="http://schemas.openxmlformats.org/officeDocument/2006/relationships/slide" Target="slides/slide33.xml"/><Relationship Id="rId50" Type="http://schemas.openxmlformats.org/officeDocument/2006/relationships/slide" Target="slides/slide46.xml"/><Relationship Id="rId51" Type="http://schemas.openxmlformats.org/officeDocument/2006/relationships/slide" Target="slides/slide45.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41.xml"/><Relationship Id="rId59" Type="http://schemas.openxmlformats.org/officeDocument/2006/relationships/slide" Target="slides/slide71.xml"/><Relationship Id="rId60" Type="http://schemas.openxmlformats.org/officeDocument/2006/relationships/slide" Target="slides/slide3.xml"/><Relationship Id="rId61" Type="http://schemas.openxmlformats.org/officeDocument/2006/relationships/slide" Target="slides/slide64.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27.xml"/><Relationship Id="rId65" Type="http://schemas.openxmlformats.org/officeDocument/2006/relationships/slide" Target="slides/slide63.xml"/><Relationship Id="rId66" Type="http://schemas.openxmlformats.org/officeDocument/2006/relationships/slide" Target="slides/slide8.xml"/><Relationship Id="rId67" Type="http://schemas.openxmlformats.org/officeDocument/2006/relationships/slide" Target="slides/slide18.xml"/><Relationship Id="rId68" Type="http://schemas.openxmlformats.org/officeDocument/2006/relationships/slide" Target="slides/slide12.xml"/><Relationship Id="rId69" Type="http://schemas.openxmlformats.org/officeDocument/2006/relationships/slide" Target="slides/slide13.xml"/><Relationship Id="rId70" Type="http://schemas.openxmlformats.org/officeDocument/2006/relationships/slide" Target="slides/slide42.xml"/><Relationship Id="rId71" Type="http://schemas.openxmlformats.org/officeDocument/2006/relationships/slide" Target="slides/slide9.xml"/><Relationship Id="rId72" Type="http://schemas.openxmlformats.org/officeDocument/2006/relationships/slide" Target="slides/slide19.xml"/><Relationship Id="rId73" Type="http://schemas.openxmlformats.org/officeDocument/2006/relationships/slide" Target="slides/slide25.xml"/><Relationship Id="rId74" Type="http://schemas.openxmlformats.org/officeDocument/2006/relationships/slide" Target="slides/slide26.xml"/><Relationship Id="rId75" Type="http://schemas.openxmlformats.org/officeDocument/2006/relationships/slide" Target="slides/slide21.xml"/><Relationship Id="rId76" Type="http://schemas.openxmlformats.org/officeDocument/2006/relationships/slide" Target="slides/slide22.xml"/><Relationship Id="rId77" Type="http://schemas.openxmlformats.org/officeDocument/2006/relationships/slide" Target="slides/slide23.xml"/><Relationship Id="rId78" Type="http://schemas.openxmlformats.org/officeDocument/2006/relationships/slide" Target="slides/slide24.xml"/><Relationship Id="rId79" Type="http://schemas.openxmlformats.org/officeDocument/2006/relationships/slide" Target="slides/slide14.xml"/><Relationship Id="rId80" Type="http://schemas.openxmlformats.org/officeDocument/2006/relationships/slide" Target="slides/slide15.xml"/><Relationship Id="rId81" Type="http://schemas.openxmlformats.org/officeDocument/2006/relationships/slide" Target="slides/slide16.xml"/><Relationship Id="rId82" Type="http://schemas.openxmlformats.org/officeDocument/2006/relationships/slide" Target="slides/slide20.xml"/><Relationship Id="rId83" Type="http://schemas.openxmlformats.org/officeDocument/2006/relationships/slide" Target="slides/slide17.xml"/><Relationship Id="rId87"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4.png"/><Relationship Id="rId7" Type="http://schemas.openxmlformats.org/officeDocument/2006/relationships/image" Target="../media/image4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Latency and device power — the two you asked for</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Same converter, same device class. Silicon → base paper changes the device; base paper → ours changes the control.</a:t>
            </a:r>
          </a:p>
        </p:txBody>
      </p:sp>
      <p:pic>
        <p:nvPicPr>
          <p:cNvPr id="6" name="Picture 5" descr="fig_latency_power.png"/>
          <p:cNvPicPr>
            <a:picLocks noChangeAspect="1"/>
          </p:cNvPicPr>
          <p:nvPr/>
        </p:nvPicPr>
        <p:blipFill>
          <a:blip r:embed="rId4"/>
          <a:stretch>
            <a:fillRect/>
          </a:stretch>
        </p:blipFill>
        <p:spPr>
          <a:xfrm>
            <a:off x="975792" y="1645920"/>
            <a:ext cx="10240108" cy="3749039"/>
          </a:xfrm>
          <a:prstGeom prst="rect">
            <a:avLst/>
          </a:prstGeom>
        </p:spPr>
      </p:pic>
      <p:sp>
        <p:nvSpPr>
          <p:cNvPr id="7" name="TextBox 6"/>
          <p:cNvSpPr txBox="1"/>
          <p:nvPr/>
        </p:nvSpPr>
        <p:spPr>
          <a:xfrm>
            <a:off x="502920" y="5577840"/>
            <a:ext cx="10838382"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Against silicon that is 6.3× and 3.3×; against the base paper's control on the same GaN device, 1.5× and 1.1×. The device swap buys most of it and the control swap buys the rest — which is the honest shape of the result. Same file the tables read, results/panel_metrics.csv. scripts/latency_power_figure.py.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11</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answer depend on the weight we chose?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cost = E_tot + W_OV · ov_pct, swept over two orders of magnitude.</a:t>
            </a:r>
          </a:p>
        </p:txBody>
      </p:sp>
      <p:pic>
        <p:nvPicPr>
          <p:cNvPr id="6" name="Picture 5" descr="fig_wov_sensitivity.png"/>
          <p:cNvPicPr>
            <a:picLocks noChangeAspect="1"/>
          </p:cNvPicPr>
          <p:nvPr/>
        </p:nvPicPr>
        <p:blipFill>
          <a:blip r:embed="rId4"/>
          <a:stretch>
            <a:fillRect/>
          </a:stretch>
        </p:blipFill>
        <p:spPr>
          <a:xfrm>
            <a:off x="3170048" y="1463040"/>
            <a:ext cx="5851599"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The honest answer is two-part, and the second part is the one to say. (B) ranges 8.3–23.1 % of the gain across the sweep, so the 8.9 % headline IS weight-dependent — weight overshoot harder and adapting matters more, which is physical, because overshoot is what varies most across corners. What does not move: the fixed word takes at least 77 % of the gain at every weight tried. scripts/grid_robustness.py.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distribution behind the 2.6 %</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What one fixed word costs at each of the 36 corners, sorted.</a:t>
            </a:r>
          </a:p>
        </p:txBody>
      </p:sp>
      <p:pic>
        <p:nvPicPr>
          <p:cNvPr id="6" name="Picture 5" descr="fig_corner_penalty.png"/>
          <p:cNvPicPr>
            <a:picLocks noChangeAspect="1"/>
          </p:cNvPicPr>
          <p:nvPr/>
        </p:nvPicPr>
        <p:blipFill>
          <a:blip r:embed="rId4"/>
          <a:stretch>
            <a:fillRect/>
          </a:stretch>
        </p:blipFill>
        <p:spPr>
          <a:xfrm>
            <a:off x="3005495" y="1463040"/>
            <a:ext cx="6180704"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2.6 % is a mean over these 36 bars and the mean alone is not the whole truth: the median is 1.9 %, but 10 of 36 corners cost more than 5 % and the worst — 200 V / 2 A / 125 °C — costs 16.5 %. That corner is also outside the 50–150 V envelope this device is rated for. Quote the distribution, not the mean.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optimum moves. The cost of ignoring it does not.</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Per-corner best word against the one fixed word, all 36 corners.</a:t>
            </a:r>
          </a:p>
        </p:txBody>
      </p:sp>
      <p:pic>
        <p:nvPicPr>
          <p:cNvPr id="6" name="Picture 5" descr="fig_fixed_vs_optimum.png"/>
          <p:cNvPicPr>
            <a:picLocks noChangeAspect="1"/>
          </p:cNvPicPr>
          <p:nvPr/>
        </p:nvPicPr>
        <p:blipFill>
          <a:blip r:embed="rId4"/>
          <a:stretch>
            <a:fillRect/>
          </a:stretch>
        </p:blipFill>
        <p:spPr>
          <a:xfrm>
            <a:off x="2864825" y="1463040"/>
            <a:ext cx="6462045"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Ten distinct words win across the 36 corners, so the optimum genuinely moves — and that is the objection this slide answers. The two curves sit on top of each other anyway: the shaded gap between them IS the adaptive gain, 2.6 % of the baseline. Segmentation still shapes the edge; it just does not need to be scheduled.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Is the 36-corner grid dense enough?</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split re-estimated on 250 random corner subsets at each size.</a:t>
            </a:r>
          </a:p>
        </p:txBody>
      </p:sp>
      <p:pic>
        <p:nvPicPr>
          <p:cNvPr id="6" name="Picture 5" descr="fig_grid_subsample.png"/>
          <p:cNvPicPr>
            <a:picLocks noChangeAspect="1"/>
          </p:cNvPicPr>
          <p:nvPr/>
        </p:nvPicPr>
        <p:blipFill>
          <a:blip r:embed="rId4"/>
          <a:stretch>
            <a:fillRect/>
          </a:stretch>
        </p:blipFill>
        <p:spPr>
          <a:xfrm>
            <a:off x="2840687" y="1463040"/>
            <a:ext cx="6510320"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At four corners the estimate scatters over 0–23 %, which is why the earlier n = 4 study reported a different share; by 27 it sits on the full-grid answer. Stated precisely: this tests stability under COARSENING and is evidence the grid is dense enough. It cannot prove a finer grid would agree — that needs new transients.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the negative rail costs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V_off swept 0 to −5 V at two loads. Margin against dead-time energy.</a:t>
            </a:r>
          </a:p>
        </p:txBody>
      </p:sp>
      <p:pic>
        <p:nvPicPr>
          <p:cNvPr id="6" name="Picture 5" descr="fig_voff_tradeoff.png"/>
          <p:cNvPicPr>
            <a:picLocks noChangeAspect="1"/>
          </p:cNvPicPr>
          <p:nvPr/>
        </p:nvPicPr>
        <p:blipFill>
          <a:blip r:embed="rId4"/>
          <a:stretch>
            <a:fillRect/>
          </a:stretch>
        </p:blipFill>
        <p:spPr>
          <a:xfrm>
            <a:off x="3874357" y="1463040"/>
            <a:ext cx="4442980"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The −2 V rail was chosen from the crosstalk side alone, and this is the other side of that choice. An E-mode GaN HEMT has no body diode, so during dead time it conducts in the third quadrant at roughly V_th + |V_off| + I·R_ds(on) — every volt of off-bias is paid on every dead-time interval. Margin rises at a flat 1 V per volt throughout. The cost does not: at 10 A it is 0.004 µJ/V just above −2 V and 0.246 µJ/V just below, sixty times steeper. −2 V sits on the knee, which is a result rather than a justification. scripts/voff_sweep.py.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hot-corner lead rest on two typed-in numbers?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Both derating slopes perturbed ±50 %, hot corner re-run for both drivers.</a:t>
            </a:r>
          </a:p>
        </p:txBody>
      </p:sp>
      <p:pic>
        <p:nvPicPr>
          <p:cNvPr id="6" name="Picture 5" descr="fig_temp_sensitivity.png"/>
          <p:cNvPicPr>
            <a:picLocks noChangeAspect="1"/>
          </p:cNvPicPr>
          <p:nvPr/>
        </p:nvPicPr>
        <p:blipFill>
          <a:blip r:embed="rId4"/>
          <a:stretch>
            <a:fillRect/>
          </a:stretch>
        </p:blipFill>
        <p:spPr>
          <a:xfrm>
            <a:off x="1412198" y="1463040"/>
            <a:ext cx="9367298"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sim/dpt.cir derates the device through KT = 1 + 0.009·(TJ−25) and V_th = 1.4 − 0.0015·(TJ−25). Neither is a datasheet fit — there is no vendor model in the repository to fit against, and that is remaining work, not a result. What can be shown is whether the lead is manufactured by their exact values, and it is not: across ±50 % on either slope the lead runs 9.1–20.3× against 12.4× as shipped. Our margin barely moves; theirs collapses either way. scripts/temp_sensitivity.py.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29</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23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30 — </a:t>
            </a:r>
            <a:r>
              <a:rPr lang="en-US" sz="1150" dirty="0">
                <a:solidFill>
                  <a:srgbClr val="000000"/>
                </a:solidFill>
                <a:latin typeface="Calibri" pitchFamily="34" charset="0"/>
                <a:ea typeface="Calibri" pitchFamily="34" charset="-122"/>
                <a:cs typeface="Calibri" pitchFamily="34" charset="-120"/>
              </a:rPr>
              <a:t xml:space="preserve">Four parts, 94 s, click to play. The circuit as its KiCad sheet, the tools named and versioned, the output with what to look at pointed at,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scripts/demo_review2.py,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Or we can run it now</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whatever machine is in this room.</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recording, if the room will not cooperate</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what it draws when it does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nothing else can be moving. It prints what it measured beside what these slides claim — OFF gate 1.649 V against the deck's 1.65, margin 2.576 V against the deck's 2.576 — then draws the waveforms those two runs produced. 3.8 s of that is ngspice; the rest is drawing. scripts/live_demo.py.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32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97.49 % efficient.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33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35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TOP: the switch node falls from 106 V in 2.90 ns, peaking at 124 V/ns — that dv/dt drives i = C_GD·dv/dt into the OFF device's gate, and is the cause. BOTTOM: that gate. Without the clamp it rests at +0.005 V, is lifted +1.643 V and peaks at +1.649 V, past the 1.4 V threshold — false_turn_on = 1. With the clamp and the −2 V rail it rests at -1.941 V, is lifted only +0.765 V and peaks at -1.176 V — false_turn_on = 0. The two fixes are not one mechanism: the rail moves where the gate STARTS, the clamp shortens the LIFT by giving the injected charge a 0.5 Ω path out. scripts/waveform_anatomy.py.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40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41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42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44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45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46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47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58.3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0.02 % against open loop's 16.65 %. Load step recovers in 4 µs, line step in 22 µs. Ripple 0.25 %, efficiency 96.1 %, start-up overshoot 3.8 %.</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0.02 % error through a 2× load step and a 20 % line step; open loop walks to 58.3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Simulating harder will not deliver either.</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on this slide because we would rather they were argued with than discovered.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48.50 V DC out at 4.869 A — 236.26 W, 97.49 %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Review-III — place-and-route on a chosen board, then a hardware half-bridge measured on a bench. That is the whole of the remaining risk: nothing here has been built.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Also at 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