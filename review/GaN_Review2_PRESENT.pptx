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261" r:id="rId7"/>
    <p:sldId id="274" r:id="rId25"/>
    <p:sldId id="278" r:id="rId29"/>
    <p:sldId id="341" r:id="rId84"/>
    <p:sldId id="315" r:id="rId58"/>
    <p:sldId id="316" r:id="rId59"/>
    <p:sldId id="317" r:id="rId60"/>
    <p:sldId id="318" r:id="rId61"/>
    <p:sldId id="319" r:id="rId62"/>
    <p:sldId id="320" r:id="rId63"/>
    <p:sldId id="332" r:id="rId75"/>
    <p:sldId id="309" r:id="rId52"/>
    <p:sldId id="334" r:id="rId77"/>
    <p:sldId id="326" r:id="rId69"/>
    <p:sldId id="262" r:id="rId8"/>
    <p:sldId id="265" r:id="rId11"/>
    <p:sldId id="321" r:id="rId6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xml"/><Relationship Id="rId5"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17.xml"/><Relationship Id="rId11" Type="http://schemas.openxmlformats.org/officeDocument/2006/relationships/slide" Target="slides/slide18.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5" Type="http://schemas.openxmlformats.org/officeDocument/2006/relationships/slide" Target="slides/slide4.xml"/><Relationship Id="rId29" Type="http://schemas.openxmlformats.org/officeDocument/2006/relationships/slide" Target="slides/slide5.xml"/><Relationship Id="rId52" Type="http://schemas.openxmlformats.org/officeDocument/2006/relationships/slide" Target="slides/slide14.xml"/><Relationship Id="rId58" Type="http://schemas.openxmlformats.org/officeDocument/2006/relationships/slide" Target="slides/slide7.xml"/><Relationship Id="rId59" Type="http://schemas.openxmlformats.org/officeDocument/2006/relationships/slide" Target="slides/slide8.xml"/><Relationship Id="rId60" Type="http://schemas.openxmlformats.org/officeDocument/2006/relationships/slide" Target="slides/slide9.xml"/><Relationship Id="rId61" Type="http://schemas.openxmlformats.org/officeDocument/2006/relationships/slide" Target="slides/slide10.xml"/><Relationship Id="rId62" Type="http://schemas.openxmlformats.org/officeDocument/2006/relationships/slide" Target="slides/slide11.xml"/><Relationship Id="rId63" Type="http://schemas.openxmlformats.org/officeDocument/2006/relationships/slide" Target="slides/slide12.xml"/><Relationship Id="rId64" Type="http://schemas.openxmlformats.org/officeDocument/2006/relationships/slide" Target="slides/slide19.xml"/><Relationship Id="rId69" Type="http://schemas.openxmlformats.org/officeDocument/2006/relationships/slide" Target="slides/slide16.xml"/><Relationship Id="rId75" Type="http://schemas.openxmlformats.org/officeDocument/2006/relationships/slide" Target="slides/slide13.xml"/><Relationship Id="rId77" Type="http://schemas.openxmlformats.org/officeDocument/2006/relationships/slide" Target="slides/slide15.xml"/><Relationship Id="rId84"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 Id="rId7" Type="http://schemas.openxmlformats.org/officeDocument/2006/relationships/hyperlink" Target="https://github.com/Amritha902/gan-driver/blob/main/sim/buck.cir" TargetMode="External"/><Relationship Id="rId8" Type="http://schemas.openxmlformats.org/officeDocument/2006/relationships/hyperlink" Target="https://github.com/Amritha902/gan-driver/blob/main/scripts/kicad_schematic.py" TargetMode="External"/><Relationship Id="rId9" Type="http://schemas.openxmlformats.org/officeDocument/2006/relationships/hyperlink" Target="https://github.com/Amritha902/gan-driver/blob/main/kicad/gan_buck.kicad_sch"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7.png"/><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hyperlink" Target="https://github.com/Amritha902/gan-driver/blob/main/kicad/gan_buck.kicad_sch" TargetMode="External"/><Relationship Id="rId6" Type="http://schemas.openxmlformats.org/officeDocument/2006/relationships/hyperlink" Target="https://github.com/Amritha902/gan-driver/blob/main/kicad/gan_zhangdrv.kicad_sch" TargetMode="External"/><Relationship Id="rId7" Type="http://schemas.openxmlformats.org/officeDocument/2006/relationships/hyperlink" Target="https://github.com/Amritha902/gan-driver/blob/main/kicad/gan_segdrv.kicad_sch"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hyperlink" Target="https://github.com/Amritha902/gan-driver/blob/main/kicad/gan_zhangdrv.kicad_sch" TargetMode="External"/><Relationship Id="rId6" Type="http://schemas.openxmlformats.org/officeDocument/2006/relationships/hyperlink" Target="https://github.com/Amritha902/gan-driver/blob/main/kicad/gan_segdrv.kicad_sch" TargetMode="External"/><Relationship Id="rId7" Type="http://schemas.openxmlformats.org/officeDocument/2006/relationships/hyperlink" Target="https://github.com/Amritha902/gan-driver/blob/main/scripts/record_kicad.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models/zhangdrv.lib" TargetMode="External"/><Relationship Id="rId6" Type="http://schemas.openxmlformats.org/officeDocument/2006/relationships/hyperlink" Target="https://github.com/Amritha902/gan-driver/blob/main/models/segdrv.lib" TargetMode="External"/><Relationship Id="rId7" Type="http://schemas.openxmlformats.org/officeDocument/2006/relationships/hyperlink" Target="https://github.com/Amritha902/gan-driver/blob/main/models/egan.lib" TargetMode="External"/><Relationship Id="rId8" Type="http://schemas.openxmlformats.org/officeDocument/2006/relationships/hyperlink" Target="https://github.com/Amritha902/gan-driver/blob/main/scripts/headtohead.py" TargetMode="External"/><Relationship Id="rId9" Type="http://schemas.openxmlformats.org/officeDocument/2006/relationships/hyperlink" Target="https://github.com/Amritha902/gan-driver/blob/main/results/headtohead.txt" TargetMode="External"/><Relationship Id="rId10" Type="http://schemas.openxmlformats.org/officeDocument/2006/relationships/hyperlink" Target="https://github.com/Amritha902/gan-driver/blob/main/results/RESULTS-SUMMARY.txt" TargetMode="External"/><Relationship Id="rId11" Type="http://schemas.openxmlformats.org/officeDocument/2006/relationships/hyperlink" Target="https://github.com/Amritha902/gan-driver/blob/main/review/check_consistency.p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8.png"/><Relationship Id="rId7" Type="http://schemas.openxmlformats.org/officeDocument/2006/relationships/hyperlink" Target="https://github.com/Amritha902/gan-driver/blob/main/models/zhangdrv.lib" TargetMode="External"/><Relationship Id="rId8" Type="http://schemas.openxmlformats.org/officeDocument/2006/relationships/hyperlink" Target="https://github.com/Amritha902/gan-driver/blob/main/sim/dpt.cir" TargetMode="External"/><Relationship Id="rId9" Type="http://schemas.openxmlformats.org/officeDocument/2006/relationships/hyperlink" Target="https://github.com/Amritha902/gan-driver/blob/main/kicad/gan_zhangdrv.kicad_sch" TargetMode="External"/><Relationship Id="rId10" Type="http://schemas.openxmlformats.org/officeDocument/2006/relationships/hyperlink" Target="https://github.com/Amritha902/gan-driver/blob/main/scripts/headtohead.py" TargetMode="External"/><Relationship Id="rId11" Type="http://schemas.openxmlformats.org/officeDocument/2006/relationships/hyperlink" Target="https://github.com/Amritha902/gan-driver/blob/main/results/headtohead.tx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39.png"/><Relationship Id="rId7" Type="http://schemas.openxmlformats.org/officeDocument/2006/relationships/hyperlink" Target="https://github.com/Amritha902/gan-driver/blob/main/models/segdrv.lib" TargetMode="External"/><Relationship Id="rId8" Type="http://schemas.openxmlformats.org/officeDocument/2006/relationships/hyperlink" Target="https://github.com/Amritha902/gan-driver/blob/main/sim/dpt.cir"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4.mp4"/><Relationship Id="rId5" Type="http://schemas.openxmlformats.org/officeDocument/2006/relationships/video" Target="../media/media4.mp4"/><Relationship Id="rId6" Type="http://schemas.openxmlformats.org/officeDocument/2006/relationships/image" Target="../media/image40.png"/><Relationship Id="rId7" Type="http://schemas.openxmlformats.org/officeDocument/2006/relationships/hyperlink" Target="https://github.com/Amritha902/gan-driver/blob/main/kicad/gan_buck.kicad_sch" TargetMode="External"/><Relationship Id="rId8" Type="http://schemas.openxmlformats.org/officeDocument/2006/relationships/hyperlink" Target="https://github.com/Amritha902/gan-driver/blob/main/scripts/demo_review2.py"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5.mp4"/><Relationship Id="rId5" Type="http://schemas.openxmlformats.org/officeDocument/2006/relationships/video" Target="../media/media5.mp4"/><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hyperlink" Target="https://github.com/Amritha902/gan-driver/blob/main/proof/LIVE-SIM.sh" TargetMode="External"/><Relationship Id="rId9" Type="http://schemas.openxmlformats.org/officeDocument/2006/relationships/hyperlink" Target="https://github.com/Amritha902/gan-driver/blob/main/scripts/live_demo.py"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blob/main/sim/dpt.cir" TargetMode="External"/><Relationship Id="rId5" Type="http://schemas.openxmlformats.org/officeDocument/2006/relationships/hyperlink" Target="https://github.com/Amritha902/gan-driver/blob/main/scripts/waveform_anatomy.p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 Id="rId5" Type="http://schemas.openxmlformats.org/officeDocument/2006/relationships/hyperlink" Target="https://github.com/Amritha902/gan-driver/blob/main/scripts/three_way_figure.py" TargetMode="External"/><Relationship Id="rId6" Type="http://schemas.openxmlformats.org/officeDocument/2006/relationships/hyperlink" Target="https://github.com/Amritha902/gan-driver/blob/main/results/panel_metrics.csv"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hyperlink" Target="https://github.com/Amritha902/gan-driver/blob/main/scripts/headtohead.py" TargetMode="External"/><Relationship Id="rId6" Type="http://schemas.openxmlformats.org/officeDocument/2006/relationships/hyperlink" Target="https://github.com/Amritha902/gan-driver/blob/main/models/zhangdrv.lib"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hyperlink" Target="https://github.com/Amritha902/gan-driver/blob/main/models/zhangdrv.lib"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github.com/Amritha902/gan-driv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reported gains do not separate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60" cy="4070543"/>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a:t>
            </a:r>
            <a:r>
              <a:rPr lang="en-US" sz="1150" dirty="0">
                <a:solidFill>
                  <a:srgbClr val="000000"/>
                </a:solidFill>
                <a:latin typeface="Calibri" pitchFamily="34" charset="0"/>
                <a:ea typeface="Calibri" pitchFamily="34" charset="-122"/>
                <a:cs typeface="Calibri" pitchFamily="34" charset="-120"/>
                <a:hlinkClick r:id="rId7"/>
              </a:rPr>
              <a:t xml:space="preserve">sim/buck.cir</a:t>
            </a:r>
            <a:r>
              <a:rPr lang="en-US" sz="1150" dirty="0">
                <a:solidFill>
                  <a:srgbClr val="000000"/>
                </a:solidFill>
                <a:latin typeface="Calibri" pitchFamily="34" charset="0"/>
                <a:ea typeface="Calibri" pitchFamily="34" charset="-122"/>
                <a:cs typeface="Calibri" pitchFamily="34" charset="-120"/>
              </a:rPr>
              <a:t xml:space="preserve"> by </a:t>
            </a:r>
            <a:r>
              <a:rPr lang="en-US" sz="1150" dirty="0">
                <a:solidFill>
                  <a:srgbClr val="000000"/>
                </a:solidFill>
                <a:latin typeface="Calibri" pitchFamily="34" charset="0"/>
                <a:ea typeface="Calibri" pitchFamily="34" charset="-122"/>
                <a:cs typeface="Calibri" pitchFamily="34" charset="-120"/>
                <a:hlinkClick r:id="rId8"/>
              </a:rPr>
              <a:t xml:space="preserve">scripts/kicad_schematic.py</a:t>
            </a:r>
            <a:r>
              <a:rPr lang="en-US" sz="1150" dirty="0">
                <a:solidFill>
                  <a:srgbClr val="000000"/>
                </a:solidFill>
                <a:latin typeface="Calibri" pitchFamily="34" charset="0"/>
                <a:ea typeface="Calibri" pitchFamily="34" charset="-122"/>
                <a:cs typeface="Calibri" pitchFamily="34" charset="-120"/>
              </a:rPr>
              <a:t xml:space="preserve"> into </a:t>
            </a:r>
            <a:r>
              <a:rPr lang="en-US" sz="1150" dirty="0">
                <a:solidFill>
                  <a:srgbClr val="000000"/>
                </a:solidFill>
                <a:latin typeface="Calibri" pitchFamily="34" charset="0"/>
                <a:ea typeface="Calibri" pitchFamily="34" charset="-122"/>
                <a:cs typeface="Calibri" pitchFamily="34" charset="-120"/>
                <a:hlinkClick r:id="rId9"/>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add that they do not have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Same command, same segmented output stage, same power stage. Three blocks added — in green.</a:t>
            </a:r>
          </a:p>
        </p:txBody>
      </p:sp>
      <p:pic>
        <p:nvPicPr>
          <p:cNvPr id="6" name="Picture 5" descr="fig_arch_delta.png"/>
          <p:cNvPicPr>
            <a:picLocks noChangeAspect="1"/>
          </p:cNvPicPr>
          <p:nvPr/>
        </p:nvPicPr>
        <p:blipFill>
          <a:blip r:embed="rId4"/>
          <a:stretch>
            <a:fillRect/>
          </a:stretch>
        </p:blipFill>
        <p:spPr>
          <a:xfrm>
            <a:off x="3926811" y="1353312"/>
            <a:ext cx="4338073" cy="4315968"/>
          </a:xfrm>
          <a:prstGeom prst="rect">
            <a:avLst/>
          </a:prstGeom>
        </p:spPr>
      </p:pic>
      <p:sp>
        <p:nvSpPr>
          <p:cNvPr id="7" name="TextBox 6"/>
          <p:cNvSpPr txBox="1"/>
          <p:nvPr/>
        </p:nvSpPr>
        <p:spPr>
          <a:xfrm>
            <a:off x="502920" y="5724144"/>
            <a:ext cx="10838382" cy="98755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Top row is theirs: one analogue bias resistor set at design time, no clamp, off rail at 0 V — and the crosstalk path with nothing holding the OFF gate down. Bottom row is ours: the same output stage, plus a digital controller re-writable at run time, an always-on active Miller clamp, and an off-bias mux that selects −2 V. Block counts and values are parsed from </a:t>
            </a:r>
            <a:r>
              <a:rPr lang="en-US" sz="1150" dirty="0">
                <a:solidFill>
                  <a:srgbClr val="000000"/>
                </a:solidFill>
                <a:latin typeface="Calibri" pitchFamily="34" charset="0"/>
                <a:ea typeface="Calibri" pitchFamily="34" charset="-122"/>
                <a:cs typeface="Calibri" pitchFamily="34" charset="-120"/>
                <a:hlinkClick r:id="rId5"/>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and </a:t>
            </a:r>
            <a:r>
              <a:rPr lang="en-US" sz="1150" dirty="0">
                <a:solidFill>
                  <a:srgbClr val="000000"/>
                </a:solidFill>
                <a:latin typeface="Calibri" pitchFamily="34" charset="0"/>
                <a:ea typeface="Calibri" pitchFamily="34" charset="-122"/>
                <a:cs typeface="Calibri" pitchFamily="34" charset="-120"/>
                <a:hlinkClick r:id="rId6"/>
              </a:rPr>
              <a:t xml:space="preserve">models/segdrv.lib</a:t>
            </a:r>
            <a:r>
              <a:rPr lang="en-US" sz="1150" dirty="0">
                <a:solidFill>
                  <a:srgbClr val="000000"/>
                </a:solidFill>
                <a:latin typeface="Calibri" pitchFamily="34" charset="0"/>
                <a:ea typeface="Calibri" pitchFamily="34" charset="-122"/>
                <a:cs typeface="Calibri" pitchFamily="34" charset="-120"/>
              </a:rPr>
              <a:t xml:space="preserve">, so if either library changes this figure changes with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differs in the circuit, theirs and ours</a:t>
            </a:r>
            <a:endParaRPr lang="en-US" sz="2800" dirty="0"/>
          </a:p>
        </p:txBody>
      </p:sp>
      <p:sp>
        <p:nvSpPr>
          <p:cNvPr id="5" name="TextBox 4"/>
          <p:cNvSpPr txBox="1"/>
          <p:nvPr/>
        </p:nvSpPr>
        <p:spPr>
          <a:xfrm>
            <a:off x="640080" y="932688"/>
            <a:ext cx="11064240" cy="439419"/>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converter on top; underneath it, what sits behind its two gates in their design and in ours. Both additions are established practice [1]–[4]; the base paper uses neither. What is measured here is what each is worth on this converter.</a:t>
            </a:r>
          </a:p>
        </p:txBody>
      </p:sp>
      <p:pic>
        <p:nvPicPr>
          <p:cNvPr id="6" name="Picture 5" descr="fig_novelty_circuit.png"/>
          <p:cNvPicPr>
            <a:picLocks noChangeAspect="1"/>
          </p:cNvPicPr>
          <p:nvPr/>
        </p:nvPicPr>
        <p:blipFill>
          <a:blip r:embed="rId4"/>
          <a:stretch>
            <a:fillRect/>
          </a:stretch>
        </p:blipFill>
        <p:spPr>
          <a:xfrm>
            <a:off x="3212111" y="1371600"/>
            <a:ext cx="5767473" cy="4334256"/>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Top: </a:t>
            </a:r>
            <a:r>
              <a:rPr lang="en-US" sz="1150" dirty="0">
                <a:solidFill>
                  <a:srgbClr val="000000"/>
                </a:solidFill>
                <a:latin typeface="Calibri" pitchFamily="34" charset="0"/>
                <a:ea typeface="Calibri" pitchFamily="34" charset="-122"/>
                <a:cs typeface="Calibri" pitchFamily="34" charset="-120"/>
                <a:hlinkClick r:id="rId5"/>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with the two gates of the half-bridge ringed — HSG and LSG are what a gate driver drives, and everything below is what sits behind them. Bottom left, theirs (</a:t>
            </a:r>
            <a:r>
              <a:rPr lang="en-US" sz="1150" dirty="0">
                <a:solidFill>
                  <a:srgbClr val="000000"/>
                </a:solidFill>
                <a:latin typeface="Calibri" pitchFamily="34" charset="0"/>
                <a:ea typeface="Calibri" pitchFamily="34" charset="-122"/>
                <a:cs typeface="Calibri" pitchFamily="34" charset="-120"/>
                <a:hlinkClick r:id="rId6"/>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seven slices a bank in two stages, and a rail their own sheet labels “tied to ref — NO negative rail”. Bottom right, ours (</a:t>
            </a:r>
            <a:r>
              <a:rPr lang="en-US" sz="1150" dirty="0">
                <a:solidFill>
                  <a:srgbClr val="000000"/>
                </a:solidFill>
                <a:latin typeface="Calibri" pitchFamily="34" charset="0"/>
                <a:ea typeface="Calibri" pitchFamily="34" charset="-122"/>
                <a:cs typeface="Calibri" pitchFamily="34" charset="-120"/>
                <a:hlinkClick r:id="rId7"/>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the same eight-slice output stage, plus the active Miller clamp and an off rail selectable to −2 V. The clamp is worth +0.82 V of crosstalk margin and the rail +2.01 V; together −0.249 V becomes +2.576 V. Annotated screen captures of KiCad 7.0.11, not redrawings, and not a size comparison — the three sheets open at different zoom.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Both gate drivers, as drawn in KiCad</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two sheets the previous slide crops from — whole, at the same scale, nothing ringed and nothing removed.</a:t>
            </a:r>
          </a:p>
        </p:txBody>
      </p:sp>
      <p:pic>
        <p:nvPicPr>
          <p:cNvPr id="6" name="Picture 5" descr="fig_schematics_pair.png"/>
          <p:cNvPicPr>
            <a:picLocks noChangeAspect="1"/>
          </p:cNvPicPr>
          <p:nvPr/>
        </p:nvPicPr>
        <p:blipFill>
          <a:blip r:embed="rId4"/>
          <a:stretch>
            <a:fillRect/>
          </a:stretch>
        </p:blipFill>
        <p:spPr>
          <a:xfrm>
            <a:off x="426567" y="1572768"/>
            <a:ext cx="11338559" cy="3670074"/>
          </a:xfrm>
          <a:prstGeom prst="rect">
            <a:avLst/>
          </a:prstGeom>
        </p:spPr>
      </p:pic>
      <p:sp>
        <p:nvSpPr>
          <p:cNvPr id="7" name="TextBox 6"/>
          <p:cNvSpPr txBox="1"/>
          <p:nvPr/>
        </p:nvSpPr>
        <p:spPr>
          <a:xfrm>
            <a:off x="502920" y="5394960"/>
            <a:ext cx="10838382"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Left: </a:t>
            </a:r>
            <a:r>
              <a:rPr lang="en-US" sz="1150" dirty="0">
                <a:solidFill>
                  <a:srgbClr val="000000"/>
                </a:solidFill>
                <a:latin typeface="Calibri" pitchFamily="34" charset="0"/>
                <a:ea typeface="Calibri" pitchFamily="34" charset="-122"/>
                <a:cs typeface="Calibri" pitchFamily="34" charset="-120"/>
                <a:hlinkClick r:id="rId5"/>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the base paper's driver as we rebuilt it — seven slices a bank in two stages, one bias resistor, and a rail its own sheet labels as tied to reference. Right: </a:t>
            </a:r>
            <a:r>
              <a:rPr lang="en-US" sz="1150" dirty="0">
                <a:solidFill>
                  <a:srgbClr val="000000"/>
                </a:solidFill>
                <a:latin typeface="Calibri" pitchFamily="34" charset="0"/>
                <a:ea typeface="Calibri" pitchFamily="34" charset="-122"/>
                <a:cs typeface="Calibri" pitchFamily="34" charset="-120"/>
                <a:hlinkClick r:id="rId6"/>
              </a:rPr>
              <a:t xml:space="preserve">kicad/gan_segdrv.kicad_sch</a:t>
            </a:r>
            <a:r>
              <a:rPr lang="en-US" sz="1150" dirty="0">
                <a:solidFill>
                  <a:srgbClr val="000000"/>
                </a:solidFill>
                <a:latin typeface="Calibri" pitchFamily="34" charset="0"/>
                <a:ea typeface="Calibri" pitchFamily="34" charset="-122"/>
                <a:cs typeface="Calibri" pitchFamily="34" charset="-120"/>
              </a:rPr>
              <a:t xml:space="preserve">, ours — eight slices a bank, an active Miller clamp and an off rail selectable to −2 V. Both are screen captures of KiCad 7.0.11 taken by </a:t>
            </a:r>
            <a:r>
              <a:rPr lang="en-US" sz="1150" dirty="0">
                <a:solidFill>
                  <a:srgbClr val="000000"/>
                </a:solidFill>
                <a:latin typeface="Calibri" pitchFamily="34" charset="0"/>
                <a:ea typeface="Calibri" pitchFamily="34" charset="-122"/>
                <a:cs typeface="Calibri" pitchFamily="34" charset="-120"/>
                <a:hlinkClick r:id="rId7"/>
              </a:rPr>
              <a:t xml:space="preserve">scripts/record_kicad.py</a:t>
            </a:r>
            <a:r>
              <a:rPr lang="en-US" sz="1150" dirty="0">
                <a:solidFill>
                  <a:srgbClr val="000000"/>
                </a:solidFill>
                <a:latin typeface="Calibri" pitchFamily="34" charset="0"/>
                <a:ea typeface="Calibri" pitchFamily="34" charset="-122"/>
                <a:cs typeface="Calibri" pitchFamily="34" charset="-120"/>
              </a:rPr>
              <a:t xml:space="preserve"> from the files named above, not redrawings. The two sheets are different sizes, so this is a comparison of what is on them, not of how large they 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every number on these slides was made</a:t>
            </a:r>
            <a:endParaRPr lang="en-US" sz="2800" dirty="0"/>
          </a:p>
        </p:txBody>
      </p:sp>
      <p:sp>
        <p:nvSpPr>
          <p:cNvPr id="5" name="TextBox 4"/>
          <p:cNvSpPr txBox="1"/>
          <p:nvPr/>
        </p:nvSpPr>
        <p:spPr>
          <a:xfrm>
            <a:off x="640080" y="932688"/>
            <a:ext cx="11064240" cy="365760"/>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Every comparison is the same file with one thing changed. The following is held identical; the listed parameter is the only one that varies.</a:t>
            </a:r>
          </a:p>
        </p:txBody>
      </p:sp>
      <p:sp>
        <p:nvSpPr>
          <p:cNvPr id="6" name="TextBox 5"/>
          <p:cNvSpPr txBox="1"/>
          <p:nvPr/>
        </p:nvSpPr>
        <p:spPr>
          <a:xfrm>
            <a:off x="64008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HELD IDENTICAL</a:t>
            </a:r>
          </a:p>
        </p:txBody>
      </p:sp>
      <p:sp>
        <p:nvSpPr>
          <p:cNvPr id="7" name="TextBox 6"/>
          <p:cNvSpPr txBox="1"/>
          <p:nvPr/>
        </p:nvSpPr>
        <p:spPr>
          <a:xfrm>
            <a:off x="6309360" y="1481328"/>
            <a:ext cx="539496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ONE THING THAT MOVES</a:t>
            </a:r>
          </a:p>
        </p:txBody>
      </p:sp>
      <p:sp>
        <p:nvSpPr>
          <p:cNvPr id="8" name="TextBox 7"/>
          <p:cNvSpPr txBox="1"/>
          <p:nvPr/>
        </p:nvSpPr>
        <p:spPr>
          <a:xfrm>
            <a:off x="64008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netlist   </a:t>
            </a:r>
            <a:r>
              <a:rPr lang="en-US" sz="1120" dirty="0">
                <a:solidFill>
                  <a:srgbClr val="000000"/>
                </a:solidFill>
                <a:latin typeface="Calibri" pitchFamily="34" charset="0"/>
                <a:ea typeface="Calibri" pitchFamily="34" charset="-122"/>
                <a:cs typeface="Calibri" pitchFamily="34" charset="-120"/>
                <a:hlinkClick r:id="rId4"/>
              </a:rPr>
              <a:t xml:space="preserve">sim/dpt.cir</a:t>
            </a:r>
            <a:r>
              <a:rPr lang="en-US" sz="1120" dirty="0">
                <a:solidFill>
                  <a:srgbClr val="000000"/>
                </a:solidFill>
                <a:latin typeface="Calibri" pitchFamily="34" charset="0"/>
                <a:ea typeface="Calibri" pitchFamily="34" charset="-122"/>
                <a:cs typeface="Calibri" pitchFamily="34" charset="-120"/>
              </a:rPr>
              <a:t xml:space="preserve">, byte for byte — not a copy, not a variant</a:t>
            </a:r>
          </a:p>
        </p:txBody>
      </p:sp>
      <p:sp>
        <p:nvSpPr>
          <p:cNvPr id="9" name="TextBox 8"/>
          <p:cNvSpPr txBox="1"/>
          <p:nvPr/>
        </p:nvSpPr>
        <p:spPr>
          <a:xfrm>
            <a:off x="6309360" y="188366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theirs vs ours   </a:t>
            </a:r>
            <a:r>
              <a:rPr lang="en-US" sz="1120" dirty="0">
                <a:solidFill>
                  <a:srgbClr val="000000"/>
                </a:solidFill>
                <a:latin typeface="Calibri" pitchFamily="34" charset="0"/>
                <a:ea typeface="Calibri" pitchFamily="34" charset="-122"/>
                <a:cs typeface="Calibri" pitchFamily="34" charset="-120"/>
              </a:rPr>
              <a:t xml:space="preserve">the driver subcircuit, and nothing else: </a:t>
            </a:r>
            <a:r>
              <a:rPr lang="en-US" sz="1120" dirty="0">
                <a:solidFill>
                  <a:srgbClr val="000000"/>
                </a:solidFill>
                <a:latin typeface="Calibri" pitchFamily="34" charset="0"/>
                <a:ea typeface="Calibri" pitchFamily="34" charset="-122"/>
                <a:cs typeface="Calibri" pitchFamily="34" charset="-120"/>
                <a:hlinkClick r:id="rId5"/>
              </a:rPr>
              <a:t xml:space="preserve">models/zhangdrv.lib</a:t>
            </a:r>
            <a:r>
              <a:rPr lang="en-US" sz="1120" dirty="0">
                <a:solidFill>
                  <a:srgbClr val="000000"/>
                </a:solidFill>
                <a:latin typeface="Calibri" pitchFamily="34" charset="0"/>
                <a:ea typeface="Calibri" pitchFamily="34" charset="-122"/>
                <a:cs typeface="Calibri" pitchFamily="34" charset="-120"/>
              </a:rPr>
              <a:t xml:space="preserve"> ↔ </a:t>
            </a:r>
            <a:r>
              <a:rPr lang="en-US" sz="1120" dirty="0">
                <a:solidFill>
                  <a:srgbClr val="000000"/>
                </a:solidFill>
                <a:latin typeface="Calibri" pitchFamily="34" charset="0"/>
                <a:ea typeface="Calibri" pitchFamily="34" charset="-122"/>
                <a:cs typeface="Calibri" pitchFamily="34" charset="-120"/>
                <a:hlinkClick r:id="rId6"/>
              </a:rPr>
              <a:t xml:space="preserve">models/segdrv.lib</a:t>
            </a:r>
          </a:p>
        </p:txBody>
      </p:sp>
      <p:sp>
        <p:nvSpPr>
          <p:cNvPr id="10" name="TextBox 9"/>
          <p:cNvSpPr txBox="1"/>
          <p:nvPr/>
        </p:nvSpPr>
        <p:spPr>
          <a:xfrm>
            <a:off x="64008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device   </a:t>
            </a:r>
            <a:r>
              <a:rPr lang="en-US" sz="1120" dirty="0">
                <a:solidFill>
                  <a:srgbClr val="000000"/>
                </a:solidFill>
                <a:latin typeface="Calibri" pitchFamily="34" charset="0"/>
                <a:ea typeface="Calibri" pitchFamily="34" charset="-122"/>
                <a:cs typeface="Calibri" pitchFamily="34" charset="-120"/>
                <a:hlinkClick r:id="rId7"/>
              </a:rPr>
              <a:t xml:space="preserve">models/egan.lib</a:t>
            </a:r>
            <a:r>
              <a:rPr lang="en-US" sz="1120" dirty="0">
                <a:solidFill>
                  <a:srgbClr val="000000"/>
                </a:solidFill>
                <a:latin typeface="Calibri" pitchFamily="34" charset="0"/>
                <a:ea typeface="Calibri" pitchFamily="34" charset="-122"/>
                <a:cs typeface="Calibri" pitchFamily="34" charset="-120"/>
              </a:rPr>
              <a:t xml:space="preserve"> on both sides, same Vₜₕ, same Rₑₛ(on), same C₉ₑ</a:t>
            </a:r>
          </a:p>
        </p:txBody>
      </p:sp>
      <p:sp>
        <p:nvSpPr>
          <p:cNvPr id="11" name="TextBox 10"/>
          <p:cNvSpPr txBox="1"/>
          <p:nvPr/>
        </p:nvSpPr>
        <p:spPr>
          <a:xfrm>
            <a:off x="6309360" y="252374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GaN vs silicon   </a:t>
            </a:r>
            <a:r>
              <a:rPr lang="en-US" sz="1120" dirty="0">
                <a:solidFill>
                  <a:srgbClr val="000000"/>
                </a:solidFill>
                <a:latin typeface="Calibri" pitchFamily="34" charset="0"/>
                <a:ea typeface="Calibri" pitchFamily="34" charset="-122"/>
                <a:cs typeface="Calibri" pitchFamily="34" charset="-120"/>
              </a:rPr>
              <a:t xml:space="preserve">the device model only, Rₑₛ(on) matched at the 25 mΩ class</a:t>
            </a:r>
          </a:p>
        </p:txBody>
      </p:sp>
      <p:sp>
        <p:nvSpPr>
          <p:cNvPr id="12" name="TextBox 11"/>
          <p:cNvSpPr txBox="1"/>
          <p:nvPr/>
        </p:nvSpPr>
        <p:spPr>
          <a:xfrm>
            <a:off x="64008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parasitics   </a:t>
            </a:r>
            <a:r>
              <a:rPr lang="en-US" sz="1120" dirty="0">
                <a:solidFill>
                  <a:srgbClr val="000000"/>
                </a:solidFill>
                <a:latin typeface="Calibri" pitchFamily="34" charset="0"/>
                <a:ea typeface="Calibri" pitchFamily="34" charset="-122"/>
                <a:cs typeface="Calibri" pitchFamily="34" charset="-120"/>
              </a:rPr>
              <a:t xml:space="preserve">3 nH power loop, 0.3 Ω loop resistance, same gate inductance</a:t>
            </a:r>
          </a:p>
        </p:txBody>
      </p:sp>
      <p:sp>
        <p:nvSpPr>
          <p:cNvPr id="13" name="TextBox 12"/>
          <p:cNvSpPr txBox="1"/>
          <p:nvPr/>
        </p:nvSpPr>
        <p:spPr>
          <a:xfrm>
            <a:off x="6309360" y="316382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clamp on/off   </a:t>
            </a:r>
            <a:r>
              <a:rPr lang="en-US" sz="1120" dirty="0">
                <a:solidFill>
                  <a:srgbClr val="000000"/>
                </a:solidFill>
                <a:latin typeface="Calibri" pitchFamily="34" charset="0"/>
                <a:ea typeface="Calibri" pitchFamily="34" charset="-122"/>
                <a:cs typeface="Calibri" pitchFamily="34" charset="-120"/>
              </a:rPr>
              <a:t xml:space="preserve">one parameter, CLKEN; off rail, one parameter, VNEG</a:t>
            </a:r>
          </a:p>
        </p:txBody>
      </p:sp>
      <p:sp>
        <p:nvSpPr>
          <p:cNvPr id="14" name="TextBox 13"/>
          <p:cNvSpPr txBox="1"/>
          <p:nvPr/>
        </p:nvSpPr>
        <p:spPr>
          <a:xfrm>
            <a:off x="640080" y="380390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operating point   </a:t>
            </a:r>
            <a:r>
              <a:rPr lang="en-US" sz="1120" dirty="0">
                <a:solidFill>
                  <a:srgbClr val="000000"/>
                </a:solidFill>
                <a:latin typeface="Calibri" pitchFamily="34" charset="0"/>
                <a:ea typeface="Calibri" pitchFamily="34" charset="-122"/>
                <a:cs typeface="Calibri" pitchFamily="34" charset="-120"/>
              </a:rPr>
              <a:t xml:space="preserve">100 V bus, 10 A load, 25 °C junction</a:t>
            </a:r>
          </a:p>
        </p:txBody>
      </p:sp>
      <p:sp>
        <p:nvSpPr>
          <p:cNvPr id="15" name="TextBox 14"/>
          <p:cNvSpPr txBox="1"/>
          <p:nvPr/>
        </p:nvSpPr>
        <p:spPr>
          <a:xfrm>
            <a:off x="640080" y="4443984"/>
            <a:ext cx="5394960" cy="566928"/>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the solver   </a:t>
            </a:r>
            <a:r>
              <a:rPr lang="en-US" sz="1120" dirty="0">
                <a:solidFill>
                  <a:srgbClr val="000000"/>
                </a:solidFill>
                <a:latin typeface="Calibri" pitchFamily="34" charset="0"/>
                <a:ea typeface="Calibri" pitchFamily="34" charset="-122"/>
                <a:cs typeface="Calibri" pitchFamily="34" charset="-120"/>
              </a:rPr>
              <a:t xml:space="preserve">same timestep, same options, same initial conditions</a:t>
            </a:r>
          </a:p>
        </p:txBody>
      </p:sp>
      <p:sp>
        <p:nvSpPr>
          <p:cNvPr id="16" name="TextBox 15"/>
          <p:cNvSpPr txBox="1"/>
          <p:nvPr/>
        </p:nvSpPr>
        <p:spPr>
          <a:xfrm>
            <a:off x="640080" y="5175504"/>
            <a:ext cx="11064240" cy="365760"/>
          </a:xfrm>
          <a:prstGeom prst="rect">
            <a:avLst/>
          </a:prstGeom>
          <a:noFill/>
        </p:spPr>
        <p:txBody>
          <a:bodyPr wrap="square" lIns="0" tIns="0" rIns="0" bIns="0">
            <a:spAutoFit/>
          </a:bodyPr>
          <a:lstStyle/>
          <a:p>
            <a:pPr marL="177800" indent="0">
              <a:spcAft>
                <a:spcPts val="0"/>
              </a:spcAft>
              <a:buSzPct val="100000"/>
              <a:buNone/>
            </a:pPr>
            <a:r>
              <a:rPr lang="en-US" sz="1120" b="1" dirty="0">
                <a:solidFill>
                  <a:srgbClr val="000000"/>
                </a:solidFill>
                <a:latin typeface="Calibri" pitchFamily="34" charset="0"/>
                <a:ea typeface="Calibri" pitchFamily="34" charset="-122"/>
                <a:cs typeface="Calibri" pitchFamily="34" charset="-120"/>
              </a:rPr>
              <a:t xml:space="preserve">WHERE IT RAN   </a:t>
            </a:r>
            <a:r>
              <a:rPr lang="en-US" sz="1120" dirty="0">
                <a:solidFill>
                  <a:srgbClr val="000000"/>
                </a:solidFill>
                <a:latin typeface="Calibri" pitchFamily="34" charset="0"/>
                <a:ea typeface="Calibri" pitchFamily="34" charset="-122"/>
                <a:cs typeface="Calibri" pitchFamily="34" charset="-120"/>
              </a:rPr>
              <a:t xml:space="preserve">ngspice-42 and KiCad 7.0.11 on a Debian container, headless, no hardware in the loop. Both are open source; there is no licensed tool and no vendor model anywhere in this project.</a:t>
            </a:r>
          </a:p>
        </p:txBody>
      </p:sp>
      <p:sp>
        <p:nvSpPr>
          <p:cNvPr id="17" name="TextBox 16"/>
          <p:cNvSpPr txBox="1"/>
          <p:nvPr/>
        </p:nvSpPr>
        <p:spPr>
          <a:xfrm>
            <a:off x="502920" y="5888736"/>
            <a:ext cx="10838382" cy="93268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Their driver is additionally given a freedom its own paper does not have: </a:t>
            </a:r>
            <a:r>
              <a:rPr lang="en-US" sz="1150" dirty="0">
                <a:solidFill>
                  <a:srgbClr val="000000"/>
                </a:solidFill>
                <a:latin typeface="Calibri" pitchFamily="34" charset="0"/>
                <a:ea typeface="Calibri" pitchFamily="34" charset="-122"/>
                <a:cs typeface="Calibri" pitchFamily="34" charset="-120"/>
                <a:hlinkClick r:id="rId8"/>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searches both of its controls at every corner and it is run at the setting that search finds optimal for it, read out of </a:t>
            </a:r>
            <a:r>
              <a:rPr lang="en-US" sz="1150" dirty="0">
                <a:solidFill>
                  <a:srgbClr val="000000"/>
                </a:solidFill>
                <a:latin typeface="Calibri" pitchFamily="34" charset="0"/>
                <a:ea typeface="Calibri" pitchFamily="34" charset="-122"/>
                <a:cs typeface="Calibri" pitchFamily="34" charset="-120"/>
                <a:hlinkClick r:id="rId9"/>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Ours runs one fixed control word at every corner. Any remaining difference is the driver. </a:t>
            </a:r>
            <a:r>
              <a:rPr lang="en-US" sz="1150" dirty="0">
                <a:solidFill>
                  <a:srgbClr val="000000"/>
                </a:solidFill>
                <a:latin typeface="Calibri" pitchFamily="34" charset="0"/>
                <a:ea typeface="Calibri" pitchFamily="34" charset="-122"/>
                <a:cs typeface="Calibri" pitchFamily="34" charset="-120"/>
                <a:hlinkClick r:id="rId10"/>
              </a:rPr>
              <a:t xml:space="preserve">results/RESULTS-SUMMARY.txt</a:t>
            </a:r>
            <a:r>
              <a:rPr lang="en-US" sz="1150" dirty="0">
                <a:solidFill>
                  <a:srgbClr val="000000"/>
                </a:solidFill>
                <a:latin typeface="Calibri" pitchFamily="34" charset="0"/>
                <a:ea typeface="Calibri" pitchFamily="34" charset="-122"/>
                <a:cs typeface="Calibri" pitchFamily="34" charset="-120"/>
              </a:rPr>
              <a:t xml:space="preserve"> names the script behind each number, and </a:t>
            </a:r>
            <a:r>
              <a:rPr lang="en-US" sz="1150" dirty="0">
                <a:solidFill>
                  <a:srgbClr val="000000"/>
                </a:solidFill>
                <a:latin typeface="Calibri" pitchFamily="34" charset="0"/>
                <a:ea typeface="Calibri" pitchFamily="34" charset="-122"/>
                <a:cs typeface="Calibri" pitchFamily="34" charset="-120"/>
                <a:hlinkClick r:id="rId11"/>
              </a:rPr>
              <a:t xml:space="preserve">review/check_consistency.py</a:t>
            </a:r>
            <a:r>
              <a:rPr lang="en-US" sz="1150" dirty="0">
                <a:solidFill>
                  <a:srgbClr val="000000"/>
                </a:solidFill>
                <a:latin typeface="Calibri" pitchFamily="34" charset="0"/>
                <a:ea typeface="Calibri" pitchFamily="34" charset="-122"/>
                <a:cs typeface="Calibri" pitchFamily="34" charset="-120"/>
              </a:rPr>
              <a:t xml:space="preserve"> fails the build if a slide and the data disagree.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simulated — their driver, their result</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models/zhangdrv.lib</a:t>
            </a:r>
            <a:r>
              <a:rPr lang="en-US" sz="1300" b="1" dirty="0">
                <a:solidFill>
                  <a:srgbClr val="000000"/>
                </a:solidFill>
                <a:latin typeface="Calibri" pitchFamily="34" charset="0"/>
                <a:ea typeface="Calibri" pitchFamily="34" charset="-122"/>
                <a:cs typeface="Calibri" pitchFamily="34" charset="-120"/>
              </a:rPr>
              <a:t xml:space="preserve"> on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Seven slices per bank in two stages, no clamp branch, no negative off rail.</a:t>
            </a:r>
          </a:p>
        </p:txBody>
      </p:sp>
      <p:pic>
        <p:nvPicPr>
          <p:cNvPr id="6" name="demo_basepaper.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Their circuit in KiCad (</a:t>
            </a:r>
            <a:r>
              <a:rPr lang="en-US" sz="1150" dirty="0">
                <a:solidFill>
                  <a:srgbClr val="000000"/>
                </a:solidFill>
                <a:latin typeface="Calibri" pitchFamily="34" charset="0"/>
                <a:ea typeface="Calibri" pitchFamily="34" charset="-122"/>
                <a:cs typeface="Calibri" pitchFamily="34" charset="-120"/>
                <a:hlinkClick r:id="rId9"/>
              </a:rPr>
              <a:t xml:space="preserve">kicad/gan_zhangdrv.kicad_sch</a:t>
            </a:r>
            <a:r>
              <a:rPr lang="en-US" sz="1150" dirty="0">
                <a:solidFill>
                  <a:srgbClr val="000000"/>
                </a:solidFill>
                <a:latin typeface="Calibri" pitchFamily="34" charset="0"/>
                <a:ea typeface="Calibri" pitchFamily="34" charset="-122"/>
                <a:cs typeface="Calibri" pitchFamily="34" charset="-120"/>
              </a:rPr>
              <a:t xml:space="preserve">), ngspice running it, and the waveform it produced. The OFF device's gate peaks at +0.993 V against a 1.400 V threshold — 0.407 V of margin. Run at nseg=2, tstep=4n, the setting </a:t>
            </a:r>
            <a:r>
              <a:rPr lang="en-US" sz="1150" dirty="0">
                <a:solidFill>
                  <a:srgbClr val="000000"/>
                </a:solidFill>
                <a:latin typeface="Calibri" pitchFamily="34" charset="0"/>
                <a:ea typeface="Calibri" pitchFamily="34" charset="-122"/>
                <a:cs typeface="Calibri" pitchFamily="34" charset="-120"/>
                <a:hlinkClick r:id="rId10"/>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found optimal for their driver at this corner, read from </a:t>
            </a:r>
            <a:r>
              <a:rPr lang="en-US" sz="1150" dirty="0">
                <a:solidFill>
                  <a:srgbClr val="000000"/>
                </a:solidFill>
                <a:latin typeface="Calibri" pitchFamily="34" charset="0"/>
                <a:ea typeface="Calibri" pitchFamily="34" charset="-122"/>
                <a:cs typeface="Calibri" pitchFamily="34" charset="-120"/>
                <a:hlinkClick r:id="rId11"/>
              </a:rPr>
              <a:t xml:space="preserve">results/headtohead.txt</a:t>
            </a:r>
            <a:r>
              <a:rPr lang="en-US" sz="1150" dirty="0">
                <a:solidFill>
                  <a:srgbClr val="000000"/>
                </a:solidFill>
                <a:latin typeface="Calibri" pitchFamily="34" charset="0"/>
                <a:ea typeface="Calibri" pitchFamily="34" charset="-122"/>
                <a:cs typeface="Calibri" pitchFamily="34" charset="-120"/>
              </a:rPr>
              <a:t xml:space="preserve">: their own paper sets one bias resistor once at design time and gets no per-corner choice at all.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Ours, simulated — same bench, same corner, same axes</a:t>
            </a:r>
            <a:endParaRPr lang="en-US" sz="2800" dirty="0"/>
          </a:p>
        </p:txBody>
      </p:sp>
      <p:sp>
        <p:nvSpPr>
          <p:cNvPr id="5" name="TextBox 4"/>
          <p:cNvSpPr txBox="1"/>
          <p:nvPr/>
        </p:nvSpPr>
        <p:spPr>
          <a:xfrm>
            <a:off x="640080" y="969264"/>
            <a:ext cx="11064240" cy="402336"/>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hlinkClick r:id="rId7"/>
              </a:rPr>
              <a:t xml:space="preserve">models/segdrv.lib</a:t>
            </a:r>
            <a:r>
              <a:rPr lang="en-US" sz="1300" b="1" dirty="0">
                <a:solidFill>
                  <a:srgbClr val="000000"/>
                </a:solidFill>
                <a:latin typeface="Calibri" pitchFamily="34" charset="0"/>
                <a:ea typeface="Calibri" pitchFamily="34" charset="-122"/>
                <a:cs typeface="Calibri" pitchFamily="34" charset="-120"/>
              </a:rPr>
              <a:t xml:space="preserve"> on the same </a:t>
            </a:r>
            <a:r>
              <a:rPr lang="en-US" sz="1300" b="1" dirty="0">
                <a:solidFill>
                  <a:srgbClr val="000000"/>
                </a:solidFill>
                <a:latin typeface="Calibri" pitchFamily="34" charset="0"/>
                <a:ea typeface="Calibri" pitchFamily="34" charset="-122"/>
                <a:cs typeface="Calibri" pitchFamily="34" charset="-120"/>
                <a:hlinkClick r:id="rId8"/>
              </a:rPr>
              <a:t xml:space="preserve">sim/dpt.cir</a:t>
            </a:r>
            <a:r>
              <a:rPr lang="en-US" sz="1300" b="1" dirty="0">
                <a:solidFill>
                  <a:srgbClr val="000000"/>
                </a:solidFill>
                <a:latin typeface="Calibri" pitchFamily="34" charset="0"/>
                <a:ea typeface="Calibri" pitchFamily="34" charset="-122"/>
                <a:cs typeface="Calibri" pitchFamily="34" charset="-120"/>
              </a:rPr>
              <a:t xml:space="preserve">. Eight slices per bank, active Miller clamp, −2 V off rail.</a:t>
            </a:r>
          </a:p>
        </p:txBody>
      </p:sp>
      <p:pic>
        <p:nvPicPr>
          <p:cNvPr id="6" name="demo_our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2253996" y="1444752"/>
            <a:ext cx="7680960" cy="4315968"/>
          </a:xfrm>
          <a:prstGeom prst="rect">
            <a:avLst/>
          </a:prstGeom>
        </p:spPr>
      </p:pic>
      <p:sp>
        <p:nvSpPr>
          <p:cNvPr id="7" name="TextBox 6"/>
          <p:cNvSpPr txBox="1"/>
          <p:nvPr/>
        </p:nvSpPr>
        <p:spPr>
          <a:xfrm>
            <a:off x="502920" y="5852160"/>
            <a:ext cx="10838382" cy="96926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The same sequence over our driver. The gate peaks at −1.176 V — 2.576 V of margin, 6.3× theirs. One fixed control word, the same one used at every corner in the study, not re-tuned for this run. The plot axes are identical to the previous slide's and fixed in the script, so the two are directly comparable. 35 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Four sections, 100 s. The circuit as its KiCad sheet (</a:t>
            </a:r>
            <a:r>
              <a:rPr lang="en-US" sz="1150" dirty="0">
                <a:solidFill>
                  <a:srgbClr val="000000"/>
                </a:solidFill>
                <a:latin typeface="Calibri" pitchFamily="34" charset="0"/>
                <a:ea typeface="Calibri" pitchFamily="34" charset="-122"/>
                <a:cs typeface="Calibri" pitchFamily="34" charset="-120"/>
                <a:hlinkClick r:id="rId7"/>
              </a:rPr>
              <a:t xml:space="preserve">kicad/gan_buck.kicad_sch</a:t>
            </a:r>
            <a:r>
              <a:rPr lang="en-US" sz="1150" dirty="0">
                <a:solidFill>
                  <a:srgbClr val="000000"/>
                </a:solidFill>
                <a:latin typeface="Calibri" pitchFamily="34" charset="0"/>
                <a:ea typeface="Calibri" pitchFamily="34" charset="-122"/>
                <a:cs typeface="Calibri" pitchFamily="34" charset="-120"/>
              </a:rPr>
              <a:t xml:space="preserve">), the tools named and versioned, the output with the threshold, the peak and the margin annotated,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a:t>
            </a:r>
            <a:r>
              <a:rPr lang="en-US" sz="1150" dirty="0">
                <a:solidFill>
                  <a:srgbClr val="000000"/>
                </a:solidFill>
                <a:latin typeface="Calibri" pitchFamily="34" charset="0"/>
                <a:ea typeface="Calibri" pitchFamily="34" charset="-122"/>
                <a:cs typeface="Calibri" pitchFamily="34" charset="-120"/>
                <a:hlinkClick r:id="rId8"/>
              </a:rPr>
              <a:t xml:space="preserve">scripts/demo_review2.py</a:t>
            </a:r>
            <a:r>
              <a:rPr lang="en-US" sz="1150" dirty="0">
                <a:solidFill>
                  <a:srgbClr val="000000"/>
                </a:solidFill>
                <a:latin typeface="Calibri" pitchFamily="34" charset="0"/>
                <a:ea typeface="Calibri" pitchFamily="34" charset="-122"/>
                <a:cs typeface="Calibri" pitchFamily="34" charset="-120"/>
              </a:rPr>
              <a:t xml:space="preserve">,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simulation, run live</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a:t>
            </a:r>
            <a:r>
              <a:rPr lang="en-US" sz="1400" b="1" dirty="0">
                <a:solidFill>
                  <a:srgbClr val="000000"/>
                </a:solidFill>
                <a:latin typeface="Calibri" pitchFamily="34" charset="0"/>
                <a:ea typeface="Calibri" pitchFamily="34" charset="-122"/>
                <a:cs typeface="Calibri" pitchFamily="34" charset="-120"/>
                <a:hlinkClick r:id="rId8"/>
              </a:rPr>
              <a:t xml:space="preserve">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the presentation machine.</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recorded run of the same command</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waveforms it produces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 other parameter varies. It prints what it measured beside what these slides claim — OFF gate 1.649 V against the deck's 1.65, margin 2.576 V against the deck's 2.576 — then draws the waveforms those two runs produced. 3.8 s of that is ngspice; the rest is drawing. </a:t>
            </a:r>
            <a:r>
              <a:rPr lang="en-US" sz="1150" dirty="0">
                <a:solidFill>
                  <a:srgbClr val="000000"/>
                </a:solidFill>
                <a:latin typeface="Calibri" pitchFamily="34" charset="0"/>
                <a:ea typeface="Calibri" pitchFamily="34" charset="-122"/>
                <a:cs typeface="Calibri" pitchFamily="34" charset="-120"/>
                <a:hlinkClick r:id="rId9"/>
              </a:rPr>
              <a:t xml:space="preserve">scripts/live_demo.py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image.png"/>
          <p:cNvPicPr>
            <a:picLocks noChangeAspect="1"/>
          </p:cNvPicPr>
          <p:nvPr/>
        </p:nvPicPr>
        <p:blipFill>
          <a:blip r:embed="rId3"/>
          <a:stretch>
            <a:fillRect/>
          </a:stretch>
        </p:blipFill>
        <p:spPr>
          <a:xfrm>
            <a:off x="2697138" y="1188720"/>
            <a:ext cx="6797419"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a:t>
            </a:r>
            <a:r>
              <a:rPr lang="en-US" sz="1150" dirty="0">
                <a:solidFill>
                  <a:srgbClr val="000000"/>
                </a:solidFill>
                <a:latin typeface="Calibri" pitchFamily="34" charset="0"/>
                <a:ea typeface="Calibri" pitchFamily="34" charset="-122"/>
                <a:cs typeface="Calibri" pitchFamily="34" charset="-120"/>
                <a:hlinkClick r:id="rId4"/>
              </a:rPr>
              <a:t xml:space="preserve">sim/dpt.cir</a:t>
            </a:r>
            <a:r>
              <a:rPr lang="en-US" sz="1150" dirty="0">
                <a:solidFill>
                  <a:srgbClr val="000000"/>
                </a:solidFill>
                <a:latin typeface="Calibri" pitchFamily="34" charset="0"/>
                <a:ea typeface="Calibri" pitchFamily="34" charset="-122"/>
                <a:cs typeface="Calibri" pitchFamily="34" charset="-120"/>
              </a:rPr>
              <a:t xml:space="preserve">. Top row: the switch node falls from 106 V in 2.90 ns, peaking at 124 V/ns — that dv/dt drives i = C_GD·dv/dt into the OFF device's gate, and is the cause. Bottom row: that gate. Left, without the clamp, it rests at +0.005 V, is lifted +1.643 V and peaks at +1.649 V, past the 1.4 V threshold — false_turn_on = 1. Right, with the clamp and the −2 V rail, it rests at -1.941 V, is lifted only +0.765 V and peaks at -1.176 V — false_turn_on = 0. The two fixes are not one mechanism: the rail moves where the gate starts, the clamp shortens the lift by giving the injected charge a 0.5 Ω path out. </a:t>
            </a:r>
            <a:r>
              <a:rPr lang="en-US" sz="1150" dirty="0">
                <a:solidFill>
                  <a:srgbClr val="000000"/>
                </a:solidFill>
                <a:latin typeface="Calibri" pitchFamily="34" charset="0"/>
                <a:ea typeface="Calibri" pitchFamily="34" charset="-122"/>
                <a:cs typeface="Calibri" pitchFamily="34" charset="-120"/>
                <a:hlinkClick r:id="rId5"/>
              </a:rPr>
              <a:t xml:space="preserve">scripts/waveform_anatomy.py</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Against silicon that is 6.3× and 3.3×; against the base paper's control on the same GaN device, 1.5× and 1.1×.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a:t>
            </a:r>
            <a:r>
              <a:rPr lang="en-US" sz="1150" dirty="0">
                <a:solidFill>
                  <a:srgbClr val="000000"/>
                </a:solidFill>
                <a:latin typeface="Calibri" pitchFamily="34" charset="0"/>
                <a:ea typeface="Calibri" pitchFamily="34" charset="-122"/>
                <a:cs typeface="Calibri" pitchFamily="34" charset="-120"/>
                <a:hlinkClick r:id="rId5"/>
              </a:rPr>
              <a:t xml:space="preserve">scripts/three_way_figure.py</a:t>
            </a:r>
            <a:r>
              <a:rPr lang="en-US" sz="1150" dirty="0">
                <a:solidFill>
                  <a:srgbClr val="000000"/>
                </a:solidFill>
                <a:latin typeface="Calibri" pitchFamily="34" charset="0"/>
                <a:ea typeface="Calibri" pitchFamily="34" charset="-122"/>
                <a:cs typeface="Calibri" pitchFamily="34" charset="-120"/>
              </a:rPr>
              <a:t xml:space="preserve">, from </a:t>
            </a:r>
            <a:r>
              <a:rPr lang="en-US" sz="1150" dirty="0">
                <a:solidFill>
                  <a:srgbClr val="000000"/>
                </a:solidFill>
                <a:latin typeface="Calibri" pitchFamily="34" charset="0"/>
                <a:ea typeface="Calibri" pitchFamily="34" charset="-122"/>
                <a:cs typeface="Calibri" pitchFamily="34" charset="-120"/>
                <a:hlinkClick r:id="rId6"/>
              </a:rPr>
              <a:t xml:space="preserve">results/panel_metrics.csv</a:t>
            </a:r>
            <a:r>
              <a:rPr lang="en-US" sz="115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hlinkClick r:id="rId5"/>
              </a:rPr>
              <a:t xml:space="preserve">scripts/headtohead.py</a:t>
            </a:r>
            <a:r>
              <a:rPr lang="en-US" sz="1150" dirty="0">
                <a:solidFill>
                  <a:srgbClr val="000000"/>
                </a:solidFill>
                <a:latin typeface="Calibri" pitchFamily="34" charset="0"/>
                <a:ea typeface="Calibri" pitchFamily="34" charset="-122"/>
                <a:cs typeface="Calibri" pitchFamily="34" charset="-120"/>
              </a:rPr>
              <a:t xml:space="preserve">: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the clamp's action is independent of how hot the device is. Our switch node also slews about twice as fast, so the margin is not bought with switching speed. One caveat: </a:t>
            </a:r>
            <a:r>
              <a:rPr lang="en-US" sz="1150" dirty="0">
                <a:solidFill>
                  <a:srgbClr val="000000"/>
                </a:solidFill>
                <a:latin typeface="Calibri" pitchFamily="34" charset="0"/>
                <a:ea typeface="Calibri" pitchFamily="34" charset="-122"/>
                <a:cs typeface="Calibri" pitchFamily="34" charset="-120"/>
                <a:hlinkClick r:id="rId6"/>
              </a:rPr>
              <a:t xml:space="preserve">models/zhangdrv.lib</a:t>
            </a:r>
            <a:r>
              <a:rPr lang="en-US" sz="1150" dirty="0">
                <a:solidFill>
                  <a:srgbClr val="000000"/>
                </a:solidFill>
                <a:latin typeface="Calibri" pitchFamily="34" charset="0"/>
                <a:ea typeface="Calibri" pitchFamily="34" charset="-122"/>
                <a:cs typeface="Calibri" pitchFamily="34" charset="-120"/>
              </a:rPr>
              <a:t xml:space="preserve">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stated so the total can be checked.</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Neither can be obtained by further simulation.</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stated so the total can be recomputed.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a:t>
            </a:r>
            <a:r>
              <a:rPr lang="en-US" sz="1050" dirty="0">
                <a:solidFill>
                  <a:srgbClr val="000000"/>
                </a:solidFill>
                <a:latin typeface="Calibri" pitchFamily="34" charset="0"/>
                <a:ea typeface="Calibri" pitchFamily="34" charset="-122"/>
                <a:cs typeface="Calibri" pitchFamily="34" charset="-120"/>
                <a:hlinkClick r:id="rId4"/>
              </a:rPr>
              <a:t xml:space="preserve">models/zhangdrv.lib</a:t>
            </a:r>
            <a:r>
              <a:rPr lang="en-US" sz="1050" dirty="0">
                <a:solidFill>
                  <a:srgbClr val="000000"/>
                </a:solidFill>
                <a:latin typeface="Calibri" pitchFamily="34" charset="0"/>
                <a:ea typeface="Calibri" pitchFamily="34" charset="-122"/>
                <a:cs typeface="Calibri" pitchFamily="34" charset="-120"/>
              </a:rPr>
              <a:t xml:space="preserve"> and measured against throughout.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hlinkClick r:id="rId4"/>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