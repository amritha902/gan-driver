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8" r:id="rId91"/>
    <p:sldId id="315" r:id="rId58"/>
    <p:sldId id="316" r:id="rId59"/>
    <p:sldId id="317" r:id="rId60"/>
    <p:sldId id="318" r:id="rId61"/>
    <p:sldId id="319" r:id="rId62"/>
    <p:sldId id="320" r:id="rId63"/>
    <p:sldId id="321" r:id="rId64"/>
    <p:sldId id="322" r:id="rId65"/>
    <p:sldId id="323" r:id="rId66"/>
    <p:sldId id="324" r:id="rId67"/>
    <p:sldId id="325" r:id="rId68"/>
    <p:sldId id="326" r:id="rId69"/>
    <p:sldId id="327" r:id="rId70"/>
    <p:sldId id="339" r:id="rId82"/>
    <p:sldId id="309" r:id="rId52"/>
    <p:sldId id="341" r:id="rId84"/>
    <p:sldId id="355" r:id="rId98"/>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5.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4.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21.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3.xml"/><Relationship Id="rId65" Type="http://schemas.openxmlformats.org/officeDocument/2006/relationships/slide" Target="slides/slide14.xml"/><Relationship Id="rId66" Type="http://schemas.openxmlformats.org/officeDocument/2006/relationships/slide" Target="slides/slide15.xml"/><Relationship Id="rId67" Type="http://schemas.openxmlformats.org/officeDocument/2006/relationships/slide" Target="slides/slide16.xml"/><Relationship Id="rId68" Type="http://schemas.openxmlformats.org/officeDocument/2006/relationships/slide" Target="slides/slide17.xml"/><Relationship Id="rId69" Type="http://schemas.openxmlformats.org/officeDocument/2006/relationships/slide" Target="slides/slide18.xml"/><Relationship Id="rId70" Type="http://schemas.openxmlformats.org/officeDocument/2006/relationships/slide" Target="slides/slide19.xml"/><Relationship Id="rId71" Type="http://schemas.openxmlformats.org/officeDocument/2006/relationships/slide" Target="slides/slide26.xml"/><Relationship Id="rId82" Type="http://schemas.openxmlformats.org/officeDocument/2006/relationships/slide" Target="slides/slide20.xml"/><Relationship Id="rId84" Type="http://schemas.openxmlformats.org/officeDocument/2006/relationships/slide" Target="slides/slide22.xml"/><Relationship Id="rId91" Type="http://schemas.openxmlformats.org/officeDocument/2006/relationships/slide" Target="slides/slide6.xml"/><Relationship Id="rId9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kicad/gan_driver.drawio" TargetMode="External"/><Relationship Id="rId6" Type="http://schemas.openxmlformats.org/officeDocument/2006/relationships/hyperlink" Target="https://github.com/Amritha902/gan-driver/blob/main/models/segdrv.lib"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hyperlink" Target="https://github.com/Amritha902/gan-driver/blob/main/models/egan.lib"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7.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 in the backup deck.)</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450" dirty="0">
                <a:solidFill>
                  <a:srgbClr val="000000"/>
                </a:solidFill>
                <a:latin typeface="Calibri" pitchFamily="34" charset="0"/>
                <a:ea typeface="Calibri" pitchFamily="34" charset="-122"/>
                <a:cs typeface="Calibri" pitchFamily="34" charset="-120"/>
              </a:rPr>
              <a:t xml:space="preserve">A GaN buck converter driven by a </a:t>
            </a:r>
            <a:r>
              <a:rPr lang="en-US" sz="1450" b="1" dirty="0">
                <a:solidFill>
                  <a:srgbClr val="000000"/>
                </a:solidFill>
                <a:latin typeface="Calibri" pitchFamily="34" charset="0"/>
                <a:ea typeface="Calibri" pitchFamily="34" charset="-122"/>
                <a:cs typeface="Calibri" pitchFamily="34" charset="-120"/>
              </a:rPr>
              <a:t xml:space="preserve">segmented gate driver</a:t>
            </a:r>
            <a:r>
              <a:rPr lang="en-US" sz="145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45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2. Recreate the fault.</a:t>
            </a:r>
            <a:r>
              <a:rPr lang="en-US" sz="145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3. Fix it one change at a time,</a:t>
            </a:r>
            <a:r>
              <a:rPr lang="en-US" sz="145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45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46304" indent="0">
              <a:spcBef>
                <a:spcPts val="120"/>
              </a:spcBef>
              <a:spcAft>
                <a:spcPts val="600"/>
              </a:spcAft>
              <a:buSzPct val="100000"/>
              <a:buNone/>
            </a:pPr>
            <a:r>
              <a:rPr lang="en-US" sz="1650" b="1" dirty="0">
                <a:solidFill>
                  <a:srgbClr val="1D2F82"/>
                </a:solidFill>
                <a:latin typeface="Calibri" pitchFamily="34" charset="0"/>
                <a:ea typeface="Calibri" pitchFamily="34" charset="-122"/>
                <a:cs typeface="Calibri" pitchFamily="34" charset="-120"/>
              </a:rPr>
              <a:t xml:space="preserve">Scope and tools:</a:t>
            </a:r>
          </a:p>
          <a:p>
            <a:pPr marL="146304" indent="0">
              <a:spcAft>
                <a:spcPts val="600"/>
              </a:spcAft>
              <a:buSzPct val="100000"/>
              <a:buNone/>
            </a:pPr>
            <a:r>
              <a:rPr lang="en-US" sz="1450" b="1" dirty="0">
                <a:solidFill>
                  <a:srgbClr val="000000"/>
                </a:solidFill>
                <a:latin typeface="Calibri" pitchFamily="34" charset="0"/>
                <a:ea typeface="Calibri" pitchFamily="34" charset="-122"/>
                <a:cs typeface="Calibri" pitchFamily="34" charset="-120"/>
              </a:rPr>
              <a:t xml:space="preserve">In scope: </a:t>
            </a:r>
            <a:r>
              <a:rPr lang="en-US" sz="145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450" b="1" dirty="0">
                <a:solidFill>
                  <a:srgbClr val="000000"/>
                </a:solidFill>
                <a:latin typeface="Calibri" pitchFamily="34" charset="0"/>
                <a:ea typeface="Calibri" pitchFamily="34" charset="-122"/>
                <a:cs typeface="Calibri" pitchFamily="34" charset="-120"/>
              </a:rPr>
              <a:t xml:space="preserve">Tools: </a:t>
            </a:r>
            <a:r>
              <a:rPr lang="en-US" sz="145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3474275"/>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Converter Under Simulation</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at Circuit Level</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seven slices per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Gate Driver Schematics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per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slice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slices, eight pull-down, the active Miller clamp on the right, and the off rail selectable to −2 V. Each slice is one switch and one resistor; the resistor carries the control word.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slices per bank in two stages, one bias resistor, no clamp branch, and the off rail tied to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Block Structure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kicad/gan_driver.drawio</a:t>
            </a:r>
            <a:r>
              <a:rPr lang="en-US" sz="1300" b="1" dirty="0">
                <a:solidFill>
                  <a:srgbClr val="000000"/>
                </a:solidFill>
                <a:latin typeface="Calibri" pitchFamily="34" charset="0"/>
                <a:ea typeface="Calibri" pitchFamily="34" charset="-122"/>
                <a:cs typeface="Calibri" pitchFamily="34" charset="-120"/>
              </a:rPr>
              <a:t xml:space="preserve">, the block diagram of </a:t>
            </a:r>
            <a:r>
              <a:rPr lang="en-US" sz="1300" b="1" dirty="0">
                <a:solidFill>
                  <a:srgbClr val="000000"/>
                </a:solidFill>
                <a:latin typeface="Calibri" pitchFamily="34" charset="0"/>
                <a:ea typeface="Calibri" pitchFamily="34" charset="-122"/>
                <a:cs typeface="Calibri" pitchFamily="34" charset="-120"/>
                <a:hlinkClick r:id="rId6"/>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a:t>
            </a:r>
          </a:p>
        </p:txBody>
      </p:sp>
      <p:pic>
        <p:nvPicPr>
          <p:cNvPr id="6" name="Picture 5" descr="fig_drawio_segmented_driver.png"/>
          <p:cNvPicPr>
            <a:picLocks noChangeAspect="1"/>
          </p:cNvPicPr>
          <p:nvPr/>
        </p:nvPicPr>
        <p:blipFill>
          <a:blip r:embed="rId4"/>
          <a:stretch>
            <a:fillRect/>
          </a:stretch>
        </p:blipFill>
        <p:spPr>
          <a:xfrm>
            <a:off x="2741959" y="1444752"/>
            <a:ext cx="6707777" cy="3566160"/>
          </a:xfrm>
          <a:prstGeom prst="rect">
            <a:avLst/>
          </a:prstGeom>
        </p:spPr>
      </p:pic>
      <p:sp>
        <p:nvSpPr>
          <p:cNvPr id="7" name="TextBox 6"/>
          <p:cNvSpPr txBox="1"/>
          <p:nvPr/>
        </p:nvSpPr>
        <p:spPr>
          <a:xfrm>
            <a:off x="502920" y="5138928"/>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Sixteen slices between three rails: eight pull-up from VP, eight pull-down to VN, and OUT going to the HEMT gate. Each slice is one switch and one resistor, and the resistor carries the control word: ask for three or more slices and Rpu3 is 8 ohms and in circuit, ask for fewer and it becomes 1 G-ohm and that slice is out. Drive strength is simply how many of the eight parallel paths are live. On the right, the active Miller clamp, which the base paper does not have: its own switch and 0.5 ohms to VN, and VN itself selectable to −2 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Eight pull-up slices and eight pull-down, each a switch and a resistor. A slice is in circuit when the control word reaches it and 1 GΩ out of it when it does not, which is how 4 + 4 bits from the FPGA become a drive strength. The clamp is not one of the slices: it has its own switch, its own timing and its own 0.5 Ω path to the off rail, because it has to hold the gate down while the other device switches. The slices are discrete by design: a single variable resistor would simulate identically and could not be laid out.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HEMT Device Model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models/egan.lib</a:t>
            </a:r>
            <a:r>
              <a:rPr lang="en-US" sz="1300" b="1" dirty="0">
                <a:solidFill>
                  <a:srgbClr val="000000"/>
                </a:solidFill>
                <a:latin typeface="Calibri" pitchFamily="34" charset="0"/>
                <a:ea typeface="Calibri" pitchFamily="34" charset="-122"/>
                <a:cs typeface="Calibri" pitchFamily="34" charset="-120"/>
              </a:rPr>
              <a:t xml:space="preserve"> - written from the EPC2010C datasheet.</a:t>
            </a:r>
          </a:p>
        </p:txBody>
      </p:sp>
      <p:pic>
        <p:nvPicPr>
          <p:cNvPr id="6" name="Picture 5" descr="fig_code_egan.png"/>
          <p:cNvPicPr>
            <a:picLocks noChangeAspect="1"/>
          </p:cNvPicPr>
          <p:nvPr/>
        </p:nvPicPr>
        <p:blipFill>
          <a:blip r:embed="rId4"/>
          <a:stretch>
            <a:fillRect/>
          </a:stretch>
        </p:blipFill>
        <p:spPr>
          <a:xfrm>
            <a:off x="426567" y="1481328"/>
            <a:ext cx="11338560" cy="2292096"/>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Vendor subcircuits are LTspice-dialect and do not port to Spectre, so this is written from datasheet quantities only. The channel is one symmetric square law, so third-quadrant conduction follows from the physics rather than being added: GaN has no body diode, and reverse conduction costs V_th + |V_off| + I·R_ds(on). That is the coupling the project turns on - a negative off rail improves crosstalk margin at the cost of dead-time loss. C_GD is a junction diode biased never to conduct, so only its C(V) law is used. The temperature coefficients are hand-typed from the datasheet, not fitted; this is the principal limitation of the model, and it is covered in the backup 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Demonstration</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Six-Parameter Comparison</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accounts for most of it; the control swap accounts for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9436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netlist, same GaN, same power loop, same parasitics - only the driver is swapped. We hold one fixed word at all four corners. They are re-optimised at every corner, which is more freedom than their own design has: their scheme sets one bias resistor at design time. The search returns their built setting at three of the four corners, so those rows read alike.</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This is our implementation of their described scheme, run in our testbench: their netlist is not published. The ratio is against that reimplementation, not against their measured result, and is not claimed as such.</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and one behavioural GaN model underlies all of it.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