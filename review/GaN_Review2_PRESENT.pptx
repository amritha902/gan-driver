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8" r:id="rId91"/>
    <p:sldId id="315" r:id="rId58"/>
    <p:sldId id="316" r:id="rId59"/>
    <p:sldId id="317" r:id="rId60"/>
    <p:sldId id="318" r:id="rId61"/>
    <p:sldId id="319" r:id="rId62"/>
    <p:sldId id="320" r:id="rId63"/>
    <p:sldId id="321" r:id="rId64"/>
    <p:sldId id="322" r:id="rId65"/>
    <p:sldId id="323" r:id="rId66"/>
    <p:sldId id="324" r:id="rId67"/>
    <p:sldId id="325" r:id="rId68"/>
    <p:sldId id="326" r:id="rId69"/>
    <p:sldId id="327" r:id="rId70"/>
    <p:sldId id="339" r:id="rId82"/>
    <p:sldId id="309" r:id="rId52"/>
    <p:sldId id="341" r:id="rId84"/>
    <p:sldId id="355" r:id="rId98"/>
    <p:sldId id="272" r:id="rId23"/>
    <p:sldId id="265" r:id="rId11"/>
    <p:sldId id="328"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5.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4.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21.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16.xml"/><Relationship Id="rId68" Type="http://schemas.openxmlformats.org/officeDocument/2006/relationships/slide" Target="slides/slide17.xml"/><Relationship Id="rId69" Type="http://schemas.openxmlformats.org/officeDocument/2006/relationships/slide" Target="slides/slide18.xml"/><Relationship Id="rId70" Type="http://schemas.openxmlformats.org/officeDocument/2006/relationships/slide" Target="slides/slide19.xml"/><Relationship Id="rId71" Type="http://schemas.openxmlformats.org/officeDocument/2006/relationships/slide" Target="slides/slide26.xml"/><Relationship Id="rId82" Type="http://schemas.openxmlformats.org/officeDocument/2006/relationships/slide" Target="slides/slide20.xml"/><Relationship Id="rId84" Type="http://schemas.openxmlformats.org/officeDocument/2006/relationships/slide" Target="slides/slide22.xml"/><Relationship Id="rId91" Type="http://schemas.openxmlformats.org/officeDocument/2006/relationships/slide" Target="slides/slide6.xml"/><Relationship Id="rId98"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4.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scripts/gan_level_figure.py" TargetMode="External"/><Relationship Id="rId6" Type="http://schemas.openxmlformats.org/officeDocument/2006/relationships/hyperlink" Target="https://github.com/Amritha902/gan-driver/blob/main/results/waveform_anatomy.tx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segdrv.kicad_sch"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zhangdrv.kicad_sch"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kicad/gan_driver.drawio" TargetMode="External"/><Relationship Id="rId6" Type="http://schemas.openxmlformats.org/officeDocument/2006/relationships/hyperlink" Target="https://github.com/Amritha902/gan-driver/blob/main/models/segdrv.lib"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segdrv.lib"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hyperlink" Target="https://github.com/Amritha902/gan-driver/blob/main/models/egan.lib"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5.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6.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7.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Converter Under Simulation</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theirs. The last row is what those three buy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Gate Driver Schematics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Mechanism at Device Level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Why a fast edge turns on the device that should be off, and what the driver does about it.</a:t>
            </a:r>
          </a:p>
        </p:txBody>
      </p:sp>
      <p:pic>
        <p:nvPicPr>
          <p:cNvPr id="6" name="Picture 5" descr="fig_gan_level.png"/>
          <p:cNvPicPr>
            <a:picLocks noChangeAspect="1"/>
          </p:cNvPicPr>
          <p:nvPr/>
        </p:nvPicPr>
        <p:blipFill>
          <a:blip r:embed="rId4"/>
          <a:stretch>
            <a:fillRect/>
          </a:stretch>
        </p:blipFill>
        <p:spPr>
          <a:xfrm>
            <a:off x="1363116" y="1417320"/>
            <a:ext cx="9465460" cy="3977639"/>
          </a:xfrm>
          <a:prstGeom prst="rect">
            <a:avLst/>
          </a:prstGeom>
        </p:spPr>
      </p:pic>
      <p:sp>
        <p:nvSpPr>
          <p:cNvPr id="7" name="TextBox 6"/>
          <p:cNvSpPr txBox="1"/>
          <p:nvPr/>
        </p:nvSpPr>
        <p:spPr>
          <a:xfrm>
            <a:off x="502920" y="5541264"/>
            <a:ext cx="10838382" cy="11155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Left: the half-bridge. When the low-side device turns on the switch node falls 106 V in 2.90 ns, peaking at 124 V/ns, and that dv/dt drives a current through C_GD into the high-side gate. Right: the three parallel paths that current sees at the gate node. The slice count sets how hard the gate is held; the Miller clamp adds a 0.5 ohm path of its own, timed to the other device's edge; the off rail sets where the gate starts from. The two additions are not one mechanism - the rail moves the starting point, the clamp shortens the lift - which is why they add rather than overlap. </a:t>
            </a:r>
            <a:r>
              <a:rPr lang="en-US" sz="1150" dirty="0">
                <a:solidFill>
                  <a:srgbClr val="000000"/>
                </a:solidFill>
                <a:latin typeface="Calibri" pitchFamily="34" charset="0"/>
                <a:ea typeface="Calibri" pitchFamily="34" charset="-122"/>
                <a:cs typeface="Calibri" pitchFamily="34" charset="-120"/>
                <a:hlinkClick r:id="rId5"/>
              </a:rPr>
              <a:t xml:space="preserve">scripts/gan_level_figure.py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results/waveform_anatomy.txt</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slices, eight pull-down, the active Miller clamp on the right, and the off rail selectable to -2 V. Each slice is one switch and one resistor; the resistor carries the control word.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slices a bank in two stages, one bias resistor, no clamp branch, and the off rail tied to reference.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Block Structure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kicad/gan_driver.drawio</a:t>
            </a:r>
            <a:r>
              <a:rPr lang="en-US" sz="1300" b="1" dirty="0">
                <a:solidFill>
                  <a:srgbClr val="000000"/>
                </a:solidFill>
                <a:latin typeface="Calibri" pitchFamily="34" charset="0"/>
                <a:ea typeface="Calibri" pitchFamily="34" charset="-122"/>
                <a:cs typeface="Calibri" pitchFamily="34" charset="-120"/>
              </a:rPr>
              <a:t xml:space="preserve">, the block diagram of </a:t>
            </a:r>
            <a:r>
              <a:rPr lang="en-US" sz="1300" b="1" dirty="0">
                <a:solidFill>
                  <a:srgbClr val="000000"/>
                </a:solidFill>
                <a:latin typeface="Calibri" pitchFamily="34" charset="0"/>
                <a:ea typeface="Calibri" pitchFamily="34" charset="-122"/>
                <a:cs typeface="Calibri" pitchFamily="34" charset="-120"/>
                <a:hlinkClick r:id="rId6"/>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a:t>
            </a:r>
          </a:p>
        </p:txBody>
      </p:sp>
      <p:pic>
        <p:nvPicPr>
          <p:cNvPr id="6" name="Picture 5" descr="fig_drawio_segmented_driver.png"/>
          <p:cNvPicPr>
            <a:picLocks noChangeAspect="1"/>
          </p:cNvPicPr>
          <p:nvPr/>
        </p:nvPicPr>
        <p:blipFill>
          <a:blip r:embed="rId4"/>
          <a:stretch>
            <a:fillRect/>
          </a:stretch>
        </p:blipFill>
        <p:spPr>
          <a:xfrm>
            <a:off x="2741959" y="1444752"/>
            <a:ext cx="6707777" cy="3566160"/>
          </a:xfrm>
          <a:prstGeom prst="rect">
            <a:avLst/>
          </a:prstGeom>
        </p:spPr>
      </p:pic>
      <p:sp>
        <p:nvSpPr>
          <p:cNvPr id="7" name="TextBox 6"/>
          <p:cNvSpPr txBox="1"/>
          <p:nvPr/>
        </p:nvSpPr>
        <p:spPr>
          <a:xfrm>
            <a:off x="502920" y="5138928"/>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Sixteen slices between three rails: eight pull-up from VP, eight pull-down to VN, and OUT going to the HEMT gate. Each slice is one switch and one resistor, and the resistor carries the control word: ask for three or more slices and Rpu3 is 8 ohms and in circuit, ask for fewer and it becomes 1 G-ohm and that slice is out. Drive strength is simply how many of the eight parallel paths are live. On the right, the active Miller clamp, which the base paper does not have: its own switch and 0.5 ohms to VN, and VN itself selectable to -2 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varied throughout the study.</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Eight pull-up slices and eight pull-down, each a switch and a resistor. A slice is in circuit when the control word reaches it and 1 GΩ out of it when it does not, which is how 4 + 4 bits from the FPGA become a drive strength. The clamp is not one of the slices: it has its own switch, its own timing and its own 0.5 Ω path to the off rail, because it has to hold the gate down while the other device switches. The slices are discrete by design: a single variable resistor would simulate identically and could not be laid out.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HEMT Device Model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follows from the physics rather than being added: GaN has no body diode, and reverse conduction costs V_th + |V_off| + I·R_ds(on). That is the coupling the project turns on - a negative off rail improves crosstalk margin at the cost of dead-time loss. C_GD is a junction diode biased never to conduct, so only its C(V) law is used. The temperature coefficients are hand-typed from the datasheet, not fitted; this is the principal limitation of the model, and it is covered in the backup deck.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ENVIRONMENT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Demonstration</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Six-Parameter Comparison</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accounts for most of it; the control swap accounts for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netlist,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This is our implementation of their described scheme, run in our testbench: their netlist is not published. The ratio is against that reimplementation, not against their measured result, and is not claimed as such.</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remains is bench work, not further simulation.</a:t>
            </a:r>
          </a:p>
        </p:txBody>
      </p:sp>
      <p:sp>
        <p:nvSpPr>
          <p:cNvPr id="6" name="TextBox 5"/>
          <p:cNvSpPr txBox="1"/>
          <p:nvPr/>
        </p:nvSpPr>
        <p:spPr>
          <a:xfrm>
            <a:off x="640080" y="1600200"/>
            <a:ext cx="11064240" cy="4480560"/>
          </a:xfrm>
          <a:prstGeom prst="rect">
            <a:avLst/>
          </a:prstGeom>
          <a:noFill/>
        </p:spPr>
        <p:txBody>
          <a:bodyPr wrap="square" lIns="0" tIns="0" rIns="0" bIns="0">
            <a:spAutoFit/>
          </a:bodyPr>
          <a:lstStyle/>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Place-and-route on a chosen board. </a:t>
            </a:r>
            <a:r>
              <a:rPr lang="en-US" sz="15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A hardware half-bridge, measured. </a:t>
            </a:r>
            <a:r>
              <a:rPr lang="en-US" sz="15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Additionally: transcribe the silicon MOSFET datasheet digits rather than using datasheet-class values, and re-run the ceiling on the transistor-level stage now that it is known to work.</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