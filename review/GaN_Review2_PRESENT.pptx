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278" r:id="rId29"/>
    <p:sldId id="344" r:id="rId87"/>
    <p:sldId id="315" r:id="rId58"/>
    <p:sldId id="316" r:id="rId59"/>
    <p:sldId id="317" r:id="rId60"/>
    <p:sldId id="318" r:id="rId61"/>
    <p:sldId id="319" r:id="rId62"/>
    <p:sldId id="320" r:id="rId63"/>
    <p:sldId id="321" r:id="rId64"/>
    <p:sldId id="322" r:id="rId65"/>
    <p:sldId id="323" r:id="rId66"/>
    <p:sldId id="335" r:id="rId78"/>
    <p:sldId id="309" r:id="rId52"/>
    <p:sldId id="337" r:id="rId80"/>
    <p:sldId id="329" r:id="rId72"/>
    <p:sldId id="272" r:id="rId23"/>
    <p:sldId id="265" r:id="rId11"/>
    <p:sldId id="324" r:id="rId6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11"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3" Type="http://schemas.openxmlformats.org/officeDocument/2006/relationships/slide" Target="slides/slide20.xml"/><Relationship Id="rId25" Type="http://schemas.openxmlformats.org/officeDocument/2006/relationships/slide" Target="slides/slide4.xml"/><Relationship Id="rId29" Type="http://schemas.openxmlformats.org/officeDocument/2006/relationships/slide" Target="slides/slide5.xml"/><Relationship Id="rId52" Type="http://schemas.openxmlformats.org/officeDocument/2006/relationships/slide" Target="slides/slide17.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2.xml"/><Relationship Id="rId64" Type="http://schemas.openxmlformats.org/officeDocument/2006/relationships/slide" Target="slides/slide13.xml"/><Relationship Id="rId65" Type="http://schemas.openxmlformats.org/officeDocument/2006/relationships/slide" Target="slides/slide14.xml"/><Relationship Id="rId66" Type="http://schemas.openxmlformats.org/officeDocument/2006/relationships/slide" Target="slides/slide15.xml"/><Relationship Id="rId67" Type="http://schemas.openxmlformats.org/officeDocument/2006/relationships/slide" Target="slides/slide22.xml"/><Relationship Id="rId72" Type="http://schemas.openxmlformats.org/officeDocument/2006/relationships/slide" Target="slides/slide19.xml"/><Relationship Id="rId78" Type="http://schemas.openxmlformats.org/officeDocument/2006/relationships/slide" Target="slides/slide16.xml"/><Relationship Id="rId80" Type="http://schemas.openxmlformats.org/officeDocument/2006/relationships/slide" Target="slides/slide18.xml"/><Relationship Id="rId87"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hyperlink" Target="https://github.com/Amritha902/gan-driver/blob/main/kicad/gan_segdrv.kicad_sch" TargetMode="External"/><Relationship Id="rId6" Type="http://schemas.openxmlformats.org/officeDocument/2006/relationships/hyperlink" Target="https://github.com/Amritha902/gan-driver/blob/main/kicad/gan_buck.kicad_sch"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 Id="rId7" Type="http://schemas.openxmlformats.org/officeDocument/2006/relationships/hyperlink" Target="https://github.com/Amritha902/gan-driver/blob/main/sim/buck.cir" TargetMode="External"/><Relationship Id="rId8" Type="http://schemas.openxmlformats.org/officeDocument/2006/relationships/hyperlink" Target="https://github.com/Amritha902/gan-driver/blob/main/scripts/kicad_schematic.py" TargetMode="External"/><Relationship Id="rId9" Type="http://schemas.openxmlformats.org/officeDocument/2006/relationships/hyperlink" Target="https://github.com/Amritha902/gan-driver/blob/main/kicad/gan_buck.kicad_sch"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0.png"/><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results/headtohead.csv"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kicad/gan_zhangdrv.kicad_sch" TargetMode="External"/><Relationship Id="rId7" Type="http://schemas.openxmlformats.org/officeDocument/2006/relationships/hyperlink" Target="https://github.com/Amritha902/gan-driver/blob/main/kicad/gan_segdrv.kicad_sch"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hyperlink" Target="https://github.com/Amritha902/gan-driver/blob/main/kicad/gan_zhangdrv.kicad_sch" TargetMode="External"/><Relationship Id="rId6" Type="http://schemas.openxmlformats.org/officeDocument/2006/relationships/hyperlink" Target="https://github.com/Amritha902/gan-driver/blob/main/kicad/gan_segdrv.kicad_sch" TargetMode="External"/><Relationship Id="rId7" Type="http://schemas.openxmlformats.org/officeDocument/2006/relationships/hyperlink" Target="https://github.com/Amritha902/gan-driver/blob/main/scripts/record_kicad.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hyperlink" Target="https://github.com/Amritha902/gan-driver/blob/main/kicad/gan_driver.drawio" TargetMode="External"/><Relationship Id="rId6" Type="http://schemas.openxmlformats.org/officeDocument/2006/relationships/hyperlink" Target="https://github.com/Amritha902/gan-driver/blob/main/models/segdrv.lib"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 Id="rId5" Type="http://schemas.openxmlformats.org/officeDocument/2006/relationships/hyperlink" Target="https://github.com/Amritha902/gan-driver/blob/main/models/segdrv.lib"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 Id="rId5" Type="http://schemas.openxmlformats.org/officeDocument/2006/relationships/hyperlink" Target="https://github.com/Amritha902/gan-driver/blob/main/models/egan.lib"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models/egan.lib" TargetMode="External"/><Relationship Id="rId8" Type="http://schemas.openxmlformats.org/officeDocument/2006/relationships/hyperlink" Target="https://github.com/Amritha902/gan-driver/blob/main/scripts/headtohead.py" TargetMode="External"/><Relationship Id="rId9" Type="http://schemas.openxmlformats.org/officeDocument/2006/relationships/hyperlink" Target="https://github.com/Amritha902/gan-driver/blob/main/results/headtohead.txt" TargetMode="External"/><Relationship Id="rId10" Type="http://schemas.openxmlformats.org/officeDocument/2006/relationships/hyperlink" Target="https://github.com/Amritha902/gan-driver/blob/main/results/RESULTS-SUMMARY.txt" TargetMode="External"/><Relationship Id="rId11" Type="http://schemas.openxmlformats.org/officeDocument/2006/relationships/hyperlink" Target="https://github.com/Amritha902/gan-driver/blob/main/review/check_consistency.py"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41.png"/><Relationship Id="rId7" Type="http://schemas.openxmlformats.org/officeDocument/2006/relationships/hyperlink" Target="https://github.com/Amritha902/gan-driver/blob/main/models/zhangdrv.lib" TargetMode="External"/><Relationship Id="rId8" Type="http://schemas.openxmlformats.org/officeDocument/2006/relationships/hyperlink" Target="https://github.com/Amritha902/gan-driver/blob/main/sim/dpt.cir" TargetMode="External"/><Relationship Id="rId9" Type="http://schemas.openxmlformats.org/officeDocument/2006/relationships/hyperlink" Target="https://github.com/Amritha902/gan-driver/blob/main/kicad/gan_zhangdrv.kicad_sch" TargetMode="External"/><Relationship Id="rId10" Type="http://schemas.openxmlformats.org/officeDocument/2006/relationships/hyperlink" Target="https://github.com/Amritha902/gan-driver/blob/main/scripts/headtohead.py" TargetMode="External"/><Relationship Id="rId11" Type="http://schemas.openxmlformats.org/officeDocument/2006/relationships/hyperlink" Target="https://github.com/Amritha902/gan-driver/blob/main/results/headtohead.txt"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2.png"/><Relationship Id="rId7" Type="http://schemas.openxmlformats.org/officeDocument/2006/relationships/hyperlink" Target="https://github.com/Amritha902/gan-driver/blob/main/models/segdrv.lib" TargetMode="External"/><Relationship Id="rId8" Type="http://schemas.openxmlformats.org/officeDocument/2006/relationships/hyperlink" Target="https://github.com/Amritha902/gan-driver/blob/main/sim/dpt.cir"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43.png"/><Relationship Id="rId7" Type="http://schemas.openxmlformats.org/officeDocument/2006/relationships/hyperlink" Target="https://github.com/Amritha902/gan-driver/blob/main/kicad/gan_buck.kicad_sch" TargetMode="External"/><Relationship Id="rId8" Type="http://schemas.openxmlformats.org/officeDocument/2006/relationships/hyperlink" Target="https://github.com/Amritha902/gan-driver/blob/main/scripts/demo_review2.py"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50.png"/><Relationship Id="rId7" Type="http://schemas.openxmlformats.org/officeDocument/2006/relationships/image" Target="../media/image51.png"/><Relationship Id="rId8" Type="http://schemas.openxmlformats.org/officeDocument/2006/relationships/hyperlink" Target="https://github.com/Amritha902/gan-driver/blob/main/proof/LIVE-SIM.sh" TargetMode="External"/><Relationship Id="rId9" Type="http://schemas.openxmlformats.org/officeDocument/2006/relationships/hyperlink" Target="https://github.com/Amritha902/gan-driver/blob/main/scripts/live_demo.p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scripts/waveform_anatomy.py"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3.png"/><Relationship Id="rId5" Type="http://schemas.openxmlformats.org/officeDocument/2006/relationships/hyperlink" Target="https://github.com/Amritha902/gan-driver/blob/main/scripts/three_way_figure.py" TargetMode="External"/><Relationship Id="rId6" Type="http://schemas.openxmlformats.org/officeDocument/2006/relationships/hyperlink" Target="https://github.com/Amritha902/gan-driver/blob/main/results/panel_metrics.csv"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 Id="rId5" Type="http://schemas.openxmlformats.org/officeDocument/2006/relationships/hyperlink" Target="https://github.com/Amritha902/gan-driver/blob/main/scripts/headtohead.py" TargetMode="External"/><Relationship Id="rId6" Type="http://schemas.openxmlformats.org/officeDocument/2006/relationships/hyperlink" Target="https://github.com/Amritha902/gan-driver/blob/main/models/zhangdrv.lib"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hyperlink" Target="https://github.com/Amritha902/gan-driver/blob/main/models/zhangdrv.lib"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Problem Statement:</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Background &amp; Significance:</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Existing Solutions:</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Limitations / Research Gap:</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reported gains do not separate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Aim:</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Proposed Solution:</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A GaN buck converter driven by a </a:t>
            </a:r>
            <a:r>
              <a:rPr lang="en-US" sz="1450" b="1" dirty="0">
                <a:solidFill>
                  <a:srgbClr val="000000"/>
                </a:solidFill>
                <a:latin typeface="Calibri" pitchFamily="34" charset="0"/>
                <a:ea typeface="Calibri" pitchFamily="34" charset="-122"/>
                <a:cs typeface="Calibri" pitchFamily="34" charset="-120"/>
              </a:rPr>
              <a:t xml:space="preserve">segmented gate driver</a:t>
            </a:r>
            <a:r>
              <a:rPr lang="en-US" sz="145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How we approached it: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45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2. Recreate the fault.</a:t>
            </a:r>
            <a:r>
              <a:rPr lang="en-US" sz="145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3. Fix it one change at a time,</a:t>
            </a:r>
            <a:r>
              <a:rPr lang="en-US" sz="145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45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Scope and tools:</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In scope: </a:t>
            </a:r>
            <a:r>
              <a:rPr lang="en-US" sz="145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450" b="1" dirty="0">
                <a:solidFill>
                  <a:srgbClr val="000000"/>
                </a:solidFill>
                <a:latin typeface="Calibri" pitchFamily="34" charset="0"/>
                <a:ea typeface="Calibri" pitchFamily="34" charset="-122"/>
                <a:cs typeface="Calibri" pitchFamily="34" charset="-120"/>
              </a:rPr>
              <a:t xml:space="preserve">Tools: </a:t>
            </a:r>
            <a:r>
              <a:rPr lang="en-US" sz="145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518007" y="1207008"/>
            <a:ext cx="11155680" cy="3474275"/>
          </a:xfrm>
          <a:prstGeom prst="rect">
            <a:avLst/>
          </a:prstGeom>
        </p:spPr>
      </p:pic>
      <p:sp>
        <p:nvSpPr>
          <p:cNvPr id="6" name="TextBox 5"/>
          <p:cNvSpPr txBox="1"/>
          <p:nvPr/>
        </p:nvSpPr>
        <p:spPr>
          <a:xfrm>
            <a:off x="502920" y="5897880"/>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signal path: a PWM command, the FPGA controller that holds the control word, the segmented driver that shapes the edge, and the half-bridge it drives. The driver in green is what this project designs; it is drawn once as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and placed twice in </a:t>
            </a:r>
            <a:r>
              <a:rPr lang="en-US" sz="1150" dirty="0">
                <a:solidFill>
                  <a:srgbClr val="000000"/>
                </a:solidFill>
                <a:latin typeface="Calibri" pitchFamily="34" charset="0"/>
                <a:ea typeface="Calibri" pitchFamily="34" charset="-122"/>
                <a:cs typeface="Calibri" pitchFamily="34" charset="-120"/>
                <a:hlinkClick r:id="rId6"/>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one per gate. The control word is set at power-up and never changed - re-tuning it while the converter runs is the 2.6 % this project measures. In red, the fault: the switching edge couples through C_GD into the gate that should stay off.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60" cy="4070543"/>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a:t>
            </a:r>
            <a:r>
              <a:rPr lang="en-US" sz="1150" dirty="0">
                <a:solidFill>
                  <a:srgbClr val="000000"/>
                </a:solidFill>
                <a:latin typeface="Calibri" pitchFamily="34" charset="0"/>
                <a:ea typeface="Calibri" pitchFamily="34" charset="-122"/>
                <a:cs typeface="Calibri" pitchFamily="34" charset="-120"/>
                <a:hlinkClick r:id="rId7"/>
              </a:rPr>
              <a:t xml:space="preserve">sim/buck.cir</a:t>
            </a:r>
            <a:r>
              <a:rPr lang="en-US" sz="1150" dirty="0">
                <a:solidFill>
                  <a:srgbClr val="000000"/>
                </a:solidFill>
                <a:latin typeface="Calibri" pitchFamily="34" charset="0"/>
                <a:ea typeface="Calibri" pitchFamily="34" charset="-122"/>
                <a:cs typeface="Calibri" pitchFamily="34" charset="-120"/>
              </a:rPr>
              <a:t xml:space="preserve"> by </a:t>
            </a:r>
            <a:r>
              <a:rPr lang="en-US" sz="1150" dirty="0">
                <a:solidFill>
                  <a:srgbClr val="000000"/>
                </a:solidFill>
                <a:latin typeface="Calibri" pitchFamily="34" charset="0"/>
                <a:ea typeface="Calibri" pitchFamily="34" charset="-122"/>
                <a:cs typeface="Calibri" pitchFamily="34" charset="-120"/>
                <a:hlinkClick r:id="rId8"/>
              </a:rPr>
              <a:t xml:space="preserve">scripts/kicad_schematic.py</a:t>
            </a:r>
            <a:r>
              <a:rPr lang="en-US" sz="1150" dirty="0">
                <a:solidFill>
                  <a:srgbClr val="000000"/>
                </a:solidFill>
                <a:latin typeface="Calibri" pitchFamily="34" charset="0"/>
                <a:ea typeface="Calibri" pitchFamily="34" charset="-122"/>
                <a:cs typeface="Calibri" pitchFamily="34" charset="-120"/>
              </a:rPr>
              <a:t xml:space="preserve"> into </a:t>
            </a:r>
            <a:r>
              <a:rPr lang="en-US" sz="1150" dirty="0">
                <a:solidFill>
                  <a:srgbClr val="000000"/>
                </a:solidFill>
                <a:latin typeface="Calibri" pitchFamily="34" charset="0"/>
                <a:ea typeface="Calibri" pitchFamily="34" charset="-122"/>
                <a:cs typeface="Calibri" pitchFamily="34" charset="-120"/>
                <a:hlinkClick r:id="rId9"/>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the three blocks we add</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844156" y="1353312"/>
            <a:ext cx="1050338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five things that differ, and nothing else. Their column is the base paper as we rebuilt it in </a:t>
            </a:r>
            <a:r>
              <a:rPr lang="en-US" sz="1150" dirty="0">
                <a:solidFill>
                  <a:srgbClr val="000000"/>
                </a:solidFill>
                <a:latin typeface="Calibri" pitchFamily="34" charset="0"/>
                <a:ea typeface="Calibri" pitchFamily="34" charset="-122"/>
                <a:cs typeface="Calibri" pitchFamily="34" charset="-120"/>
                <a:hlinkClick r:id="rId5"/>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ours is </a:t>
            </a:r>
            <a:r>
              <a:rPr lang="en-US" sz="1150" dirty="0">
                <a:solidFill>
                  <a:srgbClr val="000000"/>
                </a:solidFill>
                <a:latin typeface="Calibri" pitchFamily="34" charset="0"/>
                <a:ea typeface="Calibri" pitchFamily="34" charset="-122"/>
                <a:cs typeface="Calibri" pitchFamily="34" charset="-120"/>
                <a:hlinkClick r:id="rId6"/>
              </a:rPr>
              <a:t xml:space="preserve">models/segdrv.lib</a:t>
            </a:r>
            <a:r>
              <a:rPr lang="en-US" sz="1150" dirty="0">
                <a:solidFill>
                  <a:srgbClr val="000000"/>
                </a:solidFill>
                <a:latin typeface="Calibri" pitchFamily="34" charset="0"/>
                <a:ea typeface="Calibri" pitchFamily="34" charset="-122"/>
                <a:cs typeface="Calibri" pitchFamily="34" charset="-120"/>
              </a:rPr>
              <a:t xml:space="preserve">. Shaded: the three we add - digital control in place of one fixed resistor, an always-on Miller clamp, and an off rail selectable to −2 V. The command, the power stage and the idea of segmenting the output are all theirs. The last row is what those three buy at the headline corner, read from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+0.407 V becomes +2.576 V, from one fixed setting.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the novelty is, on the circuit</a:t>
            </a:r>
            <a:endParaRPr lang="en-US" sz="2800" dirty="0"/>
          </a:p>
        </p:txBody>
      </p:sp>
      <p:sp>
        <p:nvSpPr>
          <p:cNvPr id="5" name="TextBox 4"/>
          <p:cNvSpPr txBox="1"/>
          <p:nvPr/>
        </p:nvSpPr>
        <p:spPr>
          <a:xfrm>
            <a:off x="640080" y="932688"/>
            <a:ext cx="11064240" cy="439419"/>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 Both additions are established practice [1]–[4]; the base paper uses neither. What is measured here is what each is worth on this converter.</a:t>
            </a:r>
          </a:p>
        </p:txBody>
      </p:sp>
      <p:pic>
        <p:nvPicPr>
          <p:cNvPr id="6" name="Picture 5" descr="fig_novelty_circuit.png"/>
          <p:cNvPicPr>
            <a:picLocks noChangeAspect="1"/>
          </p:cNvPicPr>
          <p:nvPr/>
        </p:nvPicPr>
        <p:blipFill>
          <a:blip r:embed="rId4"/>
          <a:stretch>
            <a:fillRect/>
          </a:stretch>
        </p:blipFill>
        <p:spPr>
          <a:xfrm>
            <a:off x="3212111" y="1371600"/>
            <a:ext cx="5767473"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Top: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with the two gates of the half-bridge ringed - HSG and LSG are what a gate driver drives, and everything below is what sits behind them. Bottom left, theirs (</a:t>
            </a:r>
            <a:r>
              <a:rPr lang="en-US" sz="1150" dirty="0">
                <a:solidFill>
                  <a:srgbClr val="000000"/>
                </a:solidFill>
                <a:latin typeface="Calibri" pitchFamily="34" charset="0"/>
                <a:ea typeface="Calibri" pitchFamily="34" charset="-122"/>
                <a:cs typeface="Calibri" pitchFamily="34" charset="-120"/>
                <a:hlinkClick r:id="rId6"/>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seven slices a bank in two stages, and a rail their own sheet labels “tied to ref - NO negative rail”. Bottom right, ours (</a:t>
            </a:r>
            <a:r>
              <a:rPr lang="en-US" sz="1150" dirty="0">
                <a:solidFill>
                  <a:srgbClr val="000000"/>
                </a:solidFill>
                <a:latin typeface="Calibri" pitchFamily="34" charset="0"/>
                <a:ea typeface="Calibri" pitchFamily="34" charset="-122"/>
                <a:cs typeface="Calibri" pitchFamily="34" charset="-120"/>
                <a:hlinkClick r:id="rId7"/>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the same eight-slice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Both gate drivers, as drawn in KiCad</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two sheets the previous slide crops from - whole, at the same scale, nothing ringed and nothing removed.</a:t>
            </a:r>
          </a:p>
        </p:txBody>
      </p:sp>
      <p:pic>
        <p:nvPicPr>
          <p:cNvPr id="6" name="Picture 5" descr="fig_schematics_pair.png"/>
          <p:cNvPicPr>
            <a:picLocks noChangeAspect="1"/>
          </p:cNvPicPr>
          <p:nvPr/>
        </p:nvPicPr>
        <p:blipFill>
          <a:blip r:embed="rId4"/>
          <a:stretch>
            <a:fillRect/>
          </a:stretch>
        </p:blipFill>
        <p:spPr>
          <a:xfrm>
            <a:off x="426567" y="1572768"/>
            <a:ext cx="11338559" cy="3670074"/>
          </a:xfrm>
          <a:prstGeom prst="rect">
            <a:avLst/>
          </a:prstGeom>
        </p:spPr>
      </p:pic>
      <p:sp>
        <p:nvSpPr>
          <p:cNvPr id="7" name="TextBox 6"/>
          <p:cNvSpPr txBox="1"/>
          <p:nvPr/>
        </p:nvSpPr>
        <p:spPr>
          <a:xfrm>
            <a:off x="502920" y="5394960"/>
            <a:ext cx="10838382"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Left: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as we rebuilt it - seven slices a bank in two stages, one bias resistor, and a rail its own sheet labels as tied to reference. Right: </a:t>
            </a:r>
            <a:r>
              <a:rPr lang="en-US" sz="1150" dirty="0">
                <a:solidFill>
                  <a:srgbClr val="000000"/>
                </a:solidFill>
                <a:latin typeface="Calibri" pitchFamily="34" charset="0"/>
                <a:ea typeface="Calibri" pitchFamily="34" charset="-122"/>
                <a:cs typeface="Calibri" pitchFamily="34" charset="-120"/>
                <a:hlinkClick r:id="rId6"/>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ours - eight slices a bank, an active Miller clamp and an off rail selectable to −2 V. Both are screen captures of KiCad 7.0.11 taken by </a:t>
            </a:r>
            <a:r>
              <a:rPr lang="en-US" sz="1150" dirty="0">
                <a:solidFill>
                  <a:srgbClr val="000000"/>
                </a:solidFill>
                <a:latin typeface="Calibri" pitchFamily="34" charset="0"/>
                <a:ea typeface="Calibri" pitchFamily="34" charset="-122"/>
                <a:cs typeface="Calibri" pitchFamily="34" charset="-120"/>
                <a:hlinkClick r:id="rId7"/>
              </a:rPr>
              <a:t xml:space="preserve">scripts/record_kicad.py</a:t>
            </a:r>
            <a:r>
              <a:rPr lang="en-US" sz="1150" dirty="0">
                <a:solidFill>
                  <a:srgbClr val="000000"/>
                </a:solidFill>
                <a:latin typeface="Calibri" pitchFamily="34" charset="0"/>
                <a:ea typeface="Calibri" pitchFamily="34" charset="-122"/>
                <a:cs typeface="Calibri" pitchFamily="34" charset="-120"/>
              </a:rPr>
              <a:t xml:space="preserve"> from the files named above, not redrawings. The two sheets are different sizes, so this is a comparison of what is on them, not of how large they 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custom block, drawn out</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kicad/gan_driver.drawio</a:t>
            </a:r>
            <a:r>
              <a:rPr lang="en-US" sz="1300" b="1" dirty="0">
                <a:solidFill>
                  <a:srgbClr val="000000"/>
                </a:solidFill>
                <a:latin typeface="Calibri" pitchFamily="34" charset="0"/>
                <a:ea typeface="Calibri" pitchFamily="34" charset="-122"/>
                <a:cs typeface="Calibri" pitchFamily="34" charset="-120"/>
              </a:rPr>
              <a:t xml:space="preserve">, our own drawing of </a:t>
            </a:r>
            <a:r>
              <a:rPr lang="en-US" sz="1300" b="1" dirty="0">
                <a:solidFill>
                  <a:srgbClr val="000000"/>
                </a:solidFill>
                <a:latin typeface="Calibri" pitchFamily="34" charset="0"/>
                <a:ea typeface="Calibri" pitchFamily="34" charset="-122"/>
                <a:cs typeface="Calibri" pitchFamily="34" charset="-120"/>
                <a:hlinkClick r:id="rId6"/>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a:t>
            </a:r>
          </a:p>
        </p:txBody>
      </p:sp>
      <p:pic>
        <p:nvPicPr>
          <p:cNvPr id="6" name="Picture 5" descr="fig_drawio_segmented_driver.png"/>
          <p:cNvPicPr>
            <a:picLocks noChangeAspect="1"/>
          </p:cNvPicPr>
          <p:nvPr/>
        </p:nvPicPr>
        <p:blipFill>
          <a:blip r:embed="rId4"/>
          <a:stretch>
            <a:fillRect/>
          </a:stretch>
        </p:blipFill>
        <p:spPr>
          <a:xfrm>
            <a:off x="2741959" y="1444752"/>
            <a:ext cx="6707777" cy="3566160"/>
          </a:xfrm>
          <a:prstGeom prst="rect">
            <a:avLst/>
          </a:prstGeom>
        </p:spPr>
      </p:pic>
      <p:sp>
        <p:nvSpPr>
          <p:cNvPr id="7" name="TextBox 6"/>
          <p:cNvSpPr txBox="1"/>
          <p:nvPr/>
        </p:nvSpPr>
        <p:spPr>
          <a:xfrm>
            <a:off x="502920" y="5138928"/>
            <a:ext cx="10838382" cy="13258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Sixteen slices between three rails: eight pull-up from VP, eight pull-down to VN, and OUT going to the HEMT gate. Each slice is one switch and one resistor, and the resistor carries the control word: ask for three or more slices and Rpu3 is 8 ohms and in circuit, ask for fewer and it becomes 1 G-ohm and that slice is out. Drive strength is simply how many of the eight parallel paths are live. On the right, the active Miller clamp, which the base paper does not have: its own switch and 0.5 ohms to VN, and VN itself selectable to -2 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segmented driver, as we wrote it</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 the output stage the whole study varies.</a:t>
            </a:r>
          </a:p>
        </p:txBody>
      </p:sp>
      <p:pic>
        <p:nvPicPr>
          <p:cNvPr id="6" name="Picture 5" descr="fig_code_segdrv.png"/>
          <p:cNvPicPr>
            <a:picLocks noChangeAspect="1"/>
          </p:cNvPicPr>
          <p:nvPr/>
        </p:nvPicPr>
        <p:blipFill>
          <a:blip r:embed="rId4"/>
          <a:stretch>
            <a:fillRect/>
          </a:stretch>
        </p:blipFill>
        <p:spPr>
          <a:xfrm>
            <a:off x="1048556" y="1481328"/>
            <a:ext cx="10094581" cy="3017520"/>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Eight pull-up slices and eight pull-down, each a switch and a resistor. A slice is in circuit when the control word reaches it and 1 GΩ out of it when it does not, which is how 4 + 4 bits from the FPGA become a drive strength. The clamp is not one of the slices: it has its own switch, its own timing and its own 0.5 Ω path to the off rail, because it has to hold the gate down while the other device switches. Built as discrete slices on purpose - a single variable resistor would simulate the same and could not be laid out.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GaN HEMT model, as we wrote it</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models/egan.lib</a:t>
            </a:r>
            <a:r>
              <a:rPr lang="en-US" sz="1300" b="1" dirty="0">
                <a:solidFill>
                  <a:srgbClr val="000000"/>
                </a:solidFill>
                <a:latin typeface="Calibri" pitchFamily="34" charset="0"/>
                <a:ea typeface="Calibri" pitchFamily="34" charset="-122"/>
                <a:cs typeface="Calibri" pitchFamily="34" charset="-120"/>
              </a:rPr>
              <a:t xml:space="preserve"> - written from the EPC2010C datasheet, not downloaded.</a:t>
            </a:r>
          </a:p>
        </p:txBody>
      </p:sp>
      <p:pic>
        <p:nvPicPr>
          <p:cNvPr id="6" name="Picture 5" descr="fig_code_egan.png"/>
          <p:cNvPicPr>
            <a:picLocks noChangeAspect="1"/>
          </p:cNvPicPr>
          <p:nvPr/>
        </p:nvPicPr>
        <p:blipFill>
          <a:blip r:embed="rId4"/>
          <a:stretch>
            <a:fillRect/>
          </a:stretch>
        </p:blipFill>
        <p:spPr>
          <a:xfrm>
            <a:off x="426567" y="1481328"/>
            <a:ext cx="11338560" cy="2292096"/>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Vendor subcircuits are LTspice-dialect and do not port to Spectre, so this is written from datasheet quantities only. The channel is one symmetric square law, so third-quadrant conduction falls out of the physics rather than being added: GaN has no body diode, and reverse conduction costs V_th + |V_off| + I·R_ds(on). That is the coupling the project turns on - a negative off rail buys crosstalk margin and pays for it in dead time. C_GD is a junction diode biased never to conduct, so only its C(V) law is used. The temperature coefficients are hand-typed from the datasheet, not fitted; that is this model's weakest point and it has its own slide in the backup deck.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Methodology</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ONE THING THAT MOVES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hlinkClick r:id="rId4"/>
              </a:rPr>
              <a:t xml:space="preserve">sim/dpt.cir</a:t>
            </a:r>
            <a:r>
              <a:rPr lang="en-US" sz="1120" dirty="0">
                <a:solidFill>
                  <a:srgbClr val="000000"/>
                </a:solidFill>
                <a:latin typeface="Calibri" pitchFamily="34" charset="0"/>
                <a:ea typeface="Calibri" pitchFamily="34" charset="-122"/>
                <a:cs typeface="Calibri" pitchFamily="34" charset="-120"/>
              </a:rPr>
              <a:t xml:space="preserve">,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a:t>
            </a:r>
            <a:r>
              <a:rPr lang="en-US" sz="1120" dirty="0">
                <a:solidFill>
                  <a:srgbClr val="000000"/>
                </a:solidFill>
                <a:latin typeface="Calibri" pitchFamily="34" charset="0"/>
                <a:ea typeface="Calibri" pitchFamily="34" charset="-122"/>
                <a:cs typeface="Calibri" pitchFamily="34" charset="-120"/>
                <a:hlinkClick r:id="rId5"/>
              </a:rPr>
              <a:t xml:space="preserve">models/zhangdrv.lib</a:t>
            </a:r>
            <a:r>
              <a:rPr lang="en-US" sz="1120" dirty="0">
                <a:solidFill>
                  <a:srgbClr val="000000"/>
                </a:solidFill>
                <a:latin typeface="Calibri" pitchFamily="34" charset="0"/>
                <a:ea typeface="Calibri" pitchFamily="34" charset="-122"/>
                <a:cs typeface="Calibri" pitchFamily="34" charset="-120"/>
              </a:rPr>
              <a:t xml:space="preserve"> ↔ </a:t>
            </a:r>
            <a:r>
              <a:rPr lang="en-US" sz="1120" dirty="0">
                <a:solidFill>
                  <a:srgbClr val="000000"/>
                </a:solidFill>
                <a:latin typeface="Calibri" pitchFamily="34" charset="0"/>
                <a:ea typeface="Calibri" pitchFamily="34" charset="-122"/>
                <a:cs typeface="Calibri" pitchFamily="34" charset="-120"/>
                <a:hlinkClick r:id="rId6"/>
              </a:rPr>
              <a:t xml:space="preserve">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hlinkClick r:id="rId7"/>
              </a:rPr>
              <a:t xml:space="preserve">models/egan.lib</a:t>
            </a:r>
            <a:r>
              <a:rPr lang="en-US" sz="1120" dirty="0">
                <a:solidFill>
                  <a:srgbClr val="000000"/>
                </a:solidFill>
                <a:latin typeface="Calibri" pitchFamily="34" charset="0"/>
                <a:ea typeface="Calibri" pitchFamily="34" charset="-122"/>
                <a:cs typeface="Calibri" pitchFamily="34" charset="-120"/>
              </a:rPr>
              <a:t xml:space="preserve"> on both sides, same Vₜₕ, same Rₑₛ(on), same C₉ₑ</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Rₑₛ(on)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WHERE IT RAN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a:t>
            </a:r>
            <a:r>
              <a:rPr lang="en-US" sz="1150" dirty="0">
                <a:solidFill>
                  <a:srgbClr val="000000"/>
                </a:solidFill>
                <a:latin typeface="Calibri" pitchFamily="34" charset="0"/>
                <a:ea typeface="Calibri" pitchFamily="34" charset="-122"/>
                <a:cs typeface="Calibri" pitchFamily="34" charset="-120"/>
                <a:hlinkClick r:id="rId8"/>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searches both of its controls at every corner and it is run at the setting that search finds optimal for it, read out of </a:t>
            </a:r>
            <a:r>
              <a:rPr lang="en-US" sz="1150" dirty="0">
                <a:solidFill>
                  <a:srgbClr val="000000"/>
                </a:solidFill>
                <a:latin typeface="Calibri" pitchFamily="34" charset="0"/>
                <a:ea typeface="Calibri" pitchFamily="34" charset="-122"/>
                <a:cs typeface="Calibri" pitchFamily="34" charset="-120"/>
                <a:hlinkClick r:id="rId9"/>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Ours runs one fixed control word at every corner. Any remaining difference is the driver. </a:t>
            </a:r>
            <a:r>
              <a:rPr lang="en-US" sz="1150" dirty="0">
                <a:solidFill>
                  <a:srgbClr val="000000"/>
                </a:solidFill>
                <a:latin typeface="Calibri" pitchFamily="34" charset="0"/>
                <a:ea typeface="Calibri" pitchFamily="34" charset="-122"/>
                <a:cs typeface="Calibri" pitchFamily="34" charset="-120"/>
                <a:hlinkClick r:id="rId10"/>
              </a:rPr>
              <a:t xml:space="preserve">results/RESULTS-SUMMARY.txt</a:t>
            </a:r>
            <a:r>
              <a:rPr lang="en-US" sz="1150" dirty="0">
                <a:solidFill>
                  <a:srgbClr val="000000"/>
                </a:solidFill>
                <a:latin typeface="Calibri" pitchFamily="34" charset="0"/>
                <a:ea typeface="Calibri" pitchFamily="34" charset="-122"/>
                <a:cs typeface="Calibri" pitchFamily="34" charset="-120"/>
              </a:rPr>
              <a:t xml:space="preserve"> names the script behind each number, and </a:t>
            </a:r>
            <a:r>
              <a:rPr lang="en-US" sz="1150" dirty="0">
                <a:solidFill>
                  <a:srgbClr val="000000"/>
                </a:solidFill>
                <a:latin typeface="Calibri" pitchFamily="34" charset="0"/>
                <a:ea typeface="Calibri" pitchFamily="34" charset="-122"/>
                <a:cs typeface="Calibri" pitchFamily="34" charset="-120"/>
                <a:hlinkClick r:id="rId11"/>
              </a:rPr>
              <a:t xml:space="preserve">review/check_consistency.py</a:t>
            </a:r>
            <a:r>
              <a:rPr lang="en-US" sz="1150" dirty="0">
                <a:solidFill>
                  <a:srgbClr val="000000"/>
                </a:solidFill>
                <a:latin typeface="Calibri" pitchFamily="34" charset="0"/>
                <a:ea typeface="Calibri" pitchFamily="34" charset="-122"/>
                <a:cs typeface="Calibri" pitchFamily="34" charset="-120"/>
              </a:rPr>
              <a:t xml:space="preserve"> fails the build if a slide and the data disagree.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200" b="1" dirty="0">
                <a:solidFill>
                  <a:srgbClr val="1D2F82"/>
                </a:solidFill>
                <a:latin typeface="Calibri" pitchFamily="34" charset="0"/>
                <a:ea typeface="Calibri" pitchFamily="34" charset="-122"/>
                <a:cs typeface="Calibri" pitchFamily="34" charset="-120"/>
              </a:rPr>
              <a:t>The base paper, simulated - their driver, their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models/zhangdrv.lib</a:t>
            </a:r>
            <a:r>
              <a:rPr lang="en-US" sz="1300" b="1" dirty="0">
                <a:solidFill>
                  <a:srgbClr val="000000"/>
                </a:solidFill>
                <a:latin typeface="Calibri" pitchFamily="34" charset="0"/>
                <a:ea typeface="Calibri" pitchFamily="34" charset="-122"/>
                <a:cs typeface="Calibri" pitchFamily="34" charset="-120"/>
              </a:rPr>
              <a:t xml:space="preserve"> on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Their circuit in KiCad (</a:t>
            </a:r>
            <a:r>
              <a:rPr lang="en-US" sz="1150" dirty="0">
                <a:solidFill>
                  <a:srgbClr val="000000"/>
                </a:solidFill>
                <a:latin typeface="Calibri" pitchFamily="34" charset="0"/>
                <a:ea typeface="Calibri" pitchFamily="34" charset="-122"/>
                <a:cs typeface="Calibri" pitchFamily="34" charset="-120"/>
                <a:hlinkClick r:id="rId9"/>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ngspice running it, and the waveform it produced. The OFF device's gate peaks at +0.993 V against a 1.400 V threshold - 0.407 V of margin. Run at nseg=2, tstep=4n, the setting </a:t>
            </a:r>
            <a:r>
              <a:rPr lang="en-US" sz="1150" dirty="0">
                <a:solidFill>
                  <a:srgbClr val="000000"/>
                </a:solidFill>
                <a:latin typeface="Calibri" pitchFamily="34" charset="0"/>
                <a:ea typeface="Calibri" pitchFamily="34" charset="-122"/>
                <a:cs typeface="Calibri" pitchFamily="34" charset="-120"/>
                <a:hlinkClick r:id="rId10"/>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found optimal for their driver at this corner, read from </a:t>
            </a:r>
            <a:r>
              <a:rPr lang="en-US" sz="1150" dirty="0">
                <a:solidFill>
                  <a:srgbClr val="000000"/>
                </a:solidFill>
                <a:latin typeface="Calibri" pitchFamily="34" charset="0"/>
                <a:ea typeface="Calibri" pitchFamily="34" charset="-122"/>
                <a:cs typeface="Calibri" pitchFamily="34" charset="-120"/>
                <a:hlinkClick r:id="rId11"/>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their own paper sets one bias resistor once at design time and gets no per-corner choice at all.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300" b="1" dirty="0">
                <a:solidFill>
                  <a:srgbClr val="1D2F82"/>
                </a:solidFill>
                <a:latin typeface="Calibri" pitchFamily="34" charset="0"/>
                <a:ea typeface="Calibri" pitchFamily="34" charset="-122"/>
                <a:cs typeface="Calibri" pitchFamily="34" charset="-120"/>
              </a:rPr>
              <a:t>Ours, simulated - same bench, same corner, same axes</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on the same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The same sequence over our driver. The gate peaks at −1.176 V - 2.576 V of margin, 6.3× theirs. One fixed control word, the same one used at every corner in the study, not re-tuned for this run. The plot axes are identical to the previous slide's and fixed in the script, so the two are directly comparable.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Four sections, 100 s. The circuit as its KiCad sheet (</a:t>
            </a:r>
            <a:r>
              <a:rPr lang="en-US" sz="1150" dirty="0">
                <a:solidFill>
                  <a:srgbClr val="000000"/>
                </a:solidFill>
                <a:latin typeface="Calibri" pitchFamily="34" charset="0"/>
                <a:ea typeface="Calibri" pitchFamily="34" charset="-122"/>
                <a:cs typeface="Calibri" pitchFamily="34" charset="-120"/>
                <a:hlinkClick r:id="rId7"/>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tools named and versioned, the output with the threshold, the peak and the margin annotated,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a:t>
            </a:r>
            <a:r>
              <a:rPr lang="en-US" sz="1150" dirty="0">
                <a:solidFill>
                  <a:srgbClr val="000000"/>
                </a:solidFill>
                <a:latin typeface="Calibri" pitchFamily="34" charset="0"/>
                <a:ea typeface="Calibri" pitchFamily="34" charset="-122"/>
                <a:cs typeface="Calibri" pitchFamily="34" charset="-120"/>
                <a:hlinkClick r:id="rId8"/>
              </a:rPr>
              <a:t xml:space="preserve">scripts/demo_review2.py</a:t>
            </a:r>
            <a:r>
              <a:rPr lang="en-US" sz="1150" dirty="0">
                <a:solidFill>
                  <a:srgbClr val="000000"/>
                </a:solidFill>
                <a:latin typeface="Calibri" pitchFamily="34" charset="0"/>
                <a:ea typeface="Calibri" pitchFamily="34" charset="-122"/>
                <a:cs typeface="Calibri" pitchFamily="34" charset="-120"/>
              </a:rPr>
              <a:t xml:space="preserve">,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simulation, run live</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a:t>
            </a:r>
            <a:r>
              <a:rPr lang="en-US" sz="1400" b="1" dirty="0">
                <a:solidFill>
                  <a:srgbClr val="000000"/>
                </a:solidFill>
                <a:latin typeface="Calibri" pitchFamily="34" charset="0"/>
                <a:ea typeface="Calibri" pitchFamily="34" charset="-122"/>
                <a:cs typeface="Calibri" pitchFamily="34" charset="-120"/>
                <a:hlinkClick r:id="rId8"/>
              </a:rPr>
              <a:t xml:space="preserve">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a:t>
            </a:r>
            <a:r>
              <a:rPr lang="en-US" sz="1150" dirty="0">
                <a:solidFill>
                  <a:srgbClr val="000000"/>
                </a:solidFill>
                <a:latin typeface="Calibri" pitchFamily="34" charset="0"/>
                <a:ea typeface="Calibri" pitchFamily="34" charset="-122"/>
                <a:cs typeface="Calibri" pitchFamily="34" charset="-120"/>
                <a:hlinkClick r:id="rId9"/>
              </a:rPr>
              <a:t xml:space="preserve">scripts/live_demo.py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6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image.png"/>
          <p:cNvPicPr>
            <a:picLocks noChangeAspect="1"/>
          </p:cNvPicPr>
          <p:nvPr/>
        </p:nvPicPr>
        <p:blipFill>
          <a:blip r:embed="rId3"/>
          <a:stretch>
            <a:fillRect/>
          </a:stretch>
        </p:blipFill>
        <p:spPr>
          <a:xfrm>
            <a:off x="2697138" y="1188720"/>
            <a:ext cx="6797419"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a:t>
            </a:r>
            <a:r>
              <a:rPr lang="en-US" sz="1150" dirty="0">
                <a:solidFill>
                  <a:srgbClr val="000000"/>
                </a:solidFill>
                <a:latin typeface="Calibri" pitchFamily="34" charset="0"/>
                <a:ea typeface="Calibri" pitchFamily="34" charset="-122"/>
                <a:cs typeface="Calibri" pitchFamily="34" charset="-120"/>
                <a:hlinkClick r:id="rId4"/>
              </a:rPr>
              <a:t xml:space="preserve">sim/dpt.cir</a:t>
            </a:r>
            <a:r>
              <a:rPr lang="en-US" sz="1150" dirty="0">
                <a:solidFill>
                  <a:srgbClr val="000000"/>
                </a:solidFill>
                <a:latin typeface="Calibri" pitchFamily="34" charset="0"/>
                <a:ea typeface="Calibri" pitchFamily="34" charset="-122"/>
                <a:cs typeface="Calibri" pitchFamily="34" charset="-120"/>
              </a:rPr>
              <a:t xml:space="preserve">. Top row: the switch node falls from 106 V in 2.90 ns, peaking at 124 V/ns - that dv/dt drives i = C_GD·dv/dt into the OFF device's gate, and is the cause. Bottom row: that gate. Left, without the clamp, it rests at +0.005 V, is lifted +1.643 V and peaks at +1.649 V, past the 1.4 V threshold - false_turn_on = 1. Right, with the clamp and the −2 V rail, it rests at -1.941 V, is lifted only +0.765 V and peaks at -1.176 V - false_turn_on = 0. The two fixes are not one mechanism: the rail moves where the gate starts, the clamp shortens the lift by giving the injected charge a 0.5 Ω path out. </a:t>
            </a:r>
            <a:r>
              <a:rPr lang="en-US" sz="1150" dirty="0">
                <a:solidFill>
                  <a:srgbClr val="000000"/>
                </a:solidFill>
                <a:latin typeface="Calibri" pitchFamily="34" charset="0"/>
                <a:ea typeface="Calibri" pitchFamily="34" charset="-122"/>
                <a:cs typeface="Calibri" pitchFamily="34" charset="-120"/>
                <a:hlinkClick r:id="rId5"/>
              </a:rPr>
              <a:t xml:space="preserve">scripts/waveform_anatomy.py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3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Against silicon that is 6.3× and 3.3×; against the base paper's control on the same GaN device, 1.5× and 1.1×.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a:t>
            </a:r>
            <a:r>
              <a:rPr lang="en-US" sz="1150" dirty="0">
                <a:solidFill>
                  <a:srgbClr val="000000"/>
                </a:solidFill>
                <a:latin typeface="Calibri" pitchFamily="34" charset="0"/>
                <a:ea typeface="Calibri" pitchFamily="34" charset="-122"/>
                <a:cs typeface="Calibri" pitchFamily="34" charset="-120"/>
                <a:hlinkClick r:id="rId5"/>
              </a:rPr>
              <a:t xml:space="preserve">scripts/three_way_figure.py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hlinkClick r:id="rId5"/>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the clamp's action is independent of how hot the device is. Our switch node also slews about twice as fast, so the margin is not bought with switching speed. One caveat: </a:t>
            </a:r>
            <a:r>
              <a:rPr lang="en-US" sz="1150" dirty="0">
                <a:solidFill>
                  <a:srgbClr val="000000"/>
                </a:solidFill>
                <a:latin typeface="Calibri" pitchFamily="34" charset="0"/>
                <a:ea typeface="Calibri" pitchFamily="34" charset="-122"/>
                <a:cs typeface="Calibri" pitchFamily="34" charset="-120"/>
                <a:hlinkClick r:id="rId6"/>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Done</a:t>
            </a:r>
          </a:p>
          <a:p>
            <a:pPr marL="177800" indent="0">
              <a:spcAft>
                <a:spcPts val="260"/>
              </a:spcAft>
              <a:buSzPct val="100000"/>
              <a:buNone/>
            </a:pPr>
            <a:r>
              <a:rPr lang="en-US" sz="1300" dirty="0">
                <a:solidFill>
                  <a:srgbClr val="000000"/>
                </a:solidFill>
                <a:latin typeface="Calibri" pitchFamily="34" charset="0"/>
                <a:ea typeface="Calibri" pitchFamily="34" charset="-122"/>
                <a:cs typeface="Calibri" pitchFamily="34" charset="-120"/>
              </a:rPr>
              <a:t xml:space="preserve">The converter is built and regulating, the fault is reproduced and fixed, the 720-word study is run over 36 corners,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Left - and it is not more simulating</a:t>
            </a:r>
          </a:p>
          <a:p>
            <a:pPr marL="177800" indent="0">
              <a:spcAft>
                <a:spcPts val="220"/>
              </a:spcAft>
              <a:buSzPct val="100000"/>
              <a:buNone/>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0">
              <a:spcAft>
                <a:spcPts val="220"/>
              </a:spcAft>
              <a:buSzPct val="100000"/>
              <a:buNone/>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risk. Everything in this deck is a simulation of a converter that has never been built, and one behavioural GaN model underlies all of it.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a:t>
            </a:r>
            <a:r>
              <a:rPr lang="en-US" sz="1050" dirty="0">
                <a:solidFill>
                  <a:srgbClr val="000000"/>
                </a:solidFill>
                <a:latin typeface="Calibri" pitchFamily="34" charset="0"/>
                <a:ea typeface="Calibri" pitchFamily="34" charset="-122"/>
                <a:cs typeface="Calibri" pitchFamily="34" charset="-120"/>
                <a:hlinkClick r:id="rId4"/>
              </a:rPr>
              <a:t xml:space="preserve">models/zhangdrv.lib</a:t>
            </a:r>
            <a:r>
              <a:rPr lang="en-US" sz="1050" dirty="0">
                <a:solidFill>
                  <a:srgbClr val="000000"/>
                </a:solidFill>
                <a:latin typeface="Calibri" pitchFamily="34" charset="0"/>
                <a:ea typeface="Calibri" pitchFamily="34" charset="-122"/>
                <a:cs typeface="Calibri" pitchFamily="34" charset="-120"/>
              </a:rPr>
              <a:t xml:space="preserve"> and measured against throughout.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hlinkClick r:id="rId4"/>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