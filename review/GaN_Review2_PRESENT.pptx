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357" r:id="rId100"/>
    <p:sldId id="274" r:id="rId25"/>
    <p:sldId id="278" r:id="rId29"/>
    <p:sldId id="348" r:id="rId91"/>
    <p:sldId id="315" r:id="rId58"/>
    <p:sldId id="316" r:id="rId59"/>
    <p:sldId id="317" r:id="rId60"/>
    <p:sldId id="318" r:id="rId61"/>
    <p:sldId id="319" r:id="rId62"/>
    <p:sldId id="320" r:id="rId63"/>
    <p:sldId id="358" r:id="rId101"/>
    <p:sldId id="321" r:id="rId64"/>
    <p:sldId id="322" r:id="rId65"/>
    <p:sldId id="323" r:id="rId66"/>
    <p:sldId id="324" r:id="rId67"/>
    <p:sldId id="359" r:id="rId102"/>
    <p:sldId id="360" r:id="rId103"/>
    <p:sldId id="325" r:id="rId68"/>
    <p:sldId id="326" r:id="rId69"/>
    <p:sldId id="327" r:id="rId70"/>
    <p:sldId id="339" r:id="rId82"/>
    <p:sldId id="309" r:id="rId52"/>
    <p:sldId id="341" r:id="rId84"/>
    <p:sldId id="355" r:id="rId98"/>
    <p:sldId id="361" r:id="rId104"/>
    <p:sldId id="362" r:id="rId105"/>
    <p:sldId id="363" r:id="rId106"/>
    <p:sldId id="364" r:id="rId107"/>
    <p:sldId id="272" r:id="rId23"/>
    <p:sldId id="265" r:id="rId11"/>
    <p:sldId id="328" r:id="rId7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3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32.xml"/><Relationship Id="rId25" Type="http://schemas.openxmlformats.org/officeDocument/2006/relationships/slide" Target="slides/slide5.xml"/><Relationship Id="rId29" Type="http://schemas.openxmlformats.org/officeDocument/2006/relationships/slide" Target="slides/slide6.xml"/><Relationship Id="rId52" Type="http://schemas.openxmlformats.org/officeDocument/2006/relationships/slide" Target="slides/slide25.xml"/><Relationship Id="rId58" Type="http://schemas.openxmlformats.org/officeDocument/2006/relationships/slide" Target="slides/slide8.xml"/><Relationship Id="rId59" Type="http://schemas.openxmlformats.org/officeDocument/2006/relationships/slide" Target="slides/slide9.xml"/><Relationship Id="rId60" Type="http://schemas.openxmlformats.org/officeDocument/2006/relationships/slide" Target="slides/slide10.xml"/><Relationship Id="rId61" Type="http://schemas.openxmlformats.org/officeDocument/2006/relationships/slide" Target="slides/slide11.xml"/><Relationship Id="rId62" Type="http://schemas.openxmlformats.org/officeDocument/2006/relationships/slide" Target="slides/slide12.xml"/><Relationship Id="rId63" Type="http://schemas.openxmlformats.org/officeDocument/2006/relationships/slide" Target="slides/slide13.xml"/><Relationship Id="rId64" Type="http://schemas.openxmlformats.org/officeDocument/2006/relationships/slide" Target="slides/slide15.xml"/><Relationship Id="rId65" Type="http://schemas.openxmlformats.org/officeDocument/2006/relationships/slide" Target="slides/slide16.xml"/><Relationship Id="rId66" Type="http://schemas.openxmlformats.org/officeDocument/2006/relationships/slide" Target="slides/slide17.xml"/><Relationship Id="rId67" Type="http://schemas.openxmlformats.org/officeDocument/2006/relationships/slide" Target="slides/slide18.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34.xml"/><Relationship Id="rId82" Type="http://schemas.openxmlformats.org/officeDocument/2006/relationships/slide" Target="slides/slide24.xml"/><Relationship Id="rId84" Type="http://schemas.openxmlformats.org/officeDocument/2006/relationships/slide" Target="slides/slide26.xml"/><Relationship Id="rId91" Type="http://schemas.openxmlformats.org/officeDocument/2006/relationships/slide" Target="slides/slide7.xml"/><Relationship Id="rId98" Type="http://schemas.openxmlformats.org/officeDocument/2006/relationships/slide" Target="slides/slide27.xml"/><Relationship Id="rId100" Type="http://schemas.openxmlformats.org/officeDocument/2006/relationships/slide" Target="slides/slide4.xml"/><Relationship Id="rId101" Type="http://schemas.openxmlformats.org/officeDocument/2006/relationships/slide" Target="slides/slide14.xml"/><Relationship Id="rId102" Type="http://schemas.openxmlformats.org/officeDocument/2006/relationships/slide" Target="slides/slide19.xml"/><Relationship Id="rId103" Type="http://schemas.openxmlformats.org/officeDocument/2006/relationships/slide" Target="slides/slide20.xml"/><Relationship Id="rId104" Type="http://schemas.openxmlformats.org/officeDocument/2006/relationships/slide" Target="slides/slide28.xml"/><Relationship Id="rId105" Type="http://schemas.openxmlformats.org/officeDocument/2006/relationships/slide" Target="slides/slide29.xml"/><Relationship Id="rId106" Type="http://schemas.openxmlformats.org/officeDocument/2006/relationships/slide" Target="slides/slide30.xml"/><Relationship Id="rId10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7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4.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segdrv.kicad_sch"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scripts/gan_level_figure.py" TargetMode="External"/><Relationship Id="rId6" Type="http://schemas.openxmlformats.org/officeDocument/2006/relationships/hyperlink" Target="https://github.com/Amritha902/gan-driver/blob/main/results/waveform_anatomy.tx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sim/buck.cir"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kicad/gan_segdrv.kicad_sch"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hyperlink" Target="https://github.com/Amritha902/gan-driver/blob/main/kicad/gan_zhangdrv.kicad_sch"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models/zhangdrv.lib"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hyperlink" Target="https://github.com/Amritha902/gan-driver/blob/main/kicad/gan_driver.drawio" TargetMode="External"/><Relationship Id="rId6" Type="http://schemas.openxmlformats.org/officeDocument/2006/relationships/hyperlink" Target="https://github.com/Amritha902/gan-driver/blob/main/models/segdrv.lib"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models/segdrv.lib"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 Id="rId5" Type="http://schemas.openxmlformats.org/officeDocument/2006/relationships/hyperlink" Target="https://github.com/Amritha902/gan-driver/blob/main/models/egan.lib"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7.png"/><Relationship Id="rId5" Type="http://schemas.openxmlformats.org/officeDocument/2006/relationships/hyperlink" Target="https://github.com/Amritha902/gan-driver/blob/main/models/egan.lib" TargetMode="External"/><Relationship Id="rId6" Type="http://schemas.openxmlformats.org/officeDocument/2006/relationships/hyperlink" Target="https://github.com/Amritha902/gan-driver/blob/main/scripts/silicon_check.py" TargetMode="External"/><Relationship Id="rId7" Type="http://schemas.openxmlformats.org/officeDocument/2006/relationships/hyperlink" Target="https://github.com/Amritha902/gan-driver/blob/main/models/egan_c.lib"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8.png"/><Relationship Id="rId5" Type="http://schemas.openxmlformats.org/officeDocument/2006/relationships/hyperlink" Target="https://github.com/Amritha902/gan-driver/blob/main/scripts/metric_converge.py" TargetMode="External"/><Relationship Id="rId6" Type="http://schemas.openxmlformats.org/officeDocument/2006/relationships/hyperlink" Target="https://github.com/Amritha902/gan-driver/blob/main/scripts/verdict_stability.py" TargetMode="External"/><Relationship Id="rId7" Type="http://schemas.openxmlformats.org/officeDocument/2006/relationships/hyperlink" Target="https://github.com/Amritha902/gan-driver/blob/main/scripts/failed_runs.py" TargetMode="External"/><Relationship Id="rId8" Type="http://schemas.openxmlformats.org/officeDocument/2006/relationships/hyperlink" Target="https://github.com/Amritha902/gan-driver/blob/main/proof/LIVE-BUCK.sh"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5.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6.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7.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9.png"/><Relationship Id="rId5" Type="http://schemas.openxmlformats.org/officeDocument/2006/relationships/hyperlink" Target="https://github.com/Amritha902/gan-driver/blob/main/scripts/lloop_sweep.p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0.png"/><Relationship Id="rId5" Type="http://schemas.openxmlformats.org/officeDocument/2006/relationships/hyperlink" Target="https://github.com/Amritha902/gan-driver/blob/main/results/buck_sweep.csv" TargetMode="External"/><Relationship Id="rId6" Type="http://schemas.openxmlformats.org/officeDocument/2006/relationships/hyperlink" Target="https://github.com/Amritha902/gan-driver/blob/main/results/panel_metrics.csv" TargetMode="External"/><Relationship Id="rId7" Type="http://schemas.openxmlformats.org/officeDocument/2006/relationships/hyperlink" Target="https://github.com/Amritha902/gan-driver/blob/main/results/headtohead.csv"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572768"/>
            <a:ext cx="6903720" cy="1481328"/>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pic>
        <p:nvPicPr>
          <p:cNvPr id="24" name="Picture 23" descr="fig_title_circuit.png"/>
          <p:cNvPicPr>
            <a:picLocks noChangeAspect="1"/>
          </p:cNvPicPr>
          <p:nvPr/>
        </p:nvPicPr>
        <p:blipFill>
          <a:blip r:embed="rId4"/>
          <a:stretch>
            <a:fillRect/>
          </a:stretch>
        </p:blipFill>
        <p:spPr>
          <a:xfrm>
            <a:off x="7849276" y="1078992"/>
            <a:ext cx="4083643"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 in the backup deck.)</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5120132"/>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How much additional benefit does runtime adaptation provide beyond a fixed gate-driver configuration, and under what electrical conditions is that benefit significant? The second half is not a caveat on the first: finding the conditions under which the answer changes is part of the question.</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Scope of the Claim</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this project establishes, and what it does not. Everything after this slide is read inside these bounds.</a:t>
            </a:r>
          </a:p>
        </p:txBody>
      </p:sp>
      <p:sp>
        <p:nvSpPr>
          <p:cNvPr id="6" name="TextBox 5"/>
          <p:cNvSpPr txBox="1"/>
          <p:nvPr/>
        </p:nvSpPr>
        <p:spPr>
          <a:xfrm>
            <a:off x="640080" y="1572768"/>
            <a:ext cx="539496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WE CLAIM</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A fixed clamp and negative off-bias raise the simulated off-state gate margin on every device model we ran.</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Runtime adaptation adds a further benefit whose size depends strongly on power-loop inductance, and we measure that dependence.</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The relative comparison is against our own implementation of the published baseline, run in our testbench.</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 number regenerates from a named script in the repository.</a:t>
            </a:r>
          </a:p>
        </p:txBody>
      </p:sp>
      <p:sp>
        <p:nvSpPr>
          <p:cNvPr id="7" name="TextBox 6"/>
          <p:cNvSpPr txBox="1"/>
          <p:nvPr/>
        </p:nvSpPr>
        <p:spPr>
          <a:xfrm>
            <a:off x="6446520" y="1572768"/>
            <a:ext cx="525780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WE DO NOT CLAIM</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Experimental validation. No hardware has been built.</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Reproduction of the original authors' measured silicon results. Their netlist is not published.</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That false turn-on occurs universally. Its occurrence at the margin is device-model dependent, and we show the model on which it does not occur.</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 universally optimal control word. The best setting moves with the operating point, and by how much is the result.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3474275"/>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Converter Under Simulation</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our implementation of theirs. The last row is what those three deliver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at Circuit Level</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seven slices per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Gate Driver Schematics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per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Mechanism at Device Level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Why a fast edge turns on the device that should be off, and what the driver does about it.</a:t>
            </a:r>
          </a:p>
        </p:txBody>
      </p:sp>
      <p:pic>
        <p:nvPicPr>
          <p:cNvPr id="6" name="Picture 5" descr="fig_gan_level.png"/>
          <p:cNvPicPr>
            <a:picLocks noChangeAspect="1"/>
          </p:cNvPicPr>
          <p:nvPr/>
        </p:nvPicPr>
        <p:blipFill>
          <a:blip r:embed="rId4"/>
          <a:stretch>
            <a:fillRect/>
          </a:stretch>
        </p:blipFill>
        <p:spPr>
          <a:xfrm>
            <a:off x="1363116" y="1417320"/>
            <a:ext cx="9465460" cy="3977639"/>
          </a:xfrm>
          <a:prstGeom prst="rect">
            <a:avLst/>
          </a:prstGeom>
        </p:spPr>
      </p:pic>
      <p:sp>
        <p:nvSpPr>
          <p:cNvPr id="7" name="TextBox 6"/>
          <p:cNvSpPr txBox="1"/>
          <p:nvPr/>
        </p:nvSpPr>
        <p:spPr>
          <a:xfrm>
            <a:off x="502920" y="5541264"/>
            <a:ext cx="10838382" cy="11155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Left: the half-bridge. When the low-side device turns on the switch node falls from 106 V, its 90–10 % edge taking 2.90 ns and peaking at 124 V/ns, and that dv/dt drives a current through C_GD into the high-side gate. Right: the three parallel paths that current sees at the gate node. The slice count sets how hard the gate is held; the Miller clamp adds a 0.5 ohm path of its own, timed to the other device's edge; the off rail sets where the gate starts from. The two additions are not one mechanism - the rail moves the starting point, the clamp shortens the lift - which is why they add rather than overlap. </a:t>
            </a:r>
            <a:r>
              <a:rPr lang="en-US" sz="1150" dirty="0">
                <a:solidFill>
                  <a:srgbClr val="000000"/>
                </a:solidFill>
                <a:latin typeface="Calibri" pitchFamily="34" charset="0"/>
                <a:ea typeface="Calibri" pitchFamily="34" charset="-122"/>
                <a:cs typeface="Calibri" pitchFamily="34" charset="-120"/>
                <a:hlinkClick r:id="rId5"/>
              </a:rPr>
              <a:t xml:space="preserve">scripts/gan_level_figure.py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results/waveform_anatomy.txt</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Converter Schematic</a:t>
            </a:r>
            <a:endParaRPr lang="en-US" sz="2800" dirty="0"/>
          </a:p>
        </p:txBody>
      </p:sp>
      <p:pic>
        <p:nvPicPr>
          <p:cNvPr id="5" name="Picture 4" descr="01-converter-schematic.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root sheet, plotted by KiCad 7.0.11. Drawn from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so every value on it is the netlist's. The two gate drivers are hierarchical sub-sheets of this page.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Proposed Gate Driver</a:t>
            </a:r>
            <a:endParaRPr lang="en-US" sz="2800" dirty="0"/>
          </a:p>
        </p:txBody>
      </p:sp>
      <p:pic>
        <p:nvPicPr>
          <p:cNvPr id="5" name="Picture 4" descr="04-driver-proposed.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Eight pull-up slices, eight pull-down, the active Miller clamp on the right, and the off rail selectable to −2 V. Each slice is one switch and one resistor; the resistor carries the control word.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Base Paper Gate Driver</a:t>
            </a:r>
            <a:endParaRPr lang="en-US" sz="2800" dirty="0"/>
          </a:p>
        </p:txBody>
      </p:sp>
      <p:pic>
        <p:nvPicPr>
          <p:cNvPr id="5" name="Picture 4" descr="05-driver-base-paper.png"/>
          <p:cNvPicPr>
            <a:picLocks noChangeAspect="1"/>
          </p:cNvPicPr>
          <p:nvPr/>
        </p:nvPicPr>
        <p:blipFill>
          <a:blip r:embed="rId4"/>
          <a:stretch>
            <a:fillRect/>
          </a:stretch>
        </p:blipFill>
        <p:spPr>
          <a:xfrm>
            <a:off x="2461147" y="914400"/>
            <a:ext cx="7269399"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reimplemented in the same testbench. Seven slices per bank in two stages, one bias resistor, no clamp branch, and the off rail tied to reference.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Baseline Reimplementation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Zhang et al., ISPSD 2020 [10]. The authors' netlist is not published, so the baseline is built from the paper and stated as such.</a:t>
            </a:r>
          </a:p>
        </p:txBody>
      </p:sp>
      <p:sp>
        <p:nvSpPr>
          <p:cNvPr id="6" name="TextBox 5"/>
          <p:cNvSpPr txBox="1"/>
          <p:nvPr/>
        </p:nvSpPr>
        <p:spPr>
          <a:xfrm>
            <a:off x="640080" y="1600200"/>
            <a:ext cx="539496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TAKEN FROM THE PAPER</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Segmented output stage on E-mode GaN, seven slices a bank.</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Two-stage engagement: NSEG slices first, the remaining 7 − NSEG after TSTEP.</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Pattern timing in the 0.5–5 ns range.</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One external bias resistor selects the whole pattern - the paper's own contribution, and the word "Simple" in its title.</a:t>
            </a:r>
          </a:p>
        </p:txBody>
      </p:sp>
      <p:sp>
        <p:nvSpPr>
          <p:cNvPr id="7" name="TextBox 6"/>
          <p:cNvSpPr txBox="1"/>
          <p:nvPr/>
        </p:nvSpPr>
        <p:spPr>
          <a:xfrm>
            <a:off x="6446520" y="1600200"/>
            <a:ext cx="525780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WE HAD TO DECIDE</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Slice resistance and device sizing: matched to ours, so the comparison is of architecture, not of silicon area.</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The bias setting: their paper fixes it once at design time. We instead search NSEG and TSTEP at every corner and run theirs at whatever wins.</a:t>
            </a:r>
          </a:p>
          <a:p>
            <a:pPr marL="177800" indent="0">
              <a:spcAft>
                <a:spcPts val="260"/>
              </a:spcAft>
              <a:buSzPct val="100000"/>
              <a:buNone/>
            </a:pPr>
            <a:r>
              <a:rPr lang="en-US" sz="1400" b="1" dirty="0">
                <a:solidFill>
                  <a:srgbClr val="000000"/>
                </a:solidFill>
                <a:latin typeface="Calibri" pitchFamily="34" charset="0"/>
                <a:ea typeface="Calibri" pitchFamily="34" charset="-122"/>
                <a:cs typeface="Calibri" pitchFamily="34" charset="-120"/>
              </a:rPr>
              <a:t xml:space="preserve">That is more freedom than their design has, and it is given to them deliberately: every methodological choice here runs against us.</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hlinkClick r:id="rId4"/>
              </a:rPr>
              <a:t xml:space="preserve">models/zhangdrv.lib</a:t>
            </a:r>
            <a:r>
              <a:rPr lang="en-US" sz="1400" dirty="0">
                <a:solidFill>
                  <a:srgbClr val="000000"/>
                </a:solidFill>
                <a:latin typeface="Calibri" pitchFamily="34" charset="0"/>
                <a:ea typeface="Calibri" pitchFamily="34" charset="-122"/>
                <a:cs typeface="Calibri" pitchFamily="34" charset="-120"/>
              </a:rPr>
              <a:t xml:space="preserve"> names each assumption in its header.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Block Structure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kicad/gan_driver.drawio</a:t>
            </a:r>
            <a:r>
              <a:rPr lang="en-US" sz="1300" b="1" dirty="0">
                <a:solidFill>
                  <a:srgbClr val="000000"/>
                </a:solidFill>
                <a:latin typeface="Calibri" pitchFamily="34" charset="0"/>
                <a:ea typeface="Calibri" pitchFamily="34" charset="-122"/>
                <a:cs typeface="Calibri" pitchFamily="34" charset="-120"/>
              </a:rPr>
              <a:t xml:space="preserve">, the block diagram of </a:t>
            </a:r>
            <a:r>
              <a:rPr lang="en-US" sz="1300" b="1" dirty="0">
                <a:solidFill>
                  <a:srgbClr val="000000"/>
                </a:solidFill>
                <a:latin typeface="Calibri" pitchFamily="34" charset="0"/>
                <a:ea typeface="Calibri" pitchFamily="34" charset="-122"/>
                <a:cs typeface="Calibri" pitchFamily="34" charset="-120"/>
                <a:hlinkClick r:id="rId6"/>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a:t>
            </a:r>
          </a:p>
        </p:txBody>
      </p:sp>
      <p:pic>
        <p:nvPicPr>
          <p:cNvPr id="6" name="Picture 5" descr="fig_drawio_segmented_driver.png"/>
          <p:cNvPicPr>
            <a:picLocks noChangeAspect="1"/>
          </p:cNvPicPr>
          <p:nvPr/>
        </p:nvPicPr>
        <p:blipFill>
          <a:blip r:embed="rId4"/>
          <a:stretch>
            <a:fillRect/>
          </a:stretch>
        </p:blipFill>
        <p:spPr>
          <a:xfrm>
            <a:off x="2741959" y="1444752"/>
            <a:ext cx="6707777" cy="3566160"/>
          </a:xfrm>
          <a:prstGeom prst="rect">
            <a:avLst/>
          </a:prstGeom>
        </p:spPr>
      </p:pic>
      <p:sp>
        <p:nvSpPr>
          <p:cNvPr id="7" name="TextBox 6"/>
          <p:cNvSpPr txBox="1"/>
          <p:nvPr/>
        </p:nvSpPr>
        <p:spPr>
          <a:xfrm>
            <a:off x="502920" y="5138928"/>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Sixteen slices between three rails: eight pull-up from VP, eight pull-down to VN, and OUT going to the HEMT gate. Each slice is one switch and one resistor, and the resistor carries the control word: ask for three or more slices and Rpu3 is 8 ohms and in circuit, ask for fewer and it becomes 1 G-ohm and that slice is out. Drive strength is simply how many of the eight parallel paths are live. On the right, the active Miller clamp, which the base paper does not have: its own switch and 0.5 ohms to VN, and VN itself selectable to −2 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varied throughout the study.</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Eight pull-up slices and eight pull-down, each a switch and a resistor. A slice is in circuit when the control word reaches it and 1 GΩ out of it when it does not, which is how 4 + 4 bits from the FPGA become a drive strength. The clamp is not one of the slices: it has its own switch, its own timing and its own 0.5 Ω path to the off rail, because it has to hold the gate down while the other device switches. The slices are discrete by design: a single variable resistor would simulate identically and could not be laid out.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HEMT Device Model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models/egan.lib</a:t>
            </a:r>
            <a:r>
              <a:rPr lang="en-US" sz="1300" b="1" dirty="0">
                <a:solidFill>
                  <a:srgbClr val="000000"/>
                </a:solidFill>
                <a:latin typeface="Calibri" pitchFamily="34" charset="0"/>
                <a:ea typeface="Calibri" pitchFamily="34" charset="-122"/>
                <a:cs typeface="Calibri" pitchFamily="34" charset="-120"/>
              </a:rPr>
              <a:t xml:space="preserve"> - written from the EPC2010C datasheet.</a:t>
            </a:r>
          </a:p>
        </p:txBody>
      </p:sp>
      <p:pic>
        <p:nvPicPr>
          <p:cNvPr id="6" name="Picture 5" descr="fig_code_egan.png"/>
          <p:cNvPicPr>
            <a:picLocks noChangeAspect="1"/>
          </p:cNvPicPr>
          <p:nvPr/>
        </p:nvPicPr>
        <p:blipFill>
          <a:blip r:embed="rId4"/>
          <a:stretch>
            <a:fillRect/>
          </a:stretch>
        </p:blipFill>
        <p:spPr>
          <a:xfrm>
            <a:off x="426567" y="1481328"/>
            <a:ext cx="11338560" cy="2292096"/>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Vendor subcircuits are LTspice-dialect and do not port to Spectre, so this is written from datasheet quantities only. The channel is one symmetric square law, so third-quadrant conduction follows from the physics rather than being added: GaN has no body diode, and reverse conduction costs V_th + |V_off| + I·R_ds(on). That is the coupling the project turns on - a negative off rail improves crosstalk margin at the cost of dead-time loss. C_GD is a junction diode biased never to conduct, so only its C(V) law is used. The temperature coefficients are hand-typed from the datasheet, not fitted; this is the principal limitation of the model, and it is covered in the backup deck.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V_th, same R_ds(on), same C_gs</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R_ds(on)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ENVIRONMENT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Model Validation: Three Device Models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same three configurations, run on three independent device models.</a:t>
            </a:r>
          </a:p>
        </p:txBody>
      </p:sp>
      <p:pic>
        <p:nvPicPr>
          <p:cNvPr id="6" name="Picture 5" descr="fig_model_table.png"/>
          <p:cNvPicPr>
            <a:picLocks noChangeAspect="1"/>
          </p:cNvPicPr>
          <p:nvPr/>
        </p:nvPicPr>
        <p:blipFill>
          <a:blip r:embed="rId4"/>
          <a:stretch>
            <a:fillRect/>
          </a:stretch>
        </p:blipFill>
        <p:spPr>
          <a:xfrm>
            <a:off x="1033332" y="1417320"/>
            <a:ext cx="10125027" cy="3749039"/>
          </a:xfrm>
          <a:prstGeom prst="rect">
            <a:avLst/>
          </a:prstGeom>
        </p:spPr>
      </p:pic>
      <p:sp>
        <p:nvSpPr>
          <p:cNvPr id="7" name="TextBox 6"/>
          <p:cNvSpPr txBox="1"/>
          <p:nvPr/>
        </p:nvSpPr>
        <p:spPr>
          <a:xfrm>
            <a:off x="502920" y="5303520"/>
            <a:ext cx="10838382" cy="129844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models/egan.lib</a:t>
            </a:r>
            <a:r>
              <a:rPr lang="en-US" sz="1150" dirty="0">
                <a:solidFill>
                  <a:srgbClr val="000000"/>
                </a:solidFill>
                <a:latin typeface="Calibri" pitchFamily="34" charset="0"/>
                <a:ea typeface="Calibri" pitchFamily="34" charset="-122"/>
                <a:cs typeface="Calibri" pitchFamily="34" charset="-120"/>
              </a:rPr>
              <a:t xml:space="preserve"> is behavioural with diode junction capacitances; </a:t>
            </a:r>
            <a:r>
              <a:rPr lang="en-US" sz="1150" dirty="0">
                <a:solidFill>
                  <a:srgbClr val="000000"/>
                </a:solidFill>
                <a:latin typeface="Calibri" pitchFamily="34" charset="0"/>
                <a:ea typeface="Calibri" pitchFamily="34" charset="-122"/>
                <a:cs typeface="Calibri" pitchFamily="34" charset="-120"/>
                <a:hlinkClick r:id="rId6"/>
              </a:rPr>
              <a:t xml:space="preserve">scripts/silicon_check.py</a:t>
            </a:r>
            <a:r>
              <a:rPr lang="en-US" sz="1150" dirty="0">
                <a:solidFill>
                  <a:srgbClr val="000000"/>
                </a:solidFill>
                <a:latin typeface="Calibri" pitchFamily="34" charset="0"/>
                <a:ea typeface="Calibri" pitchFamily="34" charset="-122"/>
                <a:cs typeface="Calibri" pitchFamily="34" charset="-120"/>
              </a:rPr>
              <a:t xml:space="preserve"> runs real SKY130 transistors; </a:t>
            </a:r>
            <a:r>
              <a:rPr lang="en-US" sz="1150" dirty="0">
                <a:solidFill>
                  <a:srgbClr val="000000"/>
                </a:solidFill>
                <a:latin typeface="Calibri" pitchFamily="34" charset="0"/>
                <a:ea typeface="Calibri" pitchFamily="34" charset="-122"/>
                <a:cs typeface="Calibri" pitchFamily="34" charset="-120"/>
                <a:hlinkClick r:id="rId7"/>
              </a:rPr>
              <a:t xml:space="preserve">models/egan_c.lib</a:t>
            </a:r>
            <a:r>
              <a:rPr lang="en-US" sz="1150" dirty="0">
                <a:solidFill>
                  <a:srgbClr val="000000"/>
                </a:solidFill>
                <a:latin typeface="Calibri" pitchFamily="34" charset="0"/>
                <a:ea typeface="Calibri" pitchFamily="34" charset="-122"/>
                <a:cs typeface="Calibri" pitchFamily="34" charset="-120"/>
              </a:rPr>
              <a:t xml:space="preserve"> replaces the diodes with a charge-based C(V). The sign of the no-clamp margin depends on the model: on the charge-based model the OFF gate reaches only +0.115 V of margin, meaning it never crosses threshold and the fault does not occur, against −0.249 V behaviourally and −0.563 V on SKY130. What every model agrees on is the ordering of the three configurations, and that the shipped configuration is safe on all of them by +2.032 to +2.710 V. The claim this project makes is the second 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Numerical Reliability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Whether these numbers are physics or solver settings, and every run accounted for.</a:t>
            </a:r>
          </a:p>
        </p:txBody>
      </p:sp>
      <p:pic>
        <p:nvPicPr>
          <p:cNvPr id="6" name="Picture 5" descr="fig_convergence.png"/>
          <p:cNvPicPr>
            <a:picLocks noChangeAspect="1"/>
          </p:cNvPicPr>
          <p:nvPr/>
        </p:nvPicPr>
        <p:blipFill>
          <a:blip r:embed="rId4"/>
          <a:stretch>
            <a:fillRect/>
          </a:stretch>
        </p:blipFill>
        <p:spPr>
          <a:xfrm>
            <a:off x="426567" y="1389888"/>
            <a:ext cx="11338558" cy="2441995"/>
          </a:xfrm>
          <a:prstGeom prst="rect">
            <a:avLst/>
          </a:prstGeom>
        </p:spPr>
      </p:pic>
      <p:sp>
        <p:nvSpPr>
          <p:cNvPr id="7" name="TextBox 6"/>
          <p:cNvSpPr txBox="1"/>
          <p:nvPr/>
        </p:nvSpPr>
        <p:spPr>
          <a:xfrm>
            <a:off x="502920" y="5303520"/>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hlinkClick r:id="rId5"/>
              </a:rPr>
              <a:t xml:space="preserve">scripts/metric_converge.py</a:t>
            </a:r>
            <a:r>
              <a:rPr lang="en-US" sz="1150" dirty="0">
                <a:solidFill>
                  <a:srgbClr val="000000"/>
                </a:solidFill>
                <a:latin typeface="Calibri" pitchFamily="34" charset="0"/>
                <a:ea typeface="Calibri" pitchFamily="34" charset="-122"/>
                <a:cs typeface="Calibri" pitchFamily="34" charset="-120"/>
              </a:rPr>
              <a:t xml:space="preserve"> re-runs one word at five timesteps spanning 25×. The crosstalk margin the result rests on moves 0.14 % over that range and the spurious gate peak 0.04 %; </a:t>
            </a:r>
            <a:r>
              <a:rPr lang="en-US" sz="1150" dirty="0">
                <a:solidFill>
                  <a:srgbClr val="000000"/>
                </a:solidFill>
                <a:latin typeface="Calibri" pitchFamily="34" charset="0"/>
                <a:ea typeface="Calibri" pitchFamily="34" charset="-122"/>
                <a:cs typeface="Calibri" pitchFamily="34" charset="-120"/>
                <a:hlinkClick r:id="rId6"/>
              </a:rPr>
              <a:t xml:space="preserve">scripts/verdict_stability.py</a:t>
            </a:r>
            <a:r>
              <a:rPr lang="en-US" sz="1150" dirty="0">
                <a:solidFill>
                  <a:srgbClr val="000000"/>
                </a:solidFill>
                <a:latin typeface="Calibri" pitchFamily="34" charset="0"/>
                <a:ea typeface="Calibri" pitchFamily="34" charset="-122"/>
                <a:cs typeface="Calibri" pitchFamily="34" charset="-120"/>
              </a:rPr>
              <a:t xml:space="preserve"> flips 0 of 80 feasibility verdicts. Separately, the 36-corner grid is 25,911 completed runs of 25,920. </a:t>
            </a:r>
            <a:r>
              <a:rPr lang="en-US" sz="1150" dirty="0">
                <a:solidFill>
                  <a:srgbClr val="000000"/>
                </a:solidFill>
                <a:latin typeface="Calibri" pitchFamily="34" charset="0"/>
                <a:ea typeface="Calibri" pitchFamily="34" charset="-122"/>
                <a:cs typeface="Calibri" pitchFamily="34" charset="-120"/>
                <a:hlinkClick r:id="rId7"/>
              </a:rPr>
              <a:t xml:space="preserve">scripts/failed_runs.py</a:t>
            </a:r>
            <a:r>
              <a:rPr lang="en-US" sz="1150" dirty="0">
                <a:solidFill>
                  <a:srgbClr val="000000"/>
                </a:solidFill>
                <a:latin typeface="Calibri" pitchFamily="34" charset="0"/>
                <a:ea typeface="Calibri" pitchFamily="34" charset="-122"/>
                <a:cs typeface="Calibri" pitchFamily="34" charset="-120"/>
              </a:rPr>
              <a:t xml:space="preserve"> re-runs the nine that are not there: all nine fail again, so they are reproducible rather than flaky, all nine abort with the same ngspice transient convergence failure at the high-side gate node, and all nine are half-fixed settings - clamp without the rail, or rail without the clamp. None is the shipped configuration. One figure appears twice at different resolutions and the deck quotes the finer: switch-node overshoot is 17.9 % at the 0.02 ns step this deck reports, against 15.1 % at the sweep's 0.2 ns step, which is what </a:t>
            </a:r>
            <a:r>
              <a:rPr lang="en-US" sz="1150" dirty="0">
                <a:solidFill>
                  <a:srgbClr val="000000"/>
                </a:solidFill>
                <a:latin typeface="Calibri" pitchFamily="34" charset="0"/>
                <a:ea typeface="Calibri" pitchFamily="34" charset="-122"/>
                <a:cs typeface="Calibri" pitchFamily="34" charset="-120"/>
                <a:hlinkClick r:id="rId8"/>
              </a:rPr>
              <a:t xml:space="preserve">proof/LIVE-BUCK.sh</a:t>
            </a:r>
            <a:r>
              <a:rPr lang="en-US" sz="1150" dirty="0">
                <a:solidFill>
                  <a:srgbClr val="000000"/>
                </a:solidFill>
                <a:latin typeface="Calibri" pitchFamily="34" charset="0"/>
                <a:ea typeface="Calibri" pitchFamily="34" charset="-122"/>
                <a:cs typeface="Calibri" pitchFamily="34" charset="-120"/>
              </a:rPr>
              <a:t xml:space="preserve"> prints and says.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our implementation of their scheme.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Demonstration</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its 90–10 % edge taking 2.90 ns and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Six-Parameter Comparison</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accounts for most of it; the control swap accounts for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78028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netlist, same GaN, same power loop, same parasitics - only the driver is swapped. We hold one fixed word at all four corners. They are re-optimised at every corner, which is more freedom than their own design has: their scheme sets one bias resistor at design time. At three of the four corners the search returns exactly the setting their paper builds, which is why those two columns read alike there; at the mildest corner it finds a better one, +0.503 V against +0.338 V.</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+0.338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margin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at their best setting for each. Ours goes +2.757 → +2.251 V.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edge is faster, not slower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This is our implementation of their described scheme, run in our testbench: their netlist is not published. The ratio is against that reimplementation, not against their measured result, and is not claimed as such.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When Runtime Adaptation Is Worth Building</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headline is conditional, and this is the condition.</a:t>
            </a:r>
          </a:p>
        </p:txBody>
      </p:sp>
      <p:pic>
        <p:nvPicPr>
          <p:cNvPr id="6" name="Picture 5" descr="fig_lloop_ceiling.png"/>
          <p:cNvPicPr>
            <a:picLocks noChangeAspect="1"/>
          </p:cNvPicPr>
          <p:nvPr/>
        </p:nvPicPr>
        <p:blipFill>
          <a:blip r:embed="rId4"/>
          <a:stretch>
            <a:fillRect/>
          </a:stretch>
        </p:blipFill>
        <p:spPr>
          <a:xfrm>
            <a:off x="2674004" y="1389888"/>
            <a:ext cx="6843685" cy="3749039"/>
          </a:xfrm>
          <a:prstGeom prst="rect">
            <a:avLst/>
          </a:prstGeom>
        </p:spPr>
      </p:pic>
      <p:sp>
        <p:nvSpPr>
          <p:cNvPr id="7" name="TextBox 6"/>
          <p:cNvSpPr txBox="1"/>
          <p:nvPr/>
        </p:nvSpPr>
        <p:spPr>
          <a:xfrm>
            <a:off x="502920" y="5248656"/>
            <a:ext cx="10838382" cy="135331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scripts/lloop_sweep.py</a:t>
            </a:r>
            <a:r>
              <a:rPr lang="en-US" sz="1150" dirty="0">
                <a:solidFill>
                  <a:srgbClr val="000000"/>
                </a:solidFill>
                <a:latin typeface="Calibri" pitchFamily="34" charset="0"/>
                <a:ea typeface="Calibri" pitchFamily="34" charset="-122"/>
                <a:cs typeface="Calibri" pitchFamily="34" charset="-120"/>
              </a:rPr>
              <a:t xml:space="preserve"> into lloop_analyse.py. The ceiling on per-corner scheduling is 13.5 % at 1.5 nH and 0.55 % at 4.5 nH, so the answer to "is adaptive gate control worth the sensor, the lookup table and the controller" is not a property of the driver: it is a property of the board the driver sits on. Below about 2.5 nH the answer is yes and above it the answer is no. The series is not monotonic in that band, which is why it is drawn as eight points rather than as a curve. 3.0 nH is our nominal simulation condition, not a measured layout, and the 2.6 % headline is the value at that nominal condition.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Cost of the Fix</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the crosstalk margin is paid for with.</a:t>
            </a:r>
          </a:p>
        </p:txBody>
      </p:sp>
      <p:pic>
        <p:nvPicPr>
          <p:cNvPr id="6" name="Picture 5" descr="fig_cost_table.png"/>
          <p:cNvPicPr>
            <a:picLocks noChangeAspect="1"/>
          </p:cNvPicPr>
          <p:nvPr/>
        </p:nvPicPr>
        <p:blipFill>
          <a:blip r:embed="rId4"/>
          <a:stretch>
            <a:fillRect/>
          </a:stretch>
        </p:blipFill>
        <p:spPr>
          <a:xfrm>
            <a:off x="426567" y="1417320"/>
            <a:ext cx="11338558" cy="2882376"/>
          </a:xfrm>
          <a:prstGeom prst="rect">
            <a:avLst/>
          </a:prstGeom>
        </p:spPr>
      </p:pic>
      <p:sp>
        <p:nvSpPr>
          <p:cNvPr id="7" name="TextBox 6"/>
          <p:cNvSpPr txBox="1"/>
          <p:nvPr/>
        </p:nvSpPr>
        <p:spPr>
          <a:xfrm>
            <a:off x="502920" y="5193792"/>
            <a:ext cx="10838382" cy="135331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dirty="0">
                <a:solidFill>
                  <a:srgbClr val="000000"/>
                </a:solidFill>
                <a:latin typeface="Calibri" pitchFamily="34" charset="0"/>
                <a:ea typeface="Calibri" pitchFamily="34" charset="-122"/>
                <a:cs typeface="Calibri" pitchFamily="34" charset="-120"/>
              </a:rPr>
              <a:t xml:space="preserve">Simulated in ngspice, from </a:t>
            </a:r>
            <a:r>
              <a:rPr lang="en-US" sz="1150" dirty="0">
                <a:solidFill>
                  <a:srgbClr val="000000"/>
                </a:solidFill>
                <a:latin typeface="Calibri" pitchFamily="34" charset="0"/>
                <a:ea typeface="Calibri" pitchFamily="34" charset="-122"/>
                <a:cs typeface="Calibri" pitchFamily="34" charset="-120"/>
                <a:hlinkClick r:id="rId5"/>
              </a:rPr>
              <a:t xml:space="preserve">results/buck_sweep.csv</a:t>
            </a:r>
            <a:r>
              <a:rPr lang="en-US" sz="1150" dirty="0">
                <a:solidFill>
                  <a:srgbClr val="000000"/>
                </a:solidFill>
                <a:latin typeface="Calibri" pitchFamily="34" charset="0"/>
                <a:ea typeface="Calibri" pitchFamily="34" charset="-122"/>
                <a:cs typeface="Calibri" pitchFamily="34" charset="-120"/>
              </a:rPr>
              <a:t xml:space="preserve">,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The fix buys +2.825 V of gate margin, and it is bought with 0.24 points of converter efficiency, 0.570 W of loss and 12 V of extra switch-node peak. About 0.22 W of that loss is third-quadrant conduction: GaN has no body diode, so during dead time the device conducts in reverse at V_th + |V_off| + I·R_ds(on), and a deeper off rail makes that drop larger. At 118 V on a 200 V-rated device the stress is 59 % of rating, so it is a real cost but not the binding constraint at this bus.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Conclusions</a:t>
            </a:r>
            <a:endParaRPr lang="en-US" sz="2800" dirty="0"/>
          </a:p>
        </p:txBody>
      </p:sp>
      <p:sp>
        <p:nvSpPr>
          <p:cNvPr id="5" name="TextBox 4"/>
          <p:cNvSpPr txBox="1"/>
          <p:nvPr/>
        </p:nvSpPr>
        <p:spPr>
          <a:xfrm>
            <a:off x="640080" y="960120"/>
            <a:ext cx="11064240" cy="4846320"/>
          </a:xfrm>
          <a:prstGeom prst="rect">
            <a:avLst/>
          </a:prstGeom>
          <a:noFill/>
        </p:spPr>
        <p:txBody>
          <a:bodyPr wrap="square" lIns="0" tIns="0" rIns="0" bIns="0">
            <a:spAutoFit/>
          </a:bodyPr>
          <a:lstStyle/>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1.  Gate robustness.  </a:t>
            </a:r>
            <a:r>
              <a:rPr lang="en-US" sz="1300" dirty="0">
                <a:solidFill>
                  <a:srgbClr val="000000"/>
                </a:solidFill>
                <a:latin typeface="Calibri" pitchFamily="34" charset="0"/>
                <a:ea typeface="Calibri" pitchFamily="34" charset="-122"/>
                <a:cs typeface="Calibri" pitchFamily="34" charset="-120"/>
              </a:rPr>
              <a:t xml:space="preserve">An always-on Miller clamp with a −2 V off rail raises the simulated off-state gate margin on all three device models tried, from −0.249 V to +2.576 V on the behavioural model and to between +2.0 and +2.7 V on the other two.</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2.  Adaptation.  </a:t>
            </a:r>
            <a:r>
              <a:rPr lang="en-US" sz="1300" dirty="0">
                <a:solidFill>
                  <a:srgbClr val="000000"/>
                </a:solidFill>
                <a:latin typeface="Calibri" pitchFamily="34" charset="0"/>
                <a:ea typeface="Calibri" pitchFamily="34" charset="-122"/>
                <a:cs typeface="Calibri" pitchFamily="34" charset="-120"/>
              </a:rPr>
              <a:t xml:space="preserve">Choosing one good fixed control word is worth 26.5 % of the baseline. Re-tuning it while the converter runs adds 2.6 % more - 8.9 % of the total gain - at our nominal 3 nH power loop.</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3.  That answer is conditional.  </a:t>
            </a:r>
            <a:r>
              <a:rPr lang="en-US" sz="1300" dirty="0">
                <a:solidFill>
                  <a:srgbClr val="000000"/>
                </a:solidFill>
                <a:latin typeface="Calibri" pitchFamily="34" charset="0"/>
                <a:ea typeface="Calibri" pitchFamily="34" charset="-122"/>
                <a:cs typeface="Calibri" pitchFamily="34" charset="-120"/>
              </a:rPr>
              <a:t xml:space="preserve">The ceiling on scheduling runs from 13.5 % at 1.5 nH to 0.55 % at 4.5 nH. Whether adaptive gate control earns its hardware is decided by board layout, not by the driver.</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4.  It is a trade.  </a:t>
            </a:r>
            <a:r>
              <a:rPr lang="en-US" sz="1300" dirty="0">
                <a:solidFill>
                  <a:srgbClr val="000000"/>
                </a:solidFill>
                <a:latin typeface="Calibri" pitchFamily="34" charset="0"/>
                <a:ea typeface="Calibri" pitchFamily="34" charset="-122"/>
                <a:cs typeface="Calibri" pitchFamily="34" charset="-120"/>
              </a:rPr>
              <a:t xml:space="preserve">The margin costs 0.24 efficiency points, 0.570 W and 12 V of switch-node stress, and raises turn-on energy at three of four corners.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5.  Status.  </a:t>
            </a:r>
            <a:r>
              <a:rPr lang="en-US" sz="1300" dirty="0">
                <a:solidFill>
                  <a:srgbClr val="000000"/>
                </a:solidFill>
                <a:latin typeface="Calibri" pitchFamily="34" charset="0"/>
                <a:ea typeface="Calibri" pitchFamily="34" charset="-122"/>
                <a:cs typeface="Calibri" pitchFamily="34" charset="-120"/>
              </a:rPr>
              <a:t xml:space="preserve">Simulation only. No hardware has been built, and the comparison is against our own implementation of the published baseline.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Would Overturn This Result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conditions under which our own conclusion would need revising, stated by us.</a:t>
            </a:r>
          </a:p>
        </p:txBody>
      </p:sp>
      <p:sp>
        <p:nvSpPr>
          <p:cNvPr id="6" name="TextBox 5"/>
          <p:cNvSpPr txBox="1"/>
          <p:nvPr/>
        </p:nvSpPr>
        <p:spPr>
          <a:xfrm>
            <a:off x="640080" y="1572768"/>
            <a:ext cx="11064240" cy="4206240"/>
          </a:xfrm>
          <a:prstGeom prst="rect">
            <a:avLst/>
          </a:prstGeom>
          <a:noFill/>
        </p:spPr>
        <p:txBody>
          <a:bodyPr wrap="square" lIns="0" tIns="0" rIns="0" bIns="0">
            <a:spAutoFit/>
          </a:bodyPr>
          <a:lstStyle/>
          <a:p>
            <a:pPr marL="177800" indent="0">
              <a:spcAft>
                <a:spcPts val="240"/>
              </a:spcAft>
              <a:buSzPct val="100000"/>
              <a:buNone/>
            </a:pPr>
            <a:r>
              <a:rPr lang="en-US" sz="1250" b="1" dirty="0">
                <a:solidFill>
                  <a:srgbClr val="000000"/>
                </a:solidFill>
                <a:latin typeface="Calibri" pitchFamily="34" charset="0"/>
                <a:ea typeface="Calibri" pitchFamily="34" charset="-122"/>
                <a:cs typeface="Calibri" pitchFamily="34" charset="-120"/>
              </a:rPr>
              <a:t xml:space="preserve">A measured gate waveform that does not reproduce the simulated transient.  </a:t>
            </a:r>
            <a:r>
              <a:rPr lang="en-US" sz="1250" dirty="0">
                <a:solidFill>
                  <a:srgbClr val="000000"/>
                </a:solidFill>
                <a:latin typeface="Calibri" pitchFamily="34" charset="0"/>
                <a:ea typeface="Calibri" pitchFamily="34" charset="-122"/>
                <a:cs typeface="Calibri" pitchFamily="34" charset="-120"/>
              </a:rPr>
              <a:t xml:space="preserve">Everything here rests on one behavioural GaN model written from a datasheet, with hand-typed temperature coefficients that are not fitted.</a:t>
            </a:r>
          </a:p>
          <a:p>
            <a:pPr marL="177800" indent="0">
              <a:spcAft>
                <a:spcPts val="240"/>
              </a:spcAft>
              <a:buSzPct val="100000"/>
              <a:buNone/>
            </a:pPr>
            <a:r>
              <a:rPr lang="en-US" sz="1250" b="1" dirty="0">
                <a:solidFill>
                  <a:srgbClr val="000000"/>
                </a:solidFill>
                <a:latin typeface="Calibri" pitchFamily="34" charset="0"/>
                <a:ea typeface="Calibri" pitchFamily="34" charset="-122"/>
                <a:cs typeface="Calibri" pitchFamily="34" charset="-120"/>
              </a:rPr>
              <a:t xml:space="preserve">An extracted power-loop inductance below about 2.5 nH.  </a:t>
            </a:r>
            <a:r>
              <a:rPr lang="en-US" sz="1250" dirty="0">
                <a:solidFill>
                  <a:srgbClr val="000000"/>
                </a:solidFill>
                <a:latin typeface="Calibri" pitchFamily="34" charset="0"/>
                <a:ea typeface="Calibri" pitchFamily="34" charset="-122"/>
                <a:cs typeface="Calibri" pitchFamily="34" charset="-120"/>
              </a:rPr>
              <a:t xml:space="preserve">Then adaptation is worth several times what we report, and the recommendation inverts. We have not measured this inductance; 3 nH is assumed.</a:t>
            </a:r>
          </a:p>
          <a:p>
            <a:pPr marL="177800" indent="0">
              <a:spcAft>
                <a:spcPts val="240"/>
              </a:spcAft>
              <a:buSzPct val="100000"/>
              <a:buNone/>
            </a:pPr>
            <a:r>
              <a:rPr lang="en-US" sz="1250" b="1" dirty="0">
                <a:solidFill>
                  <a:srgbClr val="000000"/>
                </a:solidFill>
                <a:latin typeface="Calibri" pitchFamily="34" charset="0"/>
                <a:ea typeface="Calibri" pitchFamily="34" charset="-122"/>
                <a:cs typeface="Calibri" pitchFamily="34" charset="-120"/>
              </a:rPr>
              <a:t xml:space="preserve">Package and gate-loop parasitics that change the Miller current path.  </a:t>
            </a:r>
            <a:r>
              <a:rPr lang="en-US" sz="1250" dirty="0">
                <a:solidFill>
                  <a:srgbClr val="000000"/>
                </a:solidFill>
                <a:latin typeface="Calibri" pitchFamily="34" charset="0"/>
                <a:ea typeface="Calibri" pitchFamily="34" charset="-122"/>
                <a:cs typeface="Calibri" pitchFamily="34" charset="-120"/>
              </a:rPr>
              <a:t xml:space="preserve">C_GD here is a junction diode biased never to conduct, used only for its C(V) law. A charge-based model already moves the no-clamp margin by +0.364 V.</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Evidence that our baseline differs materially from the authors' implementation.  </a:t>
            </a:r>
            <a:r>
              <a:rPr lang="en-US" sz="1250" dirty="0">
                <a:solidFill>
                  <a:srgbClr val="000000"/>
                </a:solidFill>
                <a:latin typeface="Calibri" pitchFamily="34" charset="0"/>
                <a:ea typeface="Calibri" pitchFamily="34" charset="-122"/>
                <a:cs typeface="Calibri" pitchFamily="34" charset="-120"/>
              </a:rPr>
              <a:t xml:space="preserve">Their netlist is unpublished; if it were released and performed better than ours, every ratio in this deck would need recomputing.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remains is bench work, not further simulation.</a:t>
            </a:r>
          </a:p>
        </p:txBody>
      </p:sp>
      <p:sp>
        <p:nvSpPr>
          <p:cNvPr id="6" name="TextBox 5"/>
          <p:cNvSpPr txBox="1"/>
          <p:nvPr/>
        </p:nvSpPr>
        <p:spPr>
          <a:xfrm>
            <a:off x="640080" y="1600200"/>
            <a:ext cx="11064240" cy="4480560"/>
          </a:xfrm>
          <a:prstGeom prst="rect">
            <a:avLst/>
          </a:prstGeom>
          <a:noFill/>
        </p:spPr>
        <p:txBody>
          <a:bodyPr wrap="square" lIns="0" tIns="0" rIns="0" bIns="0">
            <a:spAutoFit/>
          </a:bodyPr>
          <a:lstStyle/>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Place-and-route on a chosen board. </a:t>
            </a:r>
            <a:r>
              <a:rPr lang="en-US" sz="15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A hardware half-bridge, measured. </a:t>
            </a:r>
            <a:r>
              <a:rPr lang="en-US" sz="15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Additionally: transcribe the silicon MOSFET datasheet digits rather than using datasheet-class values, and re-run the ceiling on the transistor-level stage now that it is known to work.</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Sanjay Kumar  23BEC1447     ·     Aamir Abdullah  23BPS1197     ·     Amritha S  23BEC1368</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