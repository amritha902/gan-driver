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357" r:id="rId100"/>
    <p:sldId id="274" r:id="rId25"/>
    <p:sldId id="278" r:id="rId29"/>
    <p:sldId id="348" r:id="rId91"/>
    <p:sldId id="315" r:id="rId58"/>
    <p:sldId id="316" r:id="rId59"/>
    <p:sldId id="317" r:id="rId60"/>
    <p:sldId id="318" r:id="rId61"/>
    <p:sldId id="319" r:id="rId62"/>
    <p:sldId id="320" r:id="rId63"/>
    <p:sldId id="358" r:id="rId101"/>
    <p:sldId id="321" r:id="rId64"/>
    <p:sldId id="322" r:id="rId65"/>
    <p:sldId id="323" r:id="rId66"/>
    <p:sldId id="324" r:id="rId67"/>
    <p:sldId id="359" r:id="rId102"/>
    <p:sldId id="360" r:id="rId103"/>
    <p:sldId id="325" r:id="rId68"/>
    <p:sldId id="326" r:id="rId69"/>
    <p:sldId id="327" r:id="rId70"/>
    <p:sldId id="339" r:id="rId82"/>
    <p:sldId id="309" r:id="rId52"/>
    <p:sldId id="341" r:id="rId84"/>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3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32.xml"/><Relationship Id="rId25" Type="http://schemas.openxmlformats.org/officeDocument/2006/relationships/slide" Target="slides/slide5.xml"/><Relationship Id="rId29" Type="http://schemas.openxmlformats.org/officeDocument/2006/relationships/slide" Target="slides/slide6.xml"/><Relationship Id="rId52" Type="http://schemas.openxmlformats.org/officeDocument/2006/relationships/slide" Target="slides/slide25.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5.xml"/><Relationship Id="rId65" Type="http://schemas.openxmlformats.org/officeDocument/2006/relationships/slide" Target="slides/slide16.xml"/><Relationship Id="rId66" Type="http://schemas.openxmlformats.org/officeDocument/2006/relationships/slide" Target="slides/slide17.xml"/><Relationship Id="rId67" Type="http://schemas.openxmlformats.org/officeDocument/2006/relationships/slide" Target="slides/slide18.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34.xml"/><Relationship Id="rId82" Type="http://schemas.openxmlformats.org/officeDocument/2006/relationships/slide" Target="slides/slide24.xml"/><Relationship Id="rId84" Type="http://schemas.openxmlformats.org/officeDocument/2006/relationships/slide" Target="slides/slide26.xml"/><Relationship Id="rId91" Type="http://schemas.openxmlformats.org/officeDocument/2006/relationships/slide" Target="slides/slide7.xml"/><Relationship Id="rId98" Type="http://schemas.openxmlformats.org/officeDocument/2006/relationships/slide" Target="slides/slide27.xml"/><Relationship Id="rId100" Type="http://schemas.openxmlformats.org/officeDocument/2006/relationships/slide" Target="slides/slide4.xml"/><Relationship Id="rId101" Type="http://schemas.openxmlformats.org/officeDocument/2006/relationships/slide" Target="slides/slide14.xml"/><Relationship Id="rId102" Type="http://schemas.openxmlformats.org/officeDocument/2006/relationships/slide" Target="slides/slide19.xml"/><Relationship Id="rId103" Type="http://schemas.openxmlformats.org/officeDocument/2006/relationships/slide" Target="slides/slide20.xml"/><Relationship Id="rId104" Type="http://schemas.openxmlformats.org/officeDocument/2006/relationships/slide" Target="slides/slide28.xml"/><Relationship Id="rId105" Type="http://schemas.openxmlformats.org/officeDocument/2006/relationships/slide" Target="slides/slide29.xml"/><Relationship Id="rId106" Type="http://schemas.openxmlformats.org/officeDocument/2006/relationships/slide" Target="slides/slide30.xml"/><Relationship Id="rId10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segdrv.kicad_sc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models/zhan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572768"/>
            <a:ext cx="6903720" cy="1481328"/>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pic>
        <p:nvPicPr>
          <p:cNvPr id="24" name="Picture 23" descr="fig_title_circuit.png"/>
          <p:cNvPicPr>
            <a:picLocks noChangeAspect="1"/>
          </p:cNvPicPr>
          <p:nvPr/>
        </p:nvPicPr>
        <p:blipFill>
          <a:blip r:embed="rId4"/>
          <a:stretch>
            <a:fillRect/>
          </a:stretch>
        </p:blipFill>
        <p:spPr>
          <a:xfrm>
            <a:off x="7849276" y="1078992"/>
            <a:ext cx="4083643"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 Model Validation.)</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5120132"/>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How much additional benefit does runtime adaptation provide beyond a fixed gate-driver configuration, and under what electrical conditions is that benefit significant? The second half is not a caveat on the first: finding the conditions under which the answer changes is part of the question.</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Scope of the Claim</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this project establishes, and what it does not. Everything after this slide is read inside these bounds.</a:t>
            </a:r>
          </a:p>
        </p:txBody>
      </p:sp>
      <p:sp>
        <p:nvSpPr>
          <p:cNvPr id="6" name="TextBox 5"/>
          <p:cNvSpPr txBox="1"/>
          <p:nvPr/>
        </p:nvSpPr>
        <p:spPr>
          <a:xfrm>
            <a:off x="640080" y="1572768"/>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A fixed clamp and negative off-bias raise the simulated off-state gate margin on every device model we ran.</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Runtime adaptation adds a further benefit whose size depends strongly on power-loop inductance, and we measure that dependence.</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The relative comparison is against our own implementation of the published baseline, run in our testbench.</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 number regenerates from a named script in the repository.</a:t>
            </a:r>
          </a:p>
        </p:txBody>
      </p:sp>
      <p:sp>
        <p:nvSpPr>
          <p:cNvPr id="7" name="TextBox 6"/>
          <p:cNvSpPr txBox="1"/>
          <p:nvPr/>
        </p:nvSpPr>
        <p:spPr>
          <a:xfrm>
            <a:off x="6446520" y="1572768"/>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DO NOT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Experimental validation. No hardware has been built.</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Reproduction of the original authors' measured silicon results. Their netlist is not published.</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That false turn-on occurs universally. Its occurrence at the margin is device-model dependent, and we show the model on which it does not occur.</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 universally optimal control word. The best setting moves with the operating point, and by how much is the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slices per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per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per bank in two stages, one bias resistor, no clamp branch, and the off rail tied to reference.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Baseline Reimplementation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Zhang et al., ISPSD 2020 [10]. The authors' netlist is not published, so the baseline is built from the paper and stated as such.</a:t>
            </a:r>
          </a:p>
        </p:txBody>
      </p:sp>
      <p:sp>
        <p:nvSpPr>
          <p:cNvPr id="6" name="TextBox 5"/>
          <p:cNvSpPr txBox="1"/>
          <p:nvPr/>
        </p:nvSpPr>
        <p:spPr>
          <a:xfrm>
            <a:off x="640080" y="1600200"/>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TAKEN FROM THE PAPER</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Segmented output stage on E-mode GaN, seven slices a bank.</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Two-stage engagement: NSEG slices first, the remaining 7 − NSEG after TSTEP.</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Pattern timing in the 0.5–5 ns range.</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One external bias resistor selects the whole pattern - the paper's own contribution, and the word "Simple" in its title.</a:t>
            </a:r>
          </a:p>
        </p:txBody>
      </p:sp>
      <p:sp>
        <p:nvSpPr>
          <p:cNvPr id="7" name="TextBox 6"/>
          <p:cNvSpPr txBox="1"/>
          <p:nvPr/>
        </p:nvSpPr>
        <p:spPr>
          <a:xfrm>
            <a:off x="6446520" y="1600200"/>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WE HAD TO DECIDE</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Slice resistance and device sizing: matched to ours, so the comparison is of architecture, not of silicon area.</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The bias setting: their paper fixes it once at design time. We instead search NSEG and TSTEP at every corner and run theirs at whatever wins.</a:t>
            </a:r>
          </a:p>
          <a:p>
            <a:pPr marL="177800" indent="0">
              <a:spcAft>
                <a:spcPts val="260"/>
              </a:spcAft>
              <a:buSzPct val="100000"/>
              <a:buNone/>
            </a:pPr>
            <a:r>
              <a:rPr lang="en-US" sz="1400" b="1" dirty="0">
                <a:solidFill>
                  <a:srgbClr val="000000"/>
                </a:solidFill>
                <a:latin typeface="Calibri" pitchFamily="34" charset="0"/>
                <a:ea typeface="Calibri" pitchFamily="34" charset="-122"/>
                <a:cs typeface="Calibri" pitchFamily="34" charset="-120"/>
              </a:rPr>
              <a:t xml:space="preserve">That is more freedom than their design has, and it is given to them deliberately: every methodological choice here runs against us.</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hlinkClick r:id="rId4"/>
              </a:rPr>
              <a:t xml:space="preserve">models/zhangdrv.lib</a:t>
            </a:r>
            <a:r>
              <a:rPr lang="en-US" sz="1400" dirty="0">
                <a:solidFill>
                  <a:srgbClr val="000000"/>
                </a:solidFill>
                <a:latin typeface="Calibri" pitchFamily="34" charset="0"/>
                <a:ea typeface="Calibri" pitchFamily="34" charset="-122"/>
                <a:cs typeface="Calibri" pitchFamily="34" charset="-120"/>
              </a:rPr>
              <a:t xml:space="preserve"> names each assumption in its header.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the block diagram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The slices are discrete by design: a single variable resistor would simulate identically and could not be laid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The Model Validation slide runs the same three configurations on two further device models.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426567" y="1389888"/>
            <a:ext cx="11338558" cy="2441995"/>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our implementation of their scheme.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78028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netlist, same GaN, same power loop, same parasitics - only the driver is swapped. We hold one fixed word at all four corners. They are re-optimised at every corner, which is more freedom than their own design has: their scheme sets one bias resistor at design time. At three of the four corners the search returns exactly the setting their paper builds, which is why those two columns read alike there; at the mildest corner it finds a better one, +0.503 V against +0.338 V.</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48656"/>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3.0 nH is our nominal simulation condition, not a measured layout, and the 2.6 % headline is the value at that nominal condition.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has been built, and the comparison is against our own implementation of the published baseline.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Would Overturn This Result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conditions under which our own conclusion would need revising, stated by us.</a:t>
            </a:r>
          </a:p>
        </p:txBody>
      </p:sp>
      <p:sp>
        <p:nvSpPr>
          <p:cNvPr id="6" name="TextBox 5"/>
          <p:cNvSpPr txBox="1"/>
          <p:nvPr/>
        </p:nvSpPr>
        <p:spPr>
          <a:xfrm>
            <a:off x="640080" y="1572768"/>
            <a:ext cx="11064240" cy="4206240"/>
          </a:xfrm>
          <a:prstGeom prst="rect">
            <a:avLst/>
          </a:prstGeom>
          <a:noFill/>
        </p:spPr>
        <p:txBody>
          <a:bodyPr wrap="square" lIns="0" tIns="0" rIns="0" bIns="0">
            <a:spAutoFit/>
          </a:bodyPr>
          <a:lstStyle/>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 measured gate waveform that does not reproduce the simulated transient.  </a:t>
            </a:r>
            <a:r>
              <a:rPr lang="en-US" sz="1250" dirty="0">
                <a:solidFill>
                  <a:srgbClr val="000000"/>
                </a:solidFill>
                <a:latin typeface="Calibri" pitchFamily="34" charset="0"/>
                <a:ea typeface="Calibri" pitchFamily="34" charset="-122"/>
                <a:cs typeface="Calibri" pitchFamily="34" charset="-120"/>
              </a:rPr>
              <a:t xml:space="preserve">Everything here rests on one behavioural GaN model written from a datasheet, with hand-typed temperature coefficients that are not fitted.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An extracted power-loop inductance below about 2.5 nH.  </a:t>
            </a:r>
            <a:r>
              <a:rPr lang="en-US" sz="1250" dirty="0">
                <a:solidFill>
                  <a:srgbClr val="000000"/>
                </a:solidFill>
                <a:latin typeface="Calibri" pitchFamily="34" charset="0"/>
                <a:ea typeface="Calibri" pitchFamily="34" charset="-122"/>
                <a:cs typeface="Calibri" pitchFamily="34" charset="-120"/>
              </a:rPr>
              <a:t xml:space="preserve">Then adaptation is worth several times what we report, and the recommendation inverts. We have not measured this inductance; 3 nH is assumed.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Package and gate-loop parasitics that change the Miller current path.  </a:t>
            </a:r>
            <a:r>
              <a:rPr lang="en-US" sz="1250" dirty="0">
                <a:solidFill>
                  <a:srgbClr val="000000"/>
                </a:solidFill>
                <a:latin typeface="Calibri" pitchFamily="34" charset="0"/>
                <a:ea typeface="Calibri" pitchFamily="34" charset="-122"/>
                <a:cs typeface="Calibri" pitchFamily="34" charset="-120"/>
              </a:rPr>
              <a:t xml:space="preserve">C_GD here is a junction diode biased never to conduct, used only for its C(V) law. A charge-based model already moves the no-clamp margin by +0.364 V.</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Evidence that our baseline differs materially from the authors' implementation.  </a:t>
            </a:r>
            <a:r>
              <a:rPr lang="en-US" sz="1250" dirty="0">
                <a:solidFill>
                  <a:srgbClr val="000000"/>
                </a:solidFill>
                <a:latin typeface="Calibri" pitchFamily="34" charset="0"/>
                <a:ea typeface="Calibri" pitchFamily="34" charset="-122"/>
                <a:cs typeface="Calibri" pitchFamily="34" charset="-120"/>
              </a:rPr>
              <a:t xml:space="preserve">Their netlist is unpublished; if it were released and performed better than ours, every ratio in this deck would need recomputing.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