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1" r:id="rId84"/>
    <p:sldId id="315" r:id="rId58"/>
    <p:sldId id="316" r:id="rId59"/>
    <p:sldId id="317" r:id="rId60"/>
    <p:sldId id="318" r:id="rId61"/>
    <p:sldId id="319" r:id="rId62"/>
    <p:sldId id="320" r:id="rId63"/>
    <p:sldId id="332" r:id="rId75"/>
    <p:sldId id="309" r:id="rId52"/>
    <p:sldId id="334" r:id="rId77"/>
    <p:sldId id="326" r:id="rId69"/>
    <p:sldId id="262" r:id="rId8"/>
    <p:sldId id="265" r:id="rId11"/>
    <p:sldId id="321" r:id="rId6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17.xml"/><Relationship Id="rId11" Type="http://schemas.openxmlformats.org/officeDocument/2006/relationships/slide" Target="slides/slide18.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4.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9.xml"/><Relationship Id="rId69" Type="http://schemas.openxmlformats.org/officeDocument/2006/relationships/slide" Target="slides/slide16.xml"/><Relationship Id="rId75" Type="http://schemas.openxmlformats.org/officeDocument/2006/relationships/slide" Target="slides/slide13.xml"/><Relationship Id="rId77" Type="http://schemas.openxmlformats.org/officeDocument/2006/relationships/slide" Target="slides/slide15.xml"/><Relationship Id="rId8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8.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zhangdrv.kicad_sch" TargetMode="External"/><Relationship Id="rId7" Type="http://schemas.openxmlformats.org/officeDocument/2006/relationships/hyperlink" Target="https://github.com/Amritha902/gan-driver/blob/main/kicad/gan_segdrv.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9.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0.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1.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48.png"/><Relationship Id="rId7" Type="http://schemas.openxmlformats.org/officeDocument/2006/relationships/image" Target="../media/image49.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hyperlink" Target="https://github.com/Amritha902/gan-driver/blob/main/sim/dpt.cir" TargetMode="External"/><Relationship Id="rId6" Type="http://schemas.openxmlformats.org/officeDocument/2006/relationships/hyperlink" Target="https://github.com/Amritha902/gan-driver/blob/main/scripts/waveform_anatomy.p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hyperlink" Target="https://github.com/Amritha902/gan-driver/blob/main/scripts/headtohead.py" TargetMode="External"/><Relationship Id="rId6" Type="http://schemas.openxmlformats.org/officeDocument/2006/relationships/hyperlink" Target="https://github.com/Amritha902/gan-driver/blob/main/models/zhangdrv.lib"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add that they do not have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3926811" y="1353312"/>
            <a:ext cx="433807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Top row is theirs: one analogue bias resistor set at design time, no clamp, off rail at 0 V — and the crosstalk path with nothing holding the OFF gate down. Bottom row is ours: the same output stage, plus a digital controller re-writable at run time, an always-on active Miller clamp, and an off-bias mux that selects −2 V. Block counts and values are parsed from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and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so if either library changes this figure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differs in the circuit, theirs and ours</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a:t>
            </a:r>
            <a:r>
              <a:rPr lang="en-US" sz="1150" dirty="0">
                <a:solidFill>
                  <a:srgbClr val="000000"/>
                </a:solidFill>
                <a:latin typeface="Calibri" pitchFamily="34" charset="0"/>
                <a:ea typeface="Calibri" pitchFamily="34" charset="-122"/>
                <a:cs typeface="Calibri" pitchFamily="34" charset="-120"/>
                <a:hlinkClick r:id="rId6"/>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seven slices a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7"/>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Both gate drivers, as drawn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a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every number on these slides was made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simulation, run live</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5"/>
              </a:rPr>
              <a:t xml:space="preserve">sim/dpt.cir</a:t>
            </a:r>
            <a:r>
              <a:rPr lang="en-US" sz="1150" dirty="0">
                <a:solidFill>
                  <a:srgbClr val="000000"/>
                </a:solidFill>
                <a:latin typeface="Calibri" pitchFamily="34" charset="0"/>
                <a:ea typeface="Calibri" pitchFamily="34" charset="-122"/>
                <a:cs typeface="Calibri" pitchFamily="34" charset="-120"/>
              </a:rPr>
              <a:t xml:space="preserve">.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6"/>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the clamp's action is independent of how hot the device is. Our switch node also slews about twice as fast, so the margin is not bought with switching speed. One caveat: </a:t>
            </a:r>
            <a:r>
              <a:rPr lang="en-US" sz="1150" dirty="0">
                <a:solidFill>
                  <a:srgbClr val="000000"/>
                </a:solidFill>
                <a:latin typeface="Calibri" pitchFamily="34" charset="0"/>
                <a:ea typeface="Calibri" pitchFamily="34" charset="-122"/>
                <a:cs typeface="Calibri" pitchFamily="34" charset="-120"/>
                <a:hlinkClick r:id="rId6"/>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stated so the total can be checked.</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Neither can be obtained by further simulation.</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stated so the total can be recomputed.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