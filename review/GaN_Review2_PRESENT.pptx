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348" r:id="rId91"/>
    <p:sldId id="317" r:id="rId60"/>
    <p:sldId id="318" r:id="rId61"/>
    <p:sldId id="319" r:id="rId62"/>
    <p:sldId id="320" r:id="rId63"/>
    <p:sldId id="322" r:id="rId65"/>
    <p:sldId id="324" r:id="rId67"/>
    <p:sldId id="359" r:id="rId102"/>
    <p:sldId id="360" r:id="rId103"/>
    <p:sldId id="325" r:id="rId68"/>
    <p:sldId id="326" r:id="rId69"/>
    <p:sldId id="339" r:id="rId82"/>
    <p:sldId id="309" r:id="rId52"/>
    <p:sldId id="355" r:id="rId98"/>
    <p:sldId id="361" r:id="rId104"/>
    <p:sldId id="362" r:id="rId105"/>
    <p:sldId id="363" r:id="rId106"/>
    <p:sldId id="364" r:id="rId107"/>
    <p:sldId id="272" r:id="rId23"/>
    <p:sldId id="265" r:id="rId11"/>
    <p:sldId id="328" r:id="rId7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11" Type="http://schemas.openxmlformats.org/officeDocument/2006/relationships/slide" Target="slides/slide24.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3" Type="http://schemas.openxmlformats.org/officeDocument/2006/relationships/slide" Target="slides/slide23.xml"/><Relationship Id="rId25" Type="http://schemas.openxmlformats.org/officeDocument/2006/relationships/slide" Target="slides/slide4.xml"/><Relationship Id="rId52" Type="http://schemas.openxmlformats.org/officeDocument/2006/relationships/slide" Target="slides/slide17.xml"/><Relationship Id="rId60" Type="http://schemas.openxmlformats.org/officeDocument/2006/relationships/slide" Target="slides/slide6.xml"/><Relationship Id="rId61" Type="http://schemas.openxmlformats.org/officeDocument/2006/relationships/slide" Target="slides/slide7.xml"/><Relationship Id="rId62" Type="http://schemas.openxmlformats.org/officeDocument/2006/relationships/slide" Target="slides/slide8.xml"/><Relationship Id="rId63" Type="http://schemas.openxmlformats.org/officeDocument/2006/relationships/slide" Target="slides/slide9.xml"/><Relationship Id="rId65" Type="http://schemas.openxmlformats.org/officeDocument/2006/relationships/slide" Target="slides/slide10.xml"/><Relationship Id="rId67" Type="http://schemas.openxmlformats.org/officeDocument/2006/relationships/slide" Target="slides/slide11.xml"/><Relationship Id="rId68" Type="http://schemas.openxmlformats.org/officeDocument/2006/relationships/slide" Target="slides/slide14.xml"/><Relationship Id="rId69" Type="http://schemas.openxmlformats.org/officeDocument/2006/relationships/slide" Target="slides/slide15.xml"/><Relationship Id="rId71" Type="http://schemas.openxmlformats.org/officeDocument/2006/relationships/slide" Target="slides/slide25.xml"/><Relationship Id="rId82" Type="http://schemas.openxmlformats.org/officeDocument/2006/relationships/slide" Target="slides/slide16.xml"/><Relationship Id="rId91" Type="http://schemas.openxmlformats.org/officeDocument/2006/relationships/slide" Target="slides/slide5.xml"/><Relationship Id="rId98" Type="http://schemas.openxmlformats.org/officeDocument/2006/relationships/slide" Target="slides/slide18.xml"/><Relationship Id="rId102" Type="http://schemas.openxmlformats.org/officeDocument/2006/relationships/slide" Target="slides/slide12.xml"/><Relationship Id="rId103" Type="http://schemas.openxmlformats.org/officeDocument/2006/relationships/slide" Target="slides/slide13.xml"/><Relationship Id="rId104" Type="http://schemas.openxmlformats.org/officeDocument/2006/relationships/slide" Target="slides/slide19.xml"/><Relationship Id="rId105" Type="http://schemas.openxmlformats.org/officeDocument/2006/relationships/slide" Target="slides/slide20.xml"/><Relationship Id="rId106" Type="http://schemas.openxmlformats.org/officeDocument/2006/relationships/slide" Target="slides/slide21.xml"/><Relationship Id="rId107"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4.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scripts/gan_level_figure.py" TargetMode="External"/><Relationship Id="rId6" Type="http://schemas.openxmlformats.org/officeDocument/2006/relationships/hyperlink" Target="https://github.com/Amritha902/gan-driver/blob/main/results/waveform_anatomy.tx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sim/buck.cir"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hyperlink" Target="https://github.com/Amritha902/gan-driver/blob/main/kicad/gan_segdrv.kicad_sch"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hyperlink" Target="https://github.com/Amritha902/gan-driver/blob/main/kicad/gan_zhangdrv.kicad_sch"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hyperlink" Target="https://github.com/Amritha902/gan-driver/blob/main/models/segdrv.lib"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7.png"/><Relationship Id="rId5" Type="http://schemas.openxmlformats.org/officeDocument/2006/relationships/hyperlink" Target="https://github.com/Amritha902/gan-driver/blob/main/models/egan.lib" TargetMode="External"/><Relationship Id="rId6" Type="http://schemas.openxmlformats.org/officeDocument/2006/relationships/hyperlink" Target="https://github.com/Amritha902/gan-driver/blob/main/scripts/silicon_check.py" TargetMode="External"/><Relationship Id="rId7" Type="http://schemas.openxmlformats.org/officeDocument/2006/relationships/hyperlink" Target="https://github.com/Amritha902/gan-driver/blob/main/models/egan_c.lib"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8.png"/><Relationship Id="rId5" Type="http://schemas.openxmlformats.org/officeDocument/2006/relationships/hyperlink" Target="https://github.com/Amritha902/gan-driver/blob/main/scripts/metric_converge.py" TargetMode="External"/><Relationship Id="rId6" Type="http://schemas.openxmlformats.org/officeDocument/2006/relationships/hyperlink" Target="https://github.com/Amritha902/gan-driver/blob/main/scripts/verdict_stability.py" TargetMode="External"/><Relationship Id="rId7" Type="http://schemas.openxmlformats.org/officeDocument/2006/relationships/hyperlink" Target="https://github.com/Amritha902/gan-driver/blob/main/scripts/failed_runs.py" TargetMode="External"/><Relationship Id="rId8" Type="http://schemas.openxmlformats.org/officeDocument/2006/relationships/hyperlink" Target="https://github.com/Amritha902/gan-driver/blob/main/proof/LIVE-BUCK.sh"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45.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scripts/headtohead.p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6.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9.png"/><Relationship Id="rId5" Type="http://schemas.openxmlformats.org/officeDocument/2006/relationships/hyperlink" Target="https://github.com/Amritha902/gan-driver/blob/main/scripts/si_vs_gan.py" TargetMode="External"/><Relationship Id="rId6" Type="http://schemas.openxmlformats.org/officeDocument/2006/relationships/hyperlink" Target="https://github.com/Amritha902/gan-driver/blob/main/sim/buck.cir"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0.png"/><Relationship Id="rId5" Type="http://schemas.openxmlformats.org/officeDocument/2006/relationships/hyperlink" Target="https://github.com/Amritha902/gan-driver/blob/main/scripts/lloop_sweep.py"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1.png"/><Relationship Id="rId5" Type="http://schemas.openxmlformats.org/officeDocument/2006/relationships/hyperlink" Target="https://github.com/Amritha902/gan-driver/blob/main/results/buck_sweep.csv" TargetMode="External"/><Relationship Id="rId6" Type="http://schemas.openxmlformats.org/officeDocument/2006/relationships/hyperlink" Target="https://github.com/Amritha902/gan-driver/blob/main/results/panel_metrics.csv" TargetMode="External"/><Relationship Id="rId7" Type="http://schemas.openxmlformats.org/officeDocument/2006/relationships/hyperlink" Target="https://github.com/Amritha902/gan-driver/blob/main/results/headtohead.csv"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one - the one that must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1.4 V is enough to turn it on</a:t>
            </a:r>
            <a:r>
              <a:rPr lang="en-US" sz="1500" dirty="0">
                <a:solidFill>
                  <a:srgbClr val="000000"/>
                </a:solidFill>
                <a:latin typeface="Calibri" pitchFamily="34" charset="0"/>
                <a:ea typeface="Calibri" pitchFamily="34" charset="-122"/>
                <a:cs typeface="Calibri" pitchFamily="34" charset="-120"/>
              </a:rPr>
              <a:t xml:space="preserve">. Both conduct, and the supply shorts through them.</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chargers. GaN is chosen because it switches fast - and that speed is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Drive in steps, clamp the off gate, adjust the dead time,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Those gains are reported as one number.</a:t>
            </a:r>
            <a:r>
              <a:rPr lang="en-US" sz="1500" dirty="0">
                <a:solidFill>
                  <a:srgbClr val="000000"/>
                </a:solidFill>
                <a:latin typeface="Calibri" pitchFamily="34" charset="0"/>
                <a:ea typeface="Calibri" pitchFamily="34" charset="-122"/>
                <a:cs typeface="Calibri" pitchFamily="34" charset="-120"/>
              </a:rPr>
              <a:t xml:space="preserve"> They mix picking one good setting with changing it while the converter runs. Only the second needs a sensor, a lookup table and a controller - so nobody knows whether that hardware is worth building.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Approach</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How much benefit does runtime adaptation add beyond a fixed gate-driver setting, and under what conditions is that benefit worth the hardware?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adjustable dead time, a Miller clamp and a −2 V off rail - every one a setting we can change and measure.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in, 48.50 V out at 4.869 A: 236.26 W, 97.49 % efficient.</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off gate reaches 1.65 V against a 1.4 V threshold.</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each measured on its own run.</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seeing whether the best setting moves with the operating point.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Tools:</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ngspice</a:t>
            </a:r>
            <a:r>
              <a:rPr lang="en-US" sz="1500" dirty="0">
                <a:solidFill>
                  <a:srgbClr val="000000"/>
                </a:solidFill>
                <a:latin typeface="Calibri" pitchFamily="34" charset="0"/>
                <a:ea typeface="Calibri" pitchFamily="34" charset="-122"/>
                <a:cs typeface="Calibri" pitchFamily="34" charset="-120"/>
              </a:rPr>
              <a:t xml:space="preserve"> runs every simulation. </a:t>
            </a:r>
            <a:r>
              <a:rPr lang="en-US" sz="1500" b="1" dirty="0">
                <a:solidFill>
                  <a:srgbClr val="000000"/>
                </a:solidFill>
                <a:latin typeface="Calibri" pitchFamily="34" charset="0"/>
                <a:ea typeface="Calibri" pitchFamily="34" charset="-122"/>
                <a:cs typeface="Calibri" pitchFamily="34" charset="-120"/>
              </a:rPr>
              <a:t xml:space="preserve">KiCad</a:t>
            </a:r>
            <a:r>
              <a:rPr lang="en-US" sz="1500" dirty="0">
                <a:solidFill>
                  <a:srgbClr val="000000"/>
                </a:solidFill>
                <a:latin typeface="Calibri" pitchFamily="34" charset="0"/>
                <a:ea typeface="Calibri" pitchFamily="34" charset="-122"/>
                <a:cs typeface="Calibri" pitchFamily="34" charset="-120"/>
              </a:rPr>
              <a:t xml:space="preserve"> draws every schematic, from the same netlist ngspice runs.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4077464"/>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Three Added Blocks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our implementation of theirs. The last row is what those three deliver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Mechanism at Device Level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Why a fast edge turns on the device that should be off, and what the driver does about it.</a:t>
            </a:r>
          </a:p>
        </p:txBody>
      </p:sp>
      <p:pic>
        <p:nvPicPr>
          <p:cNvPr id="6" name="Picture 5" descr="fig_gan_level.png"/>
          <p:cNvPicPr>
            <a:picLocks noChangeAspect="1"/>
          </p:cNvPicPr>
          <p:nvPr/>
        </p:nvPicPr>
        <p:blipFill>
          <a:blip r:embed="rId4"/>
          <a:stretch>
            <a:fillRect/>
          </a:stretch>
        </p:blipFill>
        <p:spPr>
          <a:xfrm>
            <a:off x="1363116" y="1417320"/>
            <a:ext cx="9465460" cy="3977639"/>
          </a:xfrm>
          <a:prstGeom prst="rect">
            <a:avLst/>
          </a:prstGeom>
        </p:spPr>
      </p:pic>
      <p:sp>
        <p:nvSpPr>
          <p:cNvPr id="7" name="TextBox 6"/>
          <p:cNvSpPr txBox="1"/>
          <p:nvPr/>
        </p:nvSpPr>
        <p:spPr>
          <a:xfrm>
            <a:off x="502920" y="5541264"/>
            <a:ext cx="10838382" cy="11155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Left: the half-bridge. When the low-side device turns on the switch node falls from 106 V, its 90–10 % edge taking 2.90 ns and peaking at 124 V/ns, and that dv/dt drives a current through C_GD into the high-side gate. Right: the three parallel paths that current sees at the gate node. The segment count sets how hard the gate is held; the Miller clamp adds a 0.5 ohm path of its own, timed to the other device's edge; the off rail sets where the gate starts from. The two additions are not one mechanism - the rail moves the starting point, the clamp shortens the lift - which is why they add rather than overlap. </a:t>
            </a:r>
            <a:r>
              <a:rPr lang="en-US" sz="1150" dirty="0">
                <a:solidFill>
                  <a:srgbClr val="000000"/>
                </a:solidFill>
                <a:latin typeface="Calibri" pitchFamily="34" charset="0"/>
                <a:ea typeface="Calibri" pitchFamily="34" charset="-122"/>
                <a:cs typeface="Calibri" pitchFamily="34" charset="-120"/>
                <a:hlinkClick r:id="rId5"/>
              </a:rPr>
              <a:t xml:space="preserve">scripts/gan_level_figure.py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results/waveform_anatomy.txt</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Converter Schematic</a:t>
            </a:r>
            <a:endParaRPr lang="en-US" sz="2800" dirty="0"/>
          </a:p>
        </p:txBody>
      </p:sp>
      <p:pic>
        <p:nvPicPr>
          <p:cNvPr id="5" name="Picture 4" descr="01-converter-schematic.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root sheet, plotted by KiCad 7.0.11. Drawn from </a:t>
            </a:r>
            <a:r>
              <a:rPr lang="en-US" sz="1150" dirty="0">
                <a:solidFill>
                  <a:srgbClr val="000000"/>
                </a:solidFill>
                <a:latin typeface="Calibri" pitchFamily="34" charset="0"/>
                <a:ea typeface="Calibri" pitchFamily="34" charset="-122"/>
                <a:cs typeface="Calibri" pitchFamily="34" charset="-120"/>
                <a:hlinkClick r:id="rId6"/>
              </a:rPr>
              <a:t xml:space="preserve">sim/buck.cir</a:t>
            </a:r>
            <a:r>
              <a:rPr lang="en-US" sz="1150" dirty="0">
                <a:solidFill>
                  <a:srgbClr val="000000"/>
                </a:solidFill>
                <a:latin typeface="Calibri" pitchFamily="34" charset="0"/>
                <a:ea typeface="Calibri" pitchFamily="34" charset="-122"/>
                <a:cs typeface="Calibri" pitchFamily="34" charset="-120"/>
              </a:rPr>
              <a:t xml:space="preserve">, so every value on it is the netlist's. The two gate drivers are hierarchical sub-sheets of this page.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Proposed Gate Driver</a:t>
            </a:r>
            <a:endParaRPr lang="en-US" sz="2800" dirty="0"/>
          </a:p>
        </p:txBody>
      </p:sp>
      <p:pic>
        <p:nvPicPr>
          <p:cNvPr id="5" name="Picture 4" descr="04-driver-proposed.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Eight pull-up segments, eight pull-down, the active Miller clamp on the right, and the off rail selectable to −2 V. Each segment is one switch and one resistor; the resistor carries the control word.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Base Paper Gate Driver</a:t>
            </a:r>
            <a:endParaRPr lang="en-US" sz="2800" dirty="0"/>
          </a:p>
        </p:txBody>
      </p:sp>
      <p:pic>
        <p:nvPicPr>
          <p:cNvPr id="5" name="Picture 4" descr="05-driver-base-paper.png"/>
          <p:cNvPicPr>
            <a:picLocks noChangeAspect="1"/>
          </p:cNvPicPr>
          <p:nvPr/>
        </p:nvPicPr>
        <p:blipFill>
          <a:blip r:embed="rId4"/>
          <a:stretch>
            <a:fillRect/>
          </a:stretch>
        </p:blipFill>
        <p:spPr>
          <a:xfrm>
            <a:off x="2461147" y="914400"/>
            <a:ext cx="7269399"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reimplemented in the same testbench. Seven segments per bank in two stages, one bias resistor, no clamp branch, and the off rail tied to reference.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SPICE 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 the output stage varied throughout the study.</a:t>
            </a:r>
          </a:p>
        </p:txBody>
      </p:sp>
      <p:pic>
        <p:nvPicPr>
          <p:cNvPr id="6" name="Picture 5" descr="fig_code_segdrv.png"/>
          <p:cNvPicPr>
            <a:picLocks noChangeAspect="1"/>
          </p:cNvPicPr>
          <p:nvPr/>
        </p:nvPicPr>
        <p:blipFill>
          <a:blip r:embed="rId4"/>
          <a:stretch>
            <a:fillRect/>
          </a:stretch>
        </p:blipFill>
        <p:spPr>
          <a:xfrm>
            <a:off x="1048556" y="1481328"/>
            <a:ext cx="10094581" cy="3017520"/>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Eight pull-up segments and eight pull-down, each a switch and a resistor. A segment is in circuit when the control word reaches it and 1 GΩ out of it when it does not, which is how 4 + 4 bits from the FPGA become a drive strength. The clamp is not one of the segments: it has its own switch, its own timing and its own 0.5 Ω path to the off rail, because it has to hold the gate down while the other device switches. The segments are discrete by design: a single variable resistor would simulate identically and could not be laid out.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Methodology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CHANGES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V_th, same R_ds(on), same C_gs</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R_ds(on)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ENVIRONMENT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Model Validation: Three Device Models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same three configurations, run on three independent device models.</a:t>
            </a:r>
          </a:p>
        </p:txBody>
      </p:sp>
      <p:pic>
        <p:nvPicPr>
          <p:cNvPr id="6" name="Picture 5" descr="fig_model_table.png"/>
          <p:cNvPicPr>
            <a:picLocks noChangeAspect="1"/>
          </p:cNvPicPr>
          <p:nvPr/>
        </p:nvPicPr>
        <p:blipFill>
          <a:blip r:embed="rId4"/>
          <a:stretch>
            <a:fillRect/>
          </a:stretch>
        </p:blipFill>
        <p:spPr>
          <a:xfrm>
            <a:off x="1033332" y="1417320"/>
            <a:ext cx="10125027" cy="3749039"/>
          </a:xfrm>
          <a:prstGeom prst="rect">
            <a:avLst/>
          </a:prstGeom>
        </p:spPr>
      </p:pic>
      <p:sp>
        <p:nvSpPr>
          <p:cNvPr id="7" name="TextBox 6"/>
          <p:cNvSpPr txBox="1"/>
          <p:nvPr/>
        </p:nvSpPr>
        <p:spPr>
          <a:xfrm>
            <a:off x="502920" y="5303520"/>
            <a:ext cx="10838382" cy="129844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models/egan.lib</a:t>
            </a:r>
            <a:r>
              <a:rPr lang="en-US" sz="1150" dirty="0">
                <a:solidFill>
                  <a:srgbClr val="000000"/>
                </a:solidFill>
                <a:latin typeface="Calibri" pitchFamily="34" charset="0"/>
                <a:ea typeface="Calibri" pitchFamily="34" charset="-122"/>
                <a:cs typeface="Calibri" pitchFamily="34" charset="-120"/>
              </a:rPr>
              <a:t xml:space="preserve"> is behavioural with diode junction capacitances; </a:t>
            </a:r>
            <a:r>
              <a:rPr lang="en-US" sz="1150" dirty="0">
                <a:solidFill>
                  <a:srgbClr val="000000"/>
                </a:solidFill>
                <a:latin typeface="Calibri" pitchFamily="34" charset="0"/>
                <a:ea typeface="Calibri" pitchFamily="34" charset="-122"/>
                <a:cs typeface="Calibri" pitchFamily="34" charset="-120"/>
                <a:hlinkClick r:id="rId6"/>
              </a:rPr>
              <a:t xml:space="preserve">scripts/silicon_check.py</a:t>
            </a:r>
            <a:r>
              <a:rPr lang="en-US" sz="1150" dirty="0">
                <a:solidFill>
                  <a:srgbClr val="000000"/>
                </a:solidFill>
                <a:latin typeface="Calibri" pitchFamily="34" charset="0"/>
                <a:ea typeface="Calibri" pitchFamily="34" charset="-122"/>
                <a:cs typeface="Calibri" pitchFamily="34" charset="-120"/>
              </a:rPr>
              <a:t xml:space="preserve"> runs real SKY130 transistors; </a:t>
            </a:r>
            <a:r>
              <a:rPr lang="en-US" sz="1150" dirty="0">
                <a:solidFill>
                  <a:srgbClr val="000000"/>
                </a:solidFill>
                <a:latin typeface="Calibri" pitchFamily="34" charset="0"/>
                <a:ea typeface="Calibri" pitchFamily="34" charset="-122"/>
                <a:cs typeface="Calibri" pitchFamily="34" charset="-120"/>
                <a:hlinkClick r:id="rId7"/>
              </a:rPr>
              <a:t xml:space="preserve">models/egan_c.lib</a:t>
            </a:r>
            <a:r>
              <a:rPr lang="en-US" sz="1150" dirty="0">
                <a:solidFill>
                  <a:srgbClr val="000000"/>
                </a:solidFill>
                <a:latin typeface="Calibri" pitchFamily="34" charset="0"/>
                <a:ea typeface="Calibri" pitchFamily="34" charset="-122"/>
                <a:cs typeface="Calibri" pitchFamily="34" charset="-120"/>
              </a:rPr>
              <a:t xml:space="preserve"> replaces the diodes with a charge-based C(V). The sign of the no-clamp margin depends on the model: on the charge-based model the OFF gate reaches only +0.115 V of margin, meaning it never crosses threshold and the fault does not occur, against −0.249 V behaviourally and −0.563 V on SKY130. What every model agrees on is the ordering of the three configurations, and that the shipped configuration is safe on all of them by +2.032 to +2.710 V. The claim this project makes is the second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Numerical Reliability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Whether these numbers are physics or solver settings, and every run accounted for.</a:t>
            </a:r>
          </a:p>
        </p:txBody>
      </p:sp>
      <p:pic>
        <p:nvPicPr>
          <p:cNvPr id="6" name="Picture 5" descr="fig_convergence.png"/>
          <p:cNvPicPr>
            <a:picLocks noChangeAspect="1"/>
          </p:cNvPicPr>
          <p:nvPr/>
        </p:nvPicPr>
        <p:blipFill>
          <a:blip r:embed="rId4"/>
          <a:stretch>
            <a:fillRect/>
          </a:stretch>
        </p:blipFill>
        <p:spPr>
          <a:xfrm>
            <a:off x="733799" y="1389888"/>
            <a:ext cx="10724096" cy="3794760"/>
          </a:xfrm>
          <a:prstGeom prst="rect">
            <a:avLst/>
          </a:prstGeom>
        </p:spPr>
      </p:pic>
      <p:sp>
        <p:nvSpPr>
          <p:cNvPr id="7" name="TextBox 6"/>
          <p:cNvSpPr txBox="1"/>
          <p:nvPr/>
        </p:nvSpPr>
        <p:spPr>
          <a:xfrm>
            <a:off x="502920" y="5303520"/>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hlinkClick r:id="rId5"/>
              </a:rPr>
              <a:t xml:space="preserve">scripts/metric_converge.py</a:t>
            </a:r>
            <a:r>
              <a:rPr lang="en-US" sz="1150" dirty="0">
                <a:solidFill>
                  <a:srgbClr val="000000"/>
                </a:solidFill>
                <a:latin typeface="Calibri" pitchFamily="34" charset="0"/>
                <a:ea typeface="Calibri" pitchFamily="34" charset="-122"/>
                <a:cs typeface="Calibri" pitchFamily="34" charset="-120"/>
              </a:rPr>
              <a:t xml:space="preserve"> re-runs one word at five timesteps spanning 25×. The crosstalk margin the result rests on moves 0.14 % over that range and the spurious gate peak 0.04 %; </a:t>
            </a:r>
            <a:r>
              <a:rPr lang="en-US" sz="1150" dirty="0">
                <a:solidFill>
                  <a:srgbClr val="000000"/>
                </a:solidFill>
                <a:latin typeface="Calibri" pitchFamily="34" charset="0"/>
                <a:ea typeface="Calibri" pitchFamily="34" charset="-122"/>
                <a:cs typeface="Calibri" pitchFamily="34" charset="-120"/>
                <a:hlinkClick r:id="rId6"/>
              </a:rPr>
              <a:t xml:space="preserve">scripts/verdict_stability.py</a:t>
            </a:r>
            <a:r>
              <a:rPr lang="en-US" sz="1150" dirty="0">
                <a:solidFill>
                  <a:srgbClr val="000000"/>
                </a:solidFill>
                <a:latin typeface="Calibri" pitchFamily="34" charset="0"/>
                <a:ea typeface="Calibri" pitchFamily="34" charset="-122"/>
                <a:cs typeface="Calibri" pitchFamily="34" charset="-120"/>
              </a:rPr>
              <a:t xml:space="preserve"> flips 0 of 80 feasibility verdicts. Separately, the 36-corner grid is 25,911 completed runs of 25,920. </a:t>
            </a:r>
            <a:r>
              <a:rPr lang="en-US" sz="1150" dirty="0">
                <a:solidFill>
                  <a:srgbClr val="000000"/>
                </a:solidFill>
                <a:latin typeface="Calibri" pitchFamily="34" charset="0"/>
                <a:ea typeface="Calibri" pitchFamily="34" charset="-122"/>
                <a:cs typeface="Calibri" pitchFamily="34" charset="-120"/>
                <a:hlinkClick r:id="rId7"/>
              </a:rPr>
              <a:t xml:space="preserve">scripts/failed_runs.py</a:t>
            </a:r>
            <a:r>
              <a:rPr lang="en-US" sz="1150" dirty="0">
                <a:solidFill>
                  <a:srgbClr val="000000"/>
                </a:solidFill>
                <a:latin typeface="Calibri" pitchFamily="34" charset="0"/>
                <a:ea typeface="Calibri" pitchFamily="34" charset="-122"/>
                <a:cs typeface="Calibri" pitchFamily="34" charset="-120"/>
              </a:rPr>
              <a:t xml:space="preserve"> re-runs the nine that are not there: all nine fail again, so they are reproducible rather than flaky, all nine abort with the same ngspice transient convergence failure at the high-side gate node, and all nine are half-fixed settings - clamp without the rail, or rail without the clamp. None is the shipped configuration. One figure appears twice at different resolutions and the deck quotes the finer: switch-node overshoot is 17.9 % at the 0.02 ns step this deck reports, against 15.1 % at the sweep's 0.2 ns step, which is what </a:t>
            </a:r>
            <a:r>
              <a:rPr lang="en-US" sz="1150" dirty="0">
                <a:solidFill>
                  <a:srgbClr val="000000"/>
                </a:solidFill>
                <a:latin typeface="Calibri" pitchFamily="34" charset="0"/>
                <a:ea typeface="Calibri" pitchFamily="34" charset="-122"/>
                <a:cs typeface="Calibri" pitchFamily="34" charset="-120"/>
                <a:hlinkClick r:id="rId8"/>
              </a:rPr>
              <a:t xml:space="preserve">proof/LIVE-BUCK.sh</a:t>
            </a:r>
            <a:r>
              <a:rPr lang="en-US" sz="1150" dirty="0">
                <a:solidFill>
                  <a:srgbClr val="000000"/>
                </a:solidFill>
                <a:latin typeface="Calibri" pitchFamily="34" charset="0"/>
                <a:ea typeface="Calibri" pitchFamily="34" charset="-122"/>
                <a:cs typeface="Calibri" pitchFamily="34" charset="-120"/>
              </a:rPr>
              <a:t xml:space="preserve"> prints and says.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segments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Their circuit, ngspice running it, the waveform. OFF gate peaks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9"/>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best for their driver here.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segments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The same sequence, our driver. Gate peaks −1.176 V - 2.576 V of margin, 6.3× our implementation of their scheme. One fixed control word. Axes identical to the previous slide.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Live Simulation</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Fault and Mitigation</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its 90–10 % edge taking 2.90 ns and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Comparison with the Base Paper</a:t>
            </a:r>
            <a:endParaRPr lang="en-US" sz="2800" dirty="0"/>
          </a:p>
        </p:txBody>
      </p:sp>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Only the driver changes. Ours holds one fixed word at every corner; theirs is re-optimised at each one - more freedom than their design has. At three of four corners that search returns their built setting, so those two columns match.</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+0.338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margin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at their best setting for each. Ours goes +2.757 → +2.251 V.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edge is faster, not slower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it costs.  </a:t>
            </a:r>
            <a:r>
              <a:rPr lang="en-US" sz="1250" dirty="0">
                <a:solidFill>
                  <a:srgbClr val="000000"/>
                </a:solidFill>
                <a:latin typeface="Calibri" pitchFamily="34" charset="0"/>
                <a:ea typeface="Calibri" pitchFamily="34" charset="-122"/>
                <a:cs typeface="Calibri" pitchFamily="34" charset="-120"/>
              </a:rPr>
              <a:t xml:space="preserve">Turn-on energy higher at 3 of 4 corners. Their driver: one bias resistor. Ours: a clamp device, a negative supply, 20 LUTs.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we do not claim.  </a:t>
            </a:r>
            <a:r>
              <a:rPr lang="en-US" sz="1250" dirty="0">
                <a:solidFill>
                  <a:srgbClr val="000000"/>
                </a:solidFill>
                <a:latin typeface="Calibri" pitchFamily="34" charset="0"/>
                <a:ea typeface="Calibri" pitchFamily="34" charset="-122"/>
                <a:cs typeface="Calibri" pitchFamily="34" charset="-120"/>
              </a:rPr>
              <a:t xml:space="preserve">Their netlist is unpublished. Every ratio here is against our implementation of their scheme, not their measured result.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same converter, twice. Only the device changes.</a:t>
            </a:r>
          </a:p>
        </p:txBody>
      </p:sp>
      <p:pic>
        <p:nvPicPr>
          <p:cNvPr id="6" name="Picture 5" descr="fig_si_gan.png"/>
          <p:cNvPicPr>
            <a:picLocks noChangeAspect="1"/>
          </p:cNvPicPr>
          <p:nvPr/>
        </p:nvPicPr>
        <p:blipFill>
          <a:blip r:embed="rId4"/>
          <a:stretch>
            <a:fillRect/>
          </a:stretch>
        </p:blipFill>
        <p:spPr>
          <a:xfrm>
            <a:off x="1468447" y="1444752"/>
            <a:ext cx="9254800" cy="3246120"/>
          </a:xfrm>
          <a:prstGeom prst="rect">
            <a:avLst/>
          </a:prstGeom>
        </p:spPr>
      </p:pic>
      <p:sp>
        <p:nvSpPr>
          <p:cNvPr id="7" name="TextBox 6"/>
          <p:cNvSpPr txBox="1"/>
          <p:nvPr/>
        </p:nvSpPr>
        <p:spPr>
          <a:xfrm>
            <a:off x="502920" y="4864608"/>
            <a:ext cx="10838382" cy="16459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scripts/si_vs_gan.py</a:t>
            </a:r>
            <a:r>
              <a:rPr lang="en-US" sz="1150" dirty="0">
                <a:solidFill>
                  <a:srgbClr val="000000"/>
                </a:solidFill>
                <a:latin typeface="Calibri" pitchFamily="34" charset="0"/>
                <a:ea typeface="Calibri" pitchFamily="34" charset="-122"/>
                <a:cs typeface="Calibri" pitchFamily="34" charset="-120"/>
              </a:rPr>
              <a:t xml:space="preserve"> on </a:t>
            </a:r>
            <a:r>
              <a:rPr lang="en-US" sz="1150" dirty="0">
                <a:solidFill>
                  <a:srgbClr val="000000"/>
                </a:solidFill>
                <a:latin typeface="Calibri" pitchFamily="34" charset="0"/>
                <a:ea typeface="Calibri" pitchFamily="34" charset="-122"/>
                <a:cs typeface="Calibri" pitchFamily="34" charset="-120"/>
                <a:hlinkClick r:id="rId6"/>
              </a:rPr>
              <a:t xml:space="preserve">sim/buck.cir</a:t>
            </a:r>
            <a:r>
              <a:rPr lang="en-US" sz="1150" dirty="0">
                <a:solidFill>
                  <a:srgbClr val="000000"/>
                </a:solidFill>
                <a:latin typeface="Calibri" pitchFamily="34" charset="0"/>
                <a:ea typeface="Calibri" pitchFamily="34" charset="-122"/>
                <a:cs typeface="Calibri" pitchFamily="34" charset="-120"/>
              </a:rPr>
              <a:t xml:space="preserve">. 100 V to 50 V, 500 kHz, 10 ohm. The silicon device is matched to the GaN part on R_ds(on), 24.0 against 25.0 m-ohm, so conduction loss is equal by construction and the difference is switching, gate drive and reverse recovery: 6.22 W wasted against 12.63 W, and 97.42 % efficiency against 95.06 %. One caveat: the two do not deliver identical output power, because GaN has no body diode and its third-quadrant drop in dead time is larger than a silicon body-diode drop - which is the same mechanism that makes our −2 V rail cost turn-on energy. Loss per watt delivered normalises for it: 2.65 % against 5.19 %.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When Runtime Adaptation Is Worth Building</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headline is conditional, and this is the condition.</a:t>
            </a:r>
          </a:p>
        </p:txBody>
      </p:sp>
      <p:pic>
        <p:nvPicPr>
          <p:cNvPr id="6" name="Picture 5" descr="fig_lloop_ceiling.png"/>
          <p:cNvPicPr>
            <a:picLocks noChangeAspect="1"/>
          </p:cNvPicPr>
          <p:nvPr/>
        </p:nvPicPr>
        <p:blipFill>
          <a:blip r:embed="rId4"/>
          <a:stretch>
            <a:fillRect/>
          </a:stretch>
        </p:blipFill>
        <p:spPr>
          <a:xfrm>
            <a:off x="2674004" y="1389888"/>
            <a:ext cx="6843685" cy="3749039"/>
          </a:xfrm>
          <a:prstGeom prst="rect">
            <a:avLst/>
          </a:prstGeom>
        </p:spPr>
      </p:pic>
      <p:sp>
        <p:nvSpPr>
          <p:cNvPr id="7" name="TextBox 6"/>
          <p:cNvSpPr txBox="1"/>
          <p:nvPr/>
        </p:nvSpPr>
        <p:spPr>
          <a:xfrm>
            <a:off x="502920" y="5212080"/>
            <a:ext cx="10838382" cy="1417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scripts/lloop_sweep.py</a:t>
            </a:r>
            <a:r>
              <a:rPr lang="en-US" sz="1150" dirty="0">
                <a:solidFill>
                  <a:srgbClr val="000000"/>
                </a:solidFill>
                <a:latin typeface="Calibri" pitchFamily="34" charset="0"/>
                <a:ea typeface="Calibri" pitchFamily="34" charset="-122"/>
                <a:cs typeface="Calibri" pitchFamily="34" charset="-120"/>
              </a:rPr>
              <a:t xml:space="preserve"> into lloop_analyse.py. The ceiling on per-corner scheduling is 13.5 % at 1.5 nH and 0.55 % at 4.5 nH, so the answer to "is adaptive gate control worth the sensor, the lookup table and the controller" is not a property of the driver: it is a property of the board the driver sits on. Below about 2.5 nH the answer is yes and above it the answer is no. The series is not monotonic in that band, which is why it is drawn as eight points rather than as a curve. Three different quantities must not be confused: this axis is the CEILING on scheduling over four corners, 5.95 % at our nominal 3.0 nH; over the full 36-corner grid that ceiling is 3.50 %; and what adapting per operating point actually returns there is 2.6 %. 3.0 nH is a nominal simulation condition, not a measured layout.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Cost of the Fix</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the crosstalk margin is paid for with.</a:t>
            </a:r>
          </a:p>
        </p:txBody>
      </p:sp>
      <p:pic>
        <p:nvPicPr>
          <p:cNvPr id="6" name="Picture 5" descr="fig_cost_table.png"/>
          <p:cNvPicPr>
            <a:picLocks noChangeAspect="1"/>
          </p:cNvPicPr>
          <p:nvPr/>
        </p:nvPicPr>
        <p:blipFill>
          <a:blip r:embed="rId4"/>
          <a:stretch>
            <a:fillRect/>
          </a:stretch>
        </p:blipFill>
        <p:spPr>
          <a:xfrm>
            <a:off x="426567" y="1417320"/>
            <a:ext cx="11338558" cy="2882376"/>
          </a:xfrm>
          <a:prstGeom prst="rect">
            <a:avLst/>
          </a:prstGeom>
        </p:spPr>
      </p:pic>
      <p:sp>
        <p:nvSpPr>
          <p:cNvPr id="7" name="TextBox 6"/>
          <p:cNvSpPr txBox="1"/>
          <p:nvPr/>
        </p:nvSpPr>
        <p:spPr>
          <a:xfrm>
            <a:off x="502920" y="5193792"/>
            <a:ext cx="10838382" cy="135331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dirty="0">
                <a:solidFill>
                  <a:srgbClr val="000000"/>
                </a:solidFill>
                <a:latin typeface="Calibri" pitchFamily="34" charset="0"/>
                <a:ea typeface="Calibri" pitchFamily="34" charset="-122"/>
                <a:cs typeface="Calibri" pitchFamily="34" charset="-120"/>
              </a:rPr>
              <a:t xml:space="preserve">Simulated in ngspice, from </a:t>
            </a:r>
            <a:r>
              <a:rPr lang="en-US" sz="1150" dirty="0">
                <a:solidFill>
                  <a:srgbClr val="000000"/>
                </a:solidFill>
                <a:latin typeface="Calibri" pitchFamily="34" charset="0"/>
                <a:ea typeface="Calibri" pitchFamily="34" charset="-122"/>
                <a:cs typeface="Calibri" pitchFamily="34" charset="-120"/>
                <a:hlinkClick r:id="rId5"/>
              </a:rPr>
              <a:t xml:space="preserve">results/buck_sweep.csv</a:t>
            </a:r>
            <a:r>
              <a:rPr lang="en-US" sz="1150" dirty="0">
                <a:solidFill>
                  <a:srgbClr val="000000"/>
                </a:solidFill>
                <a:latin typeface="Calibri" pitchFamily="34" charset="0"/>
                <a:ea typeface="Calibri" pitchFamily="34" charset="-122"/>
                <a:cs typeface="Calibri" pitchFamily="34" charset="-120"/>
              </a:rPr>
              <a:t xml:space="preserve">,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 and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The fix buys +2.825 V of gate margin, and it is bought with 0.24 points of converter efficiency, 0.570 W of loss and 12 V of extra switch-node peak. About 0.22 W of that loss is third-quadrant conduction: GaN has no body diode, so during dead time the device conducts in reverse at V_th + |V_off| + I·R_ds(on), and a deeper off rail makes that drop larger. At 118 V on a 200 V-rated device the stress is 59 % of rating, so it is a real cost but not the binding constraint at this bus.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Conclusions</a:t>
            </a:r>
            <a:endParaRPr lang="en-US" sz="2800" dirty="0"/>
          </a:p>
        </p:txBody>
      </p:sp>
      <p:sp>
        <p:nvSpPr>
          <p:cNvPr id="5" name="TextBox 4"/>
          <p:cNvSpPr txBox="1"/>
          <p:nvPr/>
        </p:nvSpPr>
        <p:spPr>
          <a:xfrm>
            <a:off x="640080" y="960120"/>
            <a:ext cx="11064240" cy="4846320"/>
          </a:xfrm>
          <a:prstGeom prst="rect">
            <a:avLst/>
          </a:prstGeom>
          <a:noFill/>
        </p:spPr>
        <p:txBody>
          <a:bodyPr wrap="square" lIns="0" tIns="0" rIns="0" bIns="0">
            <a:spAutoFit/>
          </a:bodyPr>
          <a:lstStyle/>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1.  Gate robustness.  </a:t>
            </a:r>
            <a:r>
              <a:rPr lang="en-US" sz="1300" dirty="0">
                <a:solidFill>
                  <a:srgbClr val="000000"/>
                </a:solidFill>
                <a:latin typeface="Calibri" pitchFamily="34" charset="0"/>
                <a:ea typeface="Calibri" pitchFamily="34" charset="-122"/>
                <a:cs typeface="Calibri" pitchFamily="34" charset="-120"/>
              </a:rPr>
              <a:t xml:space="preserve">An always-on Miller clamp with a −2 V off rail raises the simulated off-state gate margin on all three device models tried, from −0.249 V to +2.576 V on the behavioural model and to between +2.0 and +2.7 V on the other two.</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2.  Adaptation.  </a:t>
            </a:r>
            <a:r>
              <a:rPr lang="en-US" sz="1300" dirty="0">
                <a:solidFill>
                  <a:srgbClr val="000000"/>
                </a:solidFill>
                <a:latin typeface="Calibri" pitchFamily="34" charset="0"/>
                <a:ea typeface="Calibri" pitchFamily="34" charset="-122"/>
                <a:cs typeface="Calibri" pitchFamily="34" charset="-120"/>
              </a:rPr>
              <a:t xml:space="preserve">Choosing one good fixed control word is worth 26.5 % of the baseline. Re-tuning it while the converter runs adds 2.6 % more - 8.9 % of the total gain - at our nominal 3 nH power loop.</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3.  That answer is conditional.  </a:t>
            </a:r>
            <a:r>
              <a:rPr lang="en-US" sz="1300" dirty="0">
                <a:solidFill>
                  <a:srgbClr val="000000"/>
                </a:solidFill>
                <a:latin typeface="Calibri" pitchFamily="34" charset="0"/>
                <a:ea typeface="Calibri" pitchFamily="34" charset="-122"/>
                <a:cs typeface="Calibri" pitchFamily="34" charset="-120"/>
              </a:rPr>
              <a:t xml:space="preserve">The ceiling on scheduling runs from 13.5 % at 1.5 nH to 0.55 % at 4.5 nH. Whether adaptive gate control earns its hardware is decided by board layout, not by the driver.</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4.  It is a trade.  </a:t>
            </a:r>
            <a:r>
              <a:rPr lang="en-US" sz="1300" dirty="0">
                <a:solidFill>
                  <a:srgbClr val="000000"/>
                </a:solidFill>
                <a:latin typeface="Calibri" pitchFamily="34" charset="0"/>
                <a:ea typeface="Calibri" pitchFamily="34" charset="-122"/>
                <a:cs typeface="Calibri" pitchFamily="34" charset="-120"/>
              </a:rPr>
              <a:t xml:space="preserve">The margin costs 0.24 efficiency points, 0.570 W and 12 V of switch-node stress, and raises turn-on energy at three of four corners.</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5.  Status.  </a:t>
            </a:r>
            <a:r>
              <a:rPr lang="en-US" sz="1300" dirty="0">
                <a:solidFill>
                  <a:srgbClr val="000000"/>
                </a:solidFill>
                <a:latin typeface="Calibri" pitchFamily="34" charset="0"/>
                <a:ea typeface="Calibri" pitchFamily="34" charset="-122"/>
                <a:cs typeface="Calibri" pitchFamily="34" charset="-120"/>
              </a:rPr>
              <a:t xml:space="preserve">Simulation only. No hardware built. The comparison is against our own implementation of the published baseline, because the authors' netlist is not published.</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6.  What would change this.  </a:t>
            </a:r>
            <a:r>
              <a:rPr lang="en-US" sz="1300" dirty="0">
                <a:solidFill>
                  <a:srgbClr val="000000"/>
                </a:solidFill>
                <a:latin typeface="Calibri" pitchFamily="34" charset="0"/>
                <a:ea typeface="Calibri" pitchFamily="34" charset="-122"/>
                <a:cs typeface="Calibri" pitchFamily="34" charset="-120"/>
              </a:rPr>
              <a:t xml:space="preserve">A measured gate waveform that does not match the simulated one, or an extracted loop inductance below 2.5 nH - which we have not measured, and which would invert conclusion 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Next Steps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remains is bench work, not further simulation.</a:t>
            </a:r>
          </a:p>
        </p:txBody>
      </p:sp>
      <p:sp>
        <p:nvSpPr>
          <p:cNvPr id="6" name="TextBox 5"/>
          <p:cNvSpPr txBox="1"/>
          <p:nvPr/>
        </p:nvSpPr>
        <p:spPr>
          <a:xfrm>
            <a:off x="640080" y="1600200"/>
            <a:ext cx="11064240" cy="4480560"/>
          </a:xfrm>
          <a:prstGeom prst="rect">
            <a:avLst/>
          </a:prstGeom>
          <a:noFill/>
        </p:spPr>
        <p:txBody>
          <a:bodyPr wrap="square" lIns="0" tIns="0" rIns="0" bIns="0">
            <a:spAutoFit/>
          </a:bodyPr>
          <a:lstStyle/>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Place-and-route on a chosen board. </a:t>
            </a:r>
            <a:r>
              <a:rPr lang="en-US" sz="15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A hardware half-bridge, measured. </a:t>
            </a:r>
            <a:r>
              <a:rPr lang="en-US" sz="1500" dirty="0">
                <a:solidFill>
                  <a:srgbClr val="000000"/>
                </a:solidFill>
                <a:latin typeface="Calibri" pitchFamily="34" charset="0"/>
                <a:ea typeface="Calibri" pitchFamily="34" charset="-122"/>
                <a:cs typeface="Calibri" pitchFamily="34" charset="-120"/>
              </a:rPr>
              <a:t xml:space="preserve">This is the whole of the remaining risk. Everything in this deck is a simulation of a converter that has never been built, and one behavioural GaN model underlies all of it.</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Additionally: transcribe the silicon MOSFET datasheet digits rather than using datasheet-class values, and re-run the ceiling on the transistor-level stage now that it is known to work.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Sanjay Kumar  23BEC1447     ·     Aamir Abdullah  23BPS1197     ·     Amritha S  23BEC1368</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