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3"/>
    <p:sldId id="259" r:id="rId5"/>
    <p:sldId id="267" r:id="rId18"/>
    <p:sldId id="323" r:id="rId66"/>
    <p:sldId id="328" r:id="rId71"/>
    <p:sldId id="282" r:id="rId33"/>
    <p:sldId id="317" r:id="rId60"/>
    <p:sldId id="261" r:id="rId7"/>
    <p:sldId id="274" r:id="rId25"/>
    <p:sldId id="280" r:id="rId31"/>
    <p:sldId id="278" r:id="rId29"/>
    <p:sldId id="308" r:id="rId51"/>
    <p:sldId id="297" r:id="rId40"/>
    <p:sldId id="315" r:id="rId58"/>
    <p:sldId id="327" r:id="rId70"/>
    <p:sldId id="307" r:id="rId50"/>
    <p:sldId id="309" r:id="rId52"/>
    <p:sldId id="310" r:id="rId53"/>
    <p:sldId id="273" r:id="rId24"/>
    <p:sldId id="325" r:id="rId68"/>
    <p:sldId id="326" r:id="rId69"/>
    <p:sldId id="336" r:id="rId79"/>
    <p:sldId id="337" r:id="rId80"/>
    <p:sldId id="338" r:id="rId81"/>
    <p:sldId id="340" r:id="rId83"/>
    <p:sldId id="324" r:id="rId67"/>
    <p:sldId id="329" r:id="rId72"/>
    <p:sldId id="339" r:id="rId82"/>
    <p:sldId id="321" r:id="rId64"/>
    <p:sldId id="320" r:id="rId63"/>
    <p:sldId id="322" r:id="rId65"/>
    <p:sldId id="318" r:id="rId61"/>
    <p:sldId id="344" r:id="rId87"/>
    <p:sldId id="262" r:id="rId8"/>
    <p:sldId id="265" r:id="rId11"/>
    <p:sldId id="316"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114" d="100"/>
          <a:sy n="114"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5.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0.xml"/><Relationship Id="rId8" Type="http://schemas.openxmlformats.org/officeDocument/2006/relationships/slide" Target="slides/slide15.xml"/><Relationship Id="rId9" Type="http://schemas.openxmlformats.org/officeDocument/2006/relationships/slide" Target="slides/slide22.xml"/><Relationship Id="rId10" Type="http://schemas.openxmlformats.org/officeDocument/2006/relationships/slide" Target="slides/slide27.xml"/><Relationship Id="rId11" Type="http://schemas.openxmlformats.org/officeDocument/2006/relationships/slide" Target="slides/slide30.xml"/><Relationship Id="rId12" Type="http://schemas.openxmlformats.org/officeDocument/2006/relationships/slide" Target="slides/slide3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33.xml"/><Relationship Id="rId20" Type="http://schemas.openxmlformats.org/officeDocument/2006/relationships/slide" Target="slides/slide28.xml"/><Relationship Id="rId21" Type="http://schemas.openxmlformats.org/officeDocument/2006/relationships/slide" Target="slides/slide21.xml"/><Relationship Id="rId22" Type="http://schemas.openxmlformats.org/officeDocument/2006/relationships/slide" Target="slides/slide29.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20.xml"/><Relationship Id="rId31" Type="http://schemas.openxmlformats.org/officeDocument/2006/relationships/slide" Target="slides/slide11.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8.xml"/><Relationship Id="rId37" Type="http://schemas.openxmlformats.org/officeDocument/2006/relationships/slide" Target="slides/slide4.xml"/><Relationship Id="rId38" Type="http://schemas.openxmlformats.org/officeDocument/2006/relationships/slide" Target="slides/slide9.xml"/><Relationship Id="rId39" Type="http://schemas.openxmlformats.org/officeDocument/2006/relationships/slide" Target="slides/slide19.xml"/><Relationship Id="rId40" Type="http://schemas.openxmlformats.org/officeDocument/2006/relationships/slide" Target="slides/slide34.xml"/><Relationship Id="rId41" Type="http://schemas.openxmlformats.org/officeDocument/2006/relationships/slide" Target="slides/slide31.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5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CORE. Project name and the one-line claim: a segmented GaN gate driver, and a measurement of what per-operating-point adaptation is actually worth.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SKIP. Template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  CORE — the 2-mark slide, the biggest block in the review. Land two things: the failure is real and specific (1.65 V on a 1.40 V threshold), and the gap is that prior work conflates 'better fixed settings' with 'settings that adapt'.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literature mark. Do not read the table. Eight references, three verified to page level; point at [3], layout sets loop inductance, which decides our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proposed-solution mark. The 720-point control word and the method: exhaustive search at every corner, so each per-corner optimum is a TRUE optimum and not the best of a shortlist.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50 %-completion requirement. Five claims, each with a number. If asked 'is this really 50 %?': the search is complete, stress-tested, and both objections to it - layout and EMI - have been tested rather than argued. What remains is silicon and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The problem reproduced and fixed. Point at the red X below the threshold line. Then: safety costs 0.04 % — nearly free once the clamp is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design chart, and the most USEFUL thing in the deck. Do NOT call it a single crossover: eight points show a BAND. Adaptive control pays from about 2.5 nH down, peaks at 13.5 % at 1.5 nH, then FALLS BACK to 8.1 % at 1.0 nH. Say why, because it is the interesting part: at 1.0 nH only 165 of 720 words are still safe, so the fixed word and the per-corner optima are squeezed into the same narrow region and the gap scheduling exploits shrinks. Below ~2 nH feasibility binds, not optimisation. We checked it is not the clamp-chatter artefact — excluding every chatter point leaves all eight ceilings unchanged to the digit. The literature does not state this trade-off because it never separates the fixed and adaptive halves.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Reference list.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 literature mark. Closest prior work. [8] adapts dead time, the one field we find worth scheduling — and it does so across a 0.2-2 A range, which is exactly the light-load corner our leave-one-out test shows carries all of that benefit. Independent support, not competition.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Walk the diagram left to right in one sentence, then stop on the dashed block: that is the sensing and lookup-table machinery the adaptive premise needs. The whole project is a measurement of what it buys. Let the picture do the work — do not narrate every box.</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the timeline and tools requirement. M1-M6. If asked what could go wrong: M1, the PDK — a 1.8 V / 3.3 V teaching PDK cannot take a 5 V rail.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[BACKUP]  BACKUP — the FPGA. If asked: written AND verified, eight asserted properties, then mutation-tested. Dead time gets a live register and drive strength is strapped, because that is what the study found.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3.5 %, on 36 corners. Say plainly this is a NEGATIVE result about the adaptive premise and you are reporting it rather than hiding it. Keep it short — slides 18 and 19 do the real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[45 s]  CORE — the novelty slide, and the one sentence the panel should leave with: 'a full sense-plus-ADC-plus-lookup-table is left justifying 4.7 % of the gain over a fixed word and ONE comparator.' Build it in three steps. (1) Choosing the fixed word well is worth 26.5 %. (2) Adapting per corner adds only 2.6 % — a eleventh of the total. (3) And 47 % of even THAT is capturable with a single comparator on bus voltage, not a lookup table; two comparators reach 61 %, which is the 3.4 % figure. No published work separates these, because separating them needs the exhaustive search rather than a shortlist. If asked why nobody found this: they report one number.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Play the video. Real captured ngspice output — the failure, the fix, the search. Let it run; do not talk over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[35 s]  CORE. Close on what the data supports and what it now answers. Do NOT concede EMI as a limitation any more - it was tested: pricing it makes scheduling worth LESS, 5.95 % down to 0.15 %. State the remaining limits yourself instead: the two EMI measures disagree about drive strength, and no silicon has been measured. Do NOT concede the single device model any more either - 24 devices were sampled with Vth, gm, Cgs and Cgd varied jointly, the shipped word stays safe on every one, and the ordering survives on every one.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use this the moment anyone asks what was actually simulated. Trace the red path with a finger: Q1 switches, the SW node moves, charge couples through C_GD into Q2's gate, and Q2 turns on when it should be off. Then point at the clamp and the off-bias mux — those are the two things that fix it. Do not read the component values 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3.xml"/><Relationship Id="rId6"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image" Target="../media/image1.png"/><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media" Target="../media/media3.mp4"/><Relationship Id="rId5" Type="http://schemas.openxmlformats.org/officeDocument/2006/relationships/video" Target="../media/media3.mp4"/><Relationship Id="rId6" Type="http://schemas.openxmlformats.org/officeDocument/2006/relationships/image" Target="../media/image44.png"/><Relationship Id="rId7" Type="http://schemas.openxmlformats.org/officeDocument/2006/relationships/image" Target="../media/image4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118872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GaN Based Synchronous Buck Converter with an Improved Gate Driver</a:t>
            </a:r>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617720" cy="384048"/>
          </a:xfrm>
          <a:prstGeom prst="rect">
            <a:avLst/>
          </a:prstGeom>
          <a:noFill/>
          <a:ln/>
        </p:spPr>
        <p:txBody>
          <a:bodyPr wrap="square" lIns="0" tIns="0" rIns="0" bIns="0" rtlCol="0" anchor="ctr"/>
          <a:lstStyle/>
          <a:p>
            <a:pPr marL="0" indent="0">
              <a:buNone/>
            </a:pPr>
            <a:r>
              <a:rPr lang="en-US" sz="950" dirty="0">
                <a:solidFill>
                  <a:srgbClr val="000000"/>
                </a:solidFill>
                <a:latin typeface="Calibri" pitchFamily="34" charset="0"/>
                <a:ea typeface="Calibri" pitchFamily="34" charset="-122"/>
                <a:cs typeface="Calibri" pitchFamily="34" charset="-120"/>
              </a:rPr>
              <a:t>Sanjay Kumar 23BEC1447  ·  Aamir Abdullah 23BPS1197  ·  Amritha S 23BEC1368</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Bindu  —  SENSE</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Review-II  ·  30.09.2026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Review-II — 30.09.2026 (5 Marks, 5%)</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Proposed Solution &amp; 50% Work Completion.</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10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Problem statement and background</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Literature survey — minimum 8–10 recent references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Existing solutions and their limitations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Proposed solution, scope and methodology</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50% work completed, timeline, tools &amp; technologies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Problem clarity &amp; relevance (2), Literature survey quality (1), Proposed solution feasibility (1), Presentation quality (1).</a:t>
            </a:r>
            <a:endParaRPr lang="en-US" sz="15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we are building — the converter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converter.png"/>
          <p:cNvPicPr>
            <a:picLocks noChangeAspect="1"/>
          </p:cNvPicPr>
          <p:nvPr/>
        </p:nvPicPr>
        <p:blipFill>
          <a:blip r:embed="rId4"/>
          <a:stretch>
            <a:fillRect/>
          </a:stretch>
        </p:blipFill>
        <p:spPr>
          <a:xfrm>
            <a:off x="1592779" y="1115568"/>
            <a:ext cx="9006137" cy="4434840"/>
          </a:xfrm>
          <a:prstGeom prst="rect">
            <a:avLst/>
          </a:prstGeom>
        </p:spPr>
      </p:pic>
      <p:sp>
        <p:nvSpPr>
          <p:cNvPr id="6" name="TextBox 5"/>
          <p:cNvSpPr txBox="1"/>
          <p:nvPr/>
        </p:nvSpPr>
        <p:spPr>
          <a:xfrm>
            <a:off x="502920" y="5623560"/>
            <a:ext cx="11201400"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a:t>
            </a:r>
            <a:r>
              <a:rPr lang="en-US" sz="1250" dirty="0">
                <a:solidFill>
                  <a:srgbClr val="000000"/>
                </a:solidFill>
                <a:latin typeface="Calibri" pitchFamily="34" charset="0"/>
                <a:ea typeface="Calibri" pitchFamily="34" charset="-122"/>
                <a:cs typeface="Calibri" pitchFamily="34" charset="-120"/>
              </a:rPr>
              <a:t>GaN synchronous buck converter. (a) output charging from zero and settling; (b) three switching cycles; (c) power in against power out. 100 V DC in, 48.50 V DC out at 4.869 A, 97.49 % 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01</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The problem</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real failure, and the question nobody has answered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Problem Statement &amp; Background</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Problem Statement:</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When one GaN transistor switches, its fast voltage swing pushes charge into the gate of the other transistor, the one that is supposed to stay off. That gate rises to </a:t>
            </a:r>
            <a:r>
              <a:rPr lang="en-US" sz="1500" b="1" dirty="0">
                <a:solidFill>
                  <a:srgbClr val="000000"/>
                </a:solidFill>
                <a:latin typeface="Calibri" pitchFamily="34" charset="0"/>
                <a:ea typeface="Calibri" pitchFamily="34" charset="-122"/>
                <a:cs typeface="Calibri" pitchFamily="34" charset="-120"/>
              </a:rPr>
              <a:t xml:space="preserve">1.65 V, and only 1.4 V is needed to turn it on</a:t>
            </a:r>
            <a:r>
              <a:rPr lang="en-US" sz="1500" dirty="0">
                <a:solidFill>
                  <a:srgbClr val="000000"/>
                </a:solidFill>
                <a:latin typeface="Calibri" pitchFamily="34" charset="0"/>
                <a:ea typeface="Calibri" pitchFamily="34" charset="-122"/>
                <a:cs typeface="Calibri" pitchFamily="34" charset="-120"/>
              </a:rPr>
              <a:t xml:space="preserve">. Both devices conduct at once and the supply shorts through them. (That 1.65 V is our device model’s; how much the result depends on the model is itself a finding, and it has its own slide.)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Background &amp; Significance:</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GaN half-bridges sit inside EV inverters and battery chargers. GaN is chosen because it switches fast, and that speed is exactly what causes this fault.</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Existing Solutions: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Gate drivers that turn the device on in steps, clamp the off gate down, adjust the gap between the two switching edges, and hold the gate at −2 V [1]–[4]. Reported: 30.5 % less overshoot, 75 % less turn-off loss [5]–[7].</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Limitations / Research Gap:</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Nobody has measured what the re-tuning is worth.</a:t>
            </a:r>
            <a:r>
              <a:rPr lang="en-US" sz="1500" dirty="0">
                <a:solidFill>
                  <a:srgbClr val="000000"/>
                </a:solidFill>
                <a:latin typeface="Calibri" pitchFamily="34" charset="0"/>
                <a:ea typeface="Calibri" pitchFamily="34" charset="-122"/>
                <a:cs typeface="Calibri" pitchFamily="34" charset="-120"/>
              </a:rPr>
              <a:t xml:space="preserve"> Those gains mix two different things: picking one good setting, and changing the setting while the converter runs. Only the second needs a sensor, a lookup table and a controller.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base paper we build on</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652760" cy="3657600"/>
        </p:xfrm>
        <a:graphic>
          <a:graphicData uri="http://schemas.openxmlformats.org/drawingml/2006/table">
            <a:tbl>
              <a:tblPr/>
              <a:tblGrid>
                <a:gridCol w="10972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6576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gridSpan="4">
                  <a:txBody>
                    <a:bodyPr wrap="square"/>
                    <a:lstStyle/>
                    <a:p>
                      <a:pPr marL="0" indent="0">
                        <a:buNone/>
                      </a:pPr>
                      <a:r>
                        <a:rPr sz="1050" b="1">
                          <a:solidFill>
                            <a:srgbClr val="000000"/>
                          </a:solidFill>
                          <a:latin typeface="Calibri"/>
                        </a:rPr>
                        <a:t>Zhang, Yu, Leng, Cui, Deng &amp; Ng (2020)  —  IEEE ISPSD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A segmented gate driver for E-mode GaN HEMTs: the output stage is split into slices, and drive strength is selected by a pattern rather than set by a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Same device, same architecture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GaN HEMTs in a bridge, a sliced output stage, strength chosen by a code. That is the structure this project starts from.</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How we extend 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Theirs is an ASIC with a fixed pattern set, chosen at design time. We make every field programmable from an FPGA — slices, dead time, Miller clamp, off-bias rail — add the clamp and the −2 V rail, and measure what choosing the pattern per operating point is worth.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 J. Zhang, J. Yu, Y. Leng, W. T. Cui, G. Q. Deng and W. T. Ng, </a:t>
            </a:r>
            <a:r>
              <a:rPr lang="en-US" sz="1150" b="1" dirty="0">
                <a:solidFill>
                  <a:srgbClr val="000000"/>
                </a:solidFill>
                <a:latin typeface="Calibri" pitchFamily="34" charset="0"/>
                <a:ea typeface="Calibri" pitchFamily="34" charset="-122"/>
                <a:cs typeface="Calibri" pitchFamily="34" charset="-120"/>
              </a:rPr>
              <a:t xml:space="preserve">“A Segmented Gate Driver for E-mode GaN HEMTs with Simple Driving Strength Pattern Control,”</a:t>
            </a:r>
            <a:r>
              <a:rPr lang="en-US" sz="1150" dirty="0">
                <a:solidFill>
                  <a:srgbClr val="000000"/>
                </a:solidFill>
                <a:latin typeface="Calibri" pitchFamily="34" charset="0"/>
                <a:ea typeface="Calibri" pitchFamily="34" charset="-122"/>
                <a:cs typeface="Calibri" pitchFamily="34" charset="-120"/>
              </a:rPr>
              <a:t xml:space="preserve"> in Proc. IEEE 32nd Int. Symp. Power Semicond. Devices ICs (ISPSD), 2020, pp. 102–105.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closest published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38728"/>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20040">
                <a:tc>
                  <a:txBody>
                    <a:bodyPr wrap="square"/>
                    <a:lstStyle/>
                    <a:p>
                      <a:pPr marL="0" indent="0">
                        <a:buNone/>
                      </a:pPr>
                      <a:r>
                        <a:rPr sz="950" b="1">
                          <a:solidFill>
                            <a:srgbClr val="000000"/>
                          </a:solidFill>
                          <a:latin typeface="Calibri"/>
                        </a:rPr>
                        <a:t>Ref</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Aim  —  what the paper sets out to do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Gap we found  →  what WE fill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804672">
                <a:tc>
                  <a:txBody>
                    <a:bodyPr wrap="square"/>
                    <a:lstStyle/>
                    <a:p>
                      <a:pPr marL="0" indent="0">
                        <a:buNone/>
                      </a:pPr>
                      <a:r>
                        <a:rPr sz="1050" b="1">
                          <a:solidFill>
                            <a:srgbClr val="000000"/>
                          </a:solidFill>
                          <a:latin typeface="Calibri"/>
                        </a:rPr>
                        <a:t>BASE</a:t>
                      </a:r>
                      <a:endParaRPr lang="en-US" sz="1300" dirty="0">
                        <a:latin typeface="Calibri" charset="0"/>
                        <a:ea typeface="Calibri" charset="0"/>
                        <a:cs typeface="Calibri" charset="0"/>
                      </a:endParaRPr>
                    </a:p>
                    <a:p>
                      <a:r>
                        <a:rPr sz="1050" b="1">
                          <a:solidFill>
                            <a:srgbClr val="000000"/>
                          </a:solidFill>
                          <a:latin typeface="Calibri"/>
                        </a:rPr>
                        <a:t>PAPER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Zhang, Yu, Leng, Cui, Deng &amp; Ng (2020)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Segmented Gate Driver for E-mode GaN HEMTs with Simple Driving Strength Pattern Control</a:t>
                      </a:r>
                      <a:endParaRPr lang="en-US" sz="1300" dirty="0">
                        <a:latin typeface="Calibri" charset="0"/>
                        <a:ea typeface="Calibri" charset="0"/>
                        <a:cs typeface="Calibri" charset="0"/>
                      </a:endParaRPr>
                    </a:p>
                    <a:p>
                      <a:r>
                        <a:rPr sz="900" b="1">
                          <a:solidFill>
                            <a:srgbClr val="000000"/>
                          </a:solidFill>
                          <a:latin typeface="Calibri"/>
                        </a:rPr>
                        <a:t>Proc. IEEE ISPSD, 2020, pp. 102–105</a:t>
                      </a:r>
                    </a:p>
                    <a:p>
                      <a:r>
                        <a:rPr sz="900" b="1">
                          <a:solidFill>
                            <a:srgbClr val="000000"/>
                          </a:solidFill>
                          <a:latin typeface="Calibri"/>
                        </a:rPr>
                        <a:t>ieeexplore.ieee.org/document/9170108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Segmented output stage on E-mode GaN: 7 slices, pattern timing 0.5–5 ns, strength set by one external bias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Base paper. Same device, same architecture: E-mode GaN, segmented output stage, strength set by a pattern. Theirs is an ASIC with a fixed pattern set. We make every field programmable from an FPGA and price what the pattern space buys.  </a:t>
                      </a:r>
                      <a:r>
                        <a:rPr sz="900" b="1">
                          <a:solidFill>
                            <a:srgbClr val="000000"/>
                          </a:solidFill>
                          <a:latin typeface="Calibri"/>
                        </a:rPr>
                        <a:t>We fill: </a:t>
                      </a:r>
                      <a:r>
                        <a:rPr sz="900" b="0">
                          <a:solidFill>
                            <a:srgbClr val="000000"/>
                          </a:solidFill>
                          <a:latin typeface="Calibri"/>
                        </a:rPr>
                        <a:t>the price of the pattern space: what an exhaustive search buys over their fixed pattern set.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wrap="square"/>
                    <a:lstStyle/>
                    <a:p>
                      <a:pPr marL="0" indent="0">
                        <a:buNone/>
                      </a:pPr>
                      <a:r>
                        <a:rPr sz="1050" b="0">
                          <a:solidFill>
                            <a:srgbClr val="000000"/>
                          </a:solidFill>
                          <a:latin typeface="Calibri"/>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Tao, Xiao, Luo, He, Zhou, Zhang &amp; Wang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High-Frequency Three-Level Gate Driver for GaN HEMT Bridge Crosstalk Suppression</a:t>
                      </a:r>
                      <a:endParaRPr lang="en-US" sz="1300" dirty="0">
                        <a:latin typeface="Calibri" charset="0"/>
                        <a:ea typeface="Calibri" charset="0"/>
                        <a:cs typeface="Calibri" charset="0"/>
                      </a:endParaRPr>
                    </a:p>
                    <a:p>
                      <a:r>
                        <a:rPr sz="900" b="1">
                          <a:solidFill>
                            <a:srgbClr val="000000"/>
                          </a:solidFill>
                          <a:latin typeface="Calibri"/>
                        </a:rPr>
                        <a:t>IEEE Trans. Power Electron., 39(1), 1343–1352</a:t>
                      </a:r>
                    </a:p>
                    <a:p>
                      <a:r>
                        <a:rPr sz="900" b="1">
                          <a:solidFill>
                            <a:srgbClr val="000000"/>
                          </a:solidFill>
                          <a:latin typeface="Calibri"/>
                        </a:rPr>
                        <a:t>ieeexplore.ieee.org/document/10286072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Three-level drive; capacitor–diode negative rail with a digitally-clamped zero level, to 5 MHz</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Recent, GaN, and on exactly our failure mode. It suppresses crosstalk with added passives; we get the same protection from the Miller clamp already in the cell and measure its price at 0.04 %.  </a:t>
                      </a:r>
                      <a:r>
                        <a:rPr sz="900" b="1">
                          <a:solidFill>
                            <a:srgbClr val="000000"/>
                          </a:solidFill>
                          <a:latin typeface="Calibri"/>
                        </a:rPr>
                        <a:t>We fill: </a:t>
                      </a:r>
                      <a:r>
                        <a:rPr sz="900" b="0">
                          <a:solidFill>
                            <a:srgbClr val="000000"/>
                          </a:solidFill>
                          <a:latin typeface="Calibri"/>
                        </a:rPr>
                        <a:t>whether the setting has to change with the operating point at all. It does not: 2.6 % of baseline.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wrap="square"/>
                    <a:lstStyle/>
                    <a:p>
                      <a:pPr marL="0" indent="0">
                        <a:buNone/>
                      </a:pPr>
                      <a:r>
                        <a:rPr sz="1050" b="0">
                          <a:solidFill>
                            <a:srgbClr val="000000"/>
                          </a:solidFill>
                          <a:latin typeface="Calibri"/>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Sun, Yan, Ma &amp; Xu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An Integrated Suppression Method of Both Gate-Source Voltage Oscillation and Crosstalk for GaN HEMT Gate Driver</a:t>
                      </a:r>
                      <a:endParaRPr lang="en-US" sz="1300" dirty="0">
                        <a:latin typeface="Calibri" charset="0"/>
                        <a:ea typeface="Calibri" charset="0"/>
                        <a:cs typeface="Calibri" charset="0"/>
                      </a:endParaRPr>
                    </a:p>
                    <a:p>
                      <a:r>
                        <a:rPr sz="900" b="1">
                          <a:solidFill>
                            <a:srgbClr val="000000"/>
                          </a:solidFill>
                          <a:latin typeface="Calibri"/>
                        </a:rPr>
                        <a:t>IEEE Trans. Power Electron., 39(11), 14643–14655</a:t>
                      </a:r>
                    </a:p>
                    <a:p>
                      <a:r>
                        <a:rPr sz="900" b="1">
                          <a:solidFill>
                            <a:srgbClr val="000000"/>
                          </a:solidFill>
                          <a:latin typeface="Calibri"/>
                        </a:rPr>
                        <a:t>ieeexplore.ieee.org/document/10591431</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One driver addressing gate-source ringing and crosstalk together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Confirms the two effects are coupled, which is why our cost function prices loss and overshoot jointly rather than optimising either alone.  </a:t>
                      </a:r>
                      <a:r>
                        <a:rPr sz="900" b="1">
                          <a:solidFill>
                            <a:srgbClr val="000000"/>
                          </a:solidFill>
                          <a:latin typeface="Calibri"/>
                        </a:rPr>
                        <a:t>We fill: </a:t>
                      </a:r>
                      <a:r>
                        <a:rPr sz="900" b="0">
                          <a:solidFill>
                            <a:srgbClr val="000000"/>
                          </a:solidFill>
                          <a:latin typeface="Calibri"/>
                        </a:rPr>
                        <a:t>both effects in one cost function, showing the objectives genuinely conflict (Pareto, slide 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wrap="square"/>
                    <a:lstStyle/>
                    <a:p>
                      <a:pPr marL="0" indent="0">
                        <a:buNone/>
                      </a:pPr>
                      <a:r>
                        <a:rPr sz="1050" b="0">
                          <a:solidFill>
                            <a:srgbClr val="000000"/>
                          </a:solidFill>
                          <a:latin typeface="Calibri"/>
                        </a:rPr>
                        <a:t>13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Cai, Ye, Lv &amp; Chen (2026)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High-Efficient GaN Driver With Hybrid Adaptive Dead-Time Control and Peak Delay Control for Synchronous Buck Converter</a:t>
                      </a:r>
                      <a:endParaRPr lang="en-US" sz="1300" dirty="0">
                        <a:latin typeface="Calibri" charset="0"/>
                        <a:ea typeface="Calibri" charset="0"/>
                        <a:cs typeface="Calibri" charset="0"/>
                      </a:endParaRPr>
                    </a:p>
                    <a:p>
                      <a:r>
                        <a:rPr sz="900" b="1">
                          <a:solidFill>
                            <a:srgbClr val="000000"/>
                          </a:solidFill>
                          <a:latin typeface="Calibri"/>
                        </a:rPr>
                        <a:t>IEEE Trans. Power Electron., 41(1), 279–290</a:t>
                      </a:r>
                    </a:p>
                    <a:p>
                      <a:r>
                        <a:rPr sz="900" b="1">
                          <a:solidFill>
                            <a:srgbClr val="000000"/>
                          </a:solidFill>
                          <a:latin typeface="Calibri"/>
                        </a:rPr>
                        <a:t>ieeexplore.ieee.org/document/11146698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Hybrid adaptive dead-time plus peak delay control on a GaN synchronous buck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most recent adaptive dead-time driver we found, and it adapts the one field our leave-one-out test shows carries the whole benefit — and only at light load.  </a:t>
                      </a:r>
                      <a:r>
                        <a:rPr sz="900" b="1">
                          <a:solidFill>
                            <a:srgbClr val="000000"/>
                          </a:solidFill>
                          <a:latin typeface="Calibri"/>
                        </a:rPr>
                        <a:t>We fill: </a:t>
                      </a:r>
                      <a:r>
                        <a:rPr sz="900" b="0">
                          <a:solidFill>
                            <a:srgbClr val="000000"/>
                          </a:solidFill>
                          <a:latin typeface="Calibri"/>
                        </a:rPr>
                        <a:t>which field is worth scheduling. Only dead time, and only at light load; drive strength is worth 0.00 %.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291072"/>
            <a:ext cx="10332720" cy="365760"/>
          </a:xfrm>
          <a:prstGeom prst="rect">
            <a:avLst/>
          </a:prstGeom>
          <a:noFill/>
          <a:ln/>
        </p:spPr>
        <p:txBody>
          <a:bodyPr wrap="square" lIns="0" tIns="0" rIns="0" bIns="0" rtlCol="0" anchor="ctr"/>
          <a:lstStyle/>
          <a:p>
            <a:pPr marL="177800" indent="0">
              <a:spcAft>
                <a:spcPts val="0"/>
              </a:spcAft>
              <a:buSzPct val="100000"/>
              <a:buNone/>
            </a:pPr>
            <a:r>
              <a:rPr lang="en-US" sz="1000" dirty="0">
                <a:solidFill>
                  <a:srgbClr val="000000"/>
                </a:solidFill>
                <a:latin typeface="Calibri" pitchFamily="34" charset="0"/>
                <a:ea typeface="Calibri" pitchFamily="34" charset="-122"/>
                <a:cs typeface="Calibri" pitchFamily="34" charset="-120"/>
              </a:rPr>
              <a:t xml:space="preserve">[10] is the base paper: E-mode GaN, segmented output stage, strength chosen by a pattern. All four are verified against the publisher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The gap this project fills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6</a:t>
            </a:r>
          </a:p>
        </p:txBody>
      </p:sp>
      <p:sp>
        <p:nvSpPr>
          <p:cNvPr id="6" name="TextBox 5"/>
          <p:cNvSpPr txBox="1"/>
          <p:nvPr/>
        </p:nvSpPr>
        <p:spPr>
          <a:xfrm>
            <a:off x="640080" y="1234440"/>
            <a:ext cx="11064240" cy="914400"/>
          </a:xfrm>
          <a:prstGeom prst="rect">
            <a:avLst/>
          </a:prstGeom>
          <a:noFill/>
        </p:spPr>
        <p:txBody>
          <a:bodyPr wrap="square" lIns="0" tIns="0" rIns="0" bIns="0">
            <a:spAutoFit/>
          </a:bodyPr>
          <a:lstStyle/>
          <a:p>
            <a:pPr marL="177800" indent="0">
              <a:spcAft>
                <a:spcPts val="120"/>
              </a:spcAft>
              <a:buSzPct val="100000"/>
              <a:buNone/>
            </a:pPr>
            <a:r>
              <a:rPr lang="en-US" sz="1500" dirty="0">
                <a:solidFill>
                  <a:srgbClr val="000000"/>
                </a:solidFill>
                <a:latin typeface="Calibri" pitchFamily="34" charset="0"/>
                <a:ea typeface="Calibri" pitchFamily="34" charset="-122"/>
                <a:cs typeface="Calibri" pitchFamily="34" charset="-120"/>
              </a:rPr>
              <a:t>Every paper on these drivers reports one number: how much better it is than a plain driver.</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That number hides two separate effects, and they cost very different hardware.</a:t>
            </a:r>
          </a:p>
        </p:txBody>
      </p:sp>
      <p:sp>
        <p:nvSpPr>
          <p:cNvPr id="7" name="TextBox 6"/>
          <p:cNvSpPr txBox="1"/>
          <p:nvPr/>
        </p:nvSpPr>
        <p:spPr>
          <a:xfrm>
            <a:off x="64008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1:  a better fixed setting</a:t>
            </a:r>
          </a:p>
        </p:txBody>
      </p:sp>
      <p:sp>
        <p:nvSpPr>
          <p:cNvPr id="8" name="TextBox 7"/>
          <p:cNvSpPr txBox="1"/>
          <p:nvPr/>
        </p:nvSpPr>
        <p:spPr>
          <a:xfrm>
            <a:off x="64008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Pick one good setting once, at design time. Costs nothing while running: no sensor, no ADC, no lookup table, no controller.</a:t>
            </a:r>
          </a:p>
        </p:txBody>
      </p:sp>
      <p:sp>
        <p:nvSpPr>
          <p:cNvPr id="9" name="TextBox 8"/>
          <p:cNvSpPr txBox="1"/>
          <p:nvPr/>
        </p:nvSpPr>
        <p:spPr>
          <a:xfrm>
            <a:off x="448056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0" name="TextBox 9"/>
          <p:cNvSpPr txBox="1"/>
          <p:nvPr/>
        </p:nvSpPr>
        <p:spPr>
          <a:xfrm>
            <a:off x="640080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2:  adapting per operating point</a:t>
            </a:r>
          </a:p>
        </p:txBody>
      </p:sp>
      <p:sp>
        <p:nvSpPr>
          <p:cNvPr id="11" name="TextBox 10"/>
          <p:cNvSpPr txBox="1"/>
          <p:nvPr/>
        </p:nvSpPr>
        <p:spPr>
          <a:xfrm>
            <a:off x="640080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Change the setting as load, voltage and temperature move. This is the part that needs the sensing hardware.</a:t>
            </a:r>
          </a:p>
        </p:txBody>
      </p:sp>
      <p:sp>
        <p:nvSpPr>
          <p:cNvPr id="12" name="TextBox 11"/>
          <p:cNvSpPr txBox="1"/>
          <p:nvPr/>
        </p:nvSpPr>
        <p:spPr>
          <a:xfrm>
            <a:off x="1024128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3" name="TextBox 12"/>
          <p:cNvSpPr txBox="1"/>
          <p:nvPr/>
        </p:nvSpPr>
        <p:spPr>
          <a:xfrm>
            <a:off x="640080" y="4526280"/>
            <a:ext cx="11064240" cy="1920240"/>
          </a:xfrm>
          <a:prstGeom prst="rect">
            <a:avLst/>
          </a:prstGeom>
          <a:noFill/>
        </p:spPr>
        <p:txBody>
          <a:bodyPr wrap="square" lIns="0" tIns="0" rIns="0" bIns="0">
            <a:spAutoFit/>
          </a:bodyPr>
          <a:lstStyle/>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The gap. </a:t>
            </a:r>
            <a:r>
              <a:rPr lang="en-US" sz="1400" dirty="0">
                <a:solidFill>
                  <a:srgbClr val="000000"/>
                </a:solidFill>
                <a:latin typeface="Calibri" pitchFamily="34" charset="0"/>
                <a:ea typeface="Calibri" pitchFamily="34" charset="-122"/>
                <a:cs typeface="Calibri" pitchFamily="34" charset="-120"/>
              </a:rPr>
              <a:t>Nobody separates them. No paper says how much of the benefit actually needs the re-tuning, because separating the two means running every setting at every operating point — and nobody has done that.</a:t>
            </a:r>
          </a:p>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Why it matters. </a:t>
            </a:r>
            <a:r>
              <a:rPr lang="en-US" sz="1400" dirty="0">
                <a:solidFill>
                  <a:srgbClr val="000000"/>
                </a:solidFill>
                <a:latin typeface="Calibri" pitchFamily="34" charset="0"/>
                <a:ea typeface="Calibri" pitchFamily="34" charset="-122"/>
                <a:cs typeface="Calibri" pitchFamily="34" charset="-120"/>
              </a:rPr>
              <a:t>Only Effect 2 pays for the sensor, ADC and lookup table. If it is small, that hardware is mostly buying something a design-time choice already gives you.</a:t>
            </a:r>
          </a:p>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What we do. </a:t>
            </a:r>
            <a:r>
              <a:rPr lang="en-US" sz="1400" dirty="0">
                <a:solidFill>
                  <a:srgbClr val="000000"/>
                </a:solidFill>
                <a:latin typeface="Calibri" pitchFamily="34" charset="0"/>
                <a:ea typeface="Calibri" pitchFamily="34" charset="-122"/>
                <a:cs typeface="Calibri" pitchFamily="34" charset="-120"/>
              </a:rPr>
              <a:t>720 settings × 36 operating points, all of them, in ngspice — then report the two numbers separately instead of adding them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02</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built</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converter, and the driver that switches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Aim, and how we approached it</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Aim:</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To find out how much of a gate driver’s benefit needs the driver to re-tune itself while the converter is running, and how much comes from choosing one good setting and leaving it fixed.</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Proposed Solution:</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A GaN buck converter driven by a </a:t>
            </a:r>
            <a:r>
              <a:rPr lang="en-US" sz="1500" b="1" dirty="0">
                <a:solidFill>
                  <a:srgbClr val="000000"/>
                </a:solidFill>
                <a:latin typeface="Calibri" pitchFamily="34" charset="0"/>
                <a:ea typeface="Calibri" pitchFamily="34" charset="-122"/>
                <a:cs typeface="Calibri" pitchFamily="34" charset="-120"/>
              </a:rPr>
              <a:t xml:space="preserve">segmented gate driver</a:t>
            </a:r>
            <a:r>
              <a:rPr lang="en-US" sz="1500" dirty="0">
                <a:solidFill>
                  <a:srgbClr val="000000"/>
                </a:solidFill>
                <a:latin typeface="Calibri" pitchFamily="34" charset="0"/>
                <a:ea typeface="Calibri" pitchFamily="34" charset="-122"/>
                <a:cs typeface="Calibri" pitchFamily="34" charset="-120"/>
              </a:rPr>
              <a:t xml:space="preserve">: 8 pull-up steps, 8 pull-down steps, an adjustable dead time, a Miller clamp and a −2 V off rail. Every one of them is a setting we can change and measure.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How we approached it: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1. Build the converter and check it converts.</a:t>
            </a:r>
            <a:r>
              <a:rPr lang="en-US" sz="1500" dirty="0">
                <a:solidFill>
                  <a:srgbClr val="000000"/>
                </a:solidFill>
                <a:latin typeface="Calibri" pitchFamily="34" charset="0"/>
                <a:ea typeface="Calibri" pitchFamily="34" charset="-122"/>
                <a:cs typeface="Calibri" pitchFamily="34" charset="-120"/>
              </a:rPr>
              <a:t xml:space="preserve"> 100 V DC in, 48.50 V DC out at 4.869 A: 236.26 W delivered, 97.49 % efficient.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2. Recreate the fault.</a:t>
            </a:r>
            <a:r>
              <a:rPr lang="en-US" sz="1500" dirty="0">
                <a:solidFill>
                  <a:srgbClr val="000000"/>
                </a:solidFill>
                <a:latin typeface="Calibri" pitchFamily="34" charset="0"/>
                <a:ea typeface="Calibri" pitchFamily="34" charset="-122"/>
                <a:cs typeface="Calibri" pitchFamily="34" charset="-120"/>
              </a:rPr>
              <a:t xml:space="preserve"> At the fastest setting the gate that should be off reaches 1.65 V, against a 1.4 V turn-on threshold.</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3. Fix it one change at a time,</a:t>
            </a:r>
            <a:r>
              <a:rPr lang="en-US" sz="1500" dirty="0">
                <a:solidFill>
                  <a:srgbClr val="000000"/>
                </a:solidFill>
                <a:latin typeface="Calibri" pitchFamily="34" charset="0"/>
                <a:ea typeface="Calibri" pitchFamily="34" charset="-122"/>
                <a:cs typeface="Calibri" pitchFamily="34" charset="-120"/>
              </a:rPr>
              <a:t xml:space="preserve"> measuring each change on its own run, not all at once.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4. Ask whether one fixed setting is enough,</a:t>
            </a:r>
            <a:r>
              <a:rPr lang="en-US" sz="1500" dirty="0">
                <a:solidFill>
                  <a:srgbClr val="000000"/>
                </a:solidFill>
                <a:latin typeface="Calibri" pitchFamily="34" charset="0"/>
                <a:ea typeface="Calibri" pitchFamily="34" charset="-122"/>
                <a:cs typeface="Calibri" pitchFamily="34" charset="-120"/>
              </a:rPr>
              <a:t xml:space="preserve"> by running the driver at two operating points and seeing whether the best setting moves.</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Scope and tools:</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In scope: </a:t>
            </a:r>
            <a:r>
              <a:rPr lang="en-US" sz="1500" dirty="0">
                <a:solidFill>
                  <a:srgbClr val="000000"/>
                </a:solidFill>
                <a:latin typeface="Calibri" pitchFamily="34" charset="0"/>
                <a:ea typeface="Calibri" pitchFamily="34" charset="-122"/>
                <a:cs typeface="Calibri" pitchFamily="34" charset="-120"/>
              </a:rPr>
              <a:t xml:space="preserve">the converter, the driver, its settings, and the FPGA controller. </a:t>
            </a:r>
            <a:r>
              <a:rPr lang="en-US" sz="1500" b="1" dirty="0">
                <a:solidFill>
                  <a:srgbClr val="000000"/>
                </a:solidFill>
                <a:latin typeface="Calibri" pitchFamily="34" charset="0"/>
                <a:ea typeface="Calibri" pitchFamily="34" charset="-122"/>
                <a:cs typeface="Calibri" pitchFamily="34" charset="-120"/>
              </a:rPr>
              <a:t xml:space="preserve">Out of scope: </a:t>
            </a:r>
            <a:r>
              <a:rPr lang="en-US" sz="1500" dirty="0">
                <a:solidFill>
                  <a:srgbClr val="000000"/>
                </a:solidFill>
                <a:latin typeface="Calibri" pitchFamily="34" charset="0"/>
                <a:ea typeface="Calibri" pitchFamily="34" charset="-122"/>
                <a:cs typeface="Calibri" pitchFamily="34" charset="-120"/>
              </a:rPr>
              <a:t xml:space="preserve">building hardware. </a:t>
            </a:r>
            <a:r>
              <a:rPr lang="en-US" sz="1500" b="1" dirty="0">
                <a:solidFill>
                  <a:srgbClr val="000000"/>
                </a:solidFill>
                <a:latin typeface="Calibri" pitchFamily="34" charset="0"/>
                <a:ea typeface="Calibri" pitchFamily="34" charset="-122"/>
                <a:cs typeface="Calibri" pitchFamily="34" charset="-120"/>
              </a:rPr>
              <a:t xml:space="preserve">Tools: </a:t>
            </a:r>
            <a:r>
              <a:rPr lang="en-US" sz="1500" dirty="0">
                <a:solidFill>
                  <a:srgbClr val="000000"/>
                </a:solidFill>
                <a:latin typeface="Calibri" pitchFamily="34" charset="0"/>
                <a:ea typeface="Calibri" pitchFamily="34" charset="-122"/>
                <a:cs typeface="Calibri" pitchFamily="34" charset="-120"/>
              </a:rPr>
              <a:t xml:space="preserve">ngspice for every simulation, LTspice to draw the circuit and re-check, Vivado for the FPGA.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it works — one use case, start to finish</a:t>
            </a:r>
            <a:endParaRPr lang="en-US" sz="2800" dirty="0"/>
          </a:p>
        </p:txBody>
      </p:sp>
      <p:pic>
        <p:nvPicPr>
          <p:cNvPr id="5" name="Picture 4" descr="fig_flow.png"/>
          <p:cNvPicPr>
            <a:picLocks noChangeAspect="1"/>
          </p:cNvPicPr>
          <p:nvPr/>
        </p:nvPicPr>
        <p:blipFill>
          <a:blip r:embed="rId4"/>
          <a:stretch>
            <a:fillRect/>
          </a:stretch>
        </p:blipFill>
        <p:spPr>
          <a:xfrm>
            <a:off x="1700784" y="1188720"/>
            <a:ext cx="8792300" cy="4617720"/>
          </a:xfrm>
          <a:prstGeom prst="rect">
            <a:avLst/>
          </a:prstGeom>
        </p:spPr>
      </p:pic>
      <p:sp>
        <p:nvSpPr>
          <p:cNvPr id="6" name="TextBox 5"/>
          <p:cNvSpPr txBox="1"/>
          <p:nvPr/>
        </p:nvSpPr>
        <p:spPr>
          <a:xfrm>
            <a:off x="640080" y="5989320"/>
            <a:ext cx="10241280" cy="41148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Fig. 3 — </a:t>
            </a:r>
            <a:r>
              <a:rPr lang="en-US" sz="1200" b="1" dirty="0">
                <a:solidFill>
                  <a:srgbClr val="000000"/>
                </a:solidFill>
                <a:latin typeface="Calibri" pitchFamily="34" charset="0"/>
                <a:ea typeface="Calibri" pitchFamily="34" charset="-122"/>
                <a:cs typeface="Calibri" pitchFamily="34" charset="-120"/>
              </a:rPr>
              <a:t> Drawn diagram, not simulation output. </a:t>
            </a:r>
            <a:r>
              <a:rPr lang="en-US" sz="1200" dirty="0">
                <a:solidFill>
                  <a:srgbClr val="000000"/>
                </a:solidFill>
                <a:latin typeface="Calibri" pitchFamily="34" charset="0"/>
                <a:ea typeface="Calibri" pitchFamily="34" charset="-122"/>
                <a:cs typeface="Calibri" pitchFamily="34" charset="-120"/>
              </a:rPr>
              <a:t>One switching edge, followed through. Top row: the controller's decision. Bottom row: the circuit's response. Only the shaded diamond is decided at run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Architecture</a:t>
            </a:r>
            <a:endParaRPr lang="en-US" sz="2800" dirty="0"/>
          </a:p>
        </p:txBody>
      </p:sp>
      <p:pic>
        <p:nvPicPr>
          <p:cNvPr id="5" name="Picture 4" descr="fig_architecture.png"/>
          <p:cNvPicPr>
            <a:picLocks noChangeAspect="1"/>
          </p:cNvPicPr>
          <p:nvPr/>
        </p:nvPicPr>
        <p:blipFill>
          <a:blip r:embed="rId4"/>
          <a:stretch>
            <a:fillRect/>
          </a:stretch>
        </p:blipFill>
        <p:spPr>
          <a:xfrm>
            <a:off x="1417320" y="1207008"/>
            <a:ext cx="9362598" cy="4754880"/>
          </a:xfrm>
          <a:prstGeom prst="rect">
            <a:avLst/>
          </a:prstGeom>
        </p:spPr>
      </p:pic>
      <p:sp>
        <p:nvSpPr>
          <p:cNvPr id="6" name="TextBox 5"/>
          <p:cNvSpPr txBox="1"/>
          <p:nvPr/>
        </p:nvSpPr>
        <p:spPr>
          <a:xfrm>
            <a:off x="502920" y="6016752"/>
            <a:ext cx="10838382" cy="68580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System architecture, left to right: PWM command, FPGA controller, segmented gate driver, power stage. The four driver blocks are what this project designs. Only the dashed block needs sensing, and measuring what it is worth is the project's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we simulate</a:t>
            </a:r>
            <a:endParaRPr lang="en-US" sz="2800" dirty="0"/>
          </a:p>
        </p:txBody>
      </p:sp>
      <p:pic>
        <p:nvPicPr>
          <p:cNvPr id="5" name="Picture 4" descr="fig_sch_converter.png"/>
          <p:cNvPicPr>
            <a:picLocks noChangeAspect="1"/>
          </p:cNvPicPr>
          <p:nvPr/>
        </p:nvPicPr>
        <p:blipFill>
          <a:blip r:embed="rId6"/>
          <a:stretch>
            <a:fillRect/>
          </a:stretch>
        </p:blipFill>
        <p:spPr>
          <a:xfrm>
            <a:off x="426567" y="1060704"/>
            <a:ext cx="11338557" cy="3874007"/>
          </a:xfrm>
          <a:prstGeom prst="rect">
            <a:avLst/>
          </a:prstGeom>
        </p:spPr>
      </p:pic>
      <p:sp>
        <p:nvSpPr>
          <p:cNvPr id="6" name="TextBox 5"/>
          <p:cNvSpPr txBox="1"/>
          <p:nvPr/>
        </p:nvSpPr>
        <p:spPr>
          <a:xfrm>
            <a:off x="502920" y="6016752"/>
            <a:ext cx="10838382" cy="5486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GaN synchronous buck converter, drawn from sim/buck.cir by scripts/kicad_schematic.py — every value on it is read out of the netlist at build time. “Buck” means step-down: 100 V in, 48.50 V out. Left to right: the 100 V supply with its power-loop R and L, the damped bus decoupling branch (Ldec, Cdec, Rdec at 1 Ω), the two GaN HEMTs whose gates the segmented drivers drive, the output filter and a 10 Ω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We implemented the base paper, then ours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14</a:t>
            </a:r>
          </a:p>
        </p:txBody>
      </p:sp>
      <p:sp>
        <p:nvSpPr>
          <p:cNvPr id="6" name="TextBox 5"/>
          <p:cNvSpPr txBox="1"/>
          <p:nvPr/>
        </p:nvSpPr>
        <p:spPr>
          <a:xfrm>
            <a:off x="640080" y="1207008"/>
            <a:ext cx="11064240" cy="86868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Citing a base paper is not a comparison, so we built theirs too. </a:t>
            </a:r>
            <a:r>
              <a:rPr lang="en-US" sz="1250" b="1" dirty="0">
                <a:solidFill>
                  <a:srgbClr val="000000"/>
                </a:solidFill>
                <a:latin typeface="Calibri" pitchFamily="34" charset="0"/>
                <a:ea typeface="Calibri" pitchFamily="34" charset="-122"/>
                <a:cs typeface="Calibri" pitchFamily="34" charset="-120"/>
              </a:rPr>
              <a:t>models/zhangdrv.lib</a:t>
            </a:r>
            <a:r>
              <a:rPr lang="en-US" sz="1250" dirty="0">
                <a:solidFill>
                  <a:srgbClr val="000000"/>
                </a:solidFill>
                <a:latin typeface="Calibri" pitchFamily="34" charset="0"/>
                <a:ea typeface="Calibri" pitchFamily="34" charset="-122"/>
                <a:cs typeface="Calibri" pitchFamily="34" charset="-120"/>
              </a:rPr>
              <a:t> is Zhang et al.'s driver: seven slices brought in as a timed pattern across the switching edge, the pattern picked by one bias resistor, with no gate clamp and no −2 V rail, because those two are ours. It runs inside the same sim/dpt.cir, so only the driver differs.</a:t>
            </a:r>
          </a:p>
        </p:txBody>
      </p:sp>
      <p:sp>
        <p:nvSpPr>
          <p:cNvPr id="7" name="TextBox 6"/>
          <p:cNvSpPr txBox="1"/>
          <p:nvPr/>
        </p:nvSpPr>
        <p:spPr>
          <a:xfrm>
            <a:off x="640080" y="239572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Base paper, at its best setting</a:t>
            </a:r>
          </a:p>
        </p:txBody>
      </p:sp>
      <p:sp>
        <p:nvSpPr>
          <p:cNvPr id="8" name="TextBox 7"/>
          <p:cNvSpPr txBox="1"/>
          <p:nvPr/>
        </p:nvSpPr>
        <p:spPr>
          <a:xfrm>
            <a:off x="4343400" y="234086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+0.407 V</a:t>
            </a:r>
          </a:p>
        </p:txBody>
      </p:sp>
      <p:sp>
        <p:nvSpPr>
          <p:cNvPr id="9" name="TextBox 8"/>
          <p:cNvSpPr txBox="1"/>
          <p:nvPr/>
        </p:nvSpPr>
        <p:spPr>
          <a:xfrm>
            <a:off x="5943600" y="239572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Their staged pattern on its own already clears the 1.4 V threshold, at the best setting in their own stated range.</a:t>
            </a:r>
          </a:p>
        </p:txBody>
      </p:sp>
      <p:sp>
        <p:nvSpPr>
          <p:cNvPr id="10" name="TextBox 9"/>
          <p:cNvSpPr txBox="1"/>
          <p:nvPr/>
        </p:nvSpPr>
        <p:spPr>
          <a:xfrm>
            <a:off x="640080" y="303580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constant code, no clamp</a:t>
            </a:r>
          </a:p>
        </p:txBody>
      </p:sp>
      <p:sp>
        <p:nvSpPr>
          <p:cNvPr id="11" name="TextBox 10"/>
          <p:cNvSpPr txBox="1"/>
          <p:nvPr/>
        </p:nvSpPr>
        <p:spPr>
          <a:xfrm>
            <a:off x="4343400" y="298094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−0.249 V</a:t>
            </a:r>
          </a:p>
        </p:txBody>
      </p:sp>
      <p:sp>
        <p:nvSpPr>
          <p:cNvPr id="12" name="TextBox 11"/>
          <p:cNvSpPr txBox="1"/>
          <p:nvPr/>
        </p:nvSpPr>
        <p:spPr>
          <a:xfrm>
            <a:off x="5943600" y="303580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b="1">
                <a:solidFill>
                  <a:srgbClr val="000000"/>
                </a:solidFill>
                <a:latin typeface="Calibri" pitchFamily="34" charset="0"/>
                <a:ea typeface="Calibri" pitchFamily="34" charset="-122"/>
                <a:cs typeface="Calibri" pitchFamily="34" charset="-120"/>
              </a:rPr>
              <a:t>False turn-on. </a:t>
            </a:r>
            <a:r>
              <a:rPr lang="en-US" sz="1150" dirty="0">
                <a:solidFill>
                  <a:srgbClr val="000000"/>
                </a:solidFill>
                <a:latin typeface="Calibri" pitchFamily="34" charset="0"/>
                <a:ea typeface="Calibri" pitchFamily="34" charset="-122"/>
                <a:cs typeface="Calibri" pitchFamily="34" charset="-120"/>
              </a:rPr>
              <a:t>A constant code is worse than their staged one — their idea is real, and we reproduce it.</a:t>
            </a:r>
          </a:p>
        </p:txBody>
      </p:sp>
      <p:sp>
        <p:nvSpPr>
          <p:cNvPr id="13" name="TextBox 12"/>
          <p:cNvSpPr txBox="1"/>
          <p:nvPr/>
        </p:nvSpPr>
        <p:spPr>
          <a:xfrm>
            <a:off x="640080" y="3675887"/>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active Miller clamp on</a:t>
            </a:r>
          </a:p>
        </p:txBody>
      </p:sp>
      <p:sp>
        <p:nvSpPr>
          <p:cNvPr id="14" name="TextBox 13"/>
          <p:cNvSpPr txBox="1"/>
          <p:nvPr/>
        </p:nvSpPr>
        <p:spPr>
          <a:xfrm>
            <a:off x="4343400" y="3621023"/>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+0.570 V</a:t>
            </a:r>
          </a:p>
        </p:txBody>
      </p:sp>
      <p:sp>
        <p:nvSpPr>
          <p:cNvPr id="15" name="TextBox 14"/>
          <p:cNvSpPr txBox="1"/>
          <p:nvPr/>
        </p:nvSpPr>
        <p:spPr>
          <a:xfrm>
            <a:off x="5943600" y="3675887"/>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Only just past the base paper. The clamp on its own is not the story.</a:t>
            </a:r>
          </a:p>
        </p:txBody>
      </p:sp>
      <p:sp>
        <p:nvSpPr>
          <p:cNvPr id="16" name="TextBox 15"/>
          <p:cNvSpPr txBox="1"/>
          <p:nvPr/>
        </p:nvSpPr>
        <p:spPr>
          <a:xfrm>
            <a:off x="640080" y="4315968"/>
            <a:ext cx="3566160" cy="53035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Ours, clamp + −2 V off-bias</a:t>
            </a:r>
          </a:p>
        </p:txBody>
      </p:sp>
      <p:sp>
        <p:nvSpPr>
          <p:cNvPr id="17" name="TextBox 16"/>
          <p:cNvSpPr txBox="1"/>
          <p:nvPr/>
        </p:nvSpPr>
        <p:spPr>
          <a:xfrm>
            <a:off x="4343400" y="426110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+2.576 V</a:t>
            </a:r>
          </a:p>
        </p:txBody>
      </p:sp>
      <p:sp>
        <p:nvSpPr>
          <p:cNvPr id="18" name="TextBox 17"/>
          <p:cNvSpPr txBox="1"/>
          <p:nvPr/>
        </p:nvSpPr>
        <p:spPr>
          <a:xfrm>
            <a:off x="5943600" y="431596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6.3× the base paper's best margin. This is the version we ship.</a:t>
            </a:r>
          </a:p>
        </p:txBody>
      </p:sp>
      <p:sp>
        <p:nvSpPr>
          <p:cNvPr id="19" name="TextBox 18"/>
          <p:cNvSpPr txBox="1"/>
          <p:nvPr/>
        </p:nvSpPr>
        <p:spPr>
          <a:xfrm>
            <a:off x="640080" y="5138928"/>
            <a:ext cx="11064240" cy="1234440"/>
          </a:xfrm>
          <a:prstGeom prst="rect">
            <a:avLst/>
          </a:prstGeom>
          <a:noFill/>
        </p:spPr>
        <p:txBody>
          <a:bodyPr wrap="square" lIns="0" tIns="0" rIns="0" bIns="0">
            <a:spAutoFit/>
          </a:bodyPr>
          <a:lstStyle/>
          <a:p>
            <a:pPr marL="177800" indent="0">
              <a:spcAft>
                <a:spcPts val="150"/>
              </a:spcAft>
              <a:buSzPct val="100000"/>
              <a:buNone/>
            </a:pPr>
            <a:r>
              <a:rPr lang="en-US" sz="1250" b="1" dirty="0">
                <a:solidFill>
                  <a:srgbClr val="000000"/>
                </a:solidFill>
                <a:latin typeface="Calibri" pitchFamily="34" charset="0"/>
                <a:ea typeface="Calibri" pitchFamily="34" charset="-122"/>
                <a:cs typeface="Calibri" pitchFamily="34" charset="-120"/>
              </a:rPr>
              <a:t>What the comparison shows. </a:t>
            </a:r>
            <a:r>
              <a:rPr lang="en-US" sz="1250" dirty="0">
                <a:solidFill>
                  <a:srgbClr val="000000"/>
                </a:solidFill>
                <a:latin typeface="Calibri" pitchFamily="34" charset="0"/>
                <a:ea typeface="Calibri" pitchFamily="34" charset="-122"/>
                <a:cs typeface="Calibri" pitchFamily="34" charset="-120"/>
              </a:rPr>
              <a:t>The base paper stages its slices over time and picks the pattern with one resistor; we add two things they do not have and make every field programmable. Both clear the threshold — theirs works, and we quote it at its best setting — but ours clears it by 6.3× more, and ours is the one whose settings can then be searched in full. Across their own stated range their margin runs +0.407 V down to −0.278 V, so quoting them anywhere worse would be picking the opponent.</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Command: python3 scripts/basepaper_compare.py — four ngspice runs, prints this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Work Completed — 90 %</a:t>
            </a:r>
            <a:endParaRPr lang="en-US" sz="2800" dirty="0"/>
          </a:p>
        </p:txBody>
      </p:sp>
      <p:sp>
        <p:nvSpPr>
          <p:cNvPr id="5" name="TextBox 4"/>
          <p:cNvSpPr txBox="1"/>
          <p:nvPr/>
        </p:nvSpPr>
        <p:spPr>
          <a:xfrm>
            <a:off x="640080" y="1078992"/>
            <a:ext cx="11064240" cy="420624"/>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Counted, not asserted. </a:t>
            </a:r>
            <a:r>
              <a:rPr lang="en-US" sz="1200" dirty="0">
                <a:solidFill>
                  <a:srgbClr val="000000"/>
                </a:solidFill>
                <a:latin typeface="Calibri" pitchFamily="34" charset="0"/>
                <a:ea typeface="Calibri" pitchFamily="34" charset="-122"/>
                <a:cs typeface="Calibri" pitchFamily="34" charset="-120"/>
              </a:rPr>
              <a:t xml:space="preserve">13 blocks, weighted by how much of the project each is. 11 are finished. The weights are on the slide so they can be argued with.</a:t>
            </a:r>
          </a:p>
        </p:txBody>
      </p:sp>
      <p:graphicFrame>
        <p:nvGraphicFramePr>
          <p:cNvPr id="6" name="Table 5"/>
          <p:cNvGraphicFramePr>
            <a:graphicFrameLocks noGrp="1"/>
          </p:cNvGraphicFramePr>
          <p:nvPr/>
        </p:nvGraphicFramePr>
        <p:xfrm>
          <a:off x="566928" y="1591056"/>
          <a:ext cx="11100814" cy="4069080"/>
        </p:xfrm>
        <a:graphic>
          <a:graphicData uri="http://schemas.openxmlformats.org/drawingml/2006/table">
            <a:tbl>
              <a:tblPr firstRow="1">
                <a:tableStyleId>{5C22544A-7EE6-4342-B048-85BDC9FD1C3A}</a:tableStyleId>
              </a:tblPr>
              <a:tblGrid>
                <a:gridCol w="444032"/>
                <a:gridCol w="3996293"/>
                <a:gridCol w="888065"/>
                <a:gridCol w="5772424"/>
              </a:tblGrid>
              <a:tr h="290648">
                <a:tc>
                  <a:txBody>
                    <a:bodyPr wrap="square"/>
                    <a:lstStyle/>
                    <a:p>
                      <a:r>
                        <a:rPr sz="1000" b="1">
                          <a:latin typeface="Calibri"/>
                        </a:rPr>
                        <a:t/>
                      </a:r>
                    </a:p>
                  </a:txBody>
                  <a:tcPr marL="50292" marR="50292" marT="27432" marB="27432"/>
                </a:tc>
                <a:tc>
                  <a:txBody>
                    <a:bodyPr wrap="square"/>
                    <a:lstStyle/>
                    <a:p>
                      <a:r>
                        <a:rPr sz="1000" b="1">
                          <a:latin typeface="Calibri"/>
                        </a:rPr>
                        <a:t>Block of work</a:t>
                      </a:r>
                    </a:p>
                  </a:txBody>
                  <a:tcPr marL="50292" marR="50292" marT="27432" marB="27432"/>
                </a:tc>
                <a:tc>
                  <a:txBody>
                    <a:bodyPr wrap="square"/>
                    <a:lstStyle/>
                    <a:p>
                      <a:r>
                        <a:rPr sz="1000" b="1">
                          <a:latin typeface="Calibri"/>
                        </a:rPr>
                        <a:t>Weight</a:t>
                      </a:r>
                    </a:p>
                  </a:txBody>
                  <a:tcPr marL="50292" marR="50292" marT="27432" marB="27432"/>
                </a:tc>
                <a:tc>
                  <a:txBody>
                    <a:bodyPr wrap="square"/>
                    <a:lstStyle/>
                    <a:p>
                      <a:r>
                        <a:rPr sz="1000" b="1">
                          <a:latin typeface="Calibri"/>
                        </a:rPr>
                        <a:t>Evidence, or why not yet</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itself, built and converting</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100 V → 48.50 V at 4.869 A, 97.49 % efficient (buck.cir)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device choice justified against silicon</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6.2 W vs 12.6 W at 500 kHz, on the shipped word; 3 sweeps, 4 duty profiles</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base paper implemented, not just cited</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zhangdrv.lib in our deck and in the converter — at 100 V only</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segmented driver; the fault reproduced and fixed</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−0.249 V → +2.576 V, one change at a time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full study: 720 words × 4 corners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66,924 transients over 36 corners — all on dpt.cir, not the converter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How much controller that justifies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ladder + leave-one-corner-out; two implementations agree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FPGA: RTL written, verified, synthesised, timing met</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8 properties; 20 LUT / 20 FF; 200 MHz, 1.996 ns slack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two halves made to meet in one simulation</a:t>
                      </a:r>
                    </a:p>
                  </a:txBody>
                  <a:tcPr marL="50292" marR="50292" marT="27432" marB="27432"/>
                </a:tc>
                <a:tc>
                  <a:txBody>
                    <a:bodyPr wrap="square"/>
                    <a:lstStyle/>
                    <a:p>
                      <a:r>
                        <a:rPr sz="900" b="0">
                          <a:latin typeface="Calibri"/>
                        </a:rPr>
                        <a:t>5</a:t>
                      </a:r>
                    </a:p>
                  </a:txBody>
                  <a:tcPr marL="50292" marR="50292" marT="27432" marB="27432"/>
                </a:tc>
                <a:tc>
                  <a:txBody>
                    <a:bodyPr wrap="square"/>
                    <a:lstStyle/>
                    <a:p>
                      <a:r>
                        <a:rPr sz="900" b="0">
                          <a:latin typeface="Calibri"/>
                        </a:rPr>
                        <a:t>RTL VCD drives the SPICE slices; agree to 0.081 V</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Closed-loop regulation, disturbed on purpose</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type-III loop: 0.02 % error through a 2x load and a 20 % line step</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Transistor-level output stage, on a real PDK</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latin typeface="Calibri"/>
                        </a:rPr>
                        <a:t>SKY130 5 V devices: sign and ordering of the result both survive</a:t>
                      </a:r>
                    </a:p>
                  </a:txBody>
                  <a:tcPr marL="50292" marR="50292" marT="27432" marB="27432"/>
                </a:tc>
              </a:tr>
              <a:tr h="290648">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Place-and-route on a chosen board</a:t>
                      </a:r>
                    </a:p>
                  </a:txBody>
                  <a:tcPr marL="50292" marR="50292" marT="27432" marB="27432"/>
                </a:tc>
                <a:tc>
                  <a:txBody>
                    <a:bodyPr wrap="square"/>
                    <a:lstStyle/>
                    <a:p>
                      <a:r>
                        <a:rPr sz="900" b="0">
                          <a:latin typeface="Calibri"/>
                        </a:rPr>
                        <a:t>3</a:t>
                      </a:r>
                    </a:p>
                  </a:txBody>
                  <a:tcPr marL="50292" marR="50292" marT="27432" marB="27432"/>
                </a:tc>
                <a:tc>
                  <a:txBody>
                    <a:bodyPr wrap="square"/>
                    <a:lstStyle/>
                    <a:p>
                      <a:r>
                        <a:rPr sz="900" b="0">
                          <a:solidFill>
                            <a:srgbClr val="555555"/>
                          </a:solidFill>
                          <a:latin typeface="Calibri"/>
                        </a:rPr>
                        <a:t>Needs real package pins and an MMCM for the clock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swept across its stated envelope</a:t>
                      </a:r>
                    </a:p>
                  </a:txBody>
                  <a:tcPr marL="50292" marR="50292" marT="27432" marB="27432"/>
                </a:tc>
                <a:tc>
                  <a:txBody>
                    <a:bodyPr wrap="square"/>
                    <a:lstStyle/>
                    <a:p>
                      <a:r>
                        <a:rPr sz="900" b="0">
                          <a:latin typeface="Calibri"/>
                        </a:rPr>
                        <a:t>10</a:t>
                      </a:r>
                    </a:p>
                  </a:txBody>
                  <a:tcPr marL="50292" marR="50292" marT="27432" marB="27432"/>
                </a:tc>
                <a:tc>
                  <a:txBody>
                    <a:bodyPr wrap="square"/>
                    <a:lstStyle/>
                    <a:p>
                      <a:r>
                        <a:rPr sz="900" b="0">
                          <a:latin typeface="Calibri"/>
                        </a:rPr>
                        <a:t>8 bus×load points: margin +2.14 to +2.61 V everywhere, and the envelope corrected to 50–150 V because a 200 V part cannot run a 200 V bus</a:t>
                      </a:r>
                    </a:p>
                  </a:txBody>
                  <a:tcPr marL="50292" marR="50292" marT="27432" marB="27432"/>
                </a:tc>
              </a:tr>
              <a:tr h="290656">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A hardware half-bridge, measured</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solidFill>
                            <a:srgbClr val="555555"/>
                          </a:solidFill>
                          <a:latin typeface="Calibri"/>
                        </a:rPr>
                        <a:t>Review-III. Until then this is a simulation study, and is titled as one</a:t>
                      </a:r>
                    </a:p>
                  </a:txBody>
                  <a:tcPr marL="50292" marR="50292" marT="27432" marB="27432"/>
                </a:tc>
              </a:tr>
            </a:tbl>
          </a:graphicData>
        </a:graphic>
      </p:graphicFrame>
      <p:sp>
        <p:nvSpPr>
          <p:cNvPr id="7" name="TextBox 6"/>
          <p:cNvSpPr txBox="1"/>
          <p:nvPr/>
        </p:nvSpPr>
        <p:spPr>
          <a:xfrm>
            <a:off x="640080" y="5797296"/>
            <a:ext cx="10698480" cy="822960"/>
          </a:xfrm>
          <a:prstGeom prst="rect">
            <a:avLst/>
          </a:prstGeom>
          <a:noFill/>
        </p:spPr>
        <p:txBody>
          <a:bodyPr wrap="square" lIns="0" tIns="0" rIns="0" bIns="0">
            <a:spAutoFit/>
          </a:bodyPr>
          <a:lstStyle/>
          <a:p>
            <a:pPr marL="177800" indent="0">
              <a:spcAft>
                <a:spcPts val="15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simulation study is complete. </a:t>
            </a:r>
            <a:r>
              <a:rPr lang="en-US" sz="1300" dirty="0">
                <a:solidFill>
                  <a:srgbClr val="000000"/>
                </a:solidFill>
                <a:latin typeface="Calibri" pitchFamily="34" charset="0"/>
                <a:ea typeface="Calibri" pitchFamily="34" charset="-122"/>
                <a:cs typeface="Calibri" pitchFamily="34" charset="-120"/>
              </a:rPr>
              <a:t xml:space="preserve">What remains needs a bench: place-and-route on a chosen board, and one measured half-bridge. Simulating harder will not deliver either.</a:t>
            </a:r>
          </a:p>
          <a:p>
            <a:pPr marL="177800" indent="0">
              <a:spcAft>
                <a:spcPts val="140"/>
              </a:spcAft>
              <a:buSzPct val="100000"/>
              <a:buNone/>
            </a:pPr>
            <a:r>
              <a:rPr lang="en-US" sz="1250" b="1" dirty="0">
                <a:solidFill>
                  <a:srgbClr val="000000"/>
                </a:solidFill>
                <a:latin typeface="Calibri" pitchFamily="34" charset="0"/>
                <a:ea typeface="Calibri" pitchFamily="34" charset="-122"/>
                <a:cs typeface="Calibri" pitchFamily="34" charset="-120"/>
              </a:rPr>
              <a:t xml:space="preserve">90 of 100 by the count above. </a:t>
            </a:r>
            <a:r>
              <a:rPr lang="en-US" sz="1250" dirty="0">
                <a:solidFill>
                  <a:srgbClr val="000000"/>
                </a:solidFill>
                <a:latin typeface="Calibri" pitchFamily="34" charset="0"/>
                <a:ea typeface="Calibri" pitchFamily="34" charset="-122"/>
                <a:cs typeface="Calibri" pitchFamily="34" charset="-120"/>
              </a:rPr>
              <a:t xml:space="preserve">The weights are on this slide because we would rather they were argued with than discovered. Score the hardware higher than 7 and the number falls — that is a fair reading, and it is the one we cannot answer without a bench.</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Nothing has been measured on silicon.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are, and what is next</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Box 4"/>
          <p:cNvSpPr txBox="1"/>
          <p:nvPr/>
        </p:nvSpPr>
        <p:spPr>
          <a:xfrm>
            <a:off x="640080" y="1234440"/>
            <a:ext cx="11064240" cy="4846320"/>
          </a:xfrm>
          <a:prstGeom prst="rect">
            <a:avLst/>
          </a:prstGeom>
          <a:noFill/>
        </p:spPr>
        <p:txBody>
          <a:bodyPr wrap="square" lIns="0" tIns="0" rIns="0" bIns="0">
            <a:spAutoFit/>
          </a:bodyPr>
          <a:lstStyle/>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Where we are</a:t>
            </a:r>
          </a:p>
          <a:p>
            <a:pPr marL="177800" indent="-177800">
              <a:spcAft>
                <a:spcPts val="260"/>
              </a:spcAft>
              <a:buSzPct val="100000"/>
              <a:buChar char="•"/>
            </a:pPr>
            <a:r>
              <a:rPr lang="en-US" sz="1300" dirty="0">
                <a:solidFill>
                  <a:srgbClr val="000000"/>
                </a:solidFill>
                <a:latin typeface="Calibri" pitchFamily="34" charset="0"/>
                <a:ea typeface="Calibri" pitchFamily="34" charset="-122"/>
                <a:cs typeface="Calibri" pitchFamily="34" charset="-120"/>
              </a:rPr>
              <a:t xml:space="preserve">90 % by the count on the previous slide. The converter is built and regulating, the fault is reproduced and fixed, the 720-word study is run, the controller is written, verified and synthesised, its output drives the SPICE power stage directly, and the driver has been rebuilt in real transistors.</a:t>
            </a:r>
          </a:p>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What is actually left — and it is not more simulating</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Place-and-route on a chosen board. </a:t>
            </a:r>
            <a:r>
              <a:rPr lang="en-US" sz="1300" dirty="0">
                <a:solidFill>
                  <a:srgbClr val="000000"/>
                </a:solidFill>
                <a:latin typeface="Calibri" pitchFamily="34" charset="0"/>
                <a:ea typeface="Calibri" pitchFamily="34" charset="-122"/>
                <a:cs typeface="Calibri" pitchFamily="34" charset="-120"/>
              </a:rPr>
              <a:t xml:space="preserve">Synthesis is done; the flow stops there because the XDC pins are placeholders. Doing it properly also means driving the 200 MHz clock from an MMCM rather than straight off a pin, which is what makes 34 clock-to-pin paths fail today.</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A hardware half-bridge, measured. </a:t>
            </a:r>
            <a:r>
              <a:rPr lang="en-US" sz="1300" dirty="0">
                <a:solidFill>
                  <a:srgbClr val="000000"/>
                </a:solidFill>
                <a:latin typeface="Calibri" pitchFamily="34" charset="0"/>
                <a:ea typeface="Calibri" pitchFamily="34" charset="-122"/>
                <a:cs typeface="Calibri" pitchFamily="34" charset="-120"/>
              </a:rPr>
              <a:t xml:space="preserve">This is the whole of the remaining honest risk. Everything in this deck is a simulation of a converter that has never been built, and one behavioural GaN model underlies all of it.</a:t>
            </a:r>
          </a:p>
          <a:p>
            <a:pPr marL="177800" indent="-177800">
              <a:spcAft>
                <a:spcPts val="0"/>
              </a:spcAft>
              <a:buSzPct val="100000"/>
              <a:buChar char="•"/>
            </a:pPr>
            <a:r>
              <a:rPr lang="en-US" sz="1200" dirty="0">
                <a:solidFill>
                  <a:srgbClr val="000000"/>
                </a:solidFill>
                <a:latin typeface="Calibri" pitchFamily="34" charset="0"/>
                <a:ea typeface="Calibri" pitchFamily="34" charset="-122"/>
                <a:cs typeface="Calibri" pitchFamily="34" charset="-120"/>
              </a:rPr>
              <a:t xml:space="preserve">Also worth doing: transcribe the silicon MOSFET datasheet digits rather than using datasheet-class values, and re-run the ceiling on the transistor-level stage now that it is known to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FPGA Controller — verified RTL</a:t>
            </a:r>
            <a:endParaRPr lang="en-US" sz="2800" dirty="0"/>
          </a:p>
        </p:txBody>
      </p:sp>
      <p:sp>
        <p:nvSpPr>
          <p:cNvPr id="5" name="Text 2"/>
          <p:cNvSpPr txBox="1"/>
          <p:nvPr/>
        </p:nvSpPr>
        <p:spPr>
          <a:xfrm>
            <a:off x="640080" y="1325880"/>
            <a:ext cx="10881360" cy="2286000"/>
          </a:xfrm>
          <a:prstGeom prst="rect">
            <a:avLst/>
          </a:prstGeom>
          <a:noFill/>
          <a:ln/>
        </p:spPr>
        <p:txBody>
          <a:bodyPr wrap="square" lIns="0" tIns="0" rIns="0" bIns="0" rtlCol="0" anchor="t"/>
          <a:lstStyle/>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Three Verilog modules that produce exactly the 720 settings the SPICE model uses.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Dead time is a </a:t>
            </a:r>
            <a:r>
              <a:rPr lang="en-US" sz="1500" b="1" dirty="0">
                <a:solidFill>
                  <a:srgbClr val="000000"/>
                </a:solidFill>
                <a:latin typeface="Calibri" pitchFamily="34" charset="0"/>
                <a:ea typeface="Calibri" pitchFamily="34" charset="-122"/>
                <a:cs typeface="Calibri" pitchFamily="34" charset="-120"/>
              </a:rPr>
              <a:t xml:space="preserve">live register</a:t>
            </a:r>
            <a:r>
              <a:rPr lang="en-US" sz="1500" dirty="0">
                <a:solidFill>
                  <a:srgbClr val="000000"/>
                </a:solidFill>
                <a:latin typeface="Calibri" pitchFamily="34" charset="0"/>
                <a:ea typeface="Calibri" pitchFamily="34" charset="-122"/>
                <a:cs typeface="Calibri" pitchFamily="34" charset="-120"/>
              </a:rPr>
              <a:t xml:space="preserve">; drive strength is </a:t>
            </a:r>
            <a:r>
              <a:rPr lang="en-US" sz="1500" b="1" dirty="0">
                <a:solidFill>
                  <a:srgbClr val="000000"/>
                </a:solidFill>
                <a:latin typeface="Calibri" pitchFamily="34" charset="0"/>
                <a:ea typeface="Calibri" pitchFamily="34" charset="-122"/>
                <a:cs typeface="Calibri" pitchFamily="34" charset="-120"/>
              </a:rPr>
              <a:t xml:space="preserve">fixed at power-up</a:t>
            </a:r>
            <a:r>
              <a:rPr lang="en-US" sz="1500" dirty="0">
                <a:solidFill>
                  <a:srgbClr val="000000"/>
                </a:solidFill>
                <a:latin typeface="Calibri" pitchFamily="34" charset="0"/>
                <a:ea typeface="Calibri" pitchFamily="34" charset="-122"/>
                <a:cs typeface="Calibri" pitchFamily="34" charset="-120"/>
              </a:rPr>
              <a:t xml:space="preserve">, worth 5.45 % against 0.00 %.</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Eight checks pass in Icarus Verilog, safe reset included. A deliberately broken version is caught 221 times (sh rtl/mutate.sh).</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Built in Vivado 2024.1.2</a:t>
            </a:r>
            <a:r>
              <a:rPr lang="en-US" sz="1500" dirty="0">
                <a:solidFill>
                  <a:srgbClr val="000000"/>
                </a:solidFill>
                <a:latin typeface="Calibri" pitchFamily="34" charset="0"/>
                <a:ea typeface="Calibri" pitchFamily="34" charset="-122"/>
                <a:cs typeface="Calibri" pitchFamily="34" charset="-120"/>
              </a:rPr>
              <a:t xml:space="preserve"> on an xc7a35t FPGA: </a:t>
            </a:r>
            <a:r>
              <a:rPr lang="en-US" sz="1500" b="1" dirty="0">
                <a:solidFill>
                  <a:srgbClr val="000000"/>
                </a:solidFill>
                <a:latin typeface="Calibri" pitchFamily="34" charset="0"/>
                <a:ea typeface="Calibri" pitchFamily="34" charset="-122"/>
                <a:cs typeface="Calibri" pitchFamily="34" charset="-120"/>
              </a:rPr>
              <a:t xml:space="preserve">20 LUTs, 20 flip-flops</a:t>
            </a:r>
            <a:r>
              <a:rPr lang="en-US" sz="1500" dirty="0">
                <a:solidFill>
                  <a:srgbClr val="000000"/>
                </a:solidFill>
                <a:latin typeface="Calibri" pitchFamily="34" charset="0"/>
                <a:ea typeface="Calibri" pitchFamily="34" charset="-122"/>
                <a:cs typeface="Calibri" pitchFamily="34" charset="-120"/>
              </a:rPr>
              <a:t xml:space="preserve">, 0.10 % of the chip. 200 MHz timing is </a:t>
            </a:r>
            <a:r>
              <a:rPr lang="en-US" sz="1500" b="1" dirty="0">
                <a:solidFill>
                  <a:srgbClr val="000000"/>
                </a:solidFill>
                <a:latin typeface="Calibri" pitchFamily="34" charset="0"/>
                <a:ea typeface="Calibri" pitchFamily="34" charset="-122"/>
                <a:cs typeface="Calibri" pitchFamily="34" charset="-120"/>
              </a:rPr>
              <a:t xml:space="preserve">met, with 1.996 ns to spare</a:t>
            </a:r>
            <a:r>
              <a:rPr lang="en-US" sz="1500" dirty="0">
                <a:solidFill>
                  <a:srgbClr val="000000"/>
                </a:solidFill>
                <a:latin typeface="Calibri" pitchFamily="34" charset="0"/>
                <a:ea typeface="Calibri" pitchFamily="34" charset="-122"/>
                <a:cs typeface="Calibri" pitchFamily="34" charset="-120"/>
              </a:rPr>
              <a:t xml:space="preserv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Timing is met where the logic runs. </a:t>
            </a:r>
            <a:r>
              <a:rPr lang="en-US" sz="1500" dirty="0">
                <a:solidFill>
                  <a:srgbClr val="000000"/>
                </a:solidFill>
                <a:latin typeface="Calibri" pitchFamily="34" charset="0"/>
                <a:ea typeface="Calibri" pitchFamily="34" charset="-122"/>
                <a:cs typeface="Calibri" pitchFamily="34" charset="-120"/>
              </a:rPr>
              <a:t xml:space="preserve">The paths that miss are chip-output paths, where the output pad alone takes 3.49 ns of a 4 ns budget: pad delay, not logic.</a:t>
            </a:r>
          </a:p>
        </p:txBody>
      </p:sp>
      <p:pic>
        <p:nvPicPr>
          <p:cNvPr id="6" name="Picture 5" descr="fig_rtl_waveform.png"/>
          <p:cNvPicPr>
            <a:picLocks noChangeAspect="1"/>
          </p:cNvPicPr>
          <p:nvPr/>
        </p:nvPicPr>
        <p:blipFill>
          <a:blip r:embed="rId4"/>
          <a:stretch>
            <a:fillRect/>
          </a:stretch>
        </p:blipFill>
        <p:spPr>
          <a:xfrm>
            <a:off x="2743200" y="3703320"/>
            <a:ext cx="6675120" cy="2422423"/>
          </a:xfrm>
          <a:prstGeom prst="rect">
            <a:avLst/>
          </a:prstGeom>
        </p:spPr>
      </p:pic>
      <p:sp>
        <p:nvSpPr>
          <p:cNvPr id="7" name="TextBox 6"/>
          <p:cNvSpPr txBox="1"/>
          <p:nvPr/>
        </p:nvSpPr>
        <p:spPr>
          <a:xfrm>
            <a:off x="2743200" y="6217920"/>
            <a:ext cx="6675120" cy="310896"/>
          </a:xfrm>
          <a:prstGeom prst="rect">
            <a:avLst/>
          </a:prstGeom>
          <a:noFill/>
        </p:spPr>
        <p:txBody>
          <a:bodyPr wrap="square" lIns="0" tIns="0" rIns="0" bIns="0">
            <a:spAutoFit/>
          </a:bodyPr>
          <a:lstStyle/>
          <a:p>
            <a:pPr marL="177800" indent="0">
              <a:spcAft>
                <a:spcPts val="0"/>
              </a:spcAft>
              <a:buSzPct val="100000"/>
              <a:buNone/>
            </a:pPr>
            <a:r>
              <a:rPr lang="en-US" sz="1000" dirty="0" b="1">
                <a:solidFill>
                  <a:srgbClr val="000000"/>
                </a:solidFill>
                <a:latin typeface="Calibri" pitchFamily="34" charset="0"/>
                <a:ea typeface="Calibri" pitchFamily="34" charset="-122"/>
                <a:cs typeface="Calibri" pitchFamily="34" charset="-120"/>
              </a:rPr>
              <a:t>Fig. 12 — </a:t>
            </a:r>
            <a:r>
              <a:rPr lang="en-US" sz="1000" dirty="0" b="1">
                <a:solidFill>
                  <a:srgbClr val="000000"/>
                </a:solidFill>
                <a:latin typeface="Calibri" pitchFamily="34" charset="0"/>
                <a:ea typeface="Calibri" pitchFamily="34" charset="-122"/>
                <a:cs typeface="Calibri" pitchFamily="34" charset="-120"/>
              </a:rPr>
              <a:t> Icarus Verilog output. </a:t>
            </a:r>
            <a:r>
              <a:rPr lang="en-US" sz="1000" dirty="0">
                <a:solidFill>
                  <a:srgbClr val="000000"/>
                </a:solidFill>
                <a:latin typeface="Calibri" pitchFamily="34" charset="0"/>
                <a:ea typeface="Calibri" pitchFamily="34" charset="-122"/>
                <a:cs typeface="Calibri" pitchFamily="34" charset="-120"/>
              </a:rPr>
              <a:t>Icarus Verilog VCD of seg_gate_ctrl.v. The pull-up banks never overlap; the shaded interval is the dead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 simulation and synthesis, on screen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vivado_simulation.png"/>
          <p:cNvPicPr>
            <a:picLocks noChangeAspect="1"/>
          </p:cNvPicPr>
          <p:nvPr/>
        </p:nvPicPr>
        <p:blipFill>
          <a:blip r:embed="rId5"/>
          <a:stretch>
            <a:fillRect/>
          </a:stretch>
        </p:blipFill>
        <p:spPr>
          <a:xfrm>
            <a:off x="502920" y="1417320"/>
            <a:ext cx="5532120" cy="3111818"/>
          </a:xfrm>
          <a:prstGeom prst="rect">
            <a:avLst/>
          </a:prstGeom>
        </p:spPr>
      </p:pic>
      <p:pic>
        <p:nvPicPr>
          <p:cNvPr id="6" name="Picture 5" descr="vivado_console.png"/>
          <p:cNvPicPr>
            <a:picLocks noChangeAspect="1"/>
          </p:cNvPicPr>
          <p:nvPr/>
        </p:nvPicPr>
        <p:blipFill>
          <a:blip r:embed="rId6"/>
          <a:stretch>
            <a:fillRect/>
          </a:stretch>
        </p:blipFill>
        <p:spPr>
          <a:xfrm>
            <a:off x="6263640" y="1417320"/>
            <a:ext cx="5532120" cy="3111818"/>
          </a:xfrm>
          <a:prstGeom prst="rect">
            <a:avLst/>
          </a:prstGeom>
        </p:spPr>
      </p:pic>
      <p:sp>
        <p:nvSpPr>
          <p:cNvPr id="7" name="TextBox 6"/>
          <p:cNvSpPr txBox="1"/>
          <p:nvPr/>
        </p:nvSpPr>
        <p:spPr>
          <a:xfrm>
            <a:off x="50292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Behavioural simulation. </a:t>
            </a:r>
            <a:r>
              <a:rPr lang="en-US" sz="1150" dirty="0">
                <a:solidFill>
                  <a:srgbClr val="000000"/>
                </a:solidFill>
                <a:latin typeface="Calibri" pitchFamily="34" charset="0"/>
                <a:ea typeface="Calibri" pitchFamily="34" charset="-122"/>
                <a:cs typeface="Calibri" pitchFamily="34" charset="-120"/>
              </a:rPr>
              <a:t xml:space="preserve">fails[31:0] = 0 — every asserted property holds in Vivado's own simulator, a third tool after Icarus and the mutation test.</a:t>
            </a:r>
          </a:p>
        </p:txBody>
      </p:sp>
      <p:sp>
        <p:nvSpPr>
          <p:cNvPr id="8" name="TextBox 7"/>
          <p:cNvSpPr txBox="1"/>
          <p:nvPr/>
        </p:nvSpPr>
        <p:spPr>
          <a:xfrm>
            <a:off x="626364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Synthesis console. </a:t>
            </a:r>
            <a:r>
              <a:rPr lang="en-US" sz="1150" dirty="0">
                <a:solidFill>
                  <a:srgbClr val="000000"/>
                </a:solidFill>
                <a:latin typeface="Calibri" pitchFamily="34" charset="0"/>
                <a:ea typeface="Calibri" pitchFamily="34" charset="-122"/>
                <a:cs typeface="Calibri" pitchFamily="34" charset="-120"/>
              </a:rPr>
              <a:t xml:space="preserve">33 LUTs programmable against 20 strapped — the cost of programmability, printed by the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03</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found</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Choosing the setting well beats re-tuning it — and by how much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cases we ran, one at a time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cases.png"/>
          <p:cNvPicPr>
            <a:picLocks noChangeAspect="1"/>
          </p:cNvPicPr>
          <p:nvPr/>
        </p:nvPicPr>
        <p:blipFill>
          <a:blip r:embed="rId4"/>
          <a:stretch>
            <a:fillRect/>
          </a:stretch>
        </p:blipFill>
        <p:spPr>
          <a:xfrm>
            <a:off x="731367" y="1170432"/>
            <a:ext cx="10728960" cy="4389120"/>
          </a:xfrm>
          <a:prstGeom prst="rect">
            <a:avLst/>
          </a:prstGeom>
        </p:spPr>
      </p:pic>
      <p:sp>
        <p:nvSpPr>
          <p:cNvPr id="6" name="TextBox 5"/>
          <p:cNvSpPr txBox="1"/>
          <p:nvPr/>
        </p:nvSpPr>
        <p:spPr>
          <a:xfrm>
            <a:off x="502920" y="5669280"/>
            <a:ext cx="11201400"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a:t>
            </a:r>
            <a:r>
              <a:rPr lang="en-US" sz="1250" dirty="0">
                <a:solidFill>
                  <a:srgbClr val="000000"/>
                </a:solidFill>
                <a:latin typeface="Calibri" pitchFamily="34" charset="0"/>
                <a:ea typeface="Calibri" pitchFamily="34" charset="-122"/>
                <a:cs typeface="Calibri" pitchFamily="34" charset="-120"/>
              </a:rPr>
              <a:t>(a) five settings at 100 V / 10 A, one ngspice run each; (b) dead-time sweep at two operating points. Cheapest dead time: 15 ns at full load, 5 ns at light load.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Which tool did what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tools.png"/>
          <p:cNvPicPr>
            <a:picLocks noChangeAspect="1"/>
          </p:cNvPicPr>
          <p:nvPr/>
        </p:nvPicPr>
        <p:blipFill>
          <a:blip r:embed="rId4"/>
          <a:stretch>
            <a:fillRect/>
          </a:stretch>
        </p:blipFill>
        <p:spPr>
          <a:xfrm>
            <a:off x="1188795" y="1234440"/>
            <a:ext cx="9814106" cy="4297680"/>
          </a:xfrm>
          <a:prstGeom prst="rect">
            <a:avLst/>
          </a:prstGeom>
        </p:spPr>
      </p:pic>
      <p:sp>
        <p:nvSpPr>
          <p:cNvPr id="6" name="TextBox 5"/>
          <p:cNvSpPr txBox="1"/>
          <p:nvPr/>
        </p:nvSpPr>
        <p:spPr>
          <a:xfrm>
            <a:off x="502920" y="5724144"/>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Division of work between the two circuit simulators. All ≈ 35,000 transients are ngspice; LTspice provides an independent check of the crosstalk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1 — crosstalk is real, and what fixes it</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Picture 4" descr="fig1_crosstalk.png"/>
          <p:cNvPicPr>
            <a:picLocks noChangeAspect="1"/>
          </p:cNvPicPr>
          <p:nvPr/>
        </p:nvPicPr>
        <p:blipFill>
          <a:blip r:embed="rId4"/>
          <a:stretch>
            <a:fillRect/>
          </a:stretch>
        </p:blipFill>
        <p:spPr>
          <a:xfrm>
            <a:off x="640080" y="1325880"/>
            <a:ext cx="6675120" cy="4238315"/>
          </a:xfrm>
          <a:prstGeom prst="rect">
            <a:avLst/>
          </a:prstGeom>
        </p:spPr>
      </p:pic>
      <p:sp>
        <p:nvSpPr>
          <p:cNvPr id="6" name="TextBox 5"/>
          <p:cNvSpPr txBox="1"/>
          <p:nvPr/>
        </p:nvSpPr>
        <p:spPr>
          <a:xfrm>
            <a:off x="640080" y="5760720"/>
            <a:ext cx="6675120" cy="41148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Gate–source voltage of the off-state device at low-side turn-on, 100 V / 10 A. No clamp: +1.65 V against a 1.4 V threshold. Clamp and −2 V rail: −1.18 V, margin 2.576 V.</a:t>
            </a:r>
          </a:p>
        </p:txBody>
      </p:sp>
      <p:sp>
        <p:nvSpPr>
          <p:cNvPr id="7" name="TextBox 6"/>
          <p:cNvSpPr txBox="1"/>
          <p:nvPr/>
        </p:nvSpPr>
        <p:spPr>
          <a:xfrm>
            <a:off x="7635240" y="1325880"/>
            <a:ext cx="388620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 xml:space="preserve">The problem is real, and reproduced</a:t>
            </a:r>
          </a:p>
        </p:txBody>
      </p:sp>
      <p:sp>
        <p:nvSpPr>
          <p:cNvPr id="8" name="TextBox 7"/>
          <p:cNvSpPr txBox="1"/>
          <p:nvPr/>
        </p:nvSpPr>
        <p:spPr>
          <a:xfrm>
            <a:off x="7635240" y="182880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1.65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peak on the gate that should be off</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threshold is 1.4 V — so it turns on by mistake</a:t>
            </a:r>
          </a:p>
        </p:txBody>
      </p:sp>
      <p:sp>
        <p:nvSpPr>
          <p:cNvPr id="9" name="TextBox 8"/>
          <p:cNvSpPr txBox="1"/>
          <p:nvPr/>
        </p:nvSpPr>
        <p:spPr>
          <a:xfrm>
            <a:off x="7635240" y="306324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2.58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margin with the clamp and the −2 V rail</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fault is removed completely</a:t>
            </a:r>
          </a:p>
        </p:txBody>
      </p:sp>
      <p:sp>
        <p:nvSpPr>
          <p:cNvPr id="10" name="TextBox 9"/>
          <p:cNvSpPr txBox="1"/>
          <p:nvPr/>
        </p:nvSpPr>
        <p:spPr>
          <a:xfrm>
            <a:off x="7635240" y="4343400"/>
            <a:ext cx="3886200" cy="1828800"/>
          </a:xfrm>
          <a:prstGeom prst="rect">
            <a:avLst/>
          </a:prstGeom>
          <a:noFill/>
        </p:spPr>
        <p:txBody>
          <a:bodyPr wrap="square" lIns="0" tIns="0" rIns="0" bIns="0">
            <a:spAutoFit/>
          </a:bodyPr>
          <a:lstStyle/>
          <a:p>
            <a:pPr marL="177800" indent="0">
              <a:spcAft>
                <a:spcPts val="200"/>
              </a:spcAft>
              <a:buSzPct val="100000"/>
              <a:buNone/>
            </a:pPr>
            <a:r>
              <a:rPr lang="en-US" sz="1500" b="1" dirty="0">
                <a:solidFill>
                  <a:srgbClr val="000000"/>
                </a:solidFill>
                <a:latin typeface="Calibri" pitchFamily="34" charset="0"/>
                <a:ea typeface="Calibri" pitchFamily="34" charset="-122"/>
                <a:cs typeface="Calibri" pitchFamily="34" charset="-120"/>
              </a:rPr>
              <a:t>And safety is nearly free</a:t>
            </a:r>
          </a:p>
          <a:p>
            <a:pPr marL="177800" indent="0">
              <a:spcAft>
                <a:spcPts val="200"/>
              </a:spcAft>
              <a:buSzPct val="100000"/>
              <a:buNone/>
            </a:pPr>
            <a:r>
              <a:rPr lang="en-US" sz="1300" dirty="0">
                <a:solidFill>
                  <a:srgbClr val="000000"/>
                </a:solidFill>
                <a:latin typeface="Calibri" pitchFamily="34" charset="0"/>
                <a:ea typeface="Calibri" pitchFamily="34" charset="-122"/>
                <a:cs typeface="Calibri" pitchFamily="34" charset="-120"/>
              </a:rPr>
              <a:t>The lowest-energy setting is already safe at three of the four operating points. At the fourth, safety costs 0.04 % more energy — 3.335 µJ against 3.334 µJ.</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The clamp is worth 9.7–12.2 % of the blended cost, with no sensor and no controller.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2 — the driver setting moves the converter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buck_tradeoff.png"/>
          <p:cNvPicPr>
            <a:picLocks noChangeAspect="1"/>
          </p:cNvPicPr>
          <p:nvPr/>
        </p:nvPicPr>
        <p:blipFill>
          <a:blip r:embed="rId4"/>
          <a:stretch>
            <a:fillRect/>
          </a:stretch>
        </p:blipFill>
        <p:spPr>
          <a:xfrm>
            <a:off x="666597" y="1188720"/>
            <a:ext cx="10858500" cy="4343400"/>
          </a:xfrm>
          <a:prstGeom prst="rect">
            <a:avLst/>
          </a:prstGeom>
        </p:spPr>
      </p:pic>
      <p:sp>
        <p:nvSpPr>
          <p:cNvPr id="6" name="TextBox 5"/>
          <p:cNvSpPr txBox="1"/>
          <p:nvPr/>
        </p:nvSpPr>
        <p:spPr>
          <a:xfrm>
            <a:off x="502920" y="5669280"/>
            <a:ext cx="11201400"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a:t>
            </a:r>
            <a:r>
              <a:rPr lang="en-US" sz="1250" dirty="0">
                <a:solidFill>
                  <a:srgbClr val="000000"/>
                </a:solidFill>
                <a:latin typeface="Calibri" pitchFamily="34" charset="0"/>
                <a:ea typeface="Calibri" pitchFamily="34" charset="-122"/>
                <a:cs typeface="Calibri" pitchFamily="34" charset="-120"/>
              </a:rPr>
              <a:t>Power lost and peak switch-node voltage against pull-up slice count, measured on the running converter. Eight runs of sim/buck.cir; minimum loss at four slices.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3 — re-tuning is worth only 3.5 %</a:t>
            </a:r>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Picture 4" descr="paper_fig2_ceiling.png"/>
          <p:cNvPicPr>
            <a:picLocks noChangeAspect="1"/>
          </p:cNvPicPr>
          <p:nvPr/>
        </p:nvPicPr>
        <p:blipFill>
          <a:blip r:embed="rId2"/>
          <a:stretch>
            <a:fillRect/>
          </a:stretch>
        </p:blipFill>
        <p:spPr>
          <a:xfrm>
            <a:off x="640080" y="1417320"/>
            <a:ext cx="6035040" cy="3212290"/>
          </a:xfrm>
          <a:prstGeom prst="rect">
            <a:avLst/>
          </a:prstGeom>
        </p:spPr>
      </p:pic>
      <p:sp>
        <p:nvSpPr>
          <p:cNvPr id="6" name="TextBox 5"/>
          <p:cNvSpPr txBox="1"/>
          <p:nvPr/>
        </p:nvSpPr>
        <p:spPr>
          <a:xfrm>
            <a:off x="640080" y="4892040"/>
            <a:ext cx="6035040" cy="41148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Cost of one fixed control word against the true per-corner optimum, four operating points, 2,880 transients. Penalty 1.1 / 2.3 / 12.7 / 3.8 %.</a:t>
            </a:r>
          </a:p>
        </p:txBody>
      </p:sp>
      <p:sp>
        <p:nvSpPr>
          <p:cNvPr id="8" name="TextBox 7"/>
          <p:cNvSpPr txBox="1"/>
          <p:nvPr/>
        </p:nvSpPr>
        <p:spPr>
          <a:xfrm>
            <a:off x="6995160" y="1325880"/>
            <a:ext cx="452628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What re-tuning is actually worth</a:t>
            </a:r>
          </a:p>
        </p:txBody>
      </p:sp>
      <p:sp>
        <p:nvSpPr>
          <p:cNvPr id="9" name="TextBox 8"/>
          <p:cNvSpPr txBox="1"/>
          <p:nvPr/>
        </p:nvSpPr>
        <p:spPr>
          <a:xfrm>
            <a:off x="6995160" y="1828800"/>
            <a:ext cx="45262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3.5 %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the most that re-tuning can ever gain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against the best single fixed setting, over 36 corners (= 2.6 % of baseline). One fixed setting is nearly as good.</a:t>
            </a:r>
          </a:p>
        </p:txBody>
      </p:sp>
      <p:sp>
        <p:nvSpPr>
          <p:cNvPr id="10" name="TextBox 9"/>
          <p:cNvSpPr txBox="1"/>
          <p:nvPr/>
        </p:nvSpPr>
        <p:spPr>
          <a:xfrm>
            <a:off x="6995160" y="3035808"/>
            <a:ext cx="4526280" cy="3401568"/>
          </a:xfrm>
          <a:prstGeom prst="rect">
            <a:avLst/>
          </a:prstGeom>
          <a:noFill/>
        </p:spPr>
        <p:txBody>
          <a:bodyPr wrap="square" lIns="0" tIns="0" rIns="0" bIns="0">
            <a:spAutoFit/>
          </a:bodyPr>
          <a:lstStyle/>
          <a:p>
            <a:pPr marL="177800" indent="0">
              <a:spcAft>
                <a:spcPts val="180"/>
              </a:spcAft>
              <a:buSzPct val="100000"/>
              <a:buNone/>
            </a:pPr>
            <a:r>
              <a:rPr lang="en-US" sz="1300" b="1" dirty="0">
                <a:solidFill>
                  <a:srgbClr val="000000"/>
                </a:solidFill>
                <a:latin typeface="Calibri" pitchFamily="34" charset="0"/>
                <a:ea typeface="Calibri" pitchFamily="34" charset="-122"/>
                <a:cs typeface="Calibri" pitchFamily="34" charset="-120"/>
              </a:rPr>
              <a:t>The benefit is not spread out. </a:t>
            </a:r>
            <a:r>
              <a:rPr lang="en-US" sz="1300" dirty="0">
                <a:solidFill>
                  <a:srgbClr val="000000"/>
                </a:solidFill>
                <a:latin typeface="Calibri" pitchFamily="34" charset="0"/>
                <a:ea typeface="Calibri" pitchFamily="34" charset="-122"/>
                <a:cs typeface="Calibri" pitchFamily="34" charset="-120"/>
              </a:rPr>
              <a:t>Over 36 points the fixed word costs 0.01 % to 14.2 %; worst is 200 V / 2 A / 125 °C.</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3.5 % on the full 36-corner grid — 720 words at each, 25,911 transients. The four-corner study said 5.2 %.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It all comes from the dead time, and that from one operating point. Freezing the dead time costs 5.45 % across four points. Drop the light-load 50 V / 2 A point and it costs 0.00 %: three points want 5 ns, only that one wants 15 ns. So the adaptive hardware shrinks to one light-load detector choosing between two dead times. Freezing the drive strength costs 0.00 % — and that is what these papers actually adjust.</a:t>
            </a:r>
          </a:p>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Steady against the device, not the board. </a:t>
            </a:r>
            <a:r>
              <a:rPr lang="en-US" sz="1300" dirty="0">
                <a:solidFill>
                  <a:srgbClr val="000000"/>
                </a:solidFill>
                <a:latin typeface="Calibri" pitchFamily="34" charset="0"/>
                <a:ea typeface="Calibri" pitchFamily="34" charset="-122"/>
                <a:cs typeface="Calibri" pitchFamily="34" charset="-120"/>
              </a:rPr>
              <a:t>Across 21,600 runs no device parameter moves the answer outside 4.3–7.7 %. Halving the board inductance takes it to 13.5 %, and that is layout, not the transistor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4 — the two halves nobody separates</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Box 4"/>
          <p:cNvSpPr txBox="1"/>
          <p:nvPr/>
        </p:nvSpPr>
        <p:spPr>
          <a:xfrm>
            <a:off x="640080" y="1261872"/>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Segmented gate drivers set drive strength by a pattern fixed at design time [10]. Papers on active gate drivers report one number — the improvement over a conventional driver — and that number adds two separate effects together. Only the second needs a sensor, an ADC and a lookup table. Separating them means running every setting at every operating point.</a:t>
            </a:r>
          </a:p>
        </p:txBody>
      </p:sp>
      <p:sp>
        <p:nvSpPr>
          <p:cNvPr id="6" name="TextBox 5"/>
          <p:cNvSpPr txBox="1"/>
          <p:nvPr/>
        </p:nvSpPr>
        <p:spPr>
          <a:xfrm>
            <a:off x="640080" y="2212848"/>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(A)   Pick a better fixed setting</a:t>
            </a:r>
          </a:p>
        </p:txBody>
      </p:sp>
      <p:sp>
        <p:nvSpPr>
          <p:cNvPr id="7" name="TextBox 6"/>
          <p:cNvSpPr txBox="1"/>
          <p:nvPr/>
        </p:nvSpPr>
        <p:spPr>
          <a:xfrm>
            <a:off x="6812280" y="2029967"/>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26.5 %</a:t>
            </a:r>
          </a:p>
        </p:txBody>
      </p:sp>
      <p:sp>
        <p:nvSpPr>
          <p:cNvPr id="8" name="TextBox 7"/>
          <p:cNvSpPr txBox="1"/>
          <p:nvPr/>
        </p:nvSpPr>
        <p:spPr>
          <a:xfrm>
            <a:off x="9006840" y="2249424"/>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no sensing · no LUT</a:t>
            </a:r>
          </a:p>
        </p:txBody>
      </p:sp>
      <p:sp>
        <p:nvSpPr>
          <p:cNvPr id="9" name="TextBox 8"/>
          <p:cNvSpPr txBox="1"/>
          <p:nvPr/>
        </p:nvSpPr>
        <p:spPr>
          <a:xfrm>
            <a:off x="640080" y="3236976"/>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Change it per operating point</a:t>
            </a:r>
          </a:p>
        </p:txBody>
      </p:sp>
      <p:sp>
        <p:nvSpPr>
          <p:cNvPr id="10" name="TextBox 9"/>
          <p:cNvSpPr txBox="1"/>
          <p:nvPr/>
        </p:nvSpPr>
        <p:spPr>
          <a:xfrm>
            <a:off x="6812280" y="3054096"/>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2.6 %</a:t>
            </a:r>
          </a:p>
        </p:txBody>
      </p:sp>
      <p:sp>
        <p:nvSpPr>
          <p:cNvPr id="11" name="TextBox 10"/>
          <p:cNvSpPr txBox="1"/>
          <p:nvPr/>
        </p:nvSpPr>
        <p:spPr>
          <a:xfrm>
            <a:off x="9006840" y="3273552"/>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needs all of it</a:t>
            </a:r>
          </a:p>
        </p:txBody>
      </p:sp>
      <p:sp>
        <p:nvSpPr>
          <p:cNvPr id="12" name="TextBox 11"/>
          <p:cNvSpPr txBox="1"/>
          <p:nvPr/>
        </p:nvSpPr>
        <p:spPr>
          <a:xfrm>
            <a:off x="640080" y="4261104"/>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…but one comparator gets 46 % of (B)</a:t>
            </a:r>
          </a:p>
        </p:txBody>
      </p:sp>
      <p:sp>
        <p:nvSpPr>
          <p:cNvPr id="13" name="TextBox 12"/>
          <p:cNvSpPr txBox="1"/>
          <p:nvPr/>
        </p:nvSpPr>
        <p:spPr>
          <a:xfrm>
            <a:off x="6812280" y="4078224"/>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1.2 %</a:t>
            </a:r>
          </a:p>
        </p:txBody>
      </p:sp>
      <p:sp>
        <p:nvSpPr>
          <p:cNvPr id="14" name="TextBox 13"/>
          <p:cNvSpPr txBox="1"/>
          <p:nvPr/>
        </p:nvSpPr>
        <p:spPr>
          <a:xfrm>
            <a:off x="9006840" y="4297680"/>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a threshold, not a LUT</a:t>
            </a:r>
          </a:p>
        </p:txBody>
      </p:sp>
      <p:sp>
        <p:nvSpPr>
          <p:cNvPr id="15" name="TextBox 14"/>
          <p:cNvSpPr txBox="1"/>
          <p:nvPr/>
        </p:nvSpPr>
        <p:spPr>
          <a:xfrm>
            <a:off x="640080" y="5413248"/>
            <a:ext cx="11064240" cy="1005840"/>
          </a:xfrm>
          <a:prstGeom prst="rect">
            <a:avLst/>
          </a:prstGeom>
          <a:noFill/>
        </p:spPr>
        <p:txBody>
          <a:bodyPr wrap="square" lIns="0" tIns="0" rIns="0" bIns="0">
            <a:spAutoFit/>
          </a:bodyPr>
          <a:lstStyle/>
          <a:p>
            <a:pPr marL="177800" indent="0">
              <a:spcAft>
                <a:spcPts val="130"/>
              </a:spcAft>
              <a:buSzPct val="100000"/>
              <a:buNone/>
            </a:pPr>
            <a:r>
              <a:rPr lang="en-US" sz="1300" dirty="0" b="1">
                <a:solidFill>
                  <a:srgbClr val="000000"/>
                </a:solidFill>
                <a:latin typeface="Calibri" pitchFamily="34" charset="0"/>
                <a:ea typeface="Calibri" pitchFamily="34" charset="-122"/>
                <a:cs typeface="Calibri" pitchFamily="34" charset="-120"/>
              </a:rPr>
              <a:t>Adaptation is 8.9 % of the total gain — 2.6 points of 29.0, over 36 operating points; the other 91.1 % comes from the fixed word and needs no sensing. </a:t>
            </a:r>
            <a:r>
              <a:rPr lang="en-US" sz="1300" dirty="0">
                <a:solidFill>
                  <a:srgbClr val="000000"/>
                </a:solidFill>
                <a:latin typeface="Calibri" pitchFamily="34" charset="0"/>
                <a:ea typeface="Calibri" pitchFamily="34" charset="-122"/>
                <a:cs typeface="Calibri" pitchFamily="34" charset="-120"/>
              </a:rPr>
              <a:t>Full sensing, ADC and lookup table justify 4.7 % of the total gain over a fixed word plus one comparator (load current at 10 A, which takes 47 % of the adaptive gap), or 3.4 % over a fixed word plus two. One threshold cannot do better: ten distinct best words spread over the 36 corners, and bus, load and temperature each disagree internally. The four-corner study named bus voltage at 75 V here; on the full grid the comparator is load current.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5 — re-tuning only pays below ~2.5 nH</a:t>
            </a:r>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Picture 4" descr="fig_lloop.png"/>
          <p:cNvPicPr>
            <a:picLocks noChangeAspect="1"/>
          </p:cNvPicPr>
          <p:nvPr/>
        </p:nvPicPr>
        <p:blipFill>
          <a:blip r:embed="rId4"/>
          <a:stretch>
            <a:fillRect/>
          </a:stretch>
        </p:blipFill>
        <p:spPr>
          <a:xfrm>
            <a:off x="1938528" y="1234440"/>
            <a:ext cx="8311896" cy="4478392"/>
          </a:xfrm>
          <a:prstGeom prst="rect">
            <a:avLst/>
          </a:prstGeom>
        </p:spPr>
      </p:pic>
      <p:sp>
        <p:nvSpPr>
          <p:cNvPr id="6" name="TextBox 5"/>
          <p:cNvSpPr txBox="1"/>
          <p:nvPr/>
        </p:nvSpPr>
        <p:spPr>
          <a:xfrm>
            <a:off x="640080" y="5815584"/>
            <a:ext cx="10881360" cy="640080"/>
          </a:xfrm>
          <a:prstGeom prst="rect">
            <a:avLst/>
          </a:prstGeom>
          <a:noFill/>
        </p:spPr>
        <p:txBody>
          <a:bodyPr wrap="square" lIns="0" tIns="0" rIns="0" bIns="0">
            <a:spAutoFit/>
          </a:bodyPr>
          <a:lstStyle/>
          <a:p>
            <a:pPr marL="177800" indent="0">
              <a:spcAft>
                <a:spcPts val="0"/>
              </a:spcAft>
              <a:buSzPct val="100000"/>
              <a:buNone/>
            </a:pPr>
            <a:r>
              <a:rPr lang="en-US" sz="1200" dirty="0" b="1">
                <a:solidFill>
                  <a:srgbClr val="000000"/>
                </a:solidFill>
                <a:latin typeface="Calibri" pitchFamily="34" charset="0"/>
                <a:ea typeface="Calibri" pitchFamily="34" charset="-122"/>
                <a:cs typeface="Calibri" pitchFamily="34" charset="-120"/>
              </a:rPr>
              <a:t>@FIG@ </a:t>
            </a:r>
            <a:r>
              <a:rPr lang="en-US" sz="1200" dirty="0">
                <a:solidFill>
                  <a:srgbClr val="000000"/>
                </a:solidFill>
                <a:latin typeface="Calibri" pitchFamily="34" charset="0"/>
                <a:ea typeface="Calibri" pitchFamily="34" charset="-122"/>
                <a:cs typeface="Calibri" pitchFamily="34" charset="-120"/>
              </a:rPr>
              <a:t>Ceiling on operating-point scheduling against power-loop inductance. Eight values, 7,200 transients. Scheduling pays only below about 2.5 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demo_crosstalk_explained.mp4">
            <a:hlinkClick r:id="" action="ppaction://media"/>
          </p:cNvPr>
          <p:cNvPicPr>
            <a:picLocks noChangeAspect="1"/>
          </p:cNvPicPr>
          <p:nvPr>
            <a:videoFile r:link="rId4"/>
            <p:extLst>
              <p:ext uri="{DAA4B4D4-6D71-4841-9C94-3DE7FCFB9230}">
                <p14:media xmlns:p14="http://schemas.microsoft.com/office/powerpoint/2010/main" r:embed="rId2"/>
              </p:ext>
            </p:extLst>
          </p:nvPr>
        </p:nvPicPr>
        <p:blipFill>
          <a:blip r:embed="rId5"/>
          <a:stretch>
            <a:fillRect/>
          </a:stretch>
        </p:blipFill>
        <p:spPr>
          <a:xfrm>
            <a:off x="640080" y="1417320"/>
            <a:ext cx="6949440" cy="4050791"/>
          </a:xfrm>
          <a:prstGeom prst="rect">
            <a:avLst/>
          </a:prstGeom>
        </p:spPr>
      </p:pic>
      <p:sp>
        <p:nvSpPr>
          <p:cNvPr id="6" name="TextBox 5"/>
          <p:cNvSpPr txBox="1"/>
          <p:nvPr/>
        </p:nvSpPr>
        <p:spPr>
          <a:xfrm>
            <a:off x="640080" y="5623560"/>
            <a:ext cx="6949440" cy="36576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ngspice waveforms from sim/dpt.cir, failing and shipped configurations. 22 s. Click to play.</a:t>
            </a:r>
          </a:p>
        </p:txBody>
      </p:sp>
      <p:sp>
        <p:nvSpPr>
          <p:cNvPr id="7" name="TextBox 6"/>
          <p:cNvSpPr txBox="1"/>
          <p:nvPr/>
        </p:nvSpPr>
        <p:spPr>
          <a:xfrm>
            <a:off x="7909560" y="1417320"/>
            <a:ext cx="3611880" cy="4206240"/>
          </a:xfrm>
          <a:prstGeom prst="rect">
            <a:avLst/>
          </a:prstGeom>
          <a:noFill/>
        </p:spPr>
        <p:txBody>
          <a:bodyPr wrap="square" lIns="0" tIns="0" rIns="0" bIns="0">
            <a:spAutoFit/>
          </a:bodyPr>
          <a:lstStyle/>
          <a:p>
            <a:pPr marL="177800" indent="0">
              <a:spcAft>
                <a:spcPts val="240"/>
              </a:spcAft>
              <a:buSzPct val="100000"/>
              <a:buNone/>
            </a:pPr>
            <a:r>
              <a:rPr lang="en-US" sz="1500" b="1" dirty="0">
                <a:solidFill>
                  <a:srgbClr val="000000"/>
                </a:solidFill>
                <a:latin typeface="Calibri" pitchFamily="34" charset="0"/>
                <a:ea typeface="Calibri" pitchFamily="34" charset="-122"/>
                <a:cs typeface="Calibri" pitchFamily="34" charset="-120"/>
              </a:rPr>
              <a:t>What it shows</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TOP row: the switch node. </a:t>
            </a:r>
            <a:r>
              <a:rPr lang="en-US" sz="1250" dirty="0">
                <a:solidFill>
                  <a:srgbClr val="000000"/>
                </a:solidFill>
                <a:latin typeface="Calibri" pitchFamily="34" charset="0"/>
                <a:ea typeface="Calibri" pitchFamily="34" charset="-122"/>
                <a:cs typeface="Calibri" pitchFamily="34" charset="-120"/>
              </a:rPr>
              <a:t>The low-side device turns on and the voltage collapses from 100 V in a few nanoseconds. That fast drop is the cause.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BOTTOM row: the gate of the OFF device. </a:t>
            </a:r>
            <a:r>
              <a:rPr lang="en-US" sz="1250" dirty="0">
                <a:solidFill>
                  <a:srgbClr val="000000"/>
                </a:solidFill>
                <a:latin typeface="Calibri" pitchFamily="34" charset="0"/>
                <a:ea typeface="Calibri" pitchFamily="34" charset="-122"/>
                <a:cs typeface="Calibri" pitchFamily="34" charset="-120"/>
              </a:rPr>
              <a:t>The fast drop pushes charge through C</a:t>
            </a:r>
            <a:r>
              <a:rPr lang="en-US" sz="1250" dirty="0">
                <a:solidFill>
                  <a:srgbClr val="000000"/>
                </a:solidFill>
                <a:latin typeface="Calibri" pitchFamily="34" charset="0"/>
                <a:ea typeface="Calibri" pitchFamily="34" charset="-122"/>
                <a:cs typeface="Calibri" pitchFamily="34" charset="-120"/>
              </a:rPr>
              <a:t>GD</a:t>
            </a:r>
            <a:r>
              <a:rPr lang="en-US" sz="1250" dirty="0">
                <a:solidFill>
                  <a:srgbClr val="000000"/>
                </a:solidFill>
                <a:latin typeface="Calibri" pitchFamily="34" charset="0"/>
                <a:ea typeface="Calibri" pitchFamily="34" charset="-122"/>
                <a:cs typeface="Calibri" pitchFamily="34" charset="-120"/>
              </a:rPr>
              <a:t> and lifts that gate.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LEFT, failing: </a:t>
            </a:r>
            <a:r>
              <a:rPr lang="en-US" sz="1250" dirty="0">
                <a:solidFill>
                  <a:srgbClr val="000000"/>
                </a:solidFill>
                <a:latin typeface="Calibri" pitchFamily="34" charset="0"/>
                <a:ea typeface="Calibri" pitchFamily="34" charset="-122"/>
                <a:cs typeface="Calibri" pitchFamily="34" charset="-120"/>
              </a:rPr>
              <a:t>the gate reaches +1.65 V, above the 1.4 V line drawn on the plot. The device turns on when it must not.</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RIGHT, shipped: </a:t>
            </a:r>
            <a:r>
              <a:rPr lang="en-US" sz="1250" dirty="0">
                <a:solidFill>
                  <a:srgbClr val="000000"/>
                </a:solidFill>
                <a:latin typeface="Calibri" pitchFamily="34" charset="0"/>
                <a:ea typeface="Calibri" pitchFamily="34" charset="-122"/>
                <a:cs typeface="Calibri" pitchFamily="34" charset="-120"/>
              </a:rPr>
              <a:t>same circuit, same setting, plus the gate clamp and −2 V rail. Peak −1.18 V, a 2.58 V margin.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Both panels are the same simulation; only the clamp and the off rail differ.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Conclusion &amp; next steps</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0">
              <a:spcAft>
                <a:spcPts val="200"/>
              </a:spcAft>
              <a:buSzPct val="100000"/>
              <a:buNone/>
            </a:pPr>
            <a:r>
              <a:rPr lang="en-US" sz="1600" b="1" dirty="0">
                <a:solidFill>
                  <a:srgbClr val="000000"/>
                </a:solidFill>
                <a:latin typeface="Calibri" pitchFamily="34" charset="0"/>
                <a:ea typeface="Calibri" pitchFamily="34" charset="-122"/>
                <a:cs typeface="Calibri" pitchFamily="34" charset="-120"/>
              </a:rPr>
              <a:t>What the data supports</a:t>
            </a:r>
          </a:p>
          <a:p>
            <a:pPr marL="177800" indent="0">
              <a:spcAft>
                <a:spcPts val="260"/>
              </a:spcAft>
              <a:buSzPct val="100000"/>
              <a:buNone/>
            </a:pPr>
            <a:r>
              <a:rPr lang="en-US" sz="1350" dirty="0">
                <a:solidFill>
                  <a:srgbClr val="000000"/>
                </a:solidFill>
                <a:latin typeface="Calibri" pitchFamily="34" charset="0"/>
                <a:ea typeface="Calibri" pitchFamily="34" charset="-122"/>
                <a:cs typeface="Calibri" pitchFamily="34" charset="-120"/>
              </a:rPr>
              <a:t>The converter works: 100 V DC in, 48.50 V DC out at 4.869 A — 236.26 W, 97.49 % efficient.</a:t>
            </a:r>
          </a:p>
          <a:p>
            <a:pPr marL="177800" indent="0">
              <a:spcAft>
                <a:spcPts val="200"/>
              </a:spcAft>
              <a:buSzPct val="100000"/>
              <a:buNone/>
            </a:pPr>
            <a:r>
              <a:rPr lang="en-US" sz="1700" dirty="0">
                <a:solidFill>
                  <a:srgbClr val="000000"/>
                </a:solidFill>
                <a:latin typeface="Calibri" pitchFamily="34" charset="0"/>
                <a:ea typeface="Calibri" pitchFamily="34" charset="-122"/>
                <a:cs typeface="Calibri" pitchFamily="34" charset="-120"/>
              </a:rPr>
              <a:t>Picking the setting well: 26.5 %.   Changing it per operating point: 2.6 %.</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One comparator — load current at 10 A — gets 47 % of that 2.6 %; two comparators get 61 %.</a:t>
            </a:r>
          </a:p>
          <a:p>
            <a:pPr marL="177800" indent="-177800">
              <a:spcAft>
                <a:spcPts val="220"/>
              </a:spcAft>
              <a:buSzPct val="100000"/>
              <a:buChar char="•"/>
            </a:pPr>
            <a:r>
              <a:rPr lang="en-US" sz="1600" dirty="0" b="1">
                <a:solidFill>
                  <a:srgbClr val="000000"/>
                </a:solidFill>
                <a:latin typeface="Calibri" pitchFamily="34" charset="0"/>
                <a:ea typeface="Calibri" pitchFamily="34" charset="-122"/>
                <a:cs typeface="Calibri" pitchFamily="34" charset="-120"/>
              </a:rPr>
              <a:t>What to build: </a:t>
            </a:r>
            <a:r>
              <a:rPr lang="en-US" sz="1600" dirty="0">
                <a:solidFill>
                  <a:srgbClr val="000000"/>
                </a:solidFill>
                <a:latin typeface="Calibri" pitchFamily="34" charset="0"/>
                <a:ea typeface="Calibri" pitchFamily="34" charset="-122"/>
                <a:cs typeface="Calibri" pitchFamily="34" charset="-120"/>
              </a:rPr>
              <a:t>one fixed setting plus one bus-voltage comparator — not a sensor, an ADC and a lookup table.</a:t>
            </a:r>
          </a:p>
          <a:p>
            <a:pPr marL="177800" indent="-177800">
              <a:spcAft>
                <a:spcPts val="340"/>
              </a:spcAft>
              <a:buSzPct val="100000"/>
              <a:buChar char="•"/>
            </a:pPr>
            <a:r>
              <a:rPr lang="en-US" sz="1600" dirty="0">
                <a:solidFill>
                  <a:srgbClr val="000000"/>
                </a:solidFill>
                <a:latin typeface="Calibri" pitchFamily="34" charset="0"/>
                <a:ea typeface="Calibri" pitchFamily="34" charset="-122"/>
                <a:cs typeface="Calibri" pitchFamily="34" charset="-120"/>
              </a:rPr>
              <a:t>The FPGA half is real: 20 LUTs and 20 flip-flops, 200 MHz met with 1.996 ns to spare.</a:t>
            </a:r>
          </a:p>
          <a:p>
            <a:pPr marL="177800" indent="-177800">
              <a:spcAft>
                <a:spcPts val="340"/>
              </a:spcAft>
              <a:buSzPct val="100000"/>
              <a:buChar char="•"/>
            </a:pPr>
            <a:r>
              <a:rPr lang="en-US" sz="1600" dirty="0" b="1">
                <a:solidFill>
                  <a:srgbClr val="000000"/>
                </a:solidFill>
                <a:latin typeface="Calibri" pitchFamily="34" charset="0"/>
                <a:ea typeface="Calibri" pitchFamily="34" charset="-122"/>
                <a:cs typeface="Calibri" pitchFamily="34" charset="-120"/>
              </a:rPr>
              <a:t>What is next</a:t>
            </a:r>
          </a:p>
          <a:p>
            <a:pPr marL="177800" indent="0">
              <a:spcAft>
                <a:spcPts val="240"/>
              </a:spcAft>
              <a:buSzPct val="100000"/>
              <a:buNone/>
            </a:pPr>
            <a:r>
              <a:rPr lang="en-US" sz="1700" dirty="0">
                <a:solidFill>
                  <a:srgbClr val="000000"/>
                </a:solidFill>
                <a:latin typeface="Calibri" pitchFamily="34" charset="0"/>
                <a:ea typeface="Calibri" pitchFamily="34" charset="-122"/>
                <a:cs typeface="Calibri" pitchFamily="34" charset="-120"/>
              </a:rPr>
              <a:t>Review-III — place-and-route on a chosen board, then a hardware half-bridge measured on a bench. That is the whole of the remaining risk: nothing here has been built.</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Also at Review-III — measure what a two-setting controller saves at the light-load point, where the best dead time differs.</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Every number in this deck is regenerated by a named script, in ngspice or in Vivado — 66,924 transient simulations across every study.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(1–15)</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  </a:t>
            </a:r>
            <a:r>
              <a:rPr lang="en-US" sz="900" dirty="0">
                <a:solidFill>
                  <a:srgbClr val="000000"/>
                </a:solidFill>
                <a:latin typeface="Calibri" pitchFamily="34" charset="0"/>
                <a:ea typeface="Calibri" pitchFamily="34" charset="-122"/>
                <a:cs typeface="Calibri" pitchFamily="34" charset="-120"/>
              </a:rPr>
              <a:t xml:space="preserve">Z. Zhang, F. Wang, L. M. Tolbert and B. J. Blalock, “Active Gate Driver for Crosstalk Suppression of SiC Devices in a Phase-Leg Configuration,” IEEE Trans. Power Electron., vol. 29, no. 4, pp. 1986–1997,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  </a:t>
            </a:r>
            <a:r>
              <a:rPr lang="en-US" sz="900" dirty="0">
                <a:solidFill>
                  <a:srgbClr val="000000"/>
                </a:solidFill>
                <a:latin typeface="Calibri" pitchFamily="34" charset="0"/>
                <a:ea typeface="Calibri" pitchFamily="34" charset="-122"/>
                <a:cs typeface="Calibri" pitchFamily="34" charset="-120"/>
              </a:rPr>
              <a:t xml:space="preserve">R. Xie, H. Wang, G. Tang, X. Yang and K. J. Chen, “An Analytical Model for False Turn-On Evaluation of High-Voltage Enhancement-Mode GaN Transistor in Bridge-Leg Configuration,” IEEE Trans. Power Electron., vol. 32, no. 8, pp. 6416–6433, Aug. 2017.</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  </a:t>
            </a:r>
            <a:r>
              <a:rPr lang="en-US" sz="900" dirty="0">
                <a:solidFill>
                  <a:srgbClr val="000000"/>
                </a:solidFill>
                <a:latin typeface="Calibri" pitchFamily="34" charset="0"/>
                <a:ea typeface="Calibri" pitchFamily="34" charset="-122"/>
                <a:cs typeface="Calibri" pitchFamily="34" charset="-120"/>
              </a:rPr>
              <a:t xml:space="preserve">D. Reusch and J. Strydom, “Understanding the Effect of PCB Layout on Circuit Performance in a High-Frequency Gallium-Nitride-Based Point of Load Converter,” IEEE Trans. Power Electron., vol. 29, no. 4, pp. 2008–2015,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[4]  </a:t>
            </a:r>
            <a:r>
              <a:rPr lang="en-US" sz="900" dirty="0">
                <a:solidFill>
                  <a:srgbClr val="000000"/>
                </a:solidFill>
                <a:latin typeface="Calibri" pitchFamily="34" charset="0"/>
                <a:ea typeface="Calibri" pitchFamily="34" charset="-122"/>
                <a:cs typeface="Calibri" pitchFamily="34" charset="-120"/>
              </a:rPr>
              <a:t xml:space="preserve">B. Li, G. Zhang, C. Li, G. Wang, S. Liu and D. Xu, “Crosstalk Suppression Method for GaN-Based Bridge Configuration Using Negative Voltage Self-Recovery Gate Drive,” IEEE Trans. Power Electron., vol. 37, no. 4, pp. 4406–4418,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[5]  </a:t>
            </a:r>
            <a:r>
              <a:rPr lang="en-US" sz="900" dirty="0">
                <a:solidFill>
                  <a:srgbClr val="000000"/>
                </a:solidFill>
                <a:latin typeface="Calibri" pitchFamily="34" charset="0"/>
                <a:ea typeface="Calibri" pitchFamily="34" charset="-122"/>
                <a:cs typeface="Calibri" pitchFamily="34" charset="-120"/>
              </a:rPr>
              <a:t xml:space="preserve">X. Chen, H. Peng, S. Song, Q. Tong and Y. Kang, “A Novel Control Strategy for Optimal Tradeoff between Overshoot and Switching Loss Based on Double Closed-Loop Self-Regulating Active Gate Driver,” IEEE Trans. Power Electron., vol. 39, no. 10, pp. 13033–13043,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[6]  </a:t>
            </a:r>
            <a:r>
              <a:rPr lang="en-US" sz="900" dirty="0">
                <a:solidFill>
                  <a:srgbClr val="000000"/>
                </a:solidFill>
                <a:latin typeface="Calibri" pitchFamily="34" charset="0"/>
                <a:ea typeface="Calibri" pitchFamily="34" charset="-122"/>
                <a:cs typeface="Calibri" pitchFamily="34" charset="-120"/>
              </a:rPr>
              <a:t xml:space="preserve">W. Song, T. Hu, J. Chen, T. Tang, H. Yue and G. Liu, “A Self-Regulating Active Gate Driver of Voltage Overshoot Suppression for SiC MOSFETs Under Variable Load Current Conditions,” IEEE Trans. Power Electron., vol. 40, no. 8, pp. 10623–10634,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[7]  </a:t>
            </a:r>
            <a:r>
              <a:rPr lang="en-US" sz="900" dirty="0">
                <a:solidFill>
                  <a:srgbClr val="000000"/>
                </a:solidFill>
                <a:latin typeface="Calibri" pitchFamily="34" charset="0"/>
                <a:ea typeface="Calibri" pitchFamily="34" charset="-122"/>
                <a:cs typeface="Calibri" pitchFamily="34" charset="-120"/>
              </a:rPr>
              <a:t xml:space="preserve">C.W. Kuo, T.W. Wang, L.C. Chen, C.C. Tu, Y.K. Hsiao and P.H. Chen, “Universal Active Gate Driver IC With Closed-Loop Timing Control and Gate-Sensing Technique for Silicon Carbide Power Devices,” IEEE Trans. Power Electron., vol. 40, no. 4, pp. 5120–5129,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[8]  </a:t>
            </a:r>
            <a:r>
              <a:rPr lang="en-US" sz="900" dirty="0">
                <a:solidFill>
                  <a:srgbClr val="000000"/>
                </a:solidFill>
                <a:latin typeface="Calibri" pitchFamily="34" charset="0"/>
                <a:ea typeface="Calibri" pitchFamily="34" charset="-122"/>
                <a:cs typeface="Calibri" pitchFamily="34" charset="-120"/>
              </a:rPr>
              <a:t xml:space="preserve">G.H. Thuc and C.J. Chen, “An Integrated Driver With Dual-Edge Adaptive Dead-Time Control for GaN-Based Synchronous Buck Converter,” IEEE Trans. Ind. Appl., vol. 60, no. 6, pp. 9157–9170,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[9]  </a:t>
            </a:r>
            <a:r>
              <a:rPr lang="en-US" sz="900" dirty="0">
                <a:solidFill>
                  <a:srgbClr val="000000"/>
                </a:solidFill>
                <a:latin typeface="Calibri" pitchFamily="34" charset="0"/>
                <a:ea typeface="Calibri" pitchFamily="34" charset="-122"/>
                <a:cs typeface="Calibri" pitchFamily="34" charset="-120"/>
              </a:rPr>
              <a:t xml:space="preserve">H. Takayama, T. Okuda and T. Hikihara, “Digital Active Gate Drive of SiC MOSFETs for Controlling Switching Behavior — Preparation Toward Universal Digitization of Power Switching,” Int. J. Circuit Theory Appl., vol. 50, no. 1, pp. 183–196,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[10]  </a:t>
            </a:r>
            <a:r>
              <a:rPr lang="en-US" sz="900" b="1" dirty="0">
                <a:solidFill>
                  <a:srgbClr val="000000"/>
                </a:solidFill>
                <a:latin typeface="Calibri" pitchFamily="34" charset="0"/>
                <a:ea typeface="Calibri" pitchFamily="34" charset="-122"/>
                <a:cs typeface="Calibri" pitchFamily="34" charset="-120"/>
              </a:rPr>
              <a:t xml:space="preserve">BASE PAPER — </a:t>
            </a:r>
            <a:r>
              <a:rPr lang="en-US" sz="900" dirty="0">
                <a:solidFill>
                  <a:srgbClr val="000000"/>
                </a:solidFill>
                <a:latin typeface="Calibri" pitchFamily="34" charset="0"/>
                <a:ea typeface="Calibri" pitchFamily="34" charset="-122"/>
                <a:cs typeface="Calibri" pitchFamily="34" charset="-120"/>
              </a:rPr>
              <a:t xml:space="preserve">W.J. Zhang, J. Yu, Y. Leng, W.T. Cui, G.Q. Deng and W.T. Ng, “A Segmented Gate Driver for E-mode GaN HEMTs with Simple Driving Strength Pattern Control,” in Proc. IEEE 32nd Int. Symp. Power Semicond. Devices ICs (ISPSD), 2020, pp. 102–105.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[11]  </a:t>
            </a:r>
            <a:r>
              <a:rPr lang="en-US" sz="900" dirty="0">
                <a:solidFill>
                  <a:srgbClr val="000000"/>
                </a:solidFill>
                <a:latin typeface="Calibri" pitchFamily="34" charset="0"/>
                <a:ea typeface="Calibri" pitchFamily="34" charset="-122"/>
                <a:cs typeface="Calibri" pitchFamily="34" charset="-120"/>
              </a:rPr>
              <a:t xml:space="preserve">X. Wang, M. Tao, J. Xiao, D. Luo, M. He, Q. Zhou, X. Zhang and M. Wang, “High-Frequency Three-Level Gate Driver for GaN HEMT Bridge Crosstalk Suppression,” IEEE Trans. Power Electron., vol. 39, no. 1, pp. 1343–1352,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[12]  </a:t>
            </a:r>
            <a:r>
              <a:rPr lang="en-US" sz="900" dirty="0">
                <a:solidFill>
                  <a:srgbClr val="000000"/>
                </a:solidFill>
                <a:latin typeface="Calibri" pitchFamily="34" charset="0"/>
                <a:ea typeface="Calibri" pitchFamily="34" charset="-122"/>
                <a:cs typeface="Calibri" pitchFamily="34" charset="-120"/>
              </a:rPr>
              <a:t xml:space="preserve">L. Wang, X. Sun, Y. Yan, M. Ma and D. Xu, “An Integrated Suppression Method of Both Gate-Source Voltage Oscillation and Crosstalk for GaN HEMT Gate Driver,” IEEE Trans. Power Electron., vol. 39, no. 11, pp. 14643–14655,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[13]  </a:t>
            </a:r>
            <a:r>
              <a:rPr lang="en-US" sz="900" dirty="0">
                <a:solidFill>
                  <a:srgbClr val="000000"/>
                </a:solidFill>
                <a:latin typeface="Calibri" pitchFamily="34" charset="0"/>
                <a:ea typeface="Calibri" pitchFamily="34" charset="-122"/>
                <a:cs typeface="Calibri" pitchFamily="34" charset="-120"/>
              </a:rPr>
              <a:t xml:space="preserve">Y. Cai, D. Ye, W. Lv and Z. Chen, “A High-Efficient GaN Driver With Hybrid Adaptive Dead-Time Control and Peak Delay Control for Synchronous Buck Converter,” IEEE Trans. Power Electron., vol. 41, no. 1, pp. 279–290,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[14]  </a:t>
            </a:r>
            <a:r>
              <a:rPr lang="en-US" sz="900" dirty="0">
                <a:solidFill>
                  <a:srgbClr val="000000"/>
                </a:solidFill>
                <a:latin typeface="Calibri" pitchFamily="34" charset="0"/>
                <a:ea typeface="Calibri" pitchFamily="34" charset="-122"/>
                <a:cs typeface="Calibri" pitchFamily="34" charset="-120"/>
              </a:rPr>
              <a:t xml:space="preserve">Y. Zheng, S. Zhao, P. Agarwal, F. Liu, Y. Zhao and A. Mantooth, “A Multi-Level Turn-Off Gate Driver for Crosstalk Noise Suppression of GaN HEMTs,” IEEE Open J. Power Electron., pp. 1–15,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[15]  </a:t>
            </a:r>
            <a:r>
              <a:rPr lang="en-US" sz="900" dirty="0">
                <a:solidFill>
                  <a:srgbClr val="000000"/>
                </a:solidFill>
                <a:latin typeface="Calibri" pitchFamily="34" charset="0"/>
                <a:ea typeface="Calibri" pitchFamily="34" charset="-122"/>
                <a:cs typeface="Calibri" pitchFamily="34" charset="-120"/>
              </a:rPr>
              <a:t xml:space="preserve">M.K. Banda, S. Madichetty, D.M. Natham and S. Koduru, “An Event-Triggered Dual-Polarity Gate Clamp for GaN HEMT Gate Oscillation Suppression,” IEEE Trans. Power Electron., vol. 41, no. 9, pp. 14402–14405, 2026.</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050" dirty="0">
                <a:solidFill>
                  <a:srgbClr val="000000"/>
                </a:solidFill>
                <a:latin typeface="Calibri" pitchFamily="34" charset="0"/>
                <a:ea typeface="Calibri" pitchFamily="34" charset="-122"/>
                <a:cs typeface="Calibri" pitchFamily="34" charset="-120"/>
              </a:rPr>
              <a:t xml:space="preserve">The papers this design engages with directly. [10] is the base paper, reimplemented in models/zhangdrv.lib and measured against throughout.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(16–30)</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[16]  </a:t>
            </a:r>
            <a:r>
              <a:rPr lang="en-US" sz="900" dirty="0">
                <a:solidFill>
                  <a:srgbClr val="000000"/>
                </a:solidFill>
                <a:latin typeface="Calibri" pitchFamily="34" charset="0"/>
                <a:ea typeface="Calibri" pitchFamily="34" charset="-122"/>
                <a:cs typeface="Calibri" pitchFamily="34" charset="-120"/>
              </a:rPr>
              <a:t xml:space="preserve">Z. Yuan, H. Li, M. Zhang, Z. Yang, S. Zhao, H. Wang, X. Wang and L. Ding, “Influence of Negative Gate Bias on Crosstalk Spike in SiC MOSFETs Half-Bridge Circuit,” IEEE J. Emerg. Sel. Topics Power Electron., vol. 14, no. 3, pp. 3217–3229,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[17]  </a:t>
            </a:r>
            <a:r>
              <a:rPr lang="en-US" sz="900" dirty="0">
                <a:solidFill>
                  <a:srgbClr val="000000"/>
                </a:solidFill>
                <a:latin typeface="Calibri" pitchFamily="34" charset="0"/>
                <a:ea typeface="Calibri" pitchFamily="34" charset="-122"/>
                <a:cs typeface="Calibri" pitchFamily="34" charset="-120"/>
              </a:rPr>
              <a:t xml:space="preserve">L. Zhang, K. Wang, S. Guo and B. Zhu, “A Gate Driver for Crosstalk Suppression of eGaN HEMT Power Devices,” J. Low Power Electron. Appl., vol. 15, no. 3, pp. 38,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[18]  </a:t>
            </a:r>
            <a:r>
              <a:rPr lang="en-US" sz="900" dirty="0">
                <a:solidFill>
                  <a:srgbClr val="000000"/>
                </a:solidFill>
                <a:latin typeface="Calibri" pitchFamily="34" charset="0"/>
                <a:ea typeface="Calibri" pitchFamily="34" charset="-122"/>
                <a:cs typeface="Calibri" pitchFamily="34" charset="-120"/>
              </a:rPr>
              <a:t xml:space="preserve">J. Wu, “Parallel arrangement of MOSFETs, effective suppression of crosstalk: A new gate driver topology,” iEnergy, vol. 2, no. 3, pp. 163–163,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[19]  </a:t>
            </a:r>
            <a:r>
              <a:rPr lang="en-US" sz="900" dirty="0">
                <a:solidFill>
                  <a:srgbClr val="000000"/>
                </a:solidFill>
                <a:latin typeface="Calibri" pitchFamily="34" charset="0"/>
                <a:ea typeface="Calibri" pitchFamily="34" charset="-122"/>
                <a:cs typeface="Calibri" pitchFamily="34" charset="-120"/>
              </a:rPr>
              <a:t xml:space="preserve">Y. Mikhaylov, G. Buticchi and M. Galea, “A gate driver for parallel connected MOSFETs with crosstalk suppression,” iEnergy, vol. 2, no. 3, pp. 240–250,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[20]  </a:t>
            </a:r>
            <a:r>
              <a:rPr lang="en-US" sz="900" dirty="0">
                <a:solidFill>
                  <a:srgbClr val="000000"/>
                </a:solidFill>
                <a:latin typeface="Calibri" pitchFamily="34" charset="0"/>
                <a:ea typeface="Calibri" pitchFamily="34" charset="-122"/>
                <a:cs typeface="Calibri" pitchFamily="34" charset="-120"/>
              </a:rPr>
              <a:t xml:space="preserve">W. Liu and H. Min, “A Load Adaptive Active Gate Driver with Fast-Switching Three-Level Current Source for Overshoot Suppression in GaN-Based Half-Bridge Converters,” IEEE Trans. Power Electron., pp. 1–8,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[21]  </a:t>
            </a:r>
            <a:r>
              <a:rPr lang="en-US" sz="900" dirty="0">
                <a:solidFill>
                  <a:srgbClr val="000000"/>
                </a:solidFill>
                <a:latin typeface="Calibri" pitchFamily="34" charset="0"/>
                <a:ea typeface="Calibri" pitchFamily="34" charset="-122"/>
                <a:cs typeface="Calibri" pitchFamily="34" charset="-120"/>
              </a:rPr>
              <a:t xml:space="preserve">R. Chen, F. Wang, H. Bai and L.M. Tolbert, “A Simple Gate Driver Circuit for Turn-on Overvoltage Suppression of 10 kV SiC MOSFETs With Temporarily Lowering Gate Voltage During dv/dt,” IEEE Trans. Ind. Electron., pp. 1–6,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[22]  </a:t>
            </a:r>
            <a:r>
              <a:rPr lang="en-US" sz="900" dirty="0">
                <a:solidFill>
                  <a:srgbClr val="000000"/>
                </a:solidFill>
                <a:latin typeface="Calibri" pitchFamily="34" charset="0"/>
                <a:ea typeface="Calibri" pitchFamily="34" charset="-122"/>
                <a:cs typeface="Calibri" pitchFamily="34" charset="-120"/>
              </a:rPr>
              <a:t xml:space="preserve">D. Yu, M. Yang, L. Yin, K. Hu, W. Zhang and Q. Fu, “A Dual-Loop Active Gate Driver With Independent Voltage Slew Rate and Overshoot Control for Switching Loss Optimization of SiC MOSFETs,” IEEE Trans. Ind. Electron., pp. 1–12,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[23]  </a:t>
            </a:r>
            <a:r>
              <a:rPr lang="en-US" sz="900" dirty="0">
                <a:solidFill>
                  <a:srgbClr val="000000"/>
                </a:solidFill>
                <a:latin typeface="Calibri" pitchFamily="34" charset="0"/>
                <a:ea typeface="Calibri" pitchFamily="34" charset="-122"/>
                <a:cs typeface="Calibri" pitchFamily="34" charset="-120"/>
              </a:rPr>
              <a:t xml:space="preserve">P. Xiang, R. Hao, J. Cai and X. You, “An Active Gate Driver of SiC MOSFET Module Based on PCB Rogowski Coil for Optimizing Tradeoff Between Overshoot and Switching Loss,” IEEE Trans. Power Electron., vol. 38, no. 1, pp. 245–260,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[24]  </a:t>
            </a:r>
            <a:r>
              <a:rPr lang="en-US" sz="900" dirty="0">
                <a:solidFill>
                  <a:srgbClr val="000000"/>
                </a:solidFill>
                <a:latin typeface="Calibri" pitchFamily="34" charset="0"/>
                <a:ea typeface="Calibri" pitchFamily="34" charset="-122"/>
                <a:cs typeface="Calibri" pitchFamily="34" charset="-120"/>
              </a:rPr>
              <a:t xml:space="preserve">S. Fukunaga, H. Takayama and T. Hikihara, “Slew rate control of switching transient for SiC MOSFET in boost converter using digital active gate driver,” IET Power Electron., vol. 16, no. 3, pp. 472–482,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[25]  </a:t>
            </a:r>
            <a:r>
              <a:rPr lang="en-US" sz="900" dirty="0">
                <a:solidFill>
                  <a:srgbClr val="000000"/>
                </a:solidFill>
                <a:latin typeface="Calibri" pitchFamily="34" charset="0"/>
                <a:ea typeface="Calibri" pitchFamily="34" charset="-122"/>
                <a:cs typeface="Calibri" pitchFamily="34" charset="-120"/>
              </a:rPr>
              <a:t xml:space="preserve">C. Xu, P. Fu, X. Liao, Z. Zhu and L. Liu, “An Integrated Driver With Real-Time Predictive Dead-Time Optimization Technique for GaN-Based Synchronous Buck Converter,” IEEE J. Emerg. Sel. Topics Power Electron., vol. 13, no. 3, pp. 3173–3183,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[26]  </a:t>
            </a:r>
            <a:r>
              <a:rPr lang="en-US" sz="900" dirty="0">
                <a:solidFill>
                  <a:srgbClr val="000000"/>
                </a:solidFill>
                <a:latin typeface="Calibri" pitchFamily="34" charset="0"/>
                <a:ea typeface="Calibri" pitchFamily="34" charset="-122"/>
                <a:cs typeface="Calibri" pitchFamily="34" charset="-120"/>
              </a:rPr>
              <a:t xml:space="preserve">C. Chen, P. Chiu, Y. Chen, P. Wang and Y. Chang, “An Integrated Driver With Adaptive Dead-Time Control for GaN-Based Synchronous Buck Converter,” IEEE Trans. Circuits Syst. II, vol. 69, no. 2, pp. 539–543,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[27]  </a:t>
            </a:r>
            <a:r>
              <a:rPr lang="en-US" sz="900" dirty="0">
                <a:solidFill>
                  <a:srgbClr val="000000"/>
                </a:solidFill>
                <a:latin typeface="Calibri" pitchFamily="34" charset="0"/>
                <a:ea typeface="Calibri" pitchFamily="34" charset="-122"/>
                <a:cs typeface="Calibri" pitchFamily="34" charset="-120"/>
              </a:rPr>
              <a:t xml:space="preserve">J. Tan, Z. Zhou and G. Zou, “A Programmable Gate Driver Module-Based Multistage Voltage Regulation SiC MOSFET Switching Strategy,” Electronics, vol. 13, no. 22, pp. 4379,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[28]  </a:t>
            </a:r>
            <a:r>
              <a:rPr lang="en-US" sz="900" dirty="0">
                <a:solidFill>
                  <a:srgbClr val="000000"/>
                </a:solidFill>
                <a:latin typeface="Calibri" pitchFamily="34" charset="0"/>
                <a:ea typeface="Calibri" pitchFamily="34" charset="-122"/>
                <a:cs typeface="Calibri" pitchFamily="34" charset="-120"/>
              </a:rPr>
              <a:t xml:space="preserve">C. Chen, P. Wang, S. Li, Y. Chen and Y. Chang, “An Integrated Driver With Bang-Bang Dead-Time Control and Charge Sharing Bootstrap Circuit for GaN Synchronous Buck Converter,” IEEE Trans. Power Electron., vol. 37, no. 8, pp. 9503–9514,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[29]  </a:t>
            </a:r>
            <a:r>
              <a:rPr lang="en-US" sz="900" dirty="0">
                <a:solidFill>
                  <a:srgbClr val="000000"/>
                </a:solidFill>
                <a:latin typeface="Calibri" pitchFamily="34" charset="0"/>
                <a:ea typeface="Calibri" pitchFamily="34" charset="-122"/>
                <a:cs typeface="Calibri" pitchFamily="34" charset="-120"/>
              </a:rPr>
              <a:t xml:space="preserve">G.H. Thuc, M. Tsai, C. Chen, J. Fu, W. Wu and W. Lin, “A Current Source Gate Driver with Dual-Edge Adaptive Slew Rate for GaN Devices,” in Proc. 2026 IEEE Applied Power Electronics Conference and Exposition (APEC),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[30]  </a:t>
            </a:r>
            <a:r>
              <a:rPr lang="en-US" sz="900" dirty="0">
                <a:solidFill>
                  <a:srgbClr val="000000"/>
                </a:solidFill>
                <a:latin typeface="Calibri" pitchFamily="34" charset="0"/>
                <a:ea typeface="Calibri" pitchFamily="34" charset="-122"/>
                <a:cs typeface="Calibri" pitchFamily="34" charset="-120"/>
              </a:rPr>
              <a:t xml:space="preserve">G. Wu, Y. Huang, Y. Chen and C. Chen, “Closed-loop Slew Rate Control of Active Current Source Gate Driver with Digital Implementation for SiC MOSFET,” in Proc. 2025 IEEE Energy Conversion Conference Congress and Exposition (ECCE), 2025.</a:t>
            </a:r>
          </a:p>
          <a:p>
            <a:pPr marL="177800" indent="0">
              <a:spcAft>
                <a:spcPts val="160"/>
              </a:spcAft>
              <a:buSzPct val="100000"/>
              <a:buNone/>
            </a:pPr>
            <a:r>
              <a:rPr lang="en-US" sz="850" dirty="0">
                <a:solidFill>
                  <a:srgbClr val="000000"/>
                </a:solidFill>
                <a:latin typeface="Calibri" pitchFamily="34" charset="0"/>
                <a:ea typeface="Calibri" pitchFamily="34" charset="-122"/>
                <a:cs typeface="Calibri" pitchFamily="34" charset="-120"/>
              </a:rPr>
              <a:t xml:space="preserve">All 30 verified against the publisher record — authors, volume, issue and pages resolved through Crossref by DOI and title, not transcribed by hand.</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050" dirty="0">
                <a:solidFill>
                  <a:srgbClr val="000000"/>
                </a:solidFill>
                <a:latin typeface="Calibri" pitchFamily="34" charset="0"/>
                <a:ea typeface="Calibri" pitchFamily="34" charset="-122"/>
                <a:cs typeface="Calibri" pitchFamily="34" charset="-120"/>
              </a:rPr>
              <a:t xml:space="preserve">The wider survey: read and recorded, not cited in the slides above. Kept only where the publisher record carried a real author list.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same result in LTspice, on the drawn circuit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ltspice_annotated.png"/>
          <p:cNvPicPr>
            <a:picLocks noChangeAspect="1"/>
          </p:cNvPicPr>
          <p:nvPr/>
        </p:nvPicPr>
        <p:blipFill>
          <a:blip r:embed="rId4"/>
          <a:stretch>
            <a:fillRect/>
          </a:stretch>
        </p:blipFill>
        <p:spPr>
          <a:xfrm>
            <a:off x="1957534" y="1170432"/>
            <a:ext cx="8276626" cy="4389120"/>
          </a:xfrm>
          <a:prstGeom prst="rect">
            <a:avLst/>
          </a:prstGeom>
        </p:spPr>
      </p:pic>
      <p:sp>
        <p:nvSpPr>
          <p:cNvPr id="6" name="TextBox 5"/>
          <p:cNvSpPr txBox="1"/>
          <p:nvPr/>
        </p:nvSpPr>
        <p:spPr>
          <a:xfrm>
            <a:off x="502920" y="5742432"/>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Switch node and off-state gate–source voltage, read from the LTspice .raw file. LTspice +1.647556 / −1.176857 V; ngspice +1.6486 / −1.1757 V on the same netlist.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Inside the segmented gate driver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segdrv_inside.png"/>
          <p:cNvPicPr>
            <a:picLocks noChangeAspect="1"/>
          </p:cNvPicPr>
          <p:nvPr/>
        </p:nvPicPr>
        <p:blipFill>
          <a:blip r:embed="rId4"/>
          <a:stretch>
            <a:fillRect/>
          </a:stretch>
        </p:blipFill>
        <p:spPr>
          <a:xfrm>
            <a:off x="2011762" y="1170432"/>
            <a:ext cx="816816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Contents of models/segdrv.lib, drawn as ltspice/SEGDRV_inside.asc: eight pull-up slices from the +5 V rail to the gate, eight pull-down slices to the off rail, and the Miller clamp on its own 0.5 Ω path. It runs: the gate charges to 5.000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we run ngspice</a:t>
            </a:r>
            <a:endParaRPr lang="en-US" sz="2800" dirty="0"/>
          </a:p>
        </p:txBody>
      </p:sp>
      <p:pic>
        <p:nvPicPr>
          <p:cNvPr id="5" name="Picture 4" descr="fig_howrun.png"/>
          <p:cNvPicPr>
            <a:picLocks noChangeAspect="1"/>
          </p:cNvPicPr>
          <p:nvPr/>
        </p:nvPicPr>
        <p:blipFill>
          <a:blip r:embed="rId4"/>
          <a:stretch>
            <a:fillRect/>
          </a:stretch>
        </p:blipFill>
        <p:spPr>
          <a:xfrm>
            <a:off x="1688439" y="1170432"/>
            <a:ext cx="881481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One case end to end: the parameters set into sim/dpt.cir, the command, what the simulator wrote, and the window the measurement is taken over. Full load, 100 V / 10 A, no clamp: +1.6486 V against a 1.4 V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ngspice runs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netlis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Power stage of sim/buck.cir. ngspice reads the circuit as a netlist, not a schematic; it is the same converter the schematic draws. ngspice gives 48.50 V on the shipped word. The LTspice cross-check is pending a re-run: its schematic gained the damped decoupling branch, so the previously quoted 48.84 V describes a circuit that no longer exists.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the work was run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method.png"/>
          <p:cNvPicPr>
            <a:picLocks noChangeAspect="1"/>
          </p:cNvPicPr>
          <p:nvPr/>
        </p:nvPicPr>
        <p:blipFill>
          <a:blip r:embed="rId4"/>
          <a:stretch>
            <a:fillRect/>
          </a:stretch>
        </p:blipFill>
        <p:spPr>
          <a:xfrm>
            <a:off x="1481776" y="1170432"/>
            <a:ext cx="9228143"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Method, in the order carried out. Steps 1–3 on one switching edge; steps 4–6 the study built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a GaN HEMT is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gan_1.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Silicon MOSFET against GaN HEMT on the properties that govern switching. Device modelled: EPC2010C class, 200 V, 25 mΩ, Vth = 1.4 V (models/egan.lib).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GaN and not silicon — measured, same converter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si_vs_gan.png"/>
          <p:cNvPicPr>
            <a:picLocks noChangeAspect="1"/>
          </p:cNvPicPr>
          <p:nvPr/>
        </p:nvPicPr>
        <p:blipFill>
          <a:blip r:embed="rId4"/>
          <a:stretch>
            <a:fillRect/>
          </a:stretch>
        </p:blipFill>
        <p:spPr>
          <a:xfrm>
            <a:off x="426567" y="1170432"/>
            <a:ext cx="11338559" cy="3927736"/>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Same buck converter, same job, only the device swapped. Rₓₛ(on) matched 25.0 mΩ GaN against 24.0 mΩ Si, each at its own rated gate drive, so conduction loss is equal by construction and what is left is switching, gate drive and the body-diode recovery GaN does not have. At 500 kHz GaN wastes 6.2 W against silicon's 12.6 W; the lead widens to 78 % at 1 MHz and 90 % at light load (scripts/si_vs_gan_sweep.py).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the GaN HEMT causes the problem we solve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gan_2.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Three device properties and their consequence in a half-bridge: a 1.4 V threshold, 150 pF from drain to gate, and no body diode.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driver's settings, and where 720 comes from</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settings.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The six fields of the control word and the values swept over each. 6 × 2 × 3 × 5 × 2 × 2 = 720 settings, × 36 operating points = 25,920 transients.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input — what an operating point is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in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Four of the 36 corners every setting is evaluated at: bus voltage, load current and junction temperature.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output — what is actually measured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out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Converter-level output, and the eight quantities extracted from every transient. Definitions fixed in scripts/gansim.py before the sweeps ran.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margin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margin.png"/>
          <p:cNvPicPr>
            <a:picLocks noChangeAspect="1"/>
          </p:cNvPicPr>
          <p:nvPr/>
        </p:nvPicPr>
        <p:blipFill>
          <a:blip r:embed="rId4"/>
          <a:stretch>
            <a:fillRect/>
          </a:stretch>
        </p:blipFill>
        <p:spPr>
          <a:xfrm>
            <a:off x="1686402" y="1170432"/>
            <a:ext cx="881888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Peak gate–source voltage on the off-state device against the 1.4 V threshold, three configurations. Margin is the threshold minus the peak; negative is a false turn-on.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Circuit simulation — the converter</a:t>
            </a:r>
            <a:endParaRPr lang="en-US" sz="2800" dirty="0"/>
          </a:p>
        </p:txBody>
      </p:sp>
      <p:pic>
        <p:nvPicPr>
          <p:cNvPr id="5" name="Picture 4" descr="17-converter-power.png"/>
          <p:cNvPicPr>
            <a:picLocks noChangeAspect="1"/>
          </p:cNvPicPr>
          <p:nvPr/>
        </p:nvPicPr>
        <p:blipFill>
          <a:blip r:embed="rId4"/>
          <a:stretch>
            <a:fillRect/>
          </a:stretch>
        </p:blipFill>
        <p:spPr>
          <a:xfrm>
            <a:off x="426567" y="1188720"/>
            <a:ext cx="11338558" cy="22015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9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scripts/bucksim.py driving ngspice over sim/buck.cir, on the shipped word. 100 V and 2.423 A in, 48.50 V and 4.869 A out: 242.33 W drawn, 236.26 W delivered, 97.49 % efficient. Peak switch node 115.1 V, 15.1 % overshoot at this deck's 0.2 ns step; resolving the edge at 0.02 ns gives 18.0 %, of which the −2 V rail is +11.3 points — the margin is not free. scripts/overshoot_audit.py. The two comparison tables read 97.42 % for this same word: those runs start pre-charged in steady state and average 20 cycles, this one starts from zero and averages 10. The gap is the start-up transient, not a disagreement.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as ngspice reports it</a:t>
            </a:r>
            <a:endParaRPr lang="en-US" sz="2800" dirty="0"/>
          </a:p>
        </p:txBody>
      </p:sp>
      <p:pic>
        <p:nvPicPr>
          <p:cNvPr id="5" name="Picture 4" descr="19-ngspice-listing.png"/>
          <p:cNvPicPr>
            <a:picLocks noChangeAspect="1"/>
          </p:cNvPicPr>
          <p:nvPr/>
        </p:nvPicPr>
        <p:blipFill>
          <a:blip r:embed="rId4"/>
          <a:stretch>
            <a:fillRect/>
          </a:stretch>
        </p:blipFill>
        <p:spPr>
          <a:xfrm>
            <a:off x="2282031" y="1188720"/>
            <a:ext cx="762763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5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ngspice cannot draw a schematic. It can say what it parsed, which is better evidence: a drawing is what somebody believes the circuit is, this is what was solved. Note rpu1–rpu8 and rpd1–rpd8 — the sixteen slices, switched in by {runit+(npu&gt;=n?0:1e9)} — rclk the clamp, and rdec at 1 Ω, the damped value. scripts/netlist_listing.py regenerates it, so it cannot go stale.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simulation — the fault, and the fix</a:t>
            </a:r>
            <a:endParaRPr lang="en-US" sz="2800" dirty="0"/>
          </a:p>
        </p:txBody>
      </p:sp>
      <p:pic>
        <p:nvPicPr>
          <p:cNvPr id="5" name="Picture 4" descr="01-ngspice-crosstalk.png"/>
          <p:cNvPicPr>
            <a:picLocks noChangeAspect="1"/>
          </p:cNvPicPr>
          <p:nvPr/>
        </p:nvPicPr>
        <p:blipFill>
          <a:blip r:embed="rId4"/>
          <a:stretch>
            <a:fillRect/>
          </a:stretch>
        </p:blipFill>
        <p:spPr>
          <a:xfrm>
            <a:off x="426567" y="1188720"/>
            <a:ext cx="11338559" cy="376062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10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Two runs of sim/dpt.cir. TOP: the switch node falls from 106 V in 2.90 ns, peaking at 124 V/ns — that dv/dt drives i = C_GD·dv/dt into the OFF device's gate, and is the cause. BOTTOM: that gate. Without the clamp it rests at +0.005 V, is lifted +1.643 V and peaks at +1.649 V, past the 1.4 V threshold — false_turn_on = 1. With the clamp and the −2 V rail it rests at -1.941 V, is lifted only +0.765 V and peaks at -1.176 V — false_turn_on = 0. The two fixes are not one mechanism: the rail moves where the gate STARTS, the clamp shortens the LIFT by giving the injected charge a 0.5 Ω path out. scripts/waveform_anatomy.py.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Driver simulation — the segmented driver, case by case</a:t>
            </a:r>
            <a:endParaRPr lang="en-US" sz="2800" dirty="0"/>
          </a:p>
        </p:txBody>
      </p:sp>
      <p:pic>
        <p:nvPicPr>
          <p:cNvPr id="5" name="Picture 4" descr="18-named-cases.png"/>
          <p:cNvPicPr>
            <a:picLocks noChangeAspect="1"/>
          </p:cNvPicPr>
          <p:nvPr/>
        </p:nvPicPr>
        <p:blipFill>
          <a:blip r:embed="rId4"/>
          <a:stretch>
            <a:fillRect/>
          </a:stretch>
        </p:blipFill>
        <p:spPr>
          <a:xfrm>
            <a:off x="2717767" y="1188720"/>
            <a:ext cx="675616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11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scripts/cases.py, 13 runs. Part 1: the fix built one change at a time at 100 V / 10 A. Part 2: dead-time sweep at two operating points: cheapest is 15 ns at full load, 5 ns at light load.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what re-tuning is worth</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12-result2-ceiling.png"/>
          <p:cNvPicPr>
            <a:picLocks noChangeAspect="1"/>
          </p:cNvPicPr>
          <p:nvPr/>
        </p:nvPicPr>
        <p:blipFill>
          <a:blip r:embed="rId4"/>
          <a:stretch>
            <a:fillRect/>
          </a:stretch>
        </p:blipFill>
        <p:spPr>
          <a:xfrm>
            <a:off x="426567" y="1188720"/>
            <a:ext cx="11338557" cy="35763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scripts/ceiling.py over results/full_corners.csv. 474 of 720 words feasible at all 36 corners. Ceiling on scheduling 3.5 %; per-corner penalty 1.1 / 2.3 / 12.7 / 3.8 %.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the split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13-result3-split.png"/>
          <p:cNvPicPr>
            <a:picLocks noChangeAspect="1"/>
          </p:cNvPicPr>
          <p:nvPr/>
        </p:nvPicPr>
        <p:blipFill>
          <a:blip r:embed="rId4"/>
          <a:stretch>
            <a:fillRect/>
          </a:stretch>
        </p:blipFill>
        <p:spPr>
          <a:xfrm>
            <a:off x="888114" y="1188720"/>
            <a:ext cx="10415465"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scripts/grid_analyse.py over 36 corners. Choosing a fixed word (A) 26.5 %; adapting per operating point (B) 2.6 %; B is 8.9 % of the gain. Across 106 overshoot weights (A) stays 23.4–29.0 %, (B) 1.3–6.4 %.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Icarus Verilog output — the controller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03-verilog-8-properties.png"/>
          <p:cNvPicPr>
            <a:picLocks noChangeAspect="1"/>
          </p:cNvPicPr>
          <p:nvPr/>
        </p:nvPicPr>
        <p:blipFill>
          <a:blip r:embed="rId4"/>
          <a:stretch>
            <a:fillRect/>
          </a:stretch>
        </p:blipFill>
        <p:spPr>
          <a:xfrm>
            <a:off x="789329" y="1188720"/>
            <a:ext cx="10613036"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iverilog and vvp over rtl/seg_gate_ctrl.v and its testbench. Eight asserted properties, 591 individual assertions, 0 failures.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output — synthesis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image.png"/>
          <p:cNvPicPr>
            <a:picLocks noChangeAspect="1"/>
          </p:cNvPicPr>
          <p:nvPr/>
        </p:nvPicPr>
        <p:blipFill>
          <a:blip r:embed="rId4"/>
          <a:stretch>
            <a:fillRect/>
          </a:stretch>
        </p:blipFill>
        <p:spPr>
          <a:xfrm>
            <a:off x="2259431" y="1188720"/>
            <a:ext cx="7672832"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Vivado 2024.1.2 on xc7a35t. 20 LUTs and 20 flip-flops strapped, 33 LUTs fully programmable; 200 MHz register-to-register met with 1.996 ns slack.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 — the driver, built and measured, on this machine</a:t>
            </a:r>
            <a:endParaRPr lang="en-US" sz="2800" dirty="0"/>
          </a:p>
        </p:txBody>
      </p:sp>
      <p:pic>
        <p:nvPicPr>
          <p:cNvPr id="5" name="demo_review2.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979676" y="1005840"/>
            <a:ext cx="8229600" cy="4626864"/>
          </a:xfrm>
          <a:prstGeom prst="rect">
            <a:avLst/>
          </a:prstGeom>
        </p:spPr>
      </p:pic>
      <p:sp>
        <p:nvSpPr>
          <p:cNvPr id="6" name="TextBox 5"/>
          <p:cNvSpPr txBox="1"/>
          <p:nvPr/>
        </p:nvSpPr>
        <p:spPr>
          <a:xfrm>
            <a:off x="502920" y="5724144"/>
            <a:ext cx="10838382" cy="1078992"/>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7 — </a:t>
            </a:r>
            <a:r>
              <a:rPr lang="en-US" sz="1150" dirty="0">
                <a:solidFill>
                  <a:srgbClr val="000000"/>
                </a:solidFill>
                <a:latin typeface="Calibri" pitchFamily="34" charset="0"/>
                <a:ea typeface="Calibri" pitchFamily="34" charset="-122"/>
                <a:cs typeface="Calibri" pitchFamily="34" charset="-120"/>
              </a:rPr>
              <a:t xml:space="preserve">Nine chapters, 103 s, click to play. The netlists as they are on disk, the KiCad sheets drawn from them, ngspice's own output from three runs made while the film was built, the waveforms those runs produced, and 7 result cards — each printing the file its number came from. The bench: +1.65 V on the OFF gate without the clamp against a 1.4 V threshold, −1.18 V with it. The converter: 48.50 V out at 236.26 W, 97.49 % efficient. Rebuilt by scripts/demo_review2.py, so every number on screen is computed, not captioned.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Thank you</a:t>
            </a:r>
            <a:endParaRPr lang="en-US" sz="2800" dirty="0"/>
          </a:p>
        </p:txBody>
      </p:sp>
      <p:sp>
        <p:nvSpPr>
          <p:cNvPr id="5" name="TextBox 4"/>
          <p:cNvSpPr txBox="1"/>
          <p:nvPr/>
        </p:nvSpPr>
        <p:spPr>
          <a:xfrm>
            <a:off x="640080" y="2103120"/>
            <a:ext cx="10881360" cy="2926080"/>
          </a:xfrm>
          <a:prstGeom prst="rect">
            <a:avLst/>
          </a:prstGeom>
          <a:noFill/>
        </p:spPr>
        <p:txBody>
          <a:bodyPr wrap="square" lIns="0" tIns="0" rIns="0" bIns="0">
            <a:spAutoFit/>
          </a:bodyPr>
          <a:lstStyle/>
          <a:p>
            <a:pPr marL="177800" indent="0">
              <a:spcAft>
                <a:spcPts val="400"/>
              </a:spcAft>
              <a:buSzPct val="100000"/>
              <a:buNone/>
            </a:pPr>
            <a:r>
              <a:rPr lang="en-US" sz="2600" b="1" dirty="0">
                <a:solidFill>
                  <a:srgbClr val="000000"/>
                </a:solidFill>
                <a:latin typeface="Calibri" pitchFamily="34" charset="0"/>
                <a:ea typeface="Calibri" pitchFamily="34" charset="-122"/>
                <a:cs typeface="Calibri" pitchFamily="34" charset="-120"/>
              </a:rPr>
              <a:t xml:space="preserve">GaN Based Synchronous Buck Converter with an Improved Gate Driver</a:t>
            </a:r>
          </a:p>
          <a:p>
            <a:pPr marL="177800" indent="0">
              <a:spcAft>
                <a:spcPts val="240"/>
              </a:spcAft>
              <a:buSzPct val="100000"/>
              <a:buNone/>
            </a:pPr>
            <a:r>
              <a:rPr lang="en-US" sz="1500" dirty="0">
                <a:solidFill>
                  <a:srgbClr val="000000"/>
                </a:solidFill>
                <a:latin typeface="Calibri" pitchFamily="34" charset="0"/>
                <a:ea typeface="Calibri" pitchFamily="34" charset="-122"/>
                <a:cs typeface="Calibri" pitchFamily="34" charset="-120"/>
              </a:rPr>
              <a:t xml:space="preserve">Amritha S  23BEC1368     ·     Sanjay Kumar  23BEC1447     ·     Aamir Abdullah  23BPS1197</a:t>
            </a:r>
          </a:p>
          <a:p>
            <a:pPr marL="177800" indent="0">
              <a:spcAft>
                <a:spcPts val="400"/>
              </a:spcAft>
              <a:buSzPct val="100000"/>
              <a:buNone/>
            </a:pPr>
            <a:r>
              <a:rPr lang="en-US" sz="1500" dirty="0">
                <a:solidFill>
                  <a:srgbClr val="000000"/>
                </a:solidFill>
                <a:latin typeface="Calibri" pitchFamily="34" charset="0"/>
                <a:ea typeface="Calibri" pitchFamily="34" charset="-122"/>
                <a:cs typeface="Calibri" pitchFamily="34" charset="-120"/>
              </a:rPr>
              <a:t xml:space="preserve">Guide: Dr. Bindu  —  SENSE, VIT Chennai</a:t>
            </a:r>
          </a:p>
          <a:p>
            <a:pPr marL="177800" indent="0">
              <a:spcAft>
                <a:spcPts val="0"/>
              </a:spcAft>
              <a:buSzPct val="100000"/>
              <a:buNone/>
            </a:pPr>
            <a:r>
              <a:rPr lang="en-US" sz="1400" dirty="0">
                <a:solidFill>
                  <a:srgbClr val="000000"/>
                </a:solidFill>
                <a:latin typeface="Calibri" pitchFamily="34" charset="0"/>
                <a:ea typeface="Calibri" pitchFamily="34" charset="-122"/>
                <a:cs typeface="Calibri" pitchFamily="34" charset="-120"/>
              </a:rPr>
              <a:t xml:space="preserve">Everything in this deck runs on request: </a:t>
            </a:r>
            <a:r>
              <a:rPr lang="en-US" sz="1400" b="1" dirty="0">
                <a:solidFill>
                  <a:srgbClr val="000000"/>
                </a:solidFill>
                <a:latin typeface="Calibri" pitchFamily="34" charset="0"/>
                <a:ea typeface="Calibri" pitchFamily="34" charset="-122"/>
                <a:cs typeface="Calibri" pitchFamily="34" charset="-120"/>
              </a:rPr>
              <a:t xml:space="preserve">github.com/Amritha902/gan-driver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goal, and whether this serves it</a:t>
            </a:r>
            <a:endParaRPr lang="en-US" sz="2800" dirty="0"/>
          </a:p>
        </p:txBody>
      </p:sp>
      <p:sp>
        <p:nvSpPr>
          <p:cNvPr id="5" name="TextBox 4"/>
          <p:cNvSpPr txBox="1"/>
          <p:nvPr/>
        </p:nvSpPr>
        <p:spPr>
          <a:xfrm>
            <a:off x="640080" y="1143000"/>
            <a:ext cx="11064240" cy="960120"/>
          </a:xfrm>
          <a:prstGeom prst="rect">
            <a:avLst/>
          </a:prstGeom>
          <a:noFill/>
        </p:spPr>
        <p:txBody>
          <a:bodyPr wrap="square" lIns="0" tIns="0" rIns="0" bIns="0">
            <a:spAutoFit/>
          </a:bodyPr>
          <a:lstStyle/>
          <a:p>
            <a:pPr marL="177800" indent="0">
              <a:spcAft>
                <a:spcPts val="0"/>
              </a:spcAft>
              <a:buSzPct val="100000"/>
              <a:buNone/>
            </a:pPr>
            <a:r>
              <a:rPr lang="en-US" sz="1350" b="1" dirty="0">
                <a:solidFill>
                  <a:srgbClr val="000000"/>
                </a:solidFill>
                <a:latin typeface="Calibri" pitchFamily="34" charset="0"/>
                <a:ea typeface="Calibri" pitchFamily="34" charset="-122"/>
                <a:cs typeface="Calibri" pitchFamily="34" charset="-120"/>
              </a:rPr>
              <a:t xml:space="preserve">The goal.  </a:t>
            </a:r>
            <a:r>
              <a:rPr lang="en-US" sz="1350" dirty="0">
                <a:solidFill>
                  <a:srgbClr val="000000"/>
                </a:solidFill>
                <a:latin typeface="Calibri" pitchFamily="34" charset="0"/>
                <a:ea typeface="Calibri" pitchFamily="34" charset="-122"/>
                <a:cs typeface="Calibri" pitchFamily="34" charset="-120"/>
              </a:rPr>
              <a:t xml:space="preserve">Build a synchronous buck converter for an energy-storage system out of GaN HEMTs, and make it work at the switching speed GaN is bought for. Everything else in this deck exists to serve that sentence.</a:t>
            </a:r>
          </a:p>
        </p:txBody>
      </p:sp>
      <p:sp>
        <p:nvSpPr>
          <p:cNvPr id="6" name="TextBox 5"/>
          <p:cNvSpPr txBox="1"/>
          <p:nvPr/>
        </p:nvSpPr>
        <p:spPr>
          <a:xfrm>
            <a:off x="64008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1.  Why GaN at all</a:t>
            </a:r>
          </a:p>
        </p:txBody>
      </p:sp>
      <p:sp>
        <p:nvSpPr>
          <p:cNvPr id="7" name="TextBox 6"/>
          <p:cNvSpPr txBox="1"/>
          <p:nvPr/>
        </p:nvSpPr>
        <p:spPr>
          <a:xfrm>
            <a:off x="64008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Same converter, same job, only the device swapped. At 500 kHz GaN wastes 6.2 W against silicon's 12.6 W. The lead widens to 78 % at 1 MHz and 90 % at light load, and never turns back.</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Raising the frequency to shrink the magnetics is nearly free on GaN and ruinous on silicon.</a:t>
            </a:r>
          </a:p>
        </p:txBody>
      </p:sp>
      <p:sp>
        <p:nvSpPr>
          <p:cNvPr id="8" name="TextBox 7"/>
          <p:cNvSpPr txBox="1"/>
          <p:nvPr/>
        </p:nvSpPr>
        <p:spPr>
          <a:xfrm>
            <a:off x="438912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2.  What GaN costs you</a:t>
            </a:r>
          </a:p>
        </p:txBody>
      </p:sp>
      <p:sp>
        <p:nvSpPr>
          <p:cNvPr id="9" name="TextBox 8"/>
          <p:cNvSpPr txBox="1"/>
          <p:nvPr/>
        </p:nvSpPr>
        <p:spPr>
          <a:xfrm>
            <a:off x="438912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The same speed that wins is what breaks it. A 1.4 V threshold and 150 pF of drain-to-gate capacitance mean the device that is supposed to be off gets pushed toward on by its partner switching.</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Measured: the off gate reaches 1.65 V against a 1.4 V threshold. That is a shoot-through.</a:t>
            </a:r>
          </a:p>
        </p:txBody>
      </p:sp>
      <p:sp>
        <p:nvSpPr>
          <p:cNvPr id="10" name="TextBox 9"/>
          <p:cNvSpPr txBox="1"/>
          <p:nvPr/>
        </p:nvSpPr>
        <p:spPr>
          <a:xfrm>
            <a:off x="8138160" y="2148840"/>
            <a:ext cx="356616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3.  What we build about it</a:t>
            </a:r>
          </a:p>
        </p:txBody>
      </p:sp>
      <p:sp>
        <p:nvSpPr>
          <p:cNvPr id="11" name="TextBox 10"/>
          <p:cNvSpPr txBox="1"/>
          <p:nvPr/>
        </p:nvSpPr>
        <p:spPr>
          <a:xfrm>
            <a:off x="8138160" y="2542032"/>
            <a:ext cx="356616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A segmented gate driver: 8 pull-up steps, 8 pull-down steps, an adjustable dead time, a Miller clamp and a −2 V off rail, driven by an FPGA, so every one of them is a setting that can be changed and measured.</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Result: −0.249 V of margin becomes +2.576 V.</a:t>
            </a:r>
          </a:p>
        </p:txBody>
      </p:sp>
      <p:sp>
        <p:nvSpPr>
          <p:cNvPr id="12" name="TextBox 11"/>
          <p:cNvSpPr txBox="1"/>
          <p:nvPr/>
        </p:nvSpPr>
        <p:spPr>
          <a:xfrm>
            <a:off x="640080" y="4498848"/>
            <a:ext cx="11064240" cy="1737360"/>
          </a:xfrm>
          <a:prstGeom prst="rect">
            <a:avLst/>
          </a:prstGeom>
          <a:noFill/>
        </p:spPr>
        <p:txBody>
          <a:bodyPr wrap="square" lIns="0" tIns="0" rIns="0" bIns="0">
            <a:spAutoFit/>
          </a:bodyPr>
          <a:lstStyle/>
          <a:p>
            <a:pPr marL="177800" indent="0">
              <a:spcAft>
                <a:spcPts val="180"/>
              </a:spcAft>
              <a:buSzPct val="100000"/>
              <a:buNone/>
            </a:pPr>
            <a:r>
              <a:rPr lang="en-US" sz="1250" b="1" dirty="0">
                <a:solidFill>
                  <a:srgbClr val="000000"/>
                </a:solidFill>
                <a:latin typeface="Calibri" pitchFamily="34" charset="0"/>
                <a:ea typeface="Calibri" pitchFamily="34" charset="-122"/>
                <a:cs typeface="Calibri" pitchFamily="34" charset="-120"/>
              </a:rPr>
              <a:t xml:space="preserve">Title says converter, work says driver — one claim.  </a:t>
            </a:r>
            <a:r>
              <a:rPr lang="en-US" sz="1250" dirty="0">
                <a:solidFill>
                  <a:srgbClr val="000000"/>
                </a:solidFill>
                <a:latin typeface="Calibri" pitchFamily="34" charset="0"/>
                <a:ea typeface="Calibri" pitchFamily="34" charset="-122"/>
                <a:cs typeface="Calibri" pitchFamily="34" charset="-120"/>
              </a:rPr>
              <a:t xml:space="preserve">On GaN the driver is the part that decides whether the converter is buildable at speed. Every number here is measured on the converter: 97.49 % open loop, 96.1 % regulated.</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next slide is that question, gap by gap, with the evidence for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architecture close the gaps?</a:t>
            </a:r>
            <a:endParaRPr lang="en-US" sz="2800" dirty="0"/>
          </a:p>
        </p:txBody>
      </p:sp>
      <p:sp>
        <p:nvSpPr>
          <p:cNvPr id="5" name="TextBox 4"/>
          <p:cNvSpPr txBox="1"/>
          <p:nvPr/>
        </p:nvSpPr>
        <p:spPr>
          <a:xfrm>
            <a:off x="640080" y="1115568"/>
            <a:ext cx="11064240" cy="384048"/>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Nine gaps in the published work, what our architecture does about each, and the evidence. Every row names the script that produces it.</a:t>
            </a:r>
          </a:p>
        </p:txBody>
      </p:sp>
      <p:graphicFrame>
        <p:nvGraphicFramePr>
          <p:cNvPr id="6" name="Table 5"/>
          <p:cNvGraphicFramePr>
            <a:graphicFrameLocks noGrp="1"/>
          </p:cNvGraphicFramePr>
          <p:nvPr/>
        </p:nvGraphicFramePr>
        <p:xfrm>
          <a:off x="566928" y="1591056"/>
          <a:ext cx="11100814" cy="4224528"/>
        </p:xfrm>
        <a:graphic>
          <a:graphicData uri="http://schemas.openxmlformats.org/drawingml/2006/table">
            <a:tbl>
              <a:tblPr firstRow="1">
                <a:tableStyleId>{5C22544A-7EE6-4342-B048-85BDC9FD1C3A}</a:tableStyleId>
              </a:tblPr>
              <a:tblGrid>
                <a:gridCol w="3330244"/>
                <a:gridCol w="2886212"/>
                <a:gridCol w="3552261"/>
                <a:gridCol w="1332097"/>
              </a:tblGrid>
              <a:tr h="422452">
                <a:tc>
                  <a:txBody>
                    <a:bodyPr wrap="square"/>
                    <a:lstStyle/>
                    <a:p>
                      <a:r>
                        <a:rPr sz="1000" b="1">
                          <a:latin typeface="Calibri"/>
                        </a:rPr>
                        <a:t>Gap in the published work</a:t>
                      </a:r>
                    </a:p>
                  </a:txBody>
                  <a:tcPr marL="50292" marR="50292" marT="27432" marB="27432"/>
                </a:tc>
                <a:tc>
                  <a:txBody>
                    <a:bodyPr wrap="square"/>
                    <a:lstStyle/>
                    <a:p>
                      <a:r>
                        <a:rPr sz="1000" b="1">
                          <a:latin typeface="Calibri"/>
                        </a:rPr>
                        <a:t>What the architecture does</a:t>
                      </a:r>
                    </a:p>
                  </a:txBody>
                  <a:tcPr marL="50292" marR="50292" marT="27432" marB="27432"/>
                </a:tc>
                <a:tc>
                  <a:txBody>
                    <a:bodyPr wrap="square"/>
                    <a:lstStyle/>
                    <a:p>
                      <a:r>
                        <a:rPr sz="1000" b="1">
                          <a:latin typeface="Calibri"/>
                        </a:rPr>
                        <a:t>Evidence</a:t>
                      </a:r>
                    </a:p>
                  </a:txBody>
                  <a:tcPr marL="50292" marR="50292" marT="27432" marB="27432"/>
                </a:tc>
                <a:tc>
                  <a:txBody>
                    <a:bodyPr wrap="square"/>
                    <a:lstStyle/>
                    <a:p>
                      <a:r>
                        <a:rPr sz="1000" b="1">
                          <a:latin typeface="Calibri"/>
                        </a:rPr>
                        <a:t>Status</a:t>
                      </a:r>
                    </a:p>
                  </a:txBody>
                  <a:tcPr marL="50292" marR="50292" marT="27432" marB="27432"/>
                </a:tc>
              </a:tr>
              <a:tr h="422452">
                <a:tc>
                  <a:txBody>
                    <a:bodyPr wrap="square"/>
                    <a:lstStyle/>
                    <a:p>
                      <a:r>
                        <a:rPr sz="800" b="0">
                          <a:latin typeface="Calibri"/>
                        </a:rPr>
                        <a:t>Segmented drivers report one number. Nobody separates a better fixed setting from live re-tuning.</a:t>
                      </a:r>
                    </a:p>
                  </a:txBody>
                  <a:tcPr marL="50292" marR="50292" marT="27432" marB="27432"/>
                </a:tc>
                <a:tc>
                  <a:txBody>
                    <a:bodyPr wrap="square"/>
                    <a:lstStyle/>
                    <a:p>
                      <a:r>
                        <a:rPr sz="800" b="0">
                          <a:latin typeface="Calibri"/>
                        </a:rPr>
                        <a:t>720 control words × 36 operating points, every combination run.</a:t>
                      </a:r>
                    </a:p>
                  </a:txBody>
                  <a:tcPr marL="50292" marR="50292" marT="27432" marB="27432"/>
                </a:tc>
                <a:tc>
                  <a:txBody>
                    <a:bodyPr wrap="square"/>
                    <a:lstStyle/>
                    <a:p>
                      <a:r>
                        <a:rPr sz="800" b="0">
                          <a:latin typeface="Calibri"/>
                        </a:rPr>
                        <a:t>Fixed 26.5 %, adaptive 2.6 % — adaptive is 8.9 % of the gain, on 36 corners (novelty.py).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Nobody says how much controller the adaptive part justifies.</a:t>
                      </a:r>
                    </a:p>
                  </a:txBody>
                  <a:tcPr marL="50292" marR="50292" marT="27432" marB="27432"/>
                </a:tc>
                <a:tc>
                  <a:txBody>
                    <a:bodyPr wrap="square"/>
                    <a:lstStyle/>
                    <a:p>
                      <a:r>
                        <a:rPr sz="800" b="0">
                          <a:latin typeface="Calibri"/>
                        </a:rPr>
                        <a:t>A complexity ladder: constant word → one comparator → two → full lookup table.</a:t>
                      </a:r>
                    </a:p>
                  </a:txBody>
                  <a:tcPr marL="50292" marR="50292" marT="27432" marB="27432"/>
                </a:tc>
                <a:tc>
                  <a:txBody>
                    <a:bodyPr wrap="square"/>
                    <a:lstStyle/>
                    <a:p>
                      <a:r>
                        <a:rPr sz="800" b="0">
                          <a:latin typeface="Calibri"/>
                        </a:rPr>
                        <a:t>One comparator (load current at 10 A) takes 47 %. 4.7 % is left to justify a sense + ADC + LUT (controller_ladder.py).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Prior segmented drivers stage the slices but carry no Miller clamp and no negative off rail.</a:t>
                      </a:r>
                    </a:p>
                  </a:txBody>
                  <a:tcPr marL="50292" marR="50292" marT="27432" marB="27432"/>
                </a:tc>
                <a:tc>
                  <a:txBody>
                    <a:bodyPr wrap="square"/>
                    <a:lstStyle/>
                    <a:p>
                      <a:r>
                        <a:rPr sz="800" b="0">
                          <a:latin typeface="Calibri"/>
                        </a:rPr>
                        <a:t>8 + 8 slices plus a clamp plus a −2 V off-bias, each measurable on its own.</a:t>
                      </a:r>
                    </a:p>
                  </a:txBody>
                  <a:tcPr marL="50292" marR="50292" marT="27432" marB="27432"/>
                </a:tc>
                <a:tc>
                  <a:txBody>
                    <a:bodyPr wrap="square"/>
                    <a:lstStyle/>
                    <a:p>
                      <a:r>
                        <a:rPr sz="800" b="0">
                          <a:latin typeface="Calibri"/>
                        </a:rPr>
                        <a:t>Base paper at its best +0.407 V; ours +2.576 V — 6.3× (basepaper_compare.py).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The driver is asserted to be programmable; the logic is rarely synthesised.</a:t>
                      </a:r>
                    </a:p>
                  </a:txBody>
                  <a:tcPr marL="50292" marR="50292" marT="27432" marB="27432"/>
                </a:tc>
                <a:tc>
                  <a:txBody>
                    <a:bodyPr wrap="square"/>
                    <a:lstStyle/>
                    <a:p>
                      <a:r>
                        <a:rPr sz="800" b="0">
                          <a:latin typeface="Calibri"/>
                        </a:rPr>
                        <a:t>seg_gate_ctrl.v, thermometer-coded, with its own dead-time generator.</a:t>
                      </a:r>
                    </a:p>
                  </a:txBody>
                  <a:tcPr marL="50292" marR="50292" marT="27432" marB="27432"/>
                </a:tc>
                <a:tc>
                  <a:txBody>
                    <a:bodyPr wrap="square"/>
                    <a:lstStyle/>
                    <a:p>
                      <a:r>
                        <a:rPr sz="800" b="0">
                          <a:latin typeface="Calibri"/>
                        </a:rPr>
                        <a:t>8 properties in Icarus; 20 LUT / 20 FF on xc7a35t, 200 MHz met, 1.996 ns slack.</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Controller and power stage are verified separately and never made to meet.</a:t>
                      </a:r>
                    </a:p>
                  </a:txBody>
                  <a:tcPr marL="50292" marR="50292" marT="27432" marB="27432"/>
                </a:tc>
                <a:tc>
                  <a:txBody>
                    <a:bodyPr wrap="square"/>
                    <a:lstStyle/>
                    <a:p>
                      <a:r>
                        <a:rPr sz="800" b="0">
                          <a:latin typeface="Calibri"/>
                        </a:rPr>
                        <a:t>The RTL's own VCD drives the SPICE slices — one source per wire, no integer in between.</a:t>
                      </a:r>
                    </a:p>
                  </a:txBody>
                  <a:tcPr marL="50292" marR="50292" marT="27432" marB="27432"/>
                </a:tc>
                <a:tc>
                  <a:txBody>
                    <a:bodyPr wrap="square"/>
                    <a:lstStyle/>
                    <a:p>
                      <a:r>
                        <a:rPr sz="800" b="0">
                          <a:latin typeface="Calibri"/>
                        </a:rPr>
                        <a:t>Margins agree to 0.081 V, and it found a one-cycle dead-time error (rtl_cosim.py).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Whether a fitted schedule generalises to an unseen operating point is never tested.</a:t>
                      </a:r>
                    </a:p>
                  </a:txBody>
                  <a:tcPr marL="50292" marR="50292" marT="27432" marB="27432"/>
                </a:tc>
                <a:tc>
                  <a:txBody>
                    <a:bodyPr wrap="square"/>
                    <a:lstStyle/>
                    <a:p>
                      <a:r>
                        <a:rPr sz="800" b="0">
                          <a:latin typeface="Calibri"/>
                        </a:rPr>
                        <a:t>Leave-one-corner-out: fit the comparator on three corners, test on the fourth.</a:t>
                      </a:r>
                    </a:p>
                  </a:txBody>
                  <a:tcPr marL="50292" marR="50292" marT="27432" marB="27432"/>
                </a:tc>
                <a:tc>
                  <a:txBody>
                    <a:bodyPr wrap="square"/>
                    <a:lstStyle/>
                    <a:p>
                      <a:r>
                        <a:rPr sz="800" b="0">
                          <a:latin typeface="Calibri"/>
                        </a:rPr>
                        <a:t>Identical to the global fixed word on all 36 held-out corners. Nothing — and we say so.</a:t>
                      </a:r>
                    </a:p>
                  </a:txBody>
                  <a:tcPr marL="50292" marR="50292" marT="27432" marB="27432"/>
                </a:tc>
                <a:tc>
                  <a:txBody>
                    <a:bodyPr wrap="square"/>
                    <a:lstStyle/>
                    <a:p>
                      <a:r>
                        <a:rPr sz="800" b="1">
                          <a:solidFill>
                            <a:srgbClr val="B56A00"/>
                          </a:solidFill>
                          <a:latin typeface="Calibri"/>
                        </a:rPr>
                        <a:t>ANSWERED, NEGATIVE</a:t>
                      </a:r>
                    </a:p>
                  </a:txBody>
                  <a:tcPr marL="50292" marR="50292" marT="27432" marB="27432"/>
                </a:tc>
              </a:tr>
              <a:tr h="422452">
                <a:tc>
                  <a:txBody>
                    <a:bodyPr wrap="square"/>
                    <a:lstStyle/>
                    <a:p>
                      <a:r>
                        <a:rPr sz="800" b="0">
                          <a:latin typeface="Calibri"/>
                        </a:rPr>
                        <a:t>Segmented-driver papers characterise one switching edge. The converter is never closed-loop regulated.</a:t>
                      </a:r>
                    </a:p>
                  </a:txBody>
                  <a:tcPr marL="50292" marR="50292" marT="27432" marB="27432"/>
                </a:tc>
                <a:tc>
                  <a:txBody>
                    <a:bodyPr wrap="square"/>
                    <a:lstStyle/>
                    <a:p>
                      <a:r>
                        <a:rPr sz="800" b="0">
                          <a:latin typeface="Calibri"/>
                        </a:rPr>
                        <a:t>A type-III loop around the same power stage and the same drivers, then disturbed on purpose.</a:t>
                      </a:r>
                    </a:p>
                  </a:txBody>
                  <a:tcPr marL="50292" marR="50292" marT="27432" marB="27432"/>
                </a:tc>
                <a:tc>
                  <a:txBody>
                    <a:bodyPr wrap="square"/>
                    <a:lstStyle/>
                    <a:p>
                      <a:r>
                        <a:rPr sz="800" b="0">
                          <a:latin typeface="Calibri"/>
                        </a:rPr>
                        <a:t>0.02 % error through a 2× load step and a 20 % line step; open loop walks to 58.3 V (closedloop.py).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Segmented output stages are published as ideal switches. Whether the result survives real devices is untested.</a:t>
                      </a:r>
                    </a:p>
                  </a:txBody>
                  <a:tcPr marL="50292" marR="50292" marT="27432" marB="27432"/>
                </a:tc>
                <a:tc>
                  <a:txBody>
                    <a:bodyPr wrap="square"/>
                    <a:lstStyle/>
                    <a:p>
                      <a:r>
                        <a:rPr sz="800" b="0">
                          <a:latin typeface="Calibri"/>
                        </a:rPr>
                        <a:t>The same output stage rebuilt in SKY130 5 V transistors and re-run.</a:t>
                      </a:r>
                    </a:p>
                  </a:txBody>
                  <a:tcPr marL="50292" marR="50292" marT="27432" marB="27432"/>
                </a:tc>
                <a:tc>
                  <a:txBody>
                    <a:bodyPr wrap="square"/>
                    <a:lstStyle/>
                    <a:p>
                      <a:r>
                        <a:rPr sz="800" b="0">
                          <a:latin typeface="Calibri"/>
                        </a:rPr>
                        <a:t>Sign and ordering both survive, but the clamp on its own turns out to give only +0.031 V (silicon_check.py).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60">
                <a:tc>
                  <a:txBody>
                    <a:bodyPr wrap="square"/>
                    <a:lstStyle/>
                    <a:p>
                      <a:r>
                        <a:rPr sz="800" b="0">
                          <a:latin typeface="Calibri"/>
                        </a:rPr>
                        <a:t>All of the above is simulation.</a:t>
                      </a:r>
                    </a:p>
                  </a:txBody>
                  <a:tcPr marL="50292" marR="50292" marT="27432" marB="27432"/>
                </a:tc>
                <a:tc>
                  <a:txBody>
                    <a:bodyPr wrap="square"/>
                    <a:lstStyle/>
                    <a:p>
                      <a:r>
                        <a:rPr sz="800" b="0">
                          <a:latin typeface="Calibri"/>
                        </a:rPr>
                        <a:t>—</a:t>
                      </a:r>
                    </a:p>
                  </a:txBody>
                  <a:tcPr marL="50292" marR="50292" marT="27432" marB="27432"/>
                </a:tc>
                <a:tc>
                  <a:txBody>
                    <a:bodyPr wrap="square"/>
                    <a:lstStyle/>
                    <a:p>
                      <a:r>
                        <a:rPr sz="800" b="0">
                          <a:latin typeface="Calibri"/>
                        </a:rPr>
                        <a:t>No silicon measured. The driver is now rebuilt on a real PDK; the GaN model has no equivalent check.</a:t>
                      </a:r>
                    </a:p>
                  </a:txBody>
                  <a:tcPr marL="50292" marR="50292" marT="27432" marB="27432"/>
                </a:tc>
                <a:tc>
                  <a:txBody>
                    <a:bodyPr wrap="square"/>
                    <a:lstStyle/>
                    <a:p>
                      <a:r>
                        <a:rPr sz="800" b="1">
                          <a:solidFill>
                            <a:srgbClr val="555555"/>
                          </a:solidFill>
                          <a:latin typeface="Calibri"/>
                        </a:rPr>
                        <a:t>OPEN → Review-III</a:t>
                      </a:r>
                    </a:p>
                  </a:txBody>
                  <a:tcPr marL="50292" marR="50292" marT="27432" marB="27432"/>
                </a:tc>
              </a:tr>
            </a:tbl>
          </a:graphicData>
        </a:graphic>
      </p:graphicFrame>
      <p:sp>
        <p:nvSpPr>
          <p:cNvPr id="7" name="TextBox 6"/>
          <p:cNvSpPr txBox="1"/>
          <p:nvPr/>
        </p:nvSpPr>
        <p:spPr>
          <a:xfrm>
            <a:off x="640080" y="5907024"/>
            <a:ext cx="10698480" cy="73152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Does it serve its purpose?  </a:t>
            </a:r>
            <a:r>
              <a:rPr lang="en-US" sz="1200" dirty="0">
                <a:solidFill>
                  <a:srgbClr val="000000"/>
                </a:solidFill>
                <a:latin typeface="Calibri" pitchFamily="34" charset="0"/>
                <a:ea typeface="Calibri" pitchFamily="34" charset="-122"/>
                <a:cs typeface="Calibri" pitchFamily="34" charset="-120"/>
              </a:rPr>
              <a:t xml:space="preserve">Yes, for a simulation study, and that is what it is titled as. Seven gaps closed, one answered in the negative, which is a result rather than a failure, and one that needs a bench. The honest summary is that the architecture is finished and the measurement of it on real silicon is not.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architecture, end to end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115568"/>
            <a:ext cx="53492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gap we found in our own work</a:t>
            </a:r>
          </a:p>
        </p:txBody>
      </p:sp>
      <p:sp>
        <p:nvSpPr>
          <p:cNvPr id="6" name="TextBox 5"/>
          <p:cNvSpPr txBox="1"/>
          <p:nvPr/>
        </p:nvSpPr>
        <p:spPr>
          <a:xfrm>
            <a:off x="640080" y="1517904"/>
            <a:ext cx="534924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The controller was verified in Icarus. The power stage was verified in ngspice. The two never touched.</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The FPGA emits eight thermometer-coded wires per bank. The SPICE driver took an integer slice count. A fault in the decoder would have passed the Verilog bench and stayed invisible in every figure ngspice produced.</a:t>
            </a:r>
          </a:p>
        </p:txBody>
      </p:sp>
      <p:sp>
        <p:nvSpPr>
          <p:cNvPr id="7" name="TextBox 6"/>
          <p:cNvSpPr txBox="1"/>
          <p:nvPr/>
        </p:nvSpPr>
        <p:spPr>
          <a:xfrm>
            <a:off x="6400800" y="1115568"/>
            <a:ext cx="530352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What we did about it</a:t>
            </a:r>
          </a:p>
        </p:txBody>
      </p:sp>
      <p:sp>
        <p:nvSpPr>
          <p:cNvPr id="8" name="TextBox 7"/>
          <p:cNvSpPr txBox="1"/>
          <p:nvPr/>
        </p:nvSpPr>
        <p:spPr>
          <a:xfrm>
            <a:off x="6400800" y="1517904"/>
            <a:ext cx="530352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rtl/seg_gate_ctrl_dpt_tb.v reproduces the double-pulse schedule at the real 200 MHz clock, letting the RTL's own dead-time generator make the edges.</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Its VCD becomes sixteen PWL sources, one per wire, into models/segdrv_bus.lib. Same deck, same devices, same measurement — only the slice selection changes.</a:t>
            </a:r>
          </a:p>
        </p:txBody>
      </p:sp>
      <p:graphicFrame>
        <p:nvGraphicFramePr>
          <p:cNvPr id="9" name="Table 8"/>
          <p:cNvGraphicFramePr>
            <a:graphicFrameLocks noGrp="1"/>
          </p:cNvGraphicFramePr>
          <p:nvPr/>
        </p:nvGraphicFramePr>
        <p:xfrm>
          <a:off x="2148840" y="3520440"/>
          <a:ext cx="7909558" cy="960120"/>
        </p:xfrm>
        <a:graphic>
          <a:graphicData uri="http://schemas.openxmlformats.org/drawingml/2006/table">
            <a:tbl>
              <a:tblPr firstRow="1">
                <a:tableStyleId>{5C22544A-7EE6-4342-B048-85BDC9FD1C3A}</a:tableStyleId>
              </a:tblPr>
              <a:tblGrid>
                <a:gridCol w="1581912"/>
                <a:gridCol w="2214676"/>
                <a:gridCol w="2214676"/>
                <a:gridCol w="1898294"/>
              </a:tblGrid>
              <a:tr h="320040">
                <a:tc>
                  <a:txBody>
                    <a:bodyPr wrap="square"/>
                    <a:lstStyle/>
                    <a:p>
                      <a:r>
                        <a:rPr sz="1100" b="1">
                          <a:latin typeface="Calibri"/>
                        </a:rPr>
                        <a:t/>
                      </a:r>
                    </a:p>
                  </a:txBody>
                  <a:tcPr marL="50292" marR="50292" marT="27432" marB="27432"/>
                </a:tc>
                <a:tc>
                  <a:txBody>
                    <a:bodyPr wrap="square"/>
                    <a:lstStyle/>
                    <a:p>
                      <a:r>
                        <a:rPr sz="1100" b="1">
                          <a:latin typeface="Calibri"/>
                        </a:rPr>
                        <a:t>margin, RTL bus</a:t>
                      </a:r>
                    </a:p>
                  </a:txBody>
                  <a:tcPr marL="50292" marR="50292" marT="27432" marB="27432"/>
                </a:tc>
                <a:tc>
                  <a:txBody>
                    <a:bodyPr wrap="square"/>
                    <a:lstStyle/>
                    <a:p>
                      <a:r>
                        <a:rPr sz="1100" b="1">
                          <a:latin typeface="Calibri"/>
                        </a:rPr>
                        <a:t>margin, .param</a:t>
                      </a:r>
                    </a:p>
                  </a:txBody>
                  <a:tcPr marL="50292" marR="50292" marT="27432" marB="27432"/>
                </a:tc>
                <a:tc>
                  <a:txBody>
                    <a:bodyPr wrap="square"/>
                    <a:lstStyle/>
                    <a:p>
                      <a:r>
                        <a:rPr sz="1100" b="1">
                          <a:latin typeface="Calibri"/>
                        </a:rPr>
                        <a:t>difference</a:t>
                      </a:r>
                    </a:p>
                  </a:txBody>
                  <a:tcPr marL="50292" marR="50292" marT="27432" marB="27432"/>
                </a:tc>
              </a:tr>
              <a:tr h="320040">
                <a:tc>
                  <a:txBody>
                    <a:bodyPr wrap="square"/>
                    <a:lstStyle/>
                    <a:p>
                      <a:r>
                        <a:rPr sz="1100" b="1">
                          <a:latin typeface="Calibri"/>
                        </a:rPr>
                        <a:t>clamp off</a:t>
                      </a:r>
                    </a:p>
                  </a:txBody>
                  <a:tcPr marL="50292" marR="50292" marT="27432" marB="27432"/>
                </a:tc>
                <a:tc>
                  <a:txBody>
                    <a:bodyPr wrap="square"/>
                    <a:lstStyle/>
                    <a:p>
                      <a:r>
                        <a:rPr sz="1100" b="1">
                          <a:latin typeface="Calibri"/>
                        </a:rPr>
                        <a:t>−0.242 V</a:t>
                      </a:r>
                    </a:p>
                  </a:txBody>
                  <a:tcPr marL="50292" marR="50292" marT="27432" marB="27432"/>
                </a:tc>
                <a:tc>
                  <a:txBody>
                    <a:bodyPr wrap="square"/>
                    <a:lstStyle/>
                    <a:p>
                      <a:r>
                        <a:rPr sz="1100" b="0">
                          <a:latin typeface="Calibri"/>
                        </a:rPr>
                        <a:t>−0.249 V</a:t>
                      </a:r>
                    </a:p>
                  </a:txBody>
                  <a:tcPr marL="50292" marR="50292" marT="27432" marB="27432"/>
                </a:tc>
                <a:tc>
                  <a:txBody>
                    <a:bodyPr wrap="square"/>
                    <a:lstStyle/>
                    <a:p>
                      <a:r>
                        <a:rPr sz="1100" b="0">
                          <a:latin typeface="Calibri"/>
                        </a:rPr>
                        <a:t>0.007 V</a:t>
                      </a:r>
                    </a:p>
                  </a:txBody>
                  <a:tcPr marL="50292" marR="50292" marT="27432" marB="27432"/>
                </a:tc>
              </a:tr>
              <a:tr h="320040">
                <a:tc>
                  <a:txBody>
                    <a:bodyPr wrap="square"/>
                    <a:lstStyle/>
                    <a:p>
                      <a:r>
                        <a:rPr sz="1100" b="1">
                          <a:latin typeface="Calibri"/>
                        </a:rPr>
                        <a:t>clamp on</a:t>
                      </a:r>
                    </a:p>
                  </a:txBody>
                  <a:tcPr marL="50292" marR="50292" marT="27432" marB="27432"/>
                </a:tc>
                <a:tc>
                  <a:txBody>
                    <a:bodyPr wrap="square"/>
                    <a:lstStyle/>
                    <a:p>
                      <a:r>
                        <a:rPr sz="1100" b="1">
                          <a:solidFill>
                            <a:srgbClr val="1B7F3B"/>
                          </a:solidFill>
                          <a:latin typeface="Calibri"/>
                        </a:rPr>
                        <a:t>+0.651 V</a:t>
                      </a:r>
                    </a:p>
                  </a:txBody>
                  <a:tcPr marL="50292" marR="50292" marT="27432" marB="27432"/>
                </a:tc>
                <a:tc>
                  <a:txBody>
                    <a:bodyPr wrap="square"/>
                    <a:lstStyle/>
                    <a:p>
                      <a:r>
                        <a:rPr sz="1100" b="0">
                          <a:latin typeface="Calibri"/>
                        </a:rPr>
                        <a:t>+0.570 V</a:t>
                      </a:r>
                    </a:p>
                  </a:txBody>
                  <a:tcPr marL="50292" marR="50292" marT="27432" marB="27432"/>
                </a:tc>
                <a:tc>
                  <a:txBody>
                    <a:bodyPr wrap="square"/>
                    <a:lstStyle/>
                    <a:p>
                      <a:r>
                        <a:rPr sz="1100" b="0">
                          <a:latin typeface="Calibri"/>
                        </a:rPr>
                        <a:t>0.081 V</a:t>
                      </a:r>
                    </a:p>
                  </a:txBody>
                  <a:tcPr marL="50292" marR="50292" marT="27432" marB="27432"/>
                </a:tc>
              </a:tr>
            </a:tbl>
          </a:graphicData>
        </a:graphic>
      </p:graphicFrame>
      <p:sp>
        <p:nvSpPr>
          <p:cNvPr id="10" name="TextBox 9"/>
          <p:cNvSpPr txBox="1"/>
          <p:nvPr/>
        </p:nvSpPr>
        <p:spPr>
          <a:xfrm>
            <a:off x="640080" y="4754880"/>
            <a:ext cx="11064240" cy="173736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Worst disagreement anywhere: 0.081 V</a:t>
            </a:r>
            <a:r>
              <a:rPr lang="en-US" sz="1250" dirty="0">
                <a:solidFill>
                  <a:srgbClr val="000000"/>
                </a:solidFill>
                <a:latin typeface="Calibri" pitchFamily="34" charset="0"/>
                <a:ea typeface="Calibri" pitchFamily="34" charset="-122"/>
                <a:cs typeface="Calibri" pitchFamily="34" charset="-120"/>
              </a:rPr>
              <a:t xml:space="preserve"> — and it is timing, not encoding. The ideal stimulus turns the low side on at 2.015 µs; the RTL's dead-time generator puts it at 2.0175 µs. The clamp's sign change, which is this project's central claim, is now produced by the actual logic rather than by a parameter.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it found a real bug, which is the whole argument for doing it: </a:t>
            </a:r>
            <a:r>
              <a:rPr lang="en-US" sz="1250" dirty="0">
                <a:solidFill>
                  <a:srgbClr val="000000"/>
                </a:solidFill>
                <a:latin typeface="Calibri" pitchFamily="34" charset="0"/>
                <a:ea typeface="Calibri" pitchFamily="34" charset="-122"/>
                <a:cs typeface="Calibri" pitchFamily="34" charset="-120"/>
              </a:rPr>
              <a:t xml:space="preserve">dead time is (dt_cycles + 1) × 5 ns. The counter loads and then counts down through zero, so 15 ns is 2 cycles, not the obvious 15/5 = 3. Anyone mapping our swept dead-time grid onto hardware by dividing by the clock period builds a driver that is one cycle slow at every operating point, and neither half of the verification could have seen it alone.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loop holds 50 V. Open loop walks to 58.3 V.</a:t>
            </a:r>
          </a:p>
        </p:txBody>
      </p:sp>
      <p:pic>
        <p:nvPicPr>
          <p:cNvPr id="6" name="Picture 5" descr="fig_closedloop.png"/>
          <p:cNvPicPr>
            <a:picLocks noChangeAspect="1"/>
          </p:cNvPicPr>
          <p:nvPr/>
        </p:nvPicPr>
        <p:blipFill>
          <a:blip r:embed="rId4"/>
          <a:stretch>
            <a:fillRect/>
          </a:stretch>
        </p:blipFill>
        <p:spPr>
          <a:xfrm>
            <a:off x="2501273" y="1444752"/>
            <a:ext cx="718914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21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sim/buck_closed.cir runs the same power stage and the same segmented drivers, now regulated by a type-III loop and then disturbed on purpose. Closed loop 50.01 / 50.00 / 50.00 V through a 2× load step and a 100 → 120 V line step; worst error 0.02 % against open loop's 16.65 %. Load step recovers in 4 µs, line step in 22 µs. Ripple 0.25 %, efficiency 96.1 %, start-up overshoot 3.8 %.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5.5× to 12.4×, and the lead widens as the corner gets harder.</a:t>
            </a:r>
          </a:p>
        </p:txBody>
      </p:sp>
      <p:pic>
        <p:nvPicPr>
          <p:cNvPr id="6" name="Picture 5" descr="fig_headtohead.png"/>
          <p:cNvPicPr>
            <a:picLocks noChangeAspect="1"/>
          </p:cNvPicPr>
          <p:nvPr/>
        </p:nvPicPr>
        <p:blipFill>
          <a:blip r:embed="rId4"/>
          <a:stretch>
            <a:fillRect/>
          </a:stretch>
        </p:blipFill>
        <p:spPr>
          <a:xfrm>
            <a:off x="1509142" y="1444752"/>
            <a:ext cx="9173408"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scripts/headtohead.py: same deck, same GaN, same parasitics; only the driver is swapped. We hold one fixed control word at all four corners; they are re-optimised at every corner, which is more freedom than their own design has. Their margin falls +0.50 → +0.18 V from the mildest corner to the hottest and ours barely moves, because a clamp does not care how hot the device is. Our switch node also slews about twice as fast, so the margin is not bought with switching speed. One caveat: models/zhangdrv.lib is our implementation of the scheme as they (their netlist is not published), run in our testbench with our parasitics. It is not 5.5–12.4× their measured result, and we do not claim it 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Only the shipped design is safe under every model we tried.</a:t>
            </a:r>
          </a:p>
        </p:txBody>
      </p:sp>
      <p:pic>
        <p:nvPicPr>
          <p:cNvPr id="6" name="Picture 5" descr="fig_modeldep.png"/>
          <p:cNvPicPr>
            <a:picLocks noChangeAspect="1"/>
          </p:cNvPicPr>
          <p:nvPr/>
        </p:nvPicPr>
        <p:blipFill>
          <a:blip r:embed="rId4"/>
          <a:stretch>
            <a:fillRect/>
          </a:stretch>
        </p:blipFill>
        <p:spPr>
          <a:xfrm>
            <a:off x="1993863" y="1444752"/>
            <a:ext cx="820396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assumptions carry every margin in this deck, and each was replaced and re-run. scripts/silicon_check.py rebuilds the output stage in real SKY130 5 V transistors; scripts/capmodel_check.py swaps the junction diodes for a charge capacitance. The ordering survives both. Two things do not: the clamp on its own gives +0.03 V on real devices rather than +0.57, and the no-clamp row changes sign between capacitance laws — so “the constant word causes false turn-on” is model-dependent, and we say so.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GaN against silicon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driver, same on-resistance class. Only the device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GaN HEMT</a:t>
                      </a:r>
                    </a:p>
                  </a:txBody>
                  <a:tcPr marL="50292" marR="50292" marT="27432" marB="27432"/>
                </a:tc>
                <a:tc>
                  <a:txBody>
                    <a:bodyPr wrap="square"/>
                    <a:lstStyle/>
                    <a:p>
                      <a:r>
                        <a:rPr sz="1250" b="1">
                          <a:latin typeface="Calibri"/>
                        </a:rPr>
                        <a:t>Si MOSFET</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GaN HEMT vs Si MOSFET</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17.55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6.3×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6.65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8.5×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8.60</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3.3×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1.489</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42.7× less</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95.06</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+2.36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-1.5</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+19.4 pts</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Read the last row honestly: GaN loses it. Silicon does not overshoot because its edge is nine times slower — the same slowness that costs it 6.1 W. Speed and device stress are the same knob, and choosing GaN is choosing to manage the stress.</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100 V → 50 V, 500 kHz, 10 Ω, 3 nH loop. Each device is driven at its own rated gate voltage — 5 V for GaN, 10 V for silicon — because a silicon MOSFET at 5 V would be barely enhanced and would lose on a technicality rather than on physics. Power is averaged over the last 20 of 150 whole cycles; latency and edge come from a separate 3-cycle run at a 0.02 ns step, because a 2 ns edge and a 300 µs average cannot share one transient.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win, and where we lose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parameters, both comparisons. Blue is better, red is worse, and the red bars are drawn at full length.</a:t>
            </a:r>
          </a:p>
        </p:txBody>
      </p:sp>
      <p:pic>
        <p:nvPicPr>
          <p:cNvPr id="6" name="Picture 5" descr="fig_winlose.png"/>
          <p:cNvPicPr>
            <a:picLocks noChangeAspect="1"/>
          </p:cNvPicPr>
          <p:nvPr/>
        </p:nvPicPr>
        <p:blipFill>
          <a:blip r:embed="rId4"/>
          <a:stretch>
            <a:fillRect/>
          </a:stretch>
        </p:blipFill>
        <p:spPr>
          <a:xfrm>
            <a:off x="2350572" y="1463040"/>
            <a:ext cx="7490550" cy="3858768"/>
          </a:xfrm>
          <a:prstGeom prst="rect">
            <a:avLst/>
          </a:prstGeom>
        </p:spPr>
      </p:pic>
      <p:sp>
        <p:nvSpPr>
          <p:cNvPr id="7" name="TextBox 6"/>
          <p:cNvSpPr txBox="1"/>
          <p:nvPr/>
        </p:nvSpPr>
        <p:spPr>
          <a:xfrm>
            <a:off x="502920" y="5431536"/>
            <a:ext cx="11201400" cy="10058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18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Bars are a symmetric relative difference, bounded to ±100 %, because the six parameters are in four different units — one axis, never two. Plain percentage change was tried first and was wrong: silicon's overshoot is −1.5 %, so dividing by a near-zero opposite-sign baseline put that row at −1284 %. Raw values under every bar. scripts/winlose_figure.py.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driver, drawn — the reimplementation</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built as a schematic from our implementation of it.</a:t>
            </a:r>
          </a:p>
        </p:txBody>
      </p:sp>
      <p:pic>
        <p:nvPicPr>
          <p:cNvPr id="6" name="Picture 5" descr="fig_sch_base.png"/>
          <p:cNvPicPr>
            <a:picLocks noChangeAspect="1"/>
          </p:cNvPicPr>
          <p:nvPr/>
        </p:nvPicPr>
        <p:blipFill>
          <a:blip r:embed="rId4"/>
          <a:stretch>
            <a:fillRect/>
          </a:stretch>
        </p:blipFill>
        <p:spPr>
          <a:xfrm>
            <a:off x="2926474" y="1463040"/>
            <a:ext cx="6338746"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14 columns per bank, because their seven slices are split across two stages and each stage is its own branch. The stage-2 branches carry an extra series switch gated by the pattern step — that switch is their mechanism. Every resistor shows its own conditional, so the sheet can be checked against models/zhangdrv.lib line by line. No clamp branch, and the off rail is tied to its reference.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driver, drawn — the same stage, improved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models/segdrv.lib. Eight slices a bank, switching together, plus the two blocks they do not have.</a:t>
            </a:r>
          </a:p>
        </p:txBody>
      </p:sp>
      <p:pic>
        <p:nvPicPr>
          <p:cNvPr id="6" name="Picture 5" descr="fig_sch_ours.png"/>
          <p:cNvPicPr>
            <a:picLocks noChangeAspect="1"/>
          </p:cNvPicPr>
          <p:nvPr/>
        </p:nvPicPr>
        <p:blipFill>
          <a:blip r:embed="rId4"/>
          <a:stretch>
            <a:fillRect/>
          </a:stretch>
        </p:blipFill>
        <p:spPr>
          <a:xfrm>
            <a:off x="1669564" y="1463040"/>
            <a:ext cx="8852567"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Each slice is a switch and a resistor, and the resistor carries the code: Rpu3 is 8 Ω if the word asks for three or more slices and 1 GΩ if it does not. Drive strength is how many of the eight parallel paths are live. On the right, Sclk and Rclk — the active Miller clamp, pulling the gate to the off rail through 0.5 Ω.</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Or we can run it now</a:t>
            </a:r>
            <a:endParaRPr lang="en-US" sz="2800" dirty="0"/>
          </a:p>
        </p:txBody>
      </p:sp>
      <p:sp>
        <p:nvSpPr>
          <p:cNvPr id="5" name="TextBox 4"/>
          <p:cNvSpPr txBox="1"/>
          <p:nvPr/>
        </p:nvSpPr>
        <p:spPr>
          <a:xfrm>
            <a:off x="640080" y="1005840"/>
            <a:ext cx="11064240" cy="402336"/>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 xml:space="preserve">bash proof/LIVE-SIM.sh</a:t>
            </a:r>
            <a:r>
              <a:rPr lang="en-US" sz="1400" dirty="0">
                <a:solidFill>
                  <a:srgbClr val="000000"/>
                </a:solidFill>
                <a:latin typeface="Calibri" pitchFamily="34" charset="0"/>
                <a:ea typeface="Calibri" pitchFamily="34" charset="-122"/>
                <a:cs typeface="Calibri" pitchFamily="34" charset="-120"/>
              </a:rPr>
              <a:t xml:space="preserve">   — two ngspice transients, about ten seconds, on whatever machine is in this room.</a:t>
            </a:r>
          </a:p>
        </p:txBody>
      </p:sp>
      <p:pic>
        <p:nvPicPr>
          <p:cNvPr id="6" name="live_demo_recording.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777240" y="1645920"/>
            <a:ext cx="5029200" cy="2825496"/>
          </a:xfrm>
          <a:prstGeom prst="rect">
            <a:avLst/>
          </a:prstGeom>
        </p:spPr>
      </p:pic>
      <p:pic>
        <p:nvPicPr>
          <p:cNvPr id="7" name="Picture 6" descr="fig_live_sim.png"/>
          <p:cNvPicPr>
            <a:picLocks noChangeAspect="1"/>
          </p:cNvPicPr>
          <p:nvPr/>
        </p:nvPicPr>
        <p:blipFill>
          <a:blip r:embed="rId7"/>
          <a:stretch>
            <a:fillRect/>
          </a:stretch>
        </p:blipFill>
        <p:spPr>
          <a:xfrm>
            <a:off x="6812280" y="1645920"/>
            <a:ext cx="3961520" cy="2825496"/>
          </a:xfrm>
          <a:prstGeom prst="rect">
            <a:avLst/>
          </a:prstGeom>
        </p:spPr>
      </p:pic>
      <p:sp>
        <p:nvSpPr>
          <p:cNvPr id="8" name="TextBox 7"/>
          <p:cNvSpPr txBox="1"/>
          <p:nvPr/>
        </p:nvSpPr>
        <p:spPr>
          <a:xfrm>
            <a:off x="777240" y="4553712"/>
            <a:ext cx="5029200" cy="310896"/>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the recording, if the room will not cooperate</a:t>
            </a:r>
          </a:p>
        </p:txBody>
      </p:sp>
      <p:sp>
        <p:nvSpPr>
          <p:cNvPr id="9" name="TextBox 8"/>
          <p:cNvSpPr txBox="1"/>
          <p:nvPr/>
        </p:nvSpPr>
        <p:spPr>
          <a:xfrm>
            <a:off x="6812280" y="4553712"/>
            <a:ext cx="4572000" cy="310896"/>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what it draws when it does</a:t>
            </a:r>
          </a:p>
        </p:txBody>
      </p:sp>
      <p:sp>
        <p:nvSpPr>
          <p:cNvPr id="10" name="TextBox 9"/>
          <p:cNvSpPr txBox="1"/>
          <p:nvPr/>
        </p:nvSpPr>
        <p:spPr>
          <a:xfrm>
            <a:off x="502920" y="4974336"/>
            <a:ext cx="11201400" cy="128016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8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runs of ONE circuit file. Between them only CLKEN (the Miller clamp) and VNEG (the gate off rail) change, so nothing else can be moving. It prints what it measured beside what these slides claim — OFF gate 1.649 V against the deck's 1.65, margin 2.576 V against the deck's 2.576 — then draws the waveforms those two runs produced. 3.8 s of that is ngspice; the rest is drawing. scripts/live_demo.py.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Latency and device power — the two you asked for</a:t>
            </a:r>
            <a:endParaRPr lang="en-US" sz="2800" dirty="0"/>
          </a:p>
        </p:txBody>
      </p:sp>
      <p:sp>
        <p:nvSpPr>
          <p:cNvPr id="5" name="TextBox 4"/>
          <p:cNvSpPr txBox="1"/>
          <p:nvPr/>
        </p:nvSpPr>
        <p:spPr>
          <a:xfrm>
            <a:off x="640080" y="1005840"/>
            <a:ext cx="1106424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 xml:space="preserve">Same converter, same device class. Silicon → base paper changes the device; base paper → ours changes the control.</a:t>
            </a:r>
          </a:p>
        </p:txBody>
      </p:sp>
      <p:pic>
        <p:nvPicPr>
          <p:cNvPr id="6" name="Picture 5" descr="fig_latency_power.png"/>
          <p:cNvPicPr>
            <a:picLocks noChangeAspect="1"/>
          </p:cNvPicPr>
          <p:nvPr/>
        </p:nvPicPr>
        <p:blipFill>
          <a:blip r:embed="rId4"/>
          <a:stretch>
            <a:fillRect/>
          </a:stretch>
        </p:blipFill>
        <p:spPr>
          <a:xfrm>
            <a:off x="975792" y="1645920"/>
            <a:ext cx="10240108" cy="3749039"/>
          </a:xfrm>
          <a:prstGeom prst="rect">
            <a:avLst/>
          </a:prstGeom>
        </p:spPr>
      </p:pic>
      <p:sp>
        <p:nvSpPr>
          <p:cNvPr id="7" name="TextBox 6"/>
          <p:cNvSpPr txBox="1"/>
          <p:nvPr/>
        </p:nvSpPr>
        <p:spPr>
          <a:xfrm>
            <a:off x="502920" y="5577840"/>
            <a:ext cx="10838382" cy="9601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Latency 17.55 → 4.04 → 2.78 ns and device power 8.60 → 2.93 → 2.60 W. Against silicon that is 6.3× and 3.3×; against the base paper's control on the same GaN device, 1.5× and 1.1×. The device swap buys most of it and the control swap buys the rest — which is the honest shape of the result. Same file the tables read, results/panel_metrics.csv. scripts/latency_power_figure.py.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Silicon, the base paper, and ours — six parameters</a:t>
            </a:r>
            <a:endParaRPr lang="en-US" sz="2800" dirty="0"/>
          </a:p>
        </p:txBody>
      </p:sp>
      <p:sp>
        <p:nvSpPr>
          <p:cNvPr id="5" name="TextBox 4"/>
          <p:cNvSpPr txBox="1"/>
          <p:nvPr/>
        </p:nvSpPr>
        <p:spPr>
          <a:xfrm>
            <a:off x="640080" y="1005840"/>
            <a:ext cx="1106424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 xml:space="preserve">Column 1 → 2 changes only the device. Column 2 → 3 changes only the control.</a:t>
            </a:r>
          </a:p>
        </p:txBody>
      </p:sp>
      <p:pic>
        <p:nvPicPr>
          <p:cNvPr id="6" name="Picture 5" descr="fig_three_way.png"/>
          <p:cNvPicPr>
            <a:picLocks noChangeAspect="1"/>
          </p:cNvPicPr>
          <p:nvPr/>
        </p:nvPicPr>
        <p:blipFill>
          <a:blip r:embed="rId4"/>
          <a:stretch>
            <a:fillRect/>
          </a:stretch>
        </p:blipFill>
        <p:spPr>
          <a:xfrm>
            <a:off x="3540923" y="1389888"/>
            <a:ext cx="5109848" cy="4114800"/>
          </a:xfrm>
          <a:prstGeom prst="rect">
            <a:avLst/>
          </a:prstGeom>
        </p:spPr>
      </p:pic>
      <p:sp>
        <p:nvSpPr>
          <p:cNvPr id="7" name="TextBox 6"/>
          <p:cNvSpPr txBox="1"/>
          <p:nvPr/>
        </p:nvSpPr>
        <p:spPr>
          <a:xfrm>
            <a:off x="502920" y="5687568"/>
            <a:ext cx="10838382" cy="10058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19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Latency 17.55 → 4.04 → 2.78 ns and device power 8.60 → 2.93 → 2.60 W, left to right. The device swap buys most of it; the control swap buys the rest. Overshoot is the row that runs the other way, and it runs that way for the same reason the other five do not: silicon does not overshoot because its edge is nine times slower, and that slowness is what costs it 6.0 W. Speed and device stress are one knob. scripts/three_way_figure.py, from results/panel_metrics.csv.</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the negative rail costs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V_off swept 0 to −5 V at two loads. Margin against dead-time energy.</a:t>
            </a:r>
          </a:p>
        </p:txBody>
      </p:sp>
      <p:pic>
        <p:nvPicPr>
          <p:cNvPr id="6" name="Picture 5" descr="fig_voff_tradeoff.png"/>
          <p:cNvPicPr>
            <a:picLocks noChangeAspect="1"/>
          </p:cNvPicPr>
          <p:nvPr/>
        </p:nvPicPr>
        <p:blipFill>
          <a:blip r:embed="rId4"/>
          <a:stretch>
            <a:fillRect/>
          </a:stretch>
        </p:blipFill>
        <p:spPr>
          <a:xfrm>
            <a:off x="3874357" y="1463040"/>
            <a:ext cx="4442980" cy="3675887"/>
          </a:xfrm>
          <a:prstGeom prst="rect">
            <a:avLst/>
          </a:prstGeom>
        </p:spPr>
      </p:pic>
      <p:sp>
        <p:nvSpPr>
          <p:cNvPr id="7" name="TextBox 6"/>
          <p:cNvSpPr txBox="1"/>
          <p:nvPr/>
        </p:nvSpPr>
        <p:spPr>
          <a:xfrm>
            <a:off x="502920" y="526694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The −2 V rail was chosen from the crosstalk side alone, and this is the other side of that choice. An E-mode GaN HEMT has no body diode, so during dead time it conducts in the third quadrant at roughly V_th + |V_off| + I·R_ds(on) — every volt of off-bias is paid on every dead-time interval. Margin rises at a flat 1 V per volt throughout. The cost does not: at 10 A it is 0.004 µJ/V just above −2 V and 0.246 µJ/V just below, sixty times steeper. −2 V sits on the knee, which is a result rather than a justification. scripts/voff_sweep.py.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hot-corner lead rest on two typed-in numbers?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Both derating slopes perturbed ±50 %, hot corner re-run for both drivers.</a:t>
            </a:r>
          </a:p>
        </p:txBody>
      </p:sp>
      <p:pic>
        <p:nvPicPr>
          <p:cNvPr id="6" name="Picture 5" descr="fig_temp_sensitivity.png"/>
          <p:cNvPicPr>
            <a:picLocks noChangeAspect="1"/>
          </p:cNvPicPr>
          <p:nvPr/>
        </p:nvPicPr>
        <p:blipFill>
          <a:blip r:embed="rId4"/>
          <a:stretch>
            <a:fillRect/>
          </a:stretch>
        </p:blipFill>
        <p:spPr>
          <a:xfrm>
            <a:off x="1412198" y="1463040"/>
            <a:ext cx="9367298" cy="3675887"/>
          </a:xfrm>
          <a:prstGeom prst="rect">
            <a:avLst/>
          </a:prstGeom>
        </p:spPr>
      </p:pic>
      <p:sp>
        <p:nvSpPr>
          <p:cNvPr id="7" name="TextBox 6"/>
          <p:cNvSpPr txBox="1"/>
          <p:nvPr/>
        </p:nvSpPr>
        <p:spPr>
          <a:xfrm>
            <a:off x="502920" y="526694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sim/dpt.cir derates the device through KT = 1 + 0.009·(TJ−25) and V_th = 1.4 − 0.0015·(TJ−25). Neither is a datasheet fit — there is no vendor model in the repository to fit against, and that is remaining work, not a result. What can be shown is whether the lead is manufactured by their exact values, and it is not: across ±50 % on either slope the lead runs 9.1–20.3× against 12.4× as shipped. Our margin barely moves; theirs collapses either way. scripts/temp_sensitivity.py.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answer depend on the weight we chose?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cost = E_tot + W_OV · ov_pct, swept over two orders of magnitude.</a:t>
            </a:r>
          </a:p>
        </p:txBody>
      </p:sp>
      <p:pic>
        <p:nvPicPr>
          <p:cNvPr id="6" name="Picture 5" descr="fig_wov_sensitivity.png"/>
          <p:cNvPicPr>
            <a:picLocks noChangeAspect="1"/>
          </p:cNvPicPr>
          <p:nvPr/>
        </p:nvPicPr>
        <p:blipFill>
          <a:blip r:embed="rId4"/>
          <a:stretch>
            <a:fillRect/>
          </a:stretch>
        </p:blipFill>
        <p:spPr>
          <a:xfrm>
            <a:off x="3170048" y="1463040"/>
            <a:ext cx="5851599"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The honest answer is two-part, and the second part is the one to say. (B) ranges 8.3–23.1 % of the gain across the sweep, so the 8.9 % headline IS weight-dependent — weight overshoot harder and adapting matters more, which is physical, because overshoot is what varies most across corners. What does not move: the fixed word takes at least 77 % of the gain at every weight tried. scripts/grid_robustness.py.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distribution behind the 2.6 %</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What one fixed word costs at each of the 36 corners, sorted.</a:t>
            </a:r>
          </a:p>
        </p:txBody>
      </p:sp>
      <p:pic>
        <p:nvPicPr>
          <p:cNvPr id="6" name="Picture 5" descr="fig_corner_penalty.png"/>
          <p:cNvPicPr>
            <a:picLocks noChangeAspect="1"/>
          </p:cNvPicPr>
          <p:nvPr/>
        </p:nvPicPr>
        <p:blipFill>
          <a:blip r:embed="rId4"/>
          <a:stretch>
            <a:fillRect/>
          </a:stretch>
        </p:blipFill>
        <p:spPr>
          <a:xfrm>
            <a:off x="3005495" y="1463040"/>
            <a:ext cx="6180704"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2.6 % is a mean over these 36 bars and the mean alone is not the whole truth: the median is 1.9 %, but 10 of 36 corners cost more than 5 % and the worst — 200 V / 2 A / 125 °C — costs 16.5 %. That corner is also outside the 50–150 V envelope this device is rated for. Quote the distribution, not the mean.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optimum moves. The cost of ignoring it does not.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Per-corner best word against the one fixed word, all 36 corners.</a:t>
            </a:r>
          </a:p>
        </p:txBody>
      </p:sp>
      <p:pic>
        <p:nvPicPr>
          <p:cNvPr id="6" name="Picture 5" descr="fig_fixed_vs_optimum.png"/>
          <p:cNvPicPr>
            <a:picLocks noChangeAspect="1"/>
          </p:cNvPicPr>
          <p:nvPr/>
        </p:nvPicPr>
        <p:blipFill>
          <a:blip r:embed="rId4"/>
          <a:stretch>
            <a:fillRect/>
          </a:stretch>
        </p:blipFill>
        <p:spPr>
          <a:xfrm>
            <a:off x="2864825" y="1463040"/>
            <a:ext cx="6462045"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Ten distinct words win across the 36 corners, so the optimum genuinely moves — and that is the objection this slide answers. The two curves sit on top of each other anyway: the shaded gap between them IS the adaptive gain, 2.6 % of the baseline. Segmentation still shapes the edge; it just does not need to be scheduled.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Is the 36-corner grid dense enough?</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split re-estimated on 250 random corner subsets at each size.</a:t>
            </a:r>
          </a:p>
        </p:txBody>
      </p:sp>
      <p:pic>
        <p:nvPicPr>
          <p:cNvPr id="6" name="Picture 5" descr="fig_grid_subsample.png"/>
          <p:cNvPicPr>
            <a:picLocks noChangeAspect="1"/>
          </p:cNvPicPr>
          <p:nvPr/>
        </p:nvPicPr>
        <p:blipFill>
          <a:blip r:embed="rId4"/>
          <a:stretch>
            <a:fillRect/>
          </a:stretch>
        </p:blipFill>
        <p:spPr>
          <a:xfrm>
            <a:off x="2840687" y="1463040"/>
            <a:ext cx="6510320"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At four corners the estimate scatters over 0–23 %, which is why the earlier n = 4 study reported a different share; by 27 it sits on the full-grid answer. Stated precisely: this tests stability under COARSENING and is evidence the grid is dense enough. It cannot prove a finer grid would agree — that needs new transients.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Base paper and ours, side by side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shared rows. A difference is a difference in one row, and nothing else moves.</a:t>
            </a:r>
          </a:p>
        </p:txBody>
      </p:sp>
      <p:pic>
        <p:nvPicPr>
          <p:cNvPr id="6" name="Picture 5" descr="fig_arch_sidebyside.png"/>
          <p:cNvPicPr>
            <a:picLocks noChangeAspect="1"/>
          </p:cNvPicPr>
          <p:nvPr/>
        </p:nvPicPr>
        <p:blipFill>
          <a:blip r:embed="rId4"/>
          <a:stretch>
            <a:fillRect/>
          </a:stretch>
        </p:blipFill>
        <p:spPr>
          <a:xfrm>
            <a:off x="2617157" y="1481328"/>
            <a:ext cx="6957380" cy="3931920"/>
          </a:xfrm>
          <a:prstGeom prst="rect">
            <a:avLst/>
          </a:prstGeom>
        </p:spPr>
      </p:pic>
      <p:sp>
        <p:nvSpPr>
          <p:cNvPr id="7" name="TextBox 6"/>
          <p:cNvSpPr txBox="1"/>
          <p:nvPr/>
        </p:nvSpPr>
        <p:spPr>
          <a:xfrm>
            <a:off x="502920" y="5522976"/>
            <a:ext cx="11201400" cy="87782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15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Block counts and values are parsed from models/zhangdrv.lib and models/segdrv.lib, not restated from memory — if either library changes this figure changes with it. The one dotted row is the one they do not have. The red line is where our design loses, and it is on the slide for the same reason the rest of it is.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architecture — the base paper's blocks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One bias resistor sets the whole pattern.</a:t>
            </a:r>
          </a:p>
        </p:txBody>
      </p:sp>
      <p:pic>
        <p:nvPicPr>
          <p:cNvPr id="6" name="Picture 5" descr="fig_arch_base.png"/>
          <p:cNvPicPr>
            <a:picLocks noChangeAspect="1"/>
          </p:cNvPicPr>
          <p:nvPr/>
        </p:nvPicPr>
        <p:blipFill>
          <a:blip r:embed="rId4"/>
          <a:stretch>
            <a:fillRect/>
          </a:stretch>
        </p:blipFill>
        <p:spPr>
          <a:xfrm>
            <a:off x="2338805" y="1481328"/>
            <a:ext cx="7514083"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The two dotted slots are what their design does not have.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architecture — same stage, three blocks added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same output stage. Three blocks added, in green.</a:t>
            </a:r>
          </a:p>
        </p:txBody>
      </p:sp>
      <p:pic>
        <p:nvPicPr>
          <p:cNvPr id="6" name="Picture 5" descr="fig_arch_ours.png"/>
          <p:cNvPicPr>
            <a:picLocks noChangeAspect="1"/>
          </p:cNvPicPr>
          <p:nvPr/>
        </p:nvPicPr>
        <p:blipFill>
          <a:blip r:embed="rId4"/>
          <a:stretch>
            <a:fillRect/>
          </a:stretch>
        </p:blipFill>
        <p:spPr>
          <a:xfrm>
            <a:off x="772370" y="1481328"/>
            <a:ext cx="10646952"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Green marks what is ours: digital 6-field control, the active clamp, the switchable −2 V rail.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converter across its own envelope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Every bus and load point, not just the one the headline is quoted at.</a:t>
            </a:r>
          </a:p>
        </p:txBody>
      </p:sp>
      <p:graphicFrame>
        <p:nvGraphicFramePr>
          <p:cNvPr id="6" name="Table 5"/>
          <p:cNvGraphicFramePr>
            <a:graphicFrameLocks noGrp="1"/>
          </p:cNvGraphicFramePr>
          <p:nvPr/>
        </p:nvGraphicFramePr>
        <p:xfrm>
          <a:off x="640080" y="1554480"/>
          <a:ext cx="11064235" cy="3246120"/>
        </p:xfrm>
        <a:graphic>
          <a:graphicData uri="http://schemas.openxmlformats.org/drawingml/2006/table">
            <a:tbl>
              <a:tblPr firstRow="1">
                <a:tableStyleId>{5C22544A-7EE6-4342-B048-85BDC9FD1C3A}</a:tableStyleId>
              </a:tblPr>
              <a:tblGrid>
                <a:gridCol w="995781"/>
                <a:gridCol w="995781"/>
                <a:gridCol w="1548993"/>
                <a:gridCol w="1327708"/>
                <a:gridCol w="1548993"/>
                <a:gridCol w="1327708"/>
                <a:gridCol w="1438351"/>
                <a:gridCol w="1880920"/>
              </a:tblGrid>
              <a:tr h="360680">
                <a:tc>
                  <a:txBody>
                    <a:bodyPr wrap="square"/>
                    <a:lstStyle/>
                    <a:p>
                      <a:r>
                        <a:rPr sz="1150" b="1">
                          <a:latin typeface="Calibri"/>
                        </a:rPr>
                        <a:t>bus</a:t>
                      </a:r>
                    </a:p>
                  </a:txBody>
                  <a:tcPr marL="50292" marR="50292" marT="27432" marB="27432"/>
                </a:tc>
                <a:tc>
                  <a:txBody>
                    <a:bodyPr wrap="square"/>
                    <a:lstStyle/>
                    <a:p>
                      <a:r>
                        <a:rPr sz="1150" b="1">
                          <a:latin typeface="Calibri"/>
                        </a:rPr>
                        <a:t>load</a:t>
                      </a:r>
                    </a:p>
                  </a:txBody>
                  <a:tcPr marL="50292" marR="50292" marT="27432" marB="27432"/>
                </a:tc>
                <a:tc>
                  <a:txBody>
                    <a:bodyPr wrap="square"/>
                    <a:lstStyle/>
                    <a:p>
                      <a:r>
                        <a:rPr sz="1150" b="1">
                          <a:latin typeface="Calibri"/>
                        </a:rPr>
                        <a:t>peak v(sw)</a:t>
                      </a:r>
                    </a:p>
                  </a:txBody>
                  <a:tcPr marL="50292" marR="50292" marT="27432" marB="27432"/>
                </a:tc>
                <a:tc>
                  <a:txBody>
                    <a:bodyPr wrap="square"/>
                    <a:lstStyle/>
                    <a:p>
                      <a:r>
                        <a:rPr sz="1150" b="1">
                          <a:latin typeface="Calibri"/>
                        </a:rPr>
                        <a:t>overshoot</a:t>
                      </a:r>
                    </a:p>
                  </a:txBody>
                  <a:tcPr marL="50292" marR="50292" marT="27432" marB="27432"/>
                </a:tc>
                <a:tc>
                  <a:txBody>
                    <a:bodyPr wrap="square"/>
                    <a:lstStyle/>
                    <a:p>
                      <a:r>
                        <a:rPr sz="1150" b="1">
                          <a:latin typeface="Calibri"/>
                        </a:rPr>
                        <a:t>gate, HS on</a:t>
                      </a:r>
                    </a:p>
                  </a:txBody>
                  <a:tcPr marL="50292" marR="50292" marT="27432" marB="27432"/>
                </a:tc>
                <a:tc>
                  <a:txBody>
                    <a:bodyPr wrap="square"/>
                    <a:lstStyle/>
                    <a:p>
                      <a:r>
                        <a:rPr sz="1150" b="1">
                          <a:latin typeface="Calibri"/>
                        </a:rPr>
                        <a:t>margin</a:t>
                      </a:r>
                    </a:p>
                  </a:txBody>
                  <a:tcPr marL="50292" marR="50292" marT="27432" marB="27432"/>
                </a:tc>
                <a:tc>
                  <a:txBody>
                    <a:bodyPr wrap="square"/>
                    <a:lstStyle/>
                    <a:p>
                      <a:r>
                        <a:rPr sz="1150" b="1">
                          <a:latin typeface="Calibri"/>
                        </a:rPr>
                        <a:t>efficiency</a:t>
                      </a:r>
                    </a:p>
                  </a:txBody>
                  <a:tcPr marL="50292" marR="50292" marT="27432" marB="27432"/>
                </a:tc>
                <a:tc>
                  <a:txBody>
                    <a:bodyPr wrap="square"/>
                    <a:lstStyle/>
                    <a:p>
                      <a:r>
                        <a:rPr sz="1150" b="1">
                          <a:latin typeface="Calibri"/>
                        </a:rPr>
                        <a:t>verdict</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68.1 V</a:t>
                      </a:r>
                    </a:p>
                  </a:txBody>
                  <a:tcPr marL="50292" marR="50292" marT="27432" marB="27432"/>
                </a:tc>
                <a:tc>
                  <a:txBody>
                    <a:bodyPr wrap="square"/>
                    <a:lstStyle/>
                    <a:p>
                      <a:r>
                        <a:rPr sz="1150" b="0">
                          <a:latin typeface="Calibri"/>
                        </a:rPr>
                        <a:t>36.1 %</a:t>
                      </a:r>
                    </a:p>
                  </a:txBody>
                  <a:tcPr marL="50292" marR="50292" marT="27432" marB="27432"/>
                </a:tc>
                <a:tc>
                  <a:txBody>
                    <a:bodyPr wrap="square"/>
                    <a:lstStyle/>
                    <a:p>
                      <a:r>
                        <a:rPr sz="1150" b="0">
                          <a:latin typeface="Calibri"/>
                        </a:rPr>
                        <a:t>-0.98 V</a:t>
                      </a:r>
                    </a:p>
                  </a:txBody>
                  <a:tcPr marL="50292" marR="50292" marT="27432" marB="27432"/>
                </a:tc>
                <a:tc>
                  <a:txBody>
                    <a:bodyPr wrap="square"/>
                    <a:lstStyle/>
                    <a:p>
                      <a:r>
                        <a:rPr sz="1150" b="0">
                          <a:latin typeface="Calibri"/>
                        </a:rPr>
                        <a:t>+2.38 V</a:t>
                      </a:r>
                    </a:p>
                  </a:txBody>
                  <a:tcPr marL="50292" marR="50292" marT="27432" marB="27432"/>
                </a:tc>
                <a:tc>
                  <a:txBody>
                    <a:bodyPr wrap="square"/>
                    <a:lstStyle/>
                    <a:p>
                      <a:r>
                        <a:rPr sz="1150" b="0">
                          <a:latin typeface="Calibri"/>
                        </a:rPr>
                        <a:t>97.08 %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61.8 V</a:t>
                      </a:r>
                    </a:p>
                  </a:txBody>
                  <a:tcPr marL="50292" marR="50292" marT="27432" marB="27432"/>
                </a:tc>
                <a:tc>
                  <a:txBody>
                    <a:bodyPr wrap="square"/>
                    <a:lstStyle/>
                    <a:p>
                      <a:r>
                        <a:rPr sz="1150" b="0">
                          <a:latin typeface="Calibri"/>
                        </a:rPr>
                        <a:t>23.6 %</a:t>
                      </a:r>
                    </a:p>
                  </a:txBody>
                  <a:tcPr marL="50292" marR="50292" marT="27432" marB="27432"/>
                </a:tc>
                <a:tc>
                  <a:txBody>
                    <a:bodyPr wrap="square"/>
                    <a:lstStyle/>
                    <a:p>
                      <a:r>
                        <a:rPr sz="1150" b="0">
                          <a:latin typeface="Calibri"/>
                        </a:rPr>
                        <a:t>-1.12 V</a:t>
                      </a:r>
                    </a:p>
                  </a:txBody>
                  <a:tcPr marL="50292" marR="50292" marT="27432" marB="27432"/>
                </a:tc>
                <a:tc>
                  <a:txBody>
                    <a:bodyPr wrap="square"/>
                    <a:lstStyle/>
                    <a:p>
                      <a:r>
                        <a:rPr sz="1150" b="0">
                          <a:latin typeface="Calibri"/>
                        </a:rPr>
                        <a:t>+2.52 V</a:t>
                      </a:r>
                    </a:p>
                  </a:txBody>
                  <a:tcPr marL="50292" marR="50292" marT="27432" marB="27432"/>
                </a:tc>
                <a:tc>
                  <a:txBody>
                    <a:bodyPr wrap="square"/>
                    <a:lstStyle/>
                    <a:p>
                      <a:r>
                        <a:rPr sz="1150" b="0">
                          <a:latin typeface="Calibri"/>
                        </a:rPr>
                        <a:t>92.86 %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113.6 V</a:t>
                      </a:r>
                    </a:p>
                  </a:txBody>
                  <a:tcPr marL="50292" marR="50292" marT="27432" marB="27432"/>
                </a:tc>
                <a:tc>
                  <a:txBody>
                    <a:bodyPr wrap="square"/>
                    <a:lstStyle/>
                    <a:p>
                      <a:r>
                        <a:rPr sz="1150" b="0">
                          <a:latin typeface="Calibri"/>
                        </a:rPr>
                        <a:t>13.6 %</a:t>
                      </a:r>
                    </a:p>
                  </a:txBody>
                  <a:tcPr marL="50292" marR="50292" marT="27432" marB="27432"/>
                </a:tc>
                <a:tc>
                  <a:txBody>
                    <a:bodyPr wrap="square"/>
                    <a:lstStyle/>
                    <a:p>
                      <a:r>
                        <a:rPr sz="1150" b="0">
                          <a:latin typeface="Calibri"/>
                        </a:rPr>
                        <a:t>-1.16 V</a:t>
                      </a:r>
                    </a:p>
                  </a:txBody>
                  <a:tcPr marL="50292" marR="50292" marT="27432" marB="27432"/>
                </a:tc>
                <a:tc>
                  <a:txBody>
                    <a:bodyPr wrap="square"/>
                    <a:lstStyle/>
                    <a:p>
                      <a:r>
                        <a:rPr sz="1150" b="0">
                          <a:latin typeface="Calibri"/>
                        </a:rPr>
                        <a:t>+2.56 V</a:t>
                      </a:r>
                    </a:p>
                  </a:txBody>
                  <a:tcPr marL="50292" marR="50292" marT="27432" marB="27432"/>
                </a:tc>
                <a:tc>
                  <a:txBody>
                    <a:bodyPr wrap="square"/>
                    <a:lstStyle/>
                    <a:p>
                      <a:r>
                        <a:rPr sz="1150" b="0">
                          <a:latin typeface="Calibri"/>
                        </a:rPr>
                        <a:t>97.67 %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110.1 V</a:t>
                      </a:r>
                    </a:p>
                  </a:txBody>
                  <a:tcPr marL="50292" marR="50292" marT="27432" marB="27432"/>
                </a:tc>
                <a:tc>
                  <a:txBody>
                    <a:bodyPr wrap="square"/>
                    <a:lstStyle/>
                    <a:p>
                      <a:r>
                        <a:rPr sz="1150" b="0">
                          <a:latin typeface="Calibri"/>
                        </a:rPr>
                        <a:t>10.1 %</a:t>
                      </a:r>
                    </a:p>
                  </a:txBody>
                  <a:tcPr marL="50292" marR="50292" marT="27432" marB="27432"/>
                </a:tc>
                <a:tc>
                  <a:txBody>
                    <a:bodyPr wrap="square"/>
                    <a:lstStyle/>
                    <a:p>
                      <a:r>
                        <a:rPr sz="1150" b="0">
                          <a:latin typeface="Calibri"/>
                        </a:rPr>
                        <a:t>-1.21 V</a:t>
                      </a:r>
                    </a:p>
                  </a:txBody>
                  <a:tcPr marL="50292" marR="50292" marT="27432" marB="27432"/>
                </a:tc>
                <a:tc>
                  <a:txBody>
                    <a:bodyPr wrap="square"/>
                    <a:lstStyle/>
                    <a:p>
                      <a:r>
                        <a:rPr sz="1150" b="0">
                          <a:latin typeface="Calibri"/>
                        </a:rPr>
                        <a:t>+2.61 V</a:t>
                      </a:r>
                    </a:p>
                  </a:txBody>
                  <a:tcPr marL="50292" marR="50292" marT="27432" marB="27432"/>
                </a:tc>
                <a:tc>
                  <a:txBody>
                    <a:bodyPr wrap="square"/>
                    <a:lstStyle/>
                    <a:p>
                      <a:r>
                        <a:rPr sz="1150" b="0">
                          <a:latin typeface="Calibri"/>
                        </a:rPr>
                        <a:t>96.02 %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171.3 V</a:t>
                      </a:r>
                    </a:p>
                  </a:txBody>
                  <a:tcPr marL="50292" marR="50292" marT="27432" marB="27432"/>
                </a:tc>
                <a:tc>
                  <a:txBody>
                    <a:bodyPr wrap="square"/>
                    <a:lstStyle/>
                    <a:p>
                      <a:r>
                        <a:rPr sz="1150" b="0">
                          <a:latin typeface="Calibri"/>
                        </a:rPr>
                        <a:t>14.2 %</a:t>
                      </a:r>
                    </a:p>
                  </a:txBody>
                  <a:tcPr marL="50292" marR="50292" marT="27432" marB="27432"/>
                </a:tc>
                <a:tc>
                  <a:txBody>
                    <a:bodyPr wrap="square"/>
                    <a:lstStyle/>
                    <a:p>
                      <a:r>
                        <a:rPr sz="1150" b="0">
                          <a:latin typeface="Calibri"/>
                        </a:rPr>
                        <a:t>-0.86 V</a:t>
                      </a:r>
                    </a:p>
                  </a:txBody>
                  <a:tcPr marL="50292" marR="50292" marT="27432" marB="27432"/>
                </a:tc>
                <a:tc>
                  <a:txBody>
                    <a:bodyPr wrap="square"/>
                    <a:lstStyle/>
                    <a:p>
                      <a:r>
                        <a:rPr sz="1150" b="0">
                          <a:latin typeface="Calibri"/>
                        </a:rPr>
                        <a:t>+2.26 V</a:t>
                      </a:r>
                    </a:p>
                  </a:txBody>
                  <a:tcPr marL="50292" marR="50292" marT="27432" marB="27432"/>
                </a:tc>
                <a:tc>
                  <a:txBody>
                    <a:bodyPr wrap="square"/>
                    <a:lstStyle/>
                    <a:p>
                      <a:r>
                        <a:rPr sz="1150" b="0">
                          <a:latin typeface="Calibri"/>
                        </a:rPr>
                        <a:t>98.07 %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164.6 V</a:t>
                      </a:r>
                    </a:p>
                  </a:txBody>
                  <a:tcPr marL="50292" marR="50292" marT="27432" marB="27432"/>
                </a:tc>
                <a:tc>
                  <a:txBody>
                    <a:bodyPr wrap="square"/>
                    <a:lstStyle/>
                    <a:p>
                      <a:r>
                        <a:rPr sz="1150" b="0">
                          <a:latin typeface="Calibri"/>
                        </a:rPr>
                        <a:t>9.8 %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97.11 %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206.2 V</a:t>
                      </a:r>
                    </a:p>
                  </a:txBody>
                  <a:tcPr marL="50292" marR="50292" marT="27432" marB="27432"/>
                </a:tc>
                <a:tc>
                  <a:txBody>
                    <a:bodyPr wrap="square"/>
                    <a:lstStyle/>
                    <a:p>
                      <a:r>
                        <a:rPr sz="1150" b="0">
                          <a:latin typeface="Calibri"/>
                        </a:rPr>
                        <a:t>3.1 %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98.42 %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208.2 V</a:t>
                      </a:r>
                    </a:p>
                  </a:txBody>
                  <a:tcPr marL="50292" marR="50292" marT="27432" marB="27432"/>
                </a:tc>
                <a:tc>
                  <a:txBody>
                    <a:bodyPr wrap="square"/>
                    <a:lstStyle/>
                    <a:p>
                      <a:r>
                        <a:rPr sz="1150" b="0">
                          <a:latin typeface="Calibri"/>
                        </a:rPr>
                        <a:t>4.1 %</a:t>
                      </a:r>
                    </a:p>
                  </a:txBody>
                  <a:tcPr marL="50292" marR="50292" marT="27432" marB="27432"/>
                </a:tc>
                <a:tc>
                  <a:txBody>
                    <a:bodyPr wrap="square"/>
                    <a:lstStyle/>
                    <a:p>
                      <a:r>
                        <a:rPr sz="1150" b="0">
                          <a:latin typeface="Calibri"/>
                        </a:rPr>
                        <a:t>-0.74 V</a:t>
                      </a:r>
                    </a:p>
                  </a:txBody>
                  <a:tcPr marL="50292" marR="50292" marT="27432" marB="27432"/>
                </a:tc>
                <a:tc>
                  <a:txBody>
                    <a:bodyPr wrap="square"/>
                    <a:lstStyle/>
                    <a:p>
                      <a:r>
                        <a:rPr sz="1150" b="0">
                          <a:latin typeface="Calibri"/>
                        </a:rPr>
                        <a:t>+2.14 V</a:t>
                      </a:r>
                    </a:p>
                  </a:txBody>
                  <a:tcPr marL="50292" marR="50292" marT="27432" marB="27432"/>
                </a:tc>
                <a:tc>
                  <a:txBody>
                    <a:bodyPr wrap="square"/>
                    <a:lstStyle/>
                    <a:p>
                      <a:r>
                        <a:rPr sz="1150" b="0">
                          <a:latin typeface="Calibri"/>
                        </a:rPr>
                        <a:t>97.65 %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bl>
          </a:graphicData>
        </a:graphic>
      </p:graphicFrame>
      <p:sp>
        <p:nvSpPr>
          <p:cNvPr id="7" name="TextBox 6"/>
          <p:cNvSpPr txBox="1"/>
          <p:nvPr/>
        </p:nvSpPr>
        <p:spPr>
          <a:xfrm>
            <a:off x="640080" y="4974336"/>
            <a:ext cx="11064240" cy="1143000"/>
          </a:xfrm>
          <a:prstGeom prst="rect">
            <a:avLst/>
          </a:prstGeom>
          <a:noFill/>
        </p:spPr>
        <p:txBody>
          <a:bodyPr wrap="square" lIns="0" tIns="0" rIns="0" bIns="0">
            <a:spAutoFit/>
          </a:bodyPr>
          <a:lstStyle/>
          <a:p>
            <a:pPr marL="177800" indent="0">
              <a:spcAft>
                <a:spcPts val="11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column is the answer. </a:t>
            </a:r>
            <a:r>
              <a:rPr lang="en-US" sz="1150" dirty="0">
                <a:solidFill>
                  <a:srgbClr val="000000"/>
                </a:solidFill>
                <a:latin typeface="Calibri" pitchFamily="34" charset="0"/>
                <a:ea typeface="Calibri" pitchFamily="34" charset="-122"/>
                <a:cs typeface="Calibri" pitchFamily="34" charset="-120"/>
              </a:rPr>
              <a:t xml:space="preserve">It is the 1.4 V threshold minus the highest the OFF gate reaches while the other device is conducting, and it is positive at all eight points — +2.14 V at the worst. The off device stays off everywhere in the range.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two 200 V rows are not a driver failure. </a:t>
            </a:r>
            <a:r>
              <a:rPr lang="en-US" sz="1150" dirty="0">
                <a:solidFill>
                  <a:srgbClr val="000000"/>
                </a:solidFill>
                <a:latin typeface="Calibri" pitchFamily="34" charset="0"/>
                <a:ea typeface="Calibri" pitchFamily="34" charset="-122"/>
                <a:cs typeface="Calibri" pitchFamily="34" charset="-120"/>
              </a:rPr>
              <a:t xml:space="preserve">Their overshoot is the smallest in the sweep, 3.1 % and 4.1 %. The problem is running a 200 V-rated part on a 200 V bus, where any overshoot at all exceeds the rating. So the envelope is stated as 50–150 V on this device; 200 V needs a higher-rated part, not a different driver.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Theirs and ours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GaN device, same output stage. Only the control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Ours</a:t>
                      </a:r>
                    </a:p>
                  </a:txBody>
                  <a:tcPr marL="50292" marR="50292" marT="27432" marB="27432"/>
                </a:tc>
                <a:tc>
                  <a:txBody>
                    <a:bodyPr wrap="square"/>
                    <a:lstStyle/>
                    <a:p>
                      <a:r>
                        <a:rPr sz="1250" b="1">
                          <a:latin typeface="Calibri"/>
                        </a:rPr>
                        <a:t>Base paper</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Ours vs Base paper</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4.04</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1.5×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2.06</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2.6×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2.93</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1.1×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0.031</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B00000"/>
                          </a:solidFill>
                          <a:latin typeface="Calibri"/>
                        </a:rPr>
                        <a:t>1.1× more</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97.31</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+0.11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2.9</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6.2× more</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last two rows are ours to answer. We spend 11 % more gate power and we overshoot 15 points harder, because we switch faster. That buys 1.3 ns of latency, 0.33 W in the devices and the crosstalk margin on the next slide.</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with the driver subcircuit swapped: models/segdrv.lib against models/zhangdrv.lib. Identical devices, parasitics, timing and solver options, so any difference here is the control scheme and nothing else. Their pattern step is a delayed copy of their own PWM, so it lands the same distance after turn-on on every cycle, which is what their one-knob scheme does.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97280"/>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Every result so far was measured open loop. The duty ratio was a parameter and nothing moved while we measured. That is the right instrument for a switching edge and the wrong description of a converter: a storage system's pack voltage sags all day and its load steps whenever something downstream turns on.</a:t>
            </a:r>
          </a:p>
        </p:txBody>
      </p:sp>
      <p:graphicFrame>
        <p:nvGraphicFramePr>
          <p:cNvPr id="6" name="Table 5"/>
          <p:cNvGraphicFramePr>
            <a:graphicFrameLocks noGrp="1"/>
          </p:cNvGraphicFramePr>
          <p:nvPr/>
        </p:nvGraphicFramePr>
        <p:xfrm>
          <a:off x="1188720" y="1956816"/>
          <a:ext cx="9784076" cy="1005840"/>
        </p:xfrm>
        <a:graphic>
          <a:graphicData uri="http://schemas.openxmlformats.org/drawingml/2006/table">
            <a:tbl>
              <a:tblPr firstRow="1">
                <a:tableStyleId>{5C22544A-7EE6-4342-B048-85BDC9FD1C3A}</a:tableStyleId>
              </a:tblPr>
              <a:tblGrid>
                <a:gridCol w="1565452"/>
                <a:gridCol w="2054656"/>
                <a:gridCol w="2054656"/>
                <a:gridCol w="2543860"/>
                <a:gridCol w="1565452"/>
              </a:tblGrid>
              <a:tr h="335280">
                <a:tc>
                  <a:txBody>
                    <a:bodyPr wrap="square"/>
                    <a:lstStyle/>
                    <a:p>
                      <a:r>
                        <a:rPr sz="1000" b="1">
                          <a:latin typeface="Calibri"/>
                        </a:rPr>
                        <a:t/>
                      </a:r>
                    </a:p>
                  </a:txBody>
                  <a:tcPr marL="50292" marR="50292" marT="27432" marB="27432"/>
                </a:tc>
                <a:tc>
                  <a:txBody>
                    <a:bodyPr wrap="square"/>
                    <a:lstStyle/>
                    <a:p>
                      <a:r>
                        <a:rPr sz="1000" b="1">
                          <a:latin typeface="Calibri"/>
                        </a:rPr>
                        <a:t>nominal  100 V / 5 A</a:t>
                      </a:r>
                    </a:p>
                  </a:txBody>
                  <a:tcPr marL="50292" marR="50292" marT="27432" marB="27432"/>
                </a:tc>
                <a:tc>
                  <a:txBody>
                    <a:bodyPr wrap="square"/>
                    <a:lstStyle/>
                    <a:p>
                      <a:r>
                        <a:rPr sz="1000" b="1">
                          <a:latin typeface="Calibri"/>
                        </a:rPr>
                        <a:t>after 2× load step</a:t>
                      </a:r>
                    </a:p>
                  </a:txBody>
                  <a:tcPr marL="50292" marR="50292" marT="27432" marB="27432"/>
                </a:tc>
                <a:tc>
                  <a:txBody>
                    <a:bodyPr wrap="square"/>
                    <a:lstStyle/>
                    <a:p>
                      <a:r>
                        <a:rPr sz="1000" b="1">
                          <a:latin typeface="Calibri"/>
                        </a:rPr>
                        <a:t>after 100 → 120 V line step</a:t>
                      </a:r>
                    </a:p>
                  </a:txBody>
                  <a:tcPr marL="50292" marR="50292" marT="27432" marB="27432"/>
                </a:tc>
                <a:tc>
                  <a:txBody>
                    <a:bodyPr wrap="square"/>
                    <a:lstStyle/>
                    <a:p>
                      <a:r>
                        <a:rPr sz="1000" b="1">
                          <a:latin typeface="Calibri"/>
                        </a:rPr>
                        <a:t>worst error</a:t>
                      </a:r>
                    </a:p>
                  </a:txBody>
                  <a:tcPr marL="50292" marR="50292" marT="27432" marB="27432"/>
                </a:tc>
              </a:tr>
              <a:tr h="335280">
                <a:tc>
                  <a:txBody>
                    <a:bodyPr wrap="square"/>
                    <a:lstStyle/>
                    <a:p>
                      <a:r>
                        <a:rPr sz="1100" b="1">
                          <a:latin typeface="Calibri"/>
                        </a:rPr>
                        <a:t>closed loop</a:t>
                      </a:r>
                    </a:p>
                  </a:txBody>
                  <a:tcPr marL="50292" marR="50292" marT="27432" marB="27432"/>
                </a:tc>
                <a:tc>
                  <a:txBody>
                    <a:bodyPr wrap="square"/>
                    <a:lstStyle/>
                    <a:p>
                      <a:r>
                        <a:rPr sz="1100" b="1">
                          <a:solidFill>
                            <a:srgbClr val="1B7F3B"/>
                          </a:solidFill>
                          <a:latin typeface="Calibri"/>
                        </a:rPr>
                        <a:t>50.02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0.02 %</a:t>
                      </a:r>
                    </a:p>
                  </a:txBody>
                  <a:tcPr marL="50292" marR="50292" marT="27432" marB="27432"/>
                </a:tc>
              </a:tr>
              <a:tr h="335280">
                <a:tc>
                  <a:txBody>
                    <a:bodyPr wrap="square"/>
                    <a:lstStyle/>
                    <a:p>
                      <a:r>
                        <a:rPr sz="1100" b="1">
                          <a:latin typeface="Calibri"/>
                        </a:rPr>
                        <a:t>open loop</a:t>
                      </a:r>
                    </a:p>
                  </a:txBody>
                  <a:tcPr marL="50292" marR="50292" marT="27432" marB="27432"/>
                </a:tc>
                <a:tc>
                  <a:txBody>
                    <a:bodyPr wrap="square"/>
                    <a:lstStyle/>
                    <a:p>
                      <a:r>
                        <a:rPr sz="1100" b="0">
                          <a:latin typeface="Calibri"/>
                        </a:rPr>
                        <a:t>51.03 V</a:t>
                      </a:r>
                    </a:p>
                  </a:txBody>
                  <a:tcPr marL="50292" marR="50292" marT="27432" marB="27432"/>
                </a:tc>
                <a:tc>
                  <a:txBody>
                    <a:bodyPr wrap="square"/>
                    <a:lstStyle/>
                    <a:p>
                      <a:r>
                        <a:rPr sz="1100" b="0">
                          <a:latin typeface="Calibri"/>
                        </a:rPr>
                        <a:t>50.15 V</a:t>
                      </a:r>
                    </a:p>
                  </a:txBody>
                  <a:tcPr marL="50292" marR="50292" marT="27432" marB="27432"/>
                </a:tc>
                <a:tc>
                  <a:txBody>
                    <a:bodyPr wrap="square"/>
                    <a:lstStyle/>
                    <a:p>
                      <a:r>
                        <a:rPr sz="1100" b="1">
                          <a:solidFill>
                            <a:srgbClr val="B56A00"/>
                          </a:solidFill>
                          <a:latin typeface="Calibri"/>
                        </a:rPr>
                        <a:t>58.33 V</a:t>
                      </a:r>
                    </a:p>
                  </a:txBody>
                  <a:tcPr marL="50292" marR="50292" marT="27432" marB="27432"/>
                </a:tc>
                <a:tc>
                  <a:txBody>
                    <a:bodyPr wrap="square"/>
                    <a:lstStyle/>
                    <a:p>
                      <a:r>
                        <a:rPr sz="1100" b="1">
                          <a:solidFill>
                            <a:srgbClr val="B56A00"/>
                          </a:solidFill>
                          <a:latin typeface="Calibri"/>
                        </a:rPr>
                        <a:t>16.7 %</a:t>
                      </a:r>
                    </a:p>
                  </a:txBody>
                  <a:tcPr marL="50292" marR="50292" marT="27432" marB="27432"/>
                </a:tc>
              </a:tr>
            </a:tbl>
          </a:graphicData>
        </a:graphic>
      </p:graphicFrame>
      <p:sp>
        <p:nvSpPr>
          <p:cNvPr id="7" name="TextBox 6"/>
          <p:cNvSpPr txBox="1"/>
          <p:nvPr/>
        </p:nvSpPr>
        <p:spPr>
          <a:xfrm>
            <a:off x="640080" y="314553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What the loop buys</a:t>
            </a:r>
          </a:p>
        </p:txBody>
      </p:sp>
      <p:sp>
        <p:nvSpPr>
          <p:cNvPr id="8" name="TextBox 7"/>
          <p:cNvSpPr txBox="1"/>
          <p:nvPr/>
        </p:nvSpPr>
        <p:spPr>
          <a:xfrm>
            <a:off x="640080" y="3493008"/>
            <a:ext cx="534924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Load step 5 → 10 A: dips 1.8 %, back inside ±1 % in 4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Line step 100 → 120 V: peaks 1.4 %, recovers in 22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Output ripple 0.28 %. Soft-start overshoot 10.9 % — the one number here we are not proud of, and it is on the slide.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Open loop is not merely less accurate. On the line step it walks to 60 V, because V_out = D × V_in and nothing in it knows V_in moved.</a:t>
            </a:r>
          </a:p>
        </p:txBody>
      </p:sp>
      <p:sp>
        <p:nvSpPr>
          <p:cNvPr id="9" name="TextBox 8"/>
          <p:cNvSpPr txBox="1"/>
          <p:nvPr/>
        </p:nvSpPr>
        <p:spPr>
          <a:xfrm>
            <a:off x="6400800" y="314553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compensators that did not work</a:t>
            </a:r>
          </a:p>
        </p:txBody>
      </p:sp>
      <p:sp>
        <p:nvSpPr>
          <p:cNvPr id="10" name="TextBox 9"/>
          <p:cNvSpPr txBox="1"/>
          <p:nvPr/>
        </p:nvSpPr>
        <p:spPr>
          <a:xfrm>
            <a:off x="6400800" y="3493008"/>
            <a:ext cx="530352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 first period-doubled: a 4 µs triangle on a 2 µs switching period — the textbook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/2 limit cycle.</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A proper type-II could not be made to work at all. One zero cannot beat the output LC's −180°: cross above the corner and the phase margin is negative, cross below and the loop cannot settle between two disturbances. Both measured — 30 µS drifts 23 V, 100 µS rails 98 V.</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Type III adds the second zero, which is exactly the missing phase. Crossover ~30 kHz,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/16.</a:t>
            </a:r>
          </a:p>
        </p:txBody>
      </p:sp>
      <p:sp>
        <p:nvSpPr>
          <p:cNvPr id="11" name="TextBox 10"/>
          <p:cNvSpPr txBox="1"/>
          <p:nvPr/>
        </p:nvSpPr>
        <p:spPr>
          <a:xfrm>
            <a:off x="640080" y="5577840"/>
            <a:ext cx="10698480" cy="91440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Said out loud: the K-factor design was 4× out. </a:t>
            </a:r>
            <a:r>
              <a:rPr lang="en-US" sz="1200" dirty="0">
                <a:solidFill>
                  <a:srgbClr val="000000"/>
                </a:solidFill>
                <a:latin typeface="Calibri" pitchFamily="34" charset="0"/>
                <a:ea typeface="Calibri" pitchFamily="34" charset="-122"/>
                <a:cs typeface="Calibri" pitchFamily="34" charset="-120"/>
              </a:rPr>
              <a:t xml:space="preserve">It predicted 30 kHz; the measured step response said about 2 kHz, 109 % overshoot, 119 µs to settle. The gain was scaled empirically and re-measured at each step. No phase margin is claimed anywhere — that needs an AC analysis about a periodic operating point, which ngspice cannot do on a switching deck.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Two assumptions carry every margin in this deck: that an ideal switch stands in for the driver's output stage, and that a junction diode stands in for the device's capacitance. We replaced each with the alternative and re-ran.</a:t>
            </a:r>
          </a:p>
        </p:txBody>
      </p:sp>
      <p:sp>
        <p:nvSpPr>
          <p:cNvPr id="6" name="TextBox 5"/>
          <p:cNvSpPr txBox="1"/>
          <p:nvPr/>
        </p:nvSpPr>
        <p:spPr>
          <a:xfrm>
            <a:off x="640080" y="1627632"/>
            <a:ext cx="534924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1.  The output stage — in real SKY130 devices</a:t>
            </a:r>
          </a:p>
        </p:txBody>
      </p:sp>
      <p:graphicFrame>
        <p:nvGraphicFramePr>
          <p:cNvPr id="7" name="Table 6"/>
          <p:cNvGraphicFramePr>
            <a:graphicFrameLocks noGrp="1"/>
          </p:cNvGraphicFramePr>
          <p:nvPr/>
        </p:nvGraphicFramePr>
        <p:xfrm>
          <a:off x="640080" y="1956816"/>
          <a:ext cx="5349238" cy="1188720"/>
        </p:xfrm>
        <a:graphic>
          <a:graphicData uri="http://schemas.openxmlformats.org/drawingml/2006/table">
            <a:tbl>
              <a:tblPr firstRow="1">
                <a:tableStyleId>{5C22544A-7EE6-4342-B048-85BDC9FD1C3A}</a:tableStyleId>
              </a:tblPr>
              <a:tblGrid>
                <a:gridCol w="2246680"/>
                <a:gridCol w="1551279"/>
                <a:gridCol w="1551279"/>
              </a:tblGrid>
              <a:tr h="297180">
                <a:tc>
                  <a:txBody>
                    <a:bodyPr wrap="square"/>
                    <a:lstStyle/>
                    <a:p>
                      <a:r>
                        <a:rPr sz="1000" b="1">
                          <a:latin typeface="Calibri"/>
                        </a:rPr>
                        <a:t/>
                      </a:r>
                    </a:p>
                  </a:txBody>
                  <a:tcPr marL="50292" marR="50292" marT="27432" marB="27432"/>
                </a:tc>
                <a:tc>
                  <a:txBody>
                    <a:bodyPr wrap="square"/>
                    <a:lstStyle/>
                    <a:p>
                      <a:r>
                        <a:rPr sz="1000" b="1">
                          <a:latin typeface="Calibri"/>
                        </a:rPr>
                        <a:t>ideal sw</a:t>
                      </a:r>
                    </a:p>
                  </a:txBody>
                  <a:tcPr marL="50292" marR="50292" marT="27432" marB="27432"/>
                </a:tc>
                <a:tc>
                  <a:txBody>
                    <a:bodyPr wrap="square"/>
                    <a:lstStyle/>
                    <a:p>
                      <a:r>
                        <a:rPr sz="1000" b="1">
                          <a:latin typeface="Calibri"/>
                        </a:rPr>
                        <a:t>SKY130</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0">
                          <a:latin typeface="Calibri"/>
                        </a:rPr>
                        <a:t>−0.249</a:t>
                      </a:r>
                    </a:p>
                  </a:txBody>
                  <a:tcPr marL="50292" marR="50292" marT="27432" marB="27432"/>
                </a:tc>
                <a:tc>
                  <a:txBody>
                    <a:bodyPr wrap="square"/>
                    <a:lstStyle/>
                    <a:p>
                      <a:r>
                        <a:rPr sz="1050" b="0">
                          <a:latin typeface="Calibri"/>
                        </a:rPr>
                        <a:t>−0.563</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1">
                          <a:solidFill>
                            <a:srgbClr val="B56A00"/>
                          </a:solidFill>
                          <a:latin typeface="Calibri"/>
                        </a:rPr>
                        <a:t>+0.031</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+2.032</a:t>
                      </a:r>
                    </a:p>
                  </a:txBody>
                  <a:tcPr marL="50292" marR="50292" marT="27432" marB="27432"/>
                </a:tc>
              </a:tr>
            </a:tbl>
          </a:graphicData>
        </a:graphic>
      </p:graphicFrame>
      <p:sp>
        <p:nvSpPr>
          <p:cNvPr id="8" name="TextBox 7"/>
          <p:cNvSpPr txBox="1"/>
          <p:nvPr/>
        </p:nvSpPr>
        <p:spPr>
          <a:xfrm>
            <a:off x="6400800" y="1627632"/>
            <a:ext cx="530352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2.  The capacitance — charge, not diodes</a:t>
            </a:r>
          </a:p>
        </p:txBody>
      </p:sp>
      <p:graphicFrame>
        <p:nvGraphicFramePr>
          <p:cNvPr id="9" name="Table 8"/>
          <p:cNvGraphicFramePr>
            <a:graphicFrameLocks noGrp="1"/>
          </p:cNvGraphicFramePr>
          <p:nvPr/>
        </p:nvGraphicFramePr>
        <p:xfrm>
          <a:off x="6400800" y="1956816"/>
          <a:ext cx="5303518" cy="1188720"/>
        </p:xfrm>
        <a:graphic>
          <a:graphicData uri="http://schemas.openxmlformats.org/drawingml/2006/table">
            <a:tbl>
              <a:tblPr firstRow="1">
                <a:tableStyleId>{5C22544A-7EE6-4342-B048-85BDC9FD1C3A}</a:tableStyleId>
              </a:tblPr>
              <a:tblGrid>
                <a:gridCol w="2227478"/>
                <a:gridCol w="1538020"/>
                <a:gridCol w="1538020"/>
              </a:tblGrid>
              <a:tr h="297180">
                <a:tc>
                  <a:txBody>
                    <a:bodyPr wrap="square"/>
                    <a:lstStyle/>
                    <a:p>
                      <a:r>
                        <a:rPr sz="1000" b="1">
                          <a:latin typeface="Calibri"/>
                        </a:rPr>
                        <a:t/>
                      </a:r>
                    </a:p>
                  </a:txBody>
                  <a:tcPr marL="50292" marR="50292" marT="27432" marB="27432"/>
                </a:tc>
                <a:tc>
                  <a:txBody>
                    <a:bodyPr wrap="square"/>
                    <a:lstStyle/>
                    <a:p>
                      <a:r>
                        <a:rPr sz="1000" b="1">
                          <a:latin typeface="Calibri"/>
                        </a:rPr>
                        <a:t>diodes</a:t>
                      </a:r>
                    </a:p>
                  </a:txBody>
                  <a:tcPr marL="50292" marR="50292" marT="27432" marB="27432"/>
                </a:tc>
                <a:tc>
                  <a:txBody>
                    <a:bodyPr wrap="square"/>
                    <a:lstStyle/>
                    <a:p>
                      <a:r>
                        <a:rPr sz="1000" b="1">
                          <a:latin typeface="Calibri"/>
                        </a:rPr>
                        <a:t>charge</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1">
                          <a:solidFill>
                            <a:srgbClr val="B56A00"/>
                          </a:solidFill>
                          <a:latin typeface="Calibri"/>
                        </a:rPr>
                        <a:t>−0.249</a:t>
                      </a:r>
                    </a:p>
                  </a:txBody>
                  <a:tcPr marL="50292" marR="50292" marT="27432" marB="27432"/>
                </a:tc>
                <a:tc>
                  <a:txBody>
                    <a:bodyPr wrap="square"/>
                    <a:lstStyle/>
                    <a:p>
                      <a:r>
                        <a:rPr sz="1050" b="1">
                          <a:solidFill>
                            <a:srgbClr val="B56A00"/>
                          </a:solidFill>
                          <a:latin typeface="Calibri"/>
                        </a:rPr>
                        <a:t>+0.115</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0">
                          <a:latin typeface="Calibri"/>
                        </a:rPr>
                        <a:t>+0.800</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+2.710</a:t>
                      </a:r>
                    </a:p>
                  </a:txBody>
                  <a:tcPr marL="50292" marR="50292" marT="27432" marB="27432"/>
                </a:tc>
              </a:tr>
            </a:tbl>
          </a:graphicData>
        </a:graphic>
      </p:graphicFrame>
      <p:sp>
        <p:nvSpPr>
          <p:cNvPr id="10" name="TextBox 9"/>
          <p:cNvSpPr txBox="1"/>
          <p:nvPr/>
        </p:nvSpPr>
        <p:spPr>
          <a:xfrm>
            <a:off x="640080" y="3273552"/>
            <a:ext cx="534924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clamp alone is not the fix.</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On real transistors it gives 31 millivolts — at one corner, with nothing left for temperature or a worse layout. The ideal switch was flattering it, because it pulls the gate down through 10 mΩ while a real NMOS pulls through a channel that has to be turned on first.</a:t>
            </a:r>
          </a:p>
        </p:txBody>
      </p:sp>
      <p:sp>
        <p:nvSpPr>
          <p:cNvPr id="11" name="TextBox 10"/>
          <p:cNvSpPr txBox="1"/>
          <p:nvPr/>
        </p:nvSpPr>
        <p:spPr>
          <a:xfrm>
            <a:off x="6400800" y="3273552"/>
            <a:ext cx="530352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the fault itself changes sign.</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Under forward bias a SPICE diode keeps climbing above 0.5 V and the charge form saturates. The aggressor is forward-biased through its own turn-on, so it slews differently. “The constant word causes false turn-on” is model-dependent, and we say so rather than calling it a measurement.</a:t>
            </a:r>
          </a:p>
        </p:txBody>
      </p:sp>
      <p:sp>
        <p:nvSpPr>
          <p:cNvPr id="12" name="TextBox 11"/>
          <p:cNvSpPr txBox="1"/>
          <p:nvPr/>
        </p:nvSpPr>
        <p:spPr>
          <a:xfrm>
            <a:off x="640080" y="4974336"/>
            <a:ext cx="10698480" cy="1463040"/>
          </a:xfrm>
          <a:prstGeom prst="rect">
            <a:avLst/>
          </a:prstGeom>
          <a:noFill/>
        </p:spPr>
        <p:txBody>
          <a:bodyPr wrap="square" lIns="0" tIns="0" rIns="0" bIns="0">
            <a:spAutoFit/>
          </a:bodyPr>
          <a:lstStyle/>
          <a:p>
            <a:pPr marL="177800" indent="0">
              <a:spcAft>
                <a:spcPts val="170"/>
              </a:spcAft>
              <a:buSzPct val="100000"/>
              <a:buNone/>
            </a:pPr>
            <a:r>
              <a:rPr lang="en-US" sz="1300" b="1" dirty="0">
                <a:solidFill>
                  <a:srgbClr val="000000"/>
                </a:solidFill>
                <a:latin typeface="Calibri" pitchFamily="34" charset="0"/>
                <a:ea typeface="Calibri" pitchFamily="34" charset="-122"/>
                <a:cs typeface="Calibri" pitchFamily="34" charset="-120"/>
              </a:rPr>
              <a:t xml:space="preserve">Both tables point the same way, and it is an argument FOR the design rather than against the result.</a:t>
            </a:r>
          </a:p>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The ordering survives every substitution — each change still buys what we say it buys. What does not survive is the middle row: the configurations closest to zero are exactly the ones whose verdict a modelling choice can flip. </a:t>
            </a:r>
            <a:r>
              <a:rPr lang="en-US" sz="1250" b="1" dirty="0">
                <a:solidFill>
                  <a:srgbClr val="000000"/>
                </a:solidFill>
                <a:latin typeface="Calibri" pitchFamily="34" charset="0"/>
                <a:ea typeface="Calibri" pitchFamily="34" charset="-122"/>
                <a:cs typeface="Calibri" pitchFamily="34" charset="-120"/>
              </a:rPr>
              <a:t xml:space="preserve">The shipped design is the only one that is safe under all four models, with over 2 V of room in each.</a:t>
            </a:r>
            <a:r>
              <a:rPr lang="en-US" sz="1250" dirty="0">
                <a:solidFill>
                  <a:srgbClr val="000000"/>
                </a:solidFill>
                <a:latin typeface="Calibri" pitchFamily="34" charset="0"/>
                <a:ea typeface="Calibri" pitchFamily="34" charset="-122"/>
                <a:cs typeface="Calibri" pitchFamily="34" charset="-120"/>
              </a:rPr>
              <a:t xml:space="preserve"> That is a better reason to build it than any ratio on the previous slide.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Same deck, same GaN, same power loop, same parasitics — only the driver is swapped. We hold one fixed word at all four corners. They are re-optimised at every corner, which is more freedom than their own design has.</a:t>
            </a:r>
          </a:p>
        </p:txBody>
      </p:sp>
      <p:graphicFrame>
        <p:nvGraphicFramePr>
          <p:cNvPr id="6" name="Table 5"/>
          <p:cNvGraphicFramePr>
            <a:graphicFrameLocks noGrp="1"/>
          </p:cNvGraphicFramePr>
          <p:nvPr/>
        </p:nvGraphicFramePr>
        <p:xfrm>
          <a:off x="566928" y="1645920"/>
          <a:ext cx="11100814" cy="1417320"/>
        </p:xfrm>
        <a:graphic>
          <a:graphicData uri="http://schemas.openxmlformats.org/drawingml/2006/table">
            <a:tbl>
              <a:tblPr firstRow="1">
                <a:tableStyleId>{5C22544A-7EE6-4342-B048-85BDC9FD1C3A}</a:tableStyleId>
              </a:tblPr>
              <a:tblGrid>
                <a:gridCol w="2664195"/>
                <a:gridCol w="2331171"/>
                <a:gridCol w="2442179"/>
                <a:gridCol w="2220163"/>
                <a:gridCol w="1443106"/>
              </a:tblGrid>
              <a:tr h="283464">
                <a:tc>
                  <a:txBody>
                    <a:bodyPr wrap="square"/>
                    <a:lstStyle/>
                    <a:p>
                      <a:r>
                        <a:rPr sz="1000" b="1">
                          <a:latin typeface="Calibri"/>
                        </a:rPr>
                        <a:t>crosstalk margin</a:t>
                      </a:r>
                    </a:p>
                  </a:txBody>
                  <a:tcPr marL="50292" marR="50292" marT="27432" marB="27432"/>
                </a:tc>
                <a:tc>
                  <a:txBody>
                    <a:bodyPr wrap="square"/>
                    <a:lstStyle/>
                    <a:p>
                      <a:r>
                        <a:rPr sz="1000" b="1">
                          <a:latin typeface="Calibri"/>
                        </a:rPr>
                        <a:t>base, as their paper builds it</a:t>
                      </a:r>
                    </a:p>
                  </a:txBody>
                  <a:tcPr marL="50292" marR="50292" marT="27432" marB="27432"/>
                </a:tc>
                <a:tc>
                  <a:txBody>
                    <a:bodyPr wrap="square"/>
                    <a:lstStyle/>
                    <a:p>
                      <a:r>
                        <a:rPr sz="1000" b="1">
                          <a:latin typeface="Calibri"/>
                        </a:rPr>
                        <a:t>base, re-tuned at every corner</a:t>
                      </a:r>
                    </a:p>
                  </a:txBody>
                  <a:tcPr marL="50292" marR="50292" marT="27432" marB="27432"/>
                </a:tc>
                <a:tc>
                  <a:txBody>
                    <a:bodyPr wrap="square"/>
                    <a:lstStyle/>
                    <a:p>
                      <a:r>
                        <a:rPr sz="1000" b="1">
                          <a:latin typeface="Calibri"/>
                        </a:rPr>
                        <a:t>ours, one fixed word</a:t>
                      </a:r>
                    </a:p>
                  </a:txBody>
                  <a:tcPr marL="50292" marR="50292" marT="27432" marB="27432"/>
                </a:tc>
                <a:tc>
                  <a:txBody>
                    <a:bodyPr wrap="square"/>
                    <a:lstStyle/>
                    <a:p>
                      <a:r>
                        <a:rPr sz="1000" b="1">
                          <a:latin typeface="Calibri"/>
                        </a:rPr>
                        <a:t>vs their best</a:t>
                      </a:r>
                    </a:p>
                  </a:txBody>
                  <a:tcPr marL="50292" marR="50292" marT="27432" marB="27432"/>
                </a:tc>
              </a:tr>
              <a:tr h="283464">
                <a:tc>
                  <a:txBody>
                    <a:bodyPr wrap="square"/>
                    <a:lstStyle/>
                    <a:p>
                      <a:r>
                        <a:rPr sz="1000" b="1">
                          <a:latin typeface="Calibri"/>
                        </a:rPr>
                        <a:t>50 V / 2 A / 25 °C</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1">
                          <a:solidFill>
                            <a:srgbClr val="1B7F3B"/>
                          </a:solidFill>
                          <a:latin typeface="Calibri"/>
                        </a:rPr>
                        <a:t>+2.757 V</a:t>
                      </a:r>
                    </a:p>
                  </a:txBody>
                  <a:tcPr marL="50292" marR="50292" marT="27432" marB="27432"/>
                </a:tc>
                <a:tc>
                  <a:txBody>
                    <a:bodyPr wrap="square"/>
                    <a:lstStyle/>
                    <a:p>
                      <a:r>
                        <a:rPr sz="1000" b="1">
                          <a:latin typeface="Calibri"/>
                        </a:rPr>
                        <a:t>5.5×</a:t>
                      </a:r>
                    </a:p>
                  </a:txBody>
                  <a:tcPr marL="50292" marR="50292" marT="27432" marB="27432"/>
                </a:tc>
              </a:tr>
              <a:tr h="283464">
                <a:tc>
                  <a:txBody>
                    <a:bodyPr wrap="square"/>
                    <a:lstStyle/>
                    <a:p>
                      <a:r>
                        <a:rPr sz="1000" b="1">
                          <a:latin typeface="Calibri"/>
                        </a:rPr>
                        <a:t>100 V / 10 A / 25 °C</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1">
                          <a:solidFill>
                            <a:srgbClr val="1B7F3B"/>
                          </a:solidFill>
                          <a:latin typeface="Calibri"/>
                        </a:rPr>
                        <a:t>+2.576 V</a:t>
                      </a:r>
                    </a:p>
                  </a:txBody>
                  <a:tcPr marL="50292" marR="50292" marT="27432" marB="27432"/>
                </a:tc>
                <a:tc>
                  <a:txBody>
                    <a:bodyPr wrap="square"/>
                    <a:lstStyle/>
                    <a:p>
                      <a:r>
                        <a:rPr sz="1000" b="1">
                          <a:latin typeface="Calibri"/>
                        </a:rPr>
                        <a:t>6.3×</a:t>
                      </a:r>
                    </a:p>
                  </a:txBody>
                  <a:tcPr marL="50292" marR="50292" marT="27432" marB="27432"/>
                </a:tc>
              </a:tr>
              <a:tr h="283464">
                <a:tc>
                  <a:txBody>
                    <a:bodyPr wrap="square"/>
                    <a:lstStyle/>
                    <a:p>
                      <a:r>
                        <a:rPr sz="1000" b="1">
                          <a:latin typeface="Calibri"/>
                        </a:rPr>
                        <a:t>200 V / 2 A / 125 °C</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1">
                          <a:solidFill>
                            <a:srgbClr val="1B7F3B"/>
                          </a:solidFill>
                          <a:latin typeface="Calibri"/>
                        </a:rPr>
                        <a:t>+2.309 V</a:t>
                      </a:r>
                    </a:p>
                  </a:txBody>
                  <a:tcPr marL="50292" marR="50292" marT="27432" marB="27432"/>
                </a:tc>
                <a:tc>
                  <a:txBody>
                    <a:bodyPr wrap="square"/>
                    <a:lstStyle/>
                    <a:p>
                      <a:r>
                        <a:rPr sz="1000" b="1">
                          <a:latin typeface="Calibri"/>
                        </a:rPr>
                        <a:t>8.9×</a:t>
                      </a:r>
                    </a:p>
                  </a:txBody>
                  <a:tcPr marL="50292" marR="50292" marT="27432" marB="27432"/>
                </a:tc>
              </a:tr>
              <a:tr h="283464">
                <a:tc>
                  <a:txBody>
                    <a:bodyPr wrap="square"/>
                    <a:lstStyle/>
                    <a:p>
                      <a:r>
                        <a:rPr sz="1000" b="1">
                          <a:latin typeface="Calibri"/>
                        </a:rPr>
                        <a:t>200 V / 10 A / 125 °C</a:t>
                      </a:r>
                    </a:p>
                  </a:txBody>
                  <a:tcPr marL="50292" marR="50292" marT="27432" marB="27432"/>
                </a:tc>
                <a:tc>
                  <a:txBody>
                    <a:bodyPr wrap="square"/>
                    <a:lstStyle/>
                    <a:p>
                      <a:r>
                        <a:rPr sz="1000" b="1">
                          <a:solidFill>
                            <a:srgbClr val="B56A00"/>
                          </a:solidFill>
                          <a:latin typeface="Calibri"/>
                        </a:rPr>
                        <a:t>+0.181 V</a:t>
                      </a:r>
                    </a:p>
                  </a:txBody>
                  <a:tcPr marL="50292" marR="50292" marT="27432" marB="27432"/>
                </a:tc>
                <a:tc>
                  <a:txBody>
                    <a:bodyPr wrap="square"/>
                    <a:lstStyle/>
                    <a:p>
                      <a:r>
                        <a:rPr sz="1000" b="0">
                          <a:latin typeface="Calibri"/>
                        </a:rPr>
                        <a:t>+0.181 V</a:t>
                      </a:r>
                    </a:p>
                  </a:txBody>
                  <a:tcPr marL="50292" marR="50292" marT="27432" marB="27432"/>
                </a:tc>
                <a:tc>
                  <a:txBody>
                    <a:bodyPr wrap="square"/>
                    <a:lstStyle/>
                    <a:p>
                      <a:r>
                        <a:rPr sz="1000" b="1">
                          <a:solidFill>
                            <a:srgbClr val="1B7F3B"/>
                          </a:solidFill>
                          <a:latin typeface="Calibri"/>
                        </a:rPr>
                        <a:t>+2.251 V</a:t>
                      </a:r>
                    </a:p>
                  </a:txBody>
                  <a:tcPr marL="50292" marR="50292" marT="27432" marB="27432"/>
                </a:tc>
                <a:tc>
                  <a:txBody>
                    <a:bodyPr wrap="square"/>
                    <a:lstStyle/>
                    <a:p>
                      <a:r>
                        <a:rPr sz="1000" b="1">
                          <a:latin typeface="Calibri"/>
                        </a:rPr>
                        <a:t>12.4×</a:t>
                      </a:r>
                    </a:p>
                  </a:txBody>
                  <a:tcPr marL="50292" marR="50292" marT="27432" marB="27432"/>
                </a:tc>
              </a:tr>
            </a:tbl>
          </a:graphicData>
        </a:graphic>
      </p:graphicFrame>
      <p:sp>
        <p:nvSpPr>
          <p:cNvPr id="7" name="TextBox 6"/>
          <p:cNvSpPr txBox="1"/>
          <p:nvPr/>
        </p:nvSpPr>
        <p:spPr>
          <a:xfrm>
            <a:off x="640080" y="323697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gap WIDENS with stress</a:t>
            </a:r>
          </a:p>
        </p:txBody>
      </p:sp>
      <p:sp>
        <p:nvSpPr>
          <p:cNvPr id="8" name="TextBox 7"/>
          <p:cNvSpPr txBox="1"/>
          <p:nvPr/>
        </p:nvSpPr>
        <p:spPr>
          <a:xfrm>
            <a:off x="640080" y="3584448"/>
            <a:ext cx="534924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margin falls +0.503 → +0.181 V from the mildest corner to the hottest. Ours goes +2.757 → +2.251. They degrade where it matters most; a clamp does not care how hot the device is.</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Worst corner is what a converter has to survive: +0.181 V against +2.251 V.</a:t>
            </a:r>
          </a:p>
        </p:txBody>
      </p:sp>
      <p:sp>
        <p:nvSpPr>
          <p:cNvPr id="9" name="TextBox 8"/>
          <p:cNvSpPr txBox="1"/>
          <p:nvPr/>
        </p:nvSpPr>
        <p:spPr>
          <a:xfrm>
            <a:off x="6400800" y="323697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we slew HARDER, not softer</a:t>
            </a:r>
          </a:p>
        </p:txBody>
      </p:sp>
      <p:sp>
        <p:nvSpPr>
          <p:cNvPr id="10" name="TextBox 9"/>
          <p:cNvSpPr txBox="1"/>
          <p:nvPr/>
        </p:nvSpPr>
        <p:spPr>
          <a:xfrm>
            <a:off x="6400800" y="3584448"/>
            <a:ext cx="530352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scheme reduces crosstalk by slowing the edge: 67–103 V/ns at the switch node. Ours runs 101–175 V/ns — about twice as fast — and still wins by a factor of several.</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is not bought with switching speed. That is the useful form of the result.</a:t>
            </a:r>
          </a:p>
        </p:txBody>
      </p:sp>
      <p:sp>
        <p:nvSpPr>
          <p:cNvPr id="11" name="TextBox 10"/>
          <p:cNvSpPr txBox="1"/>
          <p:nvPr/>
        </p:nvSpPr>
        <p:spPr>
          <a:xfrm>
            <a:off x="640080" y="5120640"/>
            <a:ext cx="10698480" cy="1371600"/>
          </a:xfrm>
          <a:prstGeom prst="rect">
            <a:avLst/>
          </a:prstGeom>
          <a:noFill/>
        </p:spPr>
        <p:txBody>
          <a:bodyPr wrap="square" lIns="0" tIns="0" rIns="0" bIns="0">
            <a:spAutoFit/>
          </a:bodyPr>
          <a:lstStyle/>
          <a:p>
            <a:pPr marL="177800" indent="0">
              <a:spcAft>
                <a:spcPts val="160"/>
              </a:spcAft>
              <a:buSzPct val="100000"/>
              <a:buNone/>
            </a:pPr>
            <a:r>
              <a:rPr lang="en-US" sz="1200" b="1" dirty="0">
                <a:solidFill>
                  <a:srgbClr val="000000"/>
                </a:solidFill>
                <a:latin typeface="Calibri" pitchFamily="34" charset="0"/>
                <a:ea typeface="Calibri" pitchFamily="34" charset="-122"/>
                <a:cs typeface="Calibri" pitchFamily="34" charset="-120"/>
              </a:rPr>
              <a:t xml:space="preserve">What it costs, and what we are not claiming. </a:t>
            </a:r>
            <a:r>
              <a:rPr lang="en-US" sz="1200" dirty="0">
                <a:solidFill>
                  <a:srgbClr val="000000"/>
                </a:solidFill>
                <a:latin typeface="Calibri" pitchFamily="34" charset="0"/>
                <a:ea typeface="Calibri" pitchFamily="34" charset="-122"/>
                <a:cs typeface="Calibri" pitchFamily="34" charset="-120"/>
              </a:rPr>
              <a:t xml:space="preserve">Our turn-on energy is higher at three of four corners — the −2 V rail deepens GaN's dead-time reverse drop, a penalty this project already measures at 1.0–3.4 % of total loss. Their driver needs one bias resistor; ours needs a clamp device, a negative supply and 20 LUTs. For a converter that never leaves one operating point, theirs may be the right engineering.</a:t>
            </a:r>
          </a:p>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this is OUR implementation of their described scheme in OUR testbench — their netlist is not published. It is not 6.3× their measured result, and we do not say it is.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hardware, costed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7 of the 10 points outstanding. Not vague — three tiers, and we know which one is which.</a:t>
            </a:r>
          </a:p>
        </p:txBody>
      </p:sp>
      <p:graphicFrame>
        <p:nvGraphicFramePr>
          <p:cNvPr id="6" name="Table 5"/>
          <p:cNvGraphicFramePr>
            <a:graphicFrameLocks noGrp="1"/>
          </p:cNvGraphicFramePr>
          <p:nvPr/>
        </p:nvGraphicFramePr>
        <p:xfrm>
          <a:off x="640080" y="1572768"/>
          <a:ext cx="11064239" cy="2423160"/>
        </p:xfrm>
        <a:graphic>
          <a:graphicData uri="http://schemas.openxmlformats.org/drawingml/2006/table">
            <a:tbl>
              <a:tblPr firstRow="1">
                <a:tableStyleId>{5C22544A-7EE6-4342-B048-85BDC9FD1C3A}</a:tableStyleId>
              </a:tblPr>
              <a:tblGrid>
                <a:gridCol w="2323490"/>
                <a:gridCol w="4425696"/>
                <a:gridCol w="1438351"/>
                <a:gridCol w="1106424"/>
                <a:gridCol w="1770278"/>
              </a:tblGrid>
              <a:tr h="605790">
                <a:tc>
                  <a:txBody>
                    <a:bodyPr wrap="square"/>
                    <a:lstStyle/>
                    <a:p>
                      <a:r>
                        <a:rPr sz="1150" b="1">
                          <a:latin typeface="Calibri"/>
                        </a:rPr>
                        <a:t/>
                      </a:r>
                    </a:p>
                  </a:txBody>
                  <a:tcPr marL="50292" marR="50292" marT="27432" marB="27432"/>
                </a:tc>
                <a:tc>
                  <a:txBody>
                    <a:bodyPr wrap="square"/>
                    <a:lstStyle/>
                    <a:p>
                      <a:r>
                        <a:rPr sz="1150" b="1">
                          <a:latin typeface="Calibri"/>
                        </a:rPr>
                        <a:t>What gets measured</a:t>
                      </a:r>
                    </a:p>
                  </a:txBody>
                  <a:tcPr marL="50292" marR="50292" marT="27432" marB="27432"/>
                </a:tc>
                <a:tc>
                  <a:txBody>
                    <a:bodyPr wrap="square"/>
                    <a:lstStyle/>
                    <a:p>
                      <a:r>
                        <a:rPr sz="1150" b="1">
                          <a:latin typeface="Calibri"/>
                        </a:rPr>
                        <a:t>Cost</a:t>
                      </a:r>
                    </a:p>
                  </a:txBody>
                  <a:tcPr marL="50292" marR="50292" marT="27432" marB="27432"/>
                </a:tc>
                <a:tc>
                  <a:txBody>
                    <a:bodyPr wrap="square"/>
                    <a:lstStyle/>
                    <a:p>
                      <a:r>
                        <a:rPr sz="1150" b="1">
                          <a:latin typeface="Calibri"/>
                        </a:rPr>
                        <a:t>Time</a:t>
                      </a:r>
                    </a:p>
                  </a:txBody>
                  <a:tcPr marL="50292" marR="50292" marT="27432" marB="27432"/>
                </a:tc>
                <a:tc>
                  <a:txBody>
                    <a:bodyPr wrap="square"/>
                    <a:lstStyle/>
                    <a:p>
                      <a:r>
                        <a:rPr sz="1150" b="1">
                          <a:latin typeface="Calibri"/>
                        </a:rPr>
                        <a:t>Status</a:t>
                      </a:r>
                    </a:p>
                  </a:txBody>
                  <a:tcPr marL="50292" marR="50292" marT="27432" marB="27432"/>
                </a:tc>
              </a:tr>
              <a:tr h="605790">
                <a:tc>
                  <a:txBody>
                    <a:bodyPr wrap="square"/>
                    <a:lstStyle/>
                    <a:p>
                      <a:r>
                        <a:rPr sz="1100" b="0">
                          <a:latin typeface="Calibri"/>
                        </a:rPr>
                        <a:t>1.  FPGA on a real board</a:t>
                      </a:r>
                    </a:p>
                  </a:txBody>
                  <a:tcPr marL="50292" marR="50292" marT="27432" marB="27432"/>
                </a:tc>
                <a:tc>
                  <a:txBody>
                    <a:bodyPr wrap="square"/>
                    <a:lstStyle/>
                    <a:p>
                      <a:r>
                        <a:rPr sz="1100" b="0">
                          <a:latin typeface="Calibri"/>
                        </a:rPr>
                        <a:t>The 8+8 slice outputs toggling and dead_time_gen.v sweeping 5–35 ns, on silicon rather than in a report</a:t>
                      </a:r>
                    </a:p>
                  </a:txBody>
                  <a:tcPr marL="50292" marR="50292" marT="27432" marB="27432"/>
                </a:tc>
                <a:tc>
                  <a:txBody>
                    <a:bodyPr wrap="square"/>
                    <a:lstStyle/>
                    <a:p>
                      <a:r>
                        <a:rPr sz="1100" b="0">
                          <a:latin typeface="Calibri"/>
                        </a:rPr>
                        <a:t>₹8–12k
or a lab board</a:t>
                      </a:r>
                    </a:p>
                  </a:txBody>
                  <a:tcPr marL="50292" marR="50292" marT="27432" marB="27432"/>
                </a:tc>
                <a:tc>
                  <a:txBody>
                    <a:bodyPr wrap="square"/>
                    <a:lstStyle/>
                    <a:p>
                      <a:r>
                        <a:rPr sz="1100" b="0">
                          <a:latin typeface="Calibri"/>
                        </a:rPr>
                        <a:t>days</a:t>
                      </a:r>
                    </a:p>
                  </a:txBody>
                  <a:tcPr marL="50292" marR="50292" marT="27432" marB="27432"/>
                </a:tc>
                <a:tc>
                  <a:txBody>
                    <a:bodyPr wrap="square"/>
                    <a:lstStyle/>
                    <a:p>
                      <a:r>
                        <a:rPr sz="1100" b="1">
                          <a:solidFill>
                            <a:srgbClr val="1B7F5F"/>
                          </a:solidFill>
                          <a:latin typeface="Calibri"/>
                        </a:rPr>
                        <a:t>nearest</a:t>
                      </a:r>
                    </a:p>
                  </a:txBody>
                  <a:tcPr marL="50292" marR="50292" marT="27432" marB="27432"/>
                </a:tc>
              </a:tr>
              <a:tr h="605790">
                <a:tc>
                  <a:txBody>
                    <a:bodyPr wrap="square"/>
                    <a:lstStyle/>
                    <a:p>
                      <a:r>
                        <a:rPr sz="1100" b="0">
                          <a:latin typeface="Calibri"/>
                        </a:rPr>
                        <a:t>2.  GaN half-bridge eval board, 48 V</a:t>
                      </a:r>
                    </a:p>
                  </a:txBody>
                  <a:tcPr marL="50292" marR="50292" marT="27432" marB="27432"/>
                </a:tc>
                <a:tc>
                  <a:txBody>
                    <a:bodyPr wrap="square"/>
                    <a:lstStyle/>
                    <a:p>
                      <a:r>
                        <a:rPr sz="1100" b="0">
                          <a:latin typeface="Calibri"/>
                        </a:rPr>
                        <a:t>The OFF device's gate during the other's turn-on, with and without the −2 V rail — our central claim, on real silicon</a:t>
                      </a:r>
                    </a:p>
                  </a:txBody>
                  <a:tcPr marL="50292" marR="50292" marT="27432" marB="27432"/>
                </a:tc>
                <a:tc>
                  <a:txBody>
                    <a:bodyPr wrap="square"/>
                    <a:lstStyle/>
                    <a:p>
                      <a:r>
                        <a:rPr sz="1100" b="0">
                          <a:latin typeface="Calibri"/>
                        </a:rPr>
                        <a:t>₹15–25k</a:t>
                      </a:r>
                    </a:p>
                  </a:txBody>
                  <a:tcPr marL="50292" marR="50292" marT="27432" marB="27432"/>
                </a:tc>
                <a:tc>
                  <a:txBody>
                    <a:bodyPr wrap="square"/>
                    <a:lstStyle/>
                    <a:p>
                      <a:r>
                        <a:rPr sz="1100" b="0">
                          <a:latin typeface="Calibri"/>
                        </a:rPr>
                        <a:t>2–4 weeks</a:t>
                      </a:r>
                    </a:p>
                  </a:txBody>
                  <a:tcPr marL="50292" marR="50292" marT="27432" marB="27432"/>
                </a:tc>
                <a:tc>
                  <a:txBody>
                    <a:bodyPr wrap="square"/>
                    <a:lstStyle/>
                    <a:p>
                      <a:r>
                        <a:rPr sz="1100" b="1">
                          <a:solidFill>
                            <a:srgbClr val="1B7F5F"/>
                          </a:solidFill>
                          <a:latin typeface="Calibri"/>
                        </a:rPr>
                        <a:t>the one that matters</a:t>
                      </a:r>
                    </a:p>
                  </a:txBody>
                  <a:tcPr marL="50292" marR="50292" marT="27432" marB="27432"/>
                </a:tc>
              </a:tr>
              <a:tr h="605790">
                <a:tc>
                  <a:txBody>
                    <a:bodyPr wrap="square"/>
                    <a:lstStyle/>
                    <a:p>
                      <a:r>
                        <a:rPr sz="1100" b="0">
                          <a:latin typeface="Calibri"/>
                        </a:rPr>
                        <a:t>3.  The segmented driver itself</a:t>
                      </a:r>
                    </a:p>
                  </a:txBody>
                  <a:tcPr marL="50292" marR="50292" marT="27432" marB="27432"/>
                </a:tc>
                <a:tc>
                  <a:txBody>
                    <a:bodyPr wrap="square"/>
                    <a:lstStyle/>
                    <a:p>
                      <a:r>
                        <a:rPr sz="1100" b="0">
                          <a:latin typeface="Calibri"/>
                        </a:rPr>
                        <a:t>Everything above, on our own 8-slice stage at 100 V / 500 kHz</a:t>
                      </a:r>
                    </a:p>
                  </a:txBody>
                  <a:tcPr marL="50292" marR="50292" marT="27432" marB="27432"/>
                </a:tc>
                <a:tc>
                  <a:txBody>
                    <a:bodyPr wrap="square"/>
                    <a:lstStyle/>
                    <a:p>
                      <a:r>
                        <a:rPr sz="1100" b="0">
                          <a:latin typeface="Calibri"/>
                        </a:rPr>
                        <a:t>custom PCB,
several spins</a:t>
                      </a:r>
                    </a:p>
                  </a:txBody>
                  <a:tcPr marL="50292" marR="50292" marT="27432" marB="27432"/>
                </a:tc>
                <a:tc>
                  <a:txBody>
                    <a:bodyPr wrap="square"/>
                    <a:lstStyle/>
                    <a:p>
                      <a:r>
                        <a:rPr sz="1100" b="0">
                          <a:latin typeface="Calibri"/>
                        </a:rPr>
                        <a:t>months</a:t>
                      </a:r>
                    </a:p>
                  </a:txBody>
                  <a:tcPr marL="50292" marR="50292" marT="27432" marB="27432"/>
                </a:tc>
                <a:tc>
                  <a:txBody>
                    <a:bodyPr wrap="square"/>
                    <a:lstStyle/>
                    <a:p>
                      <a:r>
                        <a:rPr sz="1100" b="1">
                          <a:solidFill>
                            <a:srgbClr val="B00000"/>
                          </a:solidFill>
                          <a:latin typeface="Calibri"/>
                        </a:rPr>
                        <a:t>Review-III</a:t>
                      </a:r>
                    </a:p>
                  </a:txBody>
                  <a:tcPr marL="50292" marR="50292" marT="27432" marB="27432"/>
                </a:tc>
              </a:tr>
            </a:tbl>
          </a:graphicData>
        </a:graphic>
      </p:graphicFrame>
      <p:sp>
        <p:nvSpPr>
          <p:cNvPr id="7" name="TextBox 6"/>
          <p:cNvSpPr txBox="1"/>
          <p:nvPr/>
        </p:nvSpPr>
        <p:spPr>
          <a:xfrm>
            <a:off x="640080" y="4169663"/>
            <a:ext cx="11064240" cy="192024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constraints we already know, because they decide whether tier 2 produces evidence or noise.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Scope bandwidth. </a:t>
            </a:r>
            <a:r>
              <a:rPr lang="en-US" sz="1200" dirty="0">
                <a:solidFill>
                  <a:srgbClr val="000000"/>
                </a:solidFill>
                <a:latin typeface="Calibri" pitchFamily="34" charset="0"/>
                <a:ea typeface="Calibri" pitchFamily="34" charset="-122"/>
                <a:cs typeface="Calibri" pitchFamily="34" charset="-120"/>
              </a:rPr>
              <a:t xml:space="preserve">Our edge is 0.78 ns. Bandwidth needed is 0.35 / 0.78 ns ≈ 450 MHz to see the edge at all, realistically 1 GHz. On a 100 MHz teaching-lab scope the measurement would be of the scope.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Probe grounding. </a:t>
            </a:r>
            <a:r>
              <a:rPr lang="en-US" sz="1200" dirty="0">
                <a:solidFill>
                  <a:srgbClr val="000000"/>
                </a:solidFill>
                <a:latin typeface="Calibri" pitchFamily="34" charset="0"/>
                <a:ea typeface="Calibri" pitchFamily="34" charset="-122"/>
                <a:cs typeface="Calibri" pitchFamily="34" charset="-120"/>
              </a:rPr>
              <a:t xml:space="preserve">A 10:1 probe with a ground clip carries roughly 10 nH in its ground lead, which manufactures ringing that is not in the circuit. A GaN gate has to be probed with a short pigtail or a coaxial connection, or the trace shows the probe.</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And one thing that is not a constraint but a fact: no commercial IC implements an 8-slice independently controllable segmented driver. Tier 3 is eight single-channel drivers in parallel, enabled per slice, summed through 8 Ω — which is exactly what models/segdrv.lib already describes.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496</Words>
  <Application>Microsoft Macintosh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2026-08-27T10:07:08Z</dcterms:modified>
</cp:coreProperties>
</file>