
<file path=[Content_Types].xml><?xml version="1.0" encoding="utf-8"?>
<Types xmlns="http://schemas.openxmlformats.org/package/2006/content-types">
  <Default Extension="mp4" ContentType="video/mp4"/>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0.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4.xml" ContentType="application/vnd.openxmlformats-officedocument.presentationml.notesSlide+xml"/>
  <Override PartName="/ppt/notesSlides/notesSlide6.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3"/>
  </p:notesMasterIdLst>
  <p:sldIdLst>
    <p:sldId id="257" r:id="rId3"/>
    <p:sldId id="259" r:id="rId5"/>
    <p:sldId id="261" r:id="rId7"/>
    <p:sldId id="274" r:id="rId25"/>
    <p:sldId id="348" r:id="rId91"/>
    <p:sldId id="317" r:id="rId60"/>
    <p:sldId id="318" r:id="rId61"/>
    <p:sldId id="319" r:id="rId62"/>
    <p:sldId id="320" r:id="rId63"/>
    <p:sldId id="322" r:id="rId65"/>
    <p:sldId id="324" r:id="rId67"/>
    <p:sldId id="359" r:id="rId102"/>
    <p:sldId id="360" r:id="rId103"/>
    <p:sldId id="325" r:id="rId68"/>
    <p:sldId id="326" r:id="rId69"/>
    <p:sldId id="339" r:id="rId82"/>
    <p:sldId id="309" r:id="rId52"/>
    <p:sldId id="355" r:id="rId98"/>
    <p:sldId id="361" r:id="rId104"/>
    <p:sldId id="362" r:id="rId105"/>
    <p:sldId id="363" r:id="rId106"/>
    <p:sldId id="364" r:id="rId107"/>
    <p:sldId id="272" r:id="rId23"/>
    <p:sldId id="265" r:id="rId11"/>
    <p:sldId id="328" r:id="rId71"/>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6711"/>
    <p:restoredTop sz="94610"/>
  </p:normalViewPr>
  <p:slideViewPr>
    <p:cSldViewPr snapToGrid="0" snapToObjects="1">
      <p:cViewPr varScale="1">
        <p:scale>
          <a:sx n="114" d="100"/>
          <a:sy n="114" d="100"/>
        </p:scale>
        <p:origin x="504" y="17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3" Type="http://schemas.openxmlformats.org/officeDocument/2006/relationships/slide" Target="slides/slide1.xml"/><Relationship Id="rId5" Type="http://schemas.openxmlformats.org/officeDocument/2006/relationships/slide" Target="slides/slide2.xml"/><Relationship Id="rId7" Type="http://schemas.openxmlformats.org/officeDocument/2006/relationships/slide" Target="slides/slide3.xml"/><Relationship Id="rId11" Type="http://schemas.openxmlformats.org/officeDocument/2006/relationships/slide" Target="slides/slide24.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 Id="rId23" Type="http://schemas.openxmlformats.org/officeDocument/2006/relationships/slide" Target="slides/slide23.xml"/><Relationship Id="rId25" Type="http://schemas.openxmlformats.org/officeDocument/2006/relationships/slide" Target="slides/slide4.xml"/><Relationship Id="rId52" Type="http://schemas.openxmlformats.org/officeDocument/2006/relationships/slide" Target="slides/slide17.xml"/><Relationship Id="rId60" Type="http://schemas.openxmlformats.org/officeDocument/2006/relationships/slide" Target="slides/slide6.xml"/><Relationship Id="rId61" Type="http://schemas.openxmlformats.org/officeDocument/2006/relationships/slide" Target="slides/slide7.xml"/><Relationship Id="rId62" Type="http://schemas.openxmlformats.org/officeDocument/2006/relationships/slide" Target="slides/slide8.xml"/><Relationship Id="rId63" Type="http://schemas.openxmlformats.org/officeDocument/2006/relationships/slide" Target="slides/slide9.xml"/><Relationship Id="rId65" Type="http://schemas.openxmlformats.org/officeDocument/2006/relationships/slide" Target="slides/slide10.xml"/><Relationship Id="rId67" Type="http://schemas.openxmlformats.org/officeDocument/2006/relationships/slide" Target="slides/slide11.xml"/><Relationship Id="rId68" Type="http://schemas.openxmlformats.org/officeDocument/2006/relationships/slide" Target="slides/slide14.xml"/><Relationship Id="rId69" Type="http://schemas.openxmlformats.org/officeDocument/2006/relationships/slide" Target="slides/slide15.xml"/><Relationship Id="rId71" Type="http://schemas.openxmlformats.org/officeDocument/2006/relationships/slide" Target="slides/slide25.xml"/><Relationship Id="rId82" Type="http://schemas.openxmlformats.org/officeDocument/2006/relationships/slide" Target="slides/slide16.xml"/><Relationship Id="rId91" Type="http://schemas.openxmlformats.org/officeDocument/2006/relationships/slide" Target="slides/slide5.xml"/><Relationship Id="rId98" Type="http://schemas.openxmlformats.org/officeDocument/2006/relationships/slide" Target="slides/slide18.xml"/><Relationship Id="rId102" Type="http://schemas.openxmlformats.org/officeDocument/2006/relationships/slide" Target="slides/slide12.xml"/><Relationship Id="rId103" Type="http://schemas.openxmlformats.org/officeDocument/2006/relationships/slide" Target="slides/slide13.xml"/><Relationship Id="rId104" Type="http://schemas.openxmlformats.org/officeDocument/2006/relationships/slide" Target="slides/slide19.xml"/><Relationship Id="rId105" Type="http://schemas.openxmlformats.org/officeDocument/2006/relationships/slide" Target="slides/slide20.xml"/><Relationship Id="rId106" Type="http://schemas.openxmlformats.org/officeDocument/2006/relationships/slide" Target="slides/slide21.xml"/><Relationship Id="rId107" Type="http://schemas.openxmlformats.org/officeDocument/2006/relationships/slide" Target="slides/slide2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91458929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[15 s]  CORE. Project name and the one-line claim: a segmented GaN gate driver, and a measurement of what per-operating-point adaptation is actually worth.</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[60 s]  CORE — the 2-mark slide, the biggest block in the review. Land two things: the failure is real and specific (1.65 V on a 1.40 V threshold), and the gap is that prior work conflates 'better fixed settings' with 'settings that adapt'.</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[30 s]  CORE — proposed-solution mark. The 720-point control word and the method: exhaustive search at every corner, so each per-corner optimum is a TRUE optimum and not the best of a shortlist.</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[skip]  Reference list. Leave up during questions.</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[30 s]  CORE. Walk the diagram left to right in one sentence, then stop on the dashed block: that is the sensing and lookup-table machinery the adaptive premise needs. The whole project is a measurement of what it buys. Let the picture do the work — do not narrate every box.</a:t>
            </a:r>
          </a:p>
        </p:txBody>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[30 s]  CORE — the timeline and tools requirement. M1-M6. If asked what could go wrong: M1, the PDK — a 1.8 V / 3.3 V teaching PDK cannot take a 5 V rail.</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 Id="rId3"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 Id="rId3" Type="http://schemas.openxmlformats.org/officeDocument/2006/relationships/image" Target="../media/image1.png"/><Relationship Id="rId4" Type="http://schemas.openxmlformats.org/officeDocument/2006/relationships/image" Target="../media/image6.png"/><Relationship Id="rId5" Type="http://schemas.openxmlformats.org/officeDocument/2006/relationships/hyperlink" Target="https://github.com/Amritha902/gan-driver/blob/main/kicad/gan_segdrv.kicad_sch" TargetMode="External"/><Relationship Id="rId6" Type="http://schemas.openxmlformats.org/officeDocument/2006/relationships/hyperlink" Target="https://github.com/Amritha902/gan-driver/blob/main/kicad/gan_buck.kicad_sch" TargetMode="Externa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64.png"/><Relationship Id="rId5" Type="http://schemas.openxmlformats.org/officeDocument/2006/relationships/hyperlink" Target="https://github.com/Amritha902/gan-driver/blob/main/models/zhangdrv.lib" TargetMode="External"/><Relationship Id="rId6" Type="http://schemas.openxmlformats.org/officeDocument/2006/relationships/hyperlink" Target="https://github.com/Amritha902/gan-driver/blob/main/models/segdrv.lib" TargetMode="External"/><Relationship Id="rId7" Type="http://schemas.openxmlformats.org/officeDocument/2006/relationships/hyperlink" Target="https://github.com/Amritha902/gan-driver/blob/main/results/headtohead.csv" TargetMode="Externa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8.png"/><Relationship Id="rId5" Type="http://schemas.openxmlformats.org/officeDocument/2006/relationships/hyperlink" Target="https://github.com/Amritha902/gan-driver/blob/main/scripts/gan_level_figure.py" TargetMode="External"/><Relationship Id="rId6" Type="http://schemas.openxmlformats.org/officeDocument/2006/relationships/hyperlink" Target="https://github.com/Amritha902/gan-driver/blob/main/results/waveform_anatomy.txt" TargetMode="Externa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9.png"/><Relationship Id="rId5" Type="http://schemas.openxmlformats.org/officeDocument/2006/relationships/hyperlink" Target="https://github.com/Amritha902/gan-driver/blob/main/kicad/gan_buck.kicad_sch" TargetMode="External"/><Relationship Id="rId6" Type="http://schemas.openxmlformats.org/officeDocument/2006/relationships/hyperlink" Target="https://github.com/Amritha902/gan-driver/blob/main/sim/buck.cir" TargetMode="Externa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40.png"/><Relationship Id="rId5" Type="http://schemas.openxmlformats.org/officeDocument/2006/relationships/hyperlink" Target="https://github.com/Amritha902/gan-driver/blob/main/kicad/gan_segdrv.kicad_sch"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41.png"/><Relationship Id="rId5" Type="http://schemas.openxmlformats.org/officeDocument/2006/relationships/hyperlink" Target="https://github.com/Amritha902/gan-driver/blob/main/kicad/gan_zhangdrv.kicad_sch" TargetMode="Externa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43.png"/><Relationship Id="rId5" Type="http://schemas.openxmlformats.org/officeDocument/2006/relationships/hyperlink" Target="https://github.com/Amritha902/gan-driver/blob/main/models/segdrv.lib"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hyperlink" Target="https://github.com/Amritha902/gan-driver/blob/main/sim/dpt.cir" TargetMode="External"/><Relationship Id="rId5" Type="http://schemas.openxmlformats.org/officeDocument/2006/relationships/hyperlink" Target="https://github.com/Amritha902/gan-driver/blob/main/models/zhangdrv.lib" TargetMode="External"/><Relationship Id="rId6" Type="http://schemas.openxmlformats.org/officeDocument/2006/relationships/hyperlink" Target="https://github.com/Amritha902/gan-driver/blob/main/models/segdrv.lib" TargetMode="External"/><Relationship Id="rId7" Type="http://schemas.openxmlformats.org/officeDocument/2006/relationships/hyperlink" Target="https://github.com/Amritha902/gan-driver/blob/main/models/egan.lib" TargetMode="External"/><Relationship Id="rId8" Type="http://schemas.openxmlformats.org/officeDocument/2006/relationships/hyperlink" Target="https://github.com/Amritha902/gan-driver/blob/main/scripts/headtohead.py" TargetMode="External"/><Relationship Id="rId9" Type="http://schemas.openxmlformats.org/officeDocument/2006/relationships/hyperlink" Target="https://github.com/Amritha902/gan-driver/blob/main/results/headtohead.txt" TargetMode="External"/><Relationship Id="rId10" Type="http://schemas.openxmlformats.org/officeDocument/2006/relationships/hyperlink" Target="https://github.com/Amritha902/gan-driver/blob/main/results/RESULTS-SUMMARY.txt" TargetMode="External"/><Relationship Id="rId11" Type="http://schemas.openxmlformats.org/officeDocument/2006/relationships/hyperlink" Target="https://github.com/Amritha902/gan-driver/blob/main/review/check_consistency.py" TargetMode="Externa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67.png"/><Relationship Id="rId5" Type="http://schemas.openxmlformats.org/officeDocument/2006/relationships/hyperlink" Target="https://github.com/Amritha902/gan-driver/blob/main/models/egan.lib" TargetMode="External"/><Relationship Id="rId6" Type="http://schemas.openxmlformats.org/officeDocument/2006/relationships/hyperlink" Target="https://github.com/Amritha902/gan-driver/blob/main/scripts/silicon_check.py" TargetMode="External"/><Relationship Id="rId7" Type="http://schemas.openxmlformats.org/officeDocument/2006/relationships/hyperlink" Target="https://github.com/Amritha902/gan-driver/blob/main/models/egan_c.lib" TargetMode="Externa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68.png"/><Relationship Id="rId5" Type="http://schemas.openxmlformats.org/officeDocument/2006/relationships/hyperlink" Target="https://github.com/Amritha902/gan-driver/blob/main/scripts/metric_converge.py" TargetMode="External"/><Relationship Id="rId6" Type="http://schemas.openxmlformats.org/officeDocument/2006/relationships/hyperlink" Target="https://github.com/Amritha902/gan-driver/blob/main/scripts/verdict_stability.py" TargetMode="External"/><Relationship Id="rId7" Type="http://schemas.openxmlformats.org/officeDocument/2006/relationships/hyperlink" Target="https://github.com/Amritha902/gan-driver/blob/main/scripts/failed_runs.py" TargetMode="External"/><Relationship Id="rId8" Type="http://schemas.openxmlformats.org/officeDocument/2006/relationships/hyperlink" Target="https://github.com/Amritha902/gan-driver/blob/main/proof/LIVE-BUCK.sh" TargetMode="Externa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microsoft.com/office/2007/relationships/media" Target="../media/media2.mp4"/><Relationship Id="rId5" Type="http://schemas.openxmlformats.org/officeDocument/2006/relationships/video" Target="../media/media2.mp4"/><Relationship Id="rId6" Type="http://schemas.openxmlformats.org/officeDocument/2006/relationships/image" Target="../media/image45.png"/><Relationship Id="rId7" Type="http://schemas.openxmlformats.org/officeDocument/2006/relationships/hyperlink" Target="https://github.com/Amritha902/gan-driver/blob/main/models/zhangdrv.lib" TargetMode="External"/><Relationship Id="rId8" Type="http://schemas.openxmlformats.org/officeDocument/2006/relationships/hyperlink" Target="https://github.com/Amritha902/gan-driver/blob/main/sim/dpt.cir" TargetMode="External"/><Relationship Id="rId9" Type="http://schemas.openxmlformats.org/officeDocument/2006/relationships/hyperlink" Target="https://github.com/Amritha902/gan-driver/blob/main/scripts/headtohead.py"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microsoft.com/office/2007/relationships/media" Target="../media/media3.mp4"/><Relationship Id="rId5" Type="http://schemas.openxmlformats.org/officeDocument/2006/relationships/video" Target="../media/media3.mp4"/><Relationship Id="rId6" Type="http://schemas.openxmlformats.org/officeDocument/2006/relationships/image" Target="../media/image46.png"/><Relationship Id="rId7" Type="http://schemas.openxmlformats.org/officeDocument/2006/relationships/hyperlink" Target="https://github.com/Amritha902/gan-driver/blob/main/models/segdrv.lib" TargetMode="External"/><Relationship Id="rId8" Type="http://schemas.openxmlformats.org/officeDocument/2006/relationships/hyperlink" Target="https://github.com/Amritha902/gan-driver/blob/main/sim/dpt.cir" TargetMode="Externa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microsoft.com/office/2007/relationships/media" Target="../media/media5.mp4"/><Relationship Id="rId5" Type="http://schemas.openxmlformats.org/officeDocument/2006/relationships/video" Target="../media/media5.mp4"/><Relationship Id="rId6" Type="http://schemas.openxmlformats.org/officeDocument/2006/relationships/image" Target="../media/image54.png"/><Relationship Id="rId7" Type="http://schemas.openxmlformats.org/officeDocument/2006/relationships/image" Target="../media/image55.png"/><Relationship Id="rId8" Type="http://schemas.openxmlformats.org/officeDocument/2006/relationships/hyperlink" Target="https://github.com/Amritha902/gan-driver/blob/main/proof/LIVE-SIM.sh" TargetMode="External"/><Relationship Id="rId9" Type="http://schemas.openxmlformats.org/officeDocument/2006/relationships/hyperlink" Target="https://github.com/Amritha902/gan-driver/blob/main/scripts/live_demo.py" TargetMode="Externa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hyperlink" Target="https://github.com/Amritha902/gan-driver/blob/main/sim/dpt.cir" TargetMode="External"/><Relationship Id="rId5" Type="http://schemas.openxmlformats.org/officeDocument/2006/relationships/hyperlink" Target="https://github.com/Amritha902/gan-driver/blob/main/scripts/waveform_anatomy.py" TargetMode="Externa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69.png"/><Relationship Id="rId5" Type="http://schemas.openxmlformats.org/officeDocument/2006/relationships/hyperlink" Target="https://github.com/Amritha902/gan-driver/blob/main/scripts/si_vs_gan.py" TargetMode="External"/><Relationship Id="rId6" Type="http://schemas.openxmlformats.org/officeDocument/2006/relationships/hyperlink" Target="https://github.com/Amritha902/gan-driver/blob/main/sim/buck.cir"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70.png"/><Relationship Id="rId5" Type="http://schemas.openxmlformats.org/officeDocument/2006/relationships/hyperlink" Target="https://github.com/Amritha902/gan-driver/blob/main/scripts/lloop_sweep.py" TargetMode="Externa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71.png"/><Relationship Id="rId5" Type="http://schemas.openxmlformats.org/officeDocument/2006/relationships/hyperlink" Target="https://github.com/Amritha902/gan-driver/blob/main/results/buck_sweep.csv" TargetMode="External"/><Relationship Id="rId6" Type="http://schemas.openxmlformats.org/officeDocument/2006/relationships/hyperlink" Target="https://github.com/Amritha902/gan-driver/blob/main/results/panel_metrics.csv" TargetMode="External"/><Relationship Id="rId7" Type="http://schemas.openxmlformats.org/officeDocument/2006/relationships/hyperlink" Target="https://github.com/Amritha902/gan-driver/blob/main/results/headtohead.csv" TargetMode="Externa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 Id="rId3" Type="http://schemas.openxmlformats.org/officeDocument/2006/relationships/image" Target="../media/image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 Id="rId3" Type="http://schemas.openxmlformats.org/officeDocument/2006/relationships/image" Target="../media/image1.png"/><Relationship Id="rId4" Type="http://schemas.openxmlformats.org/officeDocument/2006/relationships/hyperlink" Target="https://github.com/Amritha902/gan-driver/blob/main/models/zhangdrv.lib" TargetMode="Externa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hyperlink" Target="https://github.com/Amritha902/gan-driver" TargetMode="External"/></Relationships>
</file>

<file path=ppt/slides/slide1.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a:t>
            </a:r>
            <a:endParaRPr lang="en-US" sz="1000" dirty="0"/>
          </a:p>
        </p:txBody>
      </p:sp>
      <p:pic>
        <p:nvPicPr>
          <p:cNvPr id="3" name="Image 0" descr="logo.png"/>
          <p:cNvPicPr>
            <a:picLocks noChangeAspect="1"/>
          </p:cNvPicPr>
          <p:nvPr/>
        </p:nvPicPr>
        <p:blipFill>
          <a:blip r:embed="rId3"/>
          <a:stretch>
            <a:fillRect/>
          </a:stretch>
        </p:blipFill>
        <p:spPr>
          <a:xfrm>
            <a:off x="548640" y="365760"/>
            <a:ext cx="2011680" cy="760828"/>
          </a:xfrm>
          <a:prstGeom prst="rect">
            <a:avLst/>
          </a:prstGeom>
        </p:spPr>
      </p:pic>
      <p:sp>
        <p:nvSpPr>
          <p:cNvPr id="4" name="Text 1"/>
          <p:cNvSpPr txBox="1"/>
          <p:nvPr/>
        </p:nvSpPr>
        <p:spPr>
          <a:xfrm>
            <a:off x="5486400" y="411480"/>
            <a:ext cx="6217920" cy="320040"/>
          </a:xfrm>
          <a:prstGeom prst="rect">
            <a:avLst/>
          </a:prstGeom>
          <a:noFill/>
          <a:ln/>
        </p:spPr>
        <p:txBody>
          <a:bodyPr wrap="square" lIns="0" tIns="0" rIns="0" bIns="0" rtlCol="0" anchor="ctr"/>
          <a:lstStyle/>
          <a:p>
            <a:pPr marL="0" indent="0" algn="r">
              <a:buNone/>
            </a:pPr>
            <a:r>
              <a:rPr lang="en-US" sz="1400" b="1" dirty="0">
                <a:solidFill>
                  <a:srgbClr val="1D2F82"/>
                </a:solidFill>
                <a:latin typeface="Calibri" pitchFamily="34" charset="0"/>
                <a:ea typeface="Calibri" pitchFamily="34" charset="-122"/>
                <a:cs typeface="Calibri" pitchFamily="34" charset="-120"/>
              </a:rPr>
              <a:t>School of Electronics Engineering (SENSE)</a:t>
            </a:r>
            <a:endParaRPr lang="en-US" sz="1400" dirty="0"/>
          </a:p>
        </p:txBody>
      </p:sp>
      <p:sp>
        <p:nvSpPr>
          <p:cNvPr id="5" name="Text 2"/>
          <p:cNvSpPr txBox="1"/>
          <p:nvPr/>
        </p:nvSpPr>
        <p:spPr>
          <a:xfrm>
            <a:off x="5486400" y="749808"/>
            <a:ext cx="6217920" cy="274320"/>
          </a:xfrm>
          <a:prstGeom prst="rect">
            <a:avLst/>
          </a:prstGeom>
          <a:noFill/>
          <a:ln/>
        </p:spPr>
        <p:txBody>
          <a:bodyPr wrap="square" lIns="0" tIns="0" rIns="0" bIns="0" rtlCol="0" anchor="ctr"/>
          <a:lstStyle/>
          <a:p>
            <a:pPr marL="0" indent="0" algn="r">
              <a:buNone/>
            </a:pPr>
            <a:r>
              <a:rPr lang="en-US" sz="1200" dirty="0">
                <a:solidFill>
                  <a:srgbClr val="000000"/>
                </a:solidFill>
                <a:latin typeface="Calibri" pitchFamily="34" charset="0"/>
                <a:ea typeface="Calibri" pitchFamily="34" charset="-122"/>
                <a:cs typeface="Calibri" pitchFamily="34" charset="-120"/>
              </a:rPr>
              <a:t>Project-I (2026)</a:t>
            </a:r>
            <a:endParaRPr lang="en-US" sz="1200" dirty="0"/>
          </a:p>
        </p:txBody>
      </p:sp>
      <p:sp>
        <p:nvSpPr>
          <p:cNvPr id="6" name="Text 3"/>
          <p:cNvSpPr txBox="1"/>
          <p:nvPr/>
        </p:nvSpPr>
        <p:spPr>
          <a:xfrm>
            <a:off x="548640" y="1737360"/>
            <a:ext cx="11091672" cy="1188720"/>
          </a:xfrm>
          <a:prstGeom prst="rect">
            <a:avLst/>
          </a:prstGeom>
          <a:noFill/>
          <a:ln/>
        </p:spPr>
        <p:txBody>
          <a:bodyPr wrap="square" lIns="0" tIns="0" rIns="0" bIns="0" rtlCol="0" anchor="ctr"/>
          <a:lstStyle/>
          <a:p>
            <a:pPr marL="0" indent="0" algn="ctr">
              <a:buNone/>
            </a:pPr>
            <a:r>
              <a:rPr lang="en-US" sz="3200" b="1" dirty="0">
                <a:solidFill>
                  <a:srgbClr val="1D2F82"/>
                </a:solidFill>
                <a:latin typeface="Calibri" pitchFamily="34" charset="0"/>
                <a:ea typeface="Calibri" pitchFamily="34" charset="-122"/>
                <a:cs typeface="Calibri" pitchFamily="34" charset="-120"/>
              </a:rPr>
              <a:t>GaN Based Synchronous Buck Converter with an Improved Gate Driver</a:t>
            </a:r>
          </a:p>
        </p:txBody>
      </p:sp>
      <p:sp>
        <p:nvSpPr>
          <p:cNvPr id="7" name="Text 4"/>
          <p:cNvSpPr txBox="1"/>
          <p:nvPr/>
        </p:nvSpPr>
        <p:spPr>
          <a:xfrm>
            <a:off x="822960" y="3063240"/>
            <a:ext cx="2560320" cy="384048"/>
          </a:xfrm>
          <a:prstGeom prst="rect">
            <a:avLst/>
          </a:prstGeom>
          <a:noFill/>
          <a:ln/>
        </p:spPr>
        <p:txBody>
          <a:bodyPr wrap="square" lIns="0" tIns="0" rIns="0" bIns="0" rtlCol="0" anchor="ctr"/>
          <a:lstStyle/>
          <a:p>
            <a:pPr marL="0" indent="0">
              <a:buNone/>
            </a:pPr>
            <a:r>
              <a:rPr lang="en-US" sz="1400" b="1" dirty="0">
                <a:solidFill>
                  <a:srgbClr val="000000"/>
                </a:solidFill>
                <a:latin typeface="Calibri" pitchFamily="34" charset="0"/>
                <a:ea typeface="Calibri" pitchFamily="34" charset="-122"/>
                <a:cs typeface="Calibri" pitchFamily="34" charset="-120"/>
              </a:rPr>
              <a:t>Student Name(s):</a:t>
            </a:r>
            <a:endParaRPr lang="en-US" sz="1400" dirty="0"/>
          </a:p>
        </p:txBody>
      </p:sp>
      <p:sp>
        <p:nvSpPr>
          <p:cNvPr id="8" name="Text 5"/>
          <p:cNvSpPr txBox="1"/>
          <p:nvPr/>
        </p:nvSpPr>
        <p:spPr>
          <a:xfrm>
            <a:off x="3474720" y="3063240"/>
            <a:ext cx="4617720" cy="384048"/>
          </a:xfrm>
          <a:prstGeom prst="rect">
            <a:avLst/>
          </a:prstGeom>
          <a:noFill/>
          <a:ln/>
        </p:spPr>
        <p:txBody>
          <a:bodyPr wrap="square" lIns="0" tIns="0" rIns="0" bIns="0" rtlCol="0" anchor="ctr"/>
          <a:lstStyle/>
          <a:p>
            <a:pPr marL="0" indent="0">
              <a:buNone/>
            </a:pPr>
            <a:r>
              <a:rPr lang="en-US" sz="950" dirty="0">
                <a:solidFill>
                  <a:srgbClr val="000000"/>
                </a:solidFill>
                <a:latin typeface="Calibri" pitchFamily="34" charset="0"/>
                <a:ea typeface="Calibri" pitchFamily="34" charset="-122"/>
                <a:cs typeface="Calibri" pitchFamily="34" charset="-120"/>
              </a:rPr>
              <a:t>Sanjay Kumar 23BEC1447  ·  Aamir Abdullah 23BPS1197  ·  Amritha S 23BEC1368</a:t>
            </a:r>
            <a:endParaRPr lang="en-US" sz="1400" dirty="0"/>
          </a:p>
        </p:txBody>
      </p:sp>
      <p:sp>
        <p:nvSpPr>
          <p:cNvPr id="9" name="Shape 6"/>
          <p:cNvSpPr/>
          <p:nvPr/>
        </p:nvSpPr>
        <p:spPr>
          <a:xfrm>
            <a:off x="3474720" y="3465576"/>
            <a:ext cx="4023360" cy="0"/>
          </a:xfrm>
          <a:prstGeom prst="line">
            <a:avLst/>
          </a:prstGeom>
          <a:noFill/>
          <a:ln w="12700">
            <a:solidFill>
              <a:srgbClr val="BFBFBF"/>
            </a:solidFill>
            <a:prstDash val="solid"/>
          </a:ln>
        </p:spPr>
        <p:txBody>
          <a:bodyPr/>
          <a:lstStyle/>
          <a:p>
            <a:endParaRPr lang="en-US"/>
          </a:p>
        </p:txBody>
      </p:sp>
      <p:sp>
        <p:nvSpPr>
          <p:cNvPr id="10" name="Text 7"/>
          <p:cNvSpPr txBox="1"/>
          <p:nvPr/>
        </p:nvSpPr>
        <p:spPr>
          <a:xfrm>
            <a:off x="822960" y="3657600"/>
            <a:ext cx="2560320" cy="384048"/>
          </a:xfrm>
          <a:prstGeom prst="rect">
            <a:avLst/>
          </a:prstGeom>
          <a:noFill/>
          <a:ln/>
        </p:spPr>
        <p:txBody>
          <a:bodyPr wrap="square" lIns="0" tIns="0" rIns="0" bIns="0" rtlCol="0" anchor="ctr"/>
          <a:lstStyle/>
          <a:p>
            <a:pPr marL="0" indent="0">
              <a:buNone/>
            </a:pPr>
            <a:r>
              <a:rPr lang="en-US" sz="1400" b="1" dirty="0">
                <a:solidFill>
                  <a:srgbClr val="000000"/>
                </a:solidFill>
                <a:latin typeface="Calibri" pitchFamily="34" charset="0"/>
                <a:ea typeface="Calibri" pitchFamily="34" charset="-122"/>
                <a:cs typeface="Calibri" pitchFamily="34" charset="-120"/>
              </a:rPr>
              <a:t>Guide:</a:t>
            </a:r>
            <a:endParaRPr lang="en-US" sz="1400" dirty="0"/>
          </a:p>
        </p:txBody>
      </p:sp>
      <p:sp>
        <p:nvSpPr>
          <p:cNvPr id="11" name="Text 8"/>
          <p:cNvSpPr txBox="1"/>
          <p:nvPr/>
        </p:nvSpPr>
        <p:spPr>
          <a:xfrm>
            <a:off x="3474720" y="3657600"/>
            <a:ext cx="4023360" cy="384048"/>
          </a:xfrm>
          <a:prstGeom prst="rect">
            <a:avLst/>
          </a:prstGeom>
          <a:noFill/>
          <a:ln/>
        </p:spPr>
        <p:txBody>
          <a:bodyPr wrap="square" lIns="0" tIns="0" rIns="0" bIns="0" rtlCol="0" anchor="ctr"/>
          <a:lstStyle/>
          <a:p>
            <a:pPr marL="0" indent="0">
              <a:buNone/>
            </a:pPr>
            <a:r>
              <a:rPr lang="en-US" sz="1400" dirty="0">
                <a:solidFill>
                  <a:srgbClr val="000000"/>
                </a:solidFill>
                <a:latin typeface="Calibri" pitchFamily="34" charset="0"/>
                <a:ea typeface="Calibri" pitchFamily="34" charset="-122"/>
                <a:cs typeface="Calibri" pitchFamily="34" charset="-120"/>
              </a:rPr>
              <a:t>Dr. Bindu  -  SENSE</a:t>
            </a:r>
            <a:endParaRPr lang="en-US" sz="1400" dirty="0"/>
          </a:p>
        </p:txBody>
      </p:sp>
      <p:sp>
        <p:nvSpPr>
          <p:cNvPr id="12" name="Shape 9"/>
          <p:cNvSpPr/>
          <p:nvPr/>
        </p:nvSpPr>
        <p:spPr>
          <a:xfrm>
            <a:off x="3474720" y="4059936"/>
            <a:ext cx="4023360" cy="0"/>
          </a:xfrm>
          <a:prstGeom prst="line">
            <a:avLst/>
          </a:prstGeom>
          <a:noFill/>
          <a:ln w="12700">
            <a:solidFill>
              <a:srgbClr val="BFBFBF"/>
            </a:solidFill>
            <a:prstDash val="solid"/>
          </a:ln>
        </p:spPr>
        <p:txBody>
          <a:bodyPr/>
          <a:lstStyle/>
          <a:p>
            <a:endParaRPr lang="en-US"/>
          </a:p>
        </p:txBody>
      </p:sp>
      <p:sp>
        <p:nvSpPr>
          <p:cNvPr id="13" name="Text 10"/>
          <p:cNvSpPr txBox="1"/>
          <p:nvPr/>
        </p:nvSpPr>
        <p:spPr>
          <a:xfrm>
            <a:off x="822960" y="4251960"/>
            <a:ext cx="2560320" cy="384048"/>
          </a:xfrm>
          <a:prstGeom prst="rect">
            <a:avLst/>
          </a:prstGeom>
          <a:noFill/>
          <a:ln/>
        </p:spPr>
        <p:txBody>
          <a:bodyPr wrap="square" lIns="0" tIns="0" rIns="0" bIns="0" rtlCol="0" anchor="ctr"/>
          <a:lstStyle/>
          <a:p>
            <a:pPr marL="0" indent="0">
              <a:buNone/>
            </a:pPr>
            <a:r>
              <a:rPr lang="en-US" sz="1400" b="1" dirty="0">
                <a:solidFill>
                  <a:srgbClr val="000000"/>
                </a:solidFill>
                <a:latin typeface="Calibri" pitchFamily="34" charset="0"/>
                <a:ea typeface="Calibri" pitchFamily="34" charset="-122"/>
                <a:cs typeface="Calibri" pitchFamily="34" charset="-120"/>
              </a:rPr>
              <a:t>Programme / School:</a:t>
            </a:r>
            <a:endParaRPr lang="en-US" sz="1400" dirty="0"/>
          </a:p>
        </p:txBody>
      </p:sp>
      <p:sp>
        <p:nvSpPr>
          <p:cNvPr id="14" name="Text 11"/>
          <p:cNvSpPr txBox="1"/>
          <p:nvPr/>
        </p:nvSpPr>
        <p:spPr>
          <a:xfrm>
            <a:off x="3474720" y="4251960"/>
            <a:ext cx="4023360" cy="384048"/>
          </a:xfrm>
          <a:prstGeom prst="rect">
            <a:avLst/>
          </a:prstGeom>
          <a:noFill/>
          <a:ln/>
        </p:spPr>
        <p:txBody>
          <a:bodyPr wrap="square" lIns="0" tIns="0" rIns="0" bIns="0" rtlCol="0" anchor="ctr"/>
          <a:lstStyle/>
          <a:p>
            <a:pPr marL="0" indent="0">
              <a:buNone/>
            </a:pPr>
            <a:r>
              <a:rPr lang="en-US" sz="1400" dirty="0">
                <a:solidFill>
                  <a:srgbClr val="000000"/>
                </a:solidFill>
                <a:latin typeface="Calibri" pitchFamily="34" charset="0"/>
                <a:ea typeface="Calibri" pitchFamily="34" charset="-122"/>
                <a:cs typeface="Calibri" pitchFamily="34" charset="-120"/>
              </a:rPr>
              <a:t>B.Tech - SENSE, VIT Chennai</a:t>
            </a:r>
            <a:endParaRPr lang="en-US" sz="1400" dirty="0"/>
          </a:p>
        </p:txBody>
      </p:sp>
      <p:sp>
        <p:nvSpPr>
          <p:cNvPr id="15" name="Shape 12"/>
          <p:cNvSpPr/>
          <p:nvPr/>
        </p:nvSpPr>
        <p:spPr>
          <a:xfrm>
            <a:off x="3474720" y="4654296"/>
            <a:ext cx="4023360" cy="0"/>
          </a:xfrm>
          <a:prstGeom prst="line">
            <a:avLst/>
          </a:prstGeom>
          <a:noFill/>
          <a:ln w="12700">
            <a:solidFill>
              <a:srgbClr val="BFBFBF"/>
            </a:solidFill>
            <a:prstDash val="solid"/>
          </a:ln>
        </p:spPr>
        <p:txBody>
          <a:bodyPr/>
          <a:lstStyle/>
          <a:p>
            <a:endParaRPr lang="en-US"/>
          </a:p>
        </p:txBody>
      </p:sp>
      <p:sp>
        <p:nvSpPr>
          <p:cNvPr id="16" name="Text 13"/>
          <p:cNvSpPr txBox="1"/>
          <p:nvPr/>
        </p:nvSpPr>
        <p:spPr>
          <a:xfrm>
            <a:off x="822960" y="4846320"/>
            <a:ext cx="2560320" cy="384048"/>
          </a:xfrm>
          <a:prstGeom prst="rect">
            <a:avLst/>
          </a:prstGeom>
          <a:noFill/>
          <a:ln/>
        </p:spPr>
        <p:txBody>
          <a:bodyPr wrap="square" lIns="0" tIns="0" rIns="0" bIns="0" rtlCol="0" anchor="ctr"/>
          <a:lstStyle/>
          <a:p>
            <a:pPr marL="0" indent="0">
              <a:buNone/>
            </a:pPr>
            <a:r>
              <a:rPr lang="en-US" sz="1400" b="1" dirty="0">
                <a:solidFill>
                  <a:srgbClr val="000000"/>
                </a:solidFill>
                <a:latin typeface="Calibri" pitchFamily="34" charset="0"/>
                <a:ea typeface="Calibri" pitchFamily="34" charset="-122"/>
                <a:cs typeface="Calibri" pitchFamily="34" charset="-120"/>
              </a:rPr>
              <a:t>Review &amp; Date:</a:t>
            </a:r>
            <a:endParaRPr lang="en-US" sz="1400" dirty="0"/>
          </a:p>
        </p:txBody>
      </p:sp>
      <p:sp>
        <p:nvSpPr>
          <p:cNvPr id="17" name="Text 14"/>
          <p:cNvSpPr txBox="1"/>
          <p:nvPr/>
        </p:nvSpPr>
        <p:spPr>
          <a:xfrm>
            <a:off x="3474720" y="4846320"/>
            <a:ext cx="4023360" cy="384048"/>
          </a:xfrm>
          <a:prstGeom prst="rect">
            <a:avLst/>
          </a:prstGeom>
          <a:noFill/>
          <a:ln/>
        </p:spPr>
        <p:txBody>
          <a:bodyPr wrap="square" lIns="0" tIns="0" rIns="0" bIns="0" rtlCol="0" anchor="ctr"/>
          <a:lstStyle/>
          <a:p>
            <a:pPr marL="0" indent="0">
              <a:buNone/>
            </a:pPr>
            <a:r>
              <a:rPr lang="en-US" sz="1400" dirty="0">
                <a:solidFill>
                  <a:srgbClr val="000000"/>
                </a:solidFill>
                <a:latin typeface="Calibri" pitchFamily="34" charset="0"/>
                <a:ea typeface="Calibri" pitchFamily="34" charset="-122"/>
                <a:cs typeface="Calibri" pitchFamily="34" charset="-120"/>
              </a:rPr>
              <a:t>Review-II  ·  30.09.2026 (Wednesday)</a:t>
            </a:r>
            <a:endParaRPr lang="en-US" sz="1400" dirty="0"/>
          </a:p>
        </p:txBody>
      </p:sp>
      <p:sp>
        <p:nvSpPr>
          <p:cNvPr id="18" name="Shape 15"/>
          <p:cNvSpPr/>
          <p:nvPr/>
        </p:nvSpPr>
        <p:spPr>
          <a:xfrm>
            <a:off x="3474720" y="5248656"/>
            <a:ext cx="4023360" cy="0"/>
          </a:xfrm>
          <a:prstGeom prst="line">
            <a:avLst/>
          </a:prstGeom>
          <a:noFill/>
          <a:ln w="12700">
            <a:solidFill>
              <a:srgbClr val="BFBFBF"/>
            </a:solidFill>
            <a:prstDash val="solid"/>
          </a:ln>
        </p:spPr>
        <p:txBody>
          <a:bodyPr/>
          <a:lstStyle/>
          <a:p>
            <a:endParaRPr lang="en-US"/>
          </a:p>
        </p:txBody>
      </p:sp>
      <p:sp>
        <p:nvSpPr>
          <p:cNvPr id="19" name="Shape 16"/>
          <p:cNvSpPr/>
          <p:nvPr/>
        </p:nvSpPr>
        <p:spPr>
          <a:xfrm>
            <a:off x="8046720" y="3063240"/>
            <a:ext cx="3657600" cy="2194560"/>
          </a:xfrm>
          <a:prstGeom prst="rect">
            <a:avLst/>
          </a:prstGeom>
          <a:solidFill>
            <a:srgbClr val="FFFFFF"/>
          </a:solidFill>
          <a:ln w="15875">
            <a:solidFill>
              <a:srgbClr val="1D2F82"/>
            </a:solidFill>
            <a:prstDash val="solid"/>
          </a:ln>
        </p:spPr>
        <p:txBody>
          <a:bodyPr/>
          <a:lstStyle/>
          <a:p>
            <a:endParaRPr lang="en-US"/>
          </a:p>
        </p:txBody>
      </p:sp>
      <p:sp>
        <p:nvSpPr>
          <p:cNvPr id="20" name="Text 17"/>
          <p:cNvSpPr txBox="1"/>
          <p:nvPr/>
        </p:nvSpPr>
        <p:spPr>
          <a:xfrm>
            <a:off x="8229600" y="3246120"/>
            <a:ext cx="3291840" cy="365760"/>
          </a:xfrm>
          <a:prstGeom prst="rect">
            <a:avLst/>
          </a:prstGeom>
          <a:noFill/>
          <a:ln/>
        </p:spPr>
        <p:txBody>
          <a:bodyPr wrap="square" lIns="0" tIns="0" rIns="0" bIns="0" rtlCol="0" anchor="ctr"/>
          <a:lstStyle/>
          <a:p>
            <a:pPr marL="0" indent="0">
              <a:buNone/>
            </a:pPr>
            <a:r>
              <a:rPr lang="en-US" sz="1400" b="1" dirty="0">
                <a:solidFill>
                  <a:srgbClr val="1D2F82"/>
                </a:solidFill>
                <a:latin typeface="Calibri" pitchFamily="34" charset="0"/>
                <a:ea typeface="Calibri" pitchFamily="34" charset="-122"/>
                <a:cs typeface="Calibri" pitchFamily="34" charset="-120"/>
              </a:rPr>
              <a:t>Guide's Signature with Date</a:t>
            </a:r>
            <a:endParaRPr lang="en-US" sz="1400" dirty="0"/>
          </a:p>
        </p:txBody>
      </p:sp>
      <p:sp>
        <p:nvSpPr>
          <p:cNvPr id="21" name="Text 18"/>
          <p:cNvSpPr txBox="1"/>
          <p:nvPr/>
        </p:nvSpPr>
        <p:spPr>
          <a:xfrm>
            <a:off x="8229600" y="3886200"/>
            <a:ext cx="3291840" cy="320040"/>
          </a:xfrm>
          <a:prstGeom prst="rect">
            <a:avLst/>
          </a:prstGeom>
          <a:noFill/>
          <a:ln/>
        </p:spPr>
        <p:txBody>
          <a:bodyPr wrap="square" lIns="0" tIns="0" rIns="0" bIns="0" rtlCol="0" anchor="ctr"/>
          <a:lstStyle/>
          <a:p>
            <a:pPr marL="0" indent="0">
              <a:buNone/>
            </a:pPr>
            <a:r>
              <a:rPr lang="en-US" sz="1300" dirty="0">
                <a:solidFill>
                  <a:srgbClr val="000000"/>
                </a:solidFill>
                <a:latin typeface="Calibri" pitchFamily="34" charset="0"/>
                <a:ea typeface="Calibri" pitchFamily="34" charset="-122"/>
                <a:cs typeface="Calibri" pitchFamily="34" charset="-120"/>
              </a:rPr>
              <a:t>Signature: _____________________</a:t>
            </a:r>
            <a:endParaRPr lang="en-US" sz="1300" dirty="0"/>
          </a:p>
        </p:txBody>
      </p:sp>
      <p:sp>
        <p:nvSpPr>
          <p:cNvPr id="22" name="Text 19"/>
          <p:cNvSpPr txBox="1"/>
          <p:nvPr/>
        </p:nvSpPr>
        <p:spPr>
          <a:xfrm>
            <a:off x="8229600" y="4434840"/>
            <a:ext cx="3291840" cy="320040"/>
          </a:xfrm>
          <a:prstGeom prst="rect">
            <a:avLst/>
          </a:prstGeom>
          <a:noFill/>
          <a:ln/>
        </p:spPr>
        <p:txBody>
          <a:bodyPr wrap="square" lIns="0" tIns="0" rIns="0" bIns="0" rtlCol="0" anchor="ctr"/>
          <a:lstStyle/>
          <a:p>
            <a:pPr marL="0" indent="0">
              <a:buNone/>
            </a:pPr>
            <a:r>
              <a:rPr lang="en-US" sz="1300" dirty="0">
                <a:solidFill>
                  <a:srgbClr val="000000"/>
                </a:solidFill>
                <a:latin typeface="Calibri" pitchFamily="34" charset="0"/>
                <a:ea typeface="Calibri" pitchFamily="34" charset="-122"/>
                <a:cs typeface="Calibri" pitchFamily="34" charset="-120"/>
              </a:rPr>
              <a:t>Date: _________________________</a:t>
            </a:r>
            <a:endParaRPr lang="en-US" sz="1300" dirty="0"/>
          </a:p>
        </p:txBody>
      </p:sp>
      <p:sp>
        <p:nvSpPr>
          <p:cNvPr id="23" name="Text 20"/>
          <p:cNvSpPr txBox="1"/>
          <p:nvPr/>
        </p:nvSpPr>
        <p:spPr>
          <a:xfrm>
            <a:off x="822960" y="5760720"/>
            <a:ext cx="10607040" cy="548640"/>
          </a:xfrm>
          <a:prstGeom prst="rect">
            <a:avLst/>
          </a:prstGeom>
          <a:noFill/>
          <a:ln/>
        </p:spPr>
        <p:txBody>
          <a:bodyPr wrap="square" lIns="0" tIns="0" rIns="0" bIns="0" rtlCol="0" anchor="ctr"/>
          <a:lstStyle/>
          <a:p>
            <a:pPr marL="0" indent="0">
              <a:buNone/>
            </a:pPr>
            <a:r>
              <a:rPr lang="en-US" sz="1200" i="1" dirty="0">
                <a:solidFill>
                  <a:srgbClr val="000000"/>
                </a:solidFill>
                <a:latin typeface="Calibri" pitchFamily="34" charset="0"/>
                <a:ea typeface="Calibri" pitchFamily="34" charset="-122"/>
                <a:cs typeface="Calibri" pitchFamily="34" charset="-120"/>
              </a:rPr>
              <a:t>Approval is mandatory before every review. After signing, scan this slide and keep the scanned copy as Slide 1 of the presentation.</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Problem Statement &amp; Background</a:t>
            </a:r>
            <a:endParaRPr lang="en-US" sz="2800" dirty="0"/>
          </a:p>
        </p:txBody>
      </p:sp>
      <p:sp>
        <p:nvSpPr>
          <p:cNvPr id="5" name="Text 2"/>
          <p:cNvSpPr txBox="1"/>
          <p:nvPr/>
        </p:nvSpPr>
        <p:spPr>
          <a:xfrm>
            <a:off x="768096" y="1325880"/>
            <a:ext cx="10753344" cy="4937760"/>
          </a:xfrm>
          <a:prstGeom prst="rect">
            <a:avLst/>
          </a:prstGeom>
          <a:noFill/>
          <a:ln/>
        </p:spPr>
        <p:txBody>
          <a:bodyPr wrap="square" lIns="0" tIns="0" rIns="0" bIns="0" rtlCol="0" anchor="t"/>
          <a:lstStyle/>
          <a:p>
            <a:pPr marL="146304" indent="0">
              <a:spcBef>
                <a:spcPts val="700"/>
              </a:spcBef>
              <a:spcAft>
                <a:spcPts val="600"/>
              </a:spcAft>
              <a:buSzPct val="100000"/>
              <a:buNone/>
            </a:pPr>
            <a:r>
              <a:rPr lang="en-US" sz="1700" b="1" dirty="0">
                <a:solidFill>
                  <a:srgbClr val="1D2F82"/>
                </a:solidFill>
                <a:latin typeface="Calibri" pitchFamily="34" charset="0"/>
                <a:ea typeface="Calibri" pitchFamily="34" charset="-122"/>
                <a:cs typeface="Calibri" pitchFamily="34" charset="-120"/>
              </a:rPr>
              <a:t xml:space="preserve">Problem Statement:</a:t>
            </a:r>
          </a:p>
          <a:p>
            <a:pPr marL="146304" indent="0">
              <a:spcAft>
                <a:spcPts val="600"/>
              </a:spcAft>
              <a:buSzPct val="100000"/>
              <a:buNone/>
            </a:pPr>
            <a:r>
              <a:rPr lang="en-US" sz="1500" dirty="0">
                <a:solidFill>
                  <a:srgbClr val="000000"/>
                </a:solidFill>
                <a:latin typeface="Calibri" pitchFamily="34" charset="0"/>
                <a:ea typeface="Calibri" pitchFamily="34" charset="-122"/>
                <a:cs typeface="Calibri" pitchFamily="34" charset="-120"/>
              </a:rPr>
              <a:t xml:space="preserve">When one GaN transistor switches, its fast voltage swing pushes charge into the gate of the other one - the one that must stay off. That gate rises to </a:t>
            </a:r>
            <a:r>
              <a:rPr lang="en-US" sz="1500" b="1" dirty="0">
                <a:solidFill>
                  <a:srgbClr val="000000"/>
                </a:solidFill>
                <a:latin typeface="Calibri" pitchFamily="34" charset="0"/>
                <a:ea typeface="Calibri" pitchFamily="34" charset="-122"/>
                <a:cs typeface="Calibri" pitchFamily="34" charset="-120"/>
              </a:rPr>
              <a:t xml:space="preserve">1.65 V, and 1.4 V is enough to turn it on</a:t>
            </a:r>
            <a:r>
              <a:rPr lang="en-US" sz="1500" dirty="0">
                <a:solidFill>
                  <a:srgbClr val="000000"/>
                </a:solidFill>
                <a:latin typeface="Calibri" pitchFamily="34" charset="0"/>
                <a:ea typeface="Calibri" pitchFamily="34" charset="-122"/>
                <a:cs typeface="Calibri" pitchFamily="34" charset="-120"/>
              </a:rPr>
              <a:t xml:space="preserve">. Both conduct, and the supply shorts through them.</a:t>
            </a:r>
          </a:p>
          <a:p>
            <a:pPr marL="146304" indent="0">
              <a:spcBef>
                <a:spcPts val="700"/>
              </a:spcBef>
              <a:spcAft>
                <a:spcPts val="600"/>
              </a:spcAft>
              <a:buSzPct val="100000"/>
              <a:buNone/>
            </a:pPr>
            <a:r>
              <a:rPr lang="en-US" sz="1700" b="1" dirty="0">
                <a:solidFill>
                  <a:srgbClr val="1D2F82"/>
                </a:solidFill>
                <a:latin typeface="Calibri" pitchFamily="34" charset="0"/>
                <a:ea typeface="Calibri" pitchFamily="34" charset="-122"/>
                <a:cs typeface="Calibri" pitchFamily="34" charset="-120"/>
              </a:rPr>
              <a:t xml:space="preserve">Background &amp; Significance:</a:t>
            </a:r>
          </a:p>
          <a:p>
            <a:pPr marL="146304" indent="0">
              <a:spcAft>
                <a:spcPts val="600"/>
              </a:spcAft>
              <a:buSzPct val="100000"/>
              <a:buNone/>
            </a:pPr>
            <a:r>
              <a:rPr lang="en-US" sz="1500" dirty="0">
                <a:solidFill>
                  <a:srgbClr val="000000"/>
                </a:solidFill>
                <a:latin typeface="Calibri" pitchFamily="34" charset="0"/>
                <a:ea typeface="Calibri" pitchFamily="34" charset="-122"/>
                <a:cs typeface="Calibri" pitchFamily="34" charset="-120"/>
              </a:rPr>
              <a:t xml:space="preserve">GaN half-bridges sit inside EV inverters and chargers. GaN is chosen because it switches fast - and that speed is what causes this fault.</a:t>
            </a:r>
          </a:p>
          <a:p>
            <a:pPr marL="146304" indent="0">
              <a:spcBef>
                <a:spcPts val="700"/>
              </a:spcBef>
              <a:spcAft>
                <a:spcPts val="600"/>
              </a:spcAft>
              <a:buSzPct val="100000"/>
              <a:buNone/>
            </a:pPr>
            <a:r>
              <a:rPr lang="en-US" sz="1700" b="1" dirty="0">
                <a:solidFill>
                  <a:srgbClr val="1D2F82"/>
                </a:solidFill>
                <a:latin typeface="Calibri" pitchFamily="34" charset="0"/>
                <a:ea typeface="Calibri" pitchFamily="34" charset="-122"/>
                <a:cs typeface="Calibri" pitchFamily="34" charset="-120"/>
              </a:rPr>
              <a:t xml:space="preserve">Existing Solutions:</a:t>
            </a:r>
          </a:p>
          <a:p>
            <a:pPr marL="146304" indent="0">
              <a:spcAft>
                <a:spcPts val="600"/>
              </a:spcAft>
              <a:buSzPct val="100000"/>
              <a:buNone/>
            </a:pPr>
            <a:r>
              <a:rPr lang="en-US" sz="1500" dirty="0">
                <a:solidFill>
                  <a:srgbClr val="000000"/>
                </a:solidFill>
                <a:latin typeface="Calibri" pitchFamily="34" charset="0"/>
                <a:ea typeface="Calibri" pitchFamily="34" charset="-122"/>
                <a:cs typeface="Calibri" pitchFamily="34" charset="-120"/>
              </a:rPr>
              <a:t xml:space="preserve">Drive in steps, clamp the off gate, adjust the dead time, hold the gate at −2 V [1]–[4]. Reported: 30.5 % less overshoot, 75 % less turn-off loss [5]–[7].</a:t>
            </a:r>
          </a:p>
          <a:p>
            <a:pPr marL="146304" indent="0">
              <a:spcBef>
                <a:spcPts val="700"/>
              </a:spcBef>
              <a:spcAft>
                <a:spcPts val="600"/>
              </a:spcAft>
              <a:buSzPct val="100000"/>
              <a:buNone/>
            </a:pPr>
            <a:r>
              <a:rPr lang="en-US" sz="1700" b="1" dirty="0">
                <a:solidFill>
                  <a:srgbClr val="1D2F82"/>
                </a:solidFill>
                <a:latin typeface="Calibri" pitchFamily="34" charset="0"/>
                <a:ea typeface="Calibri" pitchFamily="34" charset="-122"/>
                <a:cs typeface="Calibri" pitchFamily="34" charset="-120"/>
              </a:rPr>
              <a:t xml:space="preserve">Limitations / Research Gap:</a:t>
            </a:r>
          </a:p>
          <a:p>
            <a:pPr marL="146304" indent="0">
              <a:spcAft>
                <a:spcPts val="600"/>
              </a:spcAft>
              <a:buSzPct val="100000"/>
              <a:buNone/>
            </a:pPr>
            <a:r>
              <a:rPr lang="en-US" sz="1500" b="1" dirty="0">
                <a:solidFill>
                  <a:srgbClr val="000000"/>
                </a:solidFill>
                <a:latin typeface="Calibri" pitchFamily="34" charset="0"/>
                <a:ea typeface="Calibri" pitchFamily="34" charset="-122"/>
                <a:cs typeface="Calibri" pitchFamily="34" charset="-120"/>
              </a:rPr>
              <a:t xml:space="preserve">Those gains are reported as one number.</a:t>
            </a:r>
            <a:r>
              <a:rPr lang="en-US" sz="1500" dirty="0">
                <a:solidFill>
                  <a:srgbClr val="000000"/>
                </a:solidFill>
                <a:latin typeface="Calibri" pitchFamily="34" charset="0"/>
                <a:ea typeface="Calibri" pitchFamily="34" charset="-122"/>
                <a:cs typeface="Calibri" pitchFamily="34" charset="-120"/>
              </a:rPr>
              <a:t xml:space="preserve"> They mix picking one good setting with changing it while the converter runs. Only the second needs a sensor, a lookup table and a controller - so nobody knows whether that hardware is worth building.</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Aim and Approach</a:t>
            </a:r>
            <a:endParaRPr lang="en-US" sz="2800" dirty="0"/>
          </a:p>
        </p:txBody>
      </p:sp>
      <p:sp>
        <p:nvSpPr>
          <p:cNvPr id="5" name="Text 2"/>
          <p:cNvSpPr txBox="1"/>
          <p:nvPr/>
        </p:nvSpPr>
        <p:spPr>
          <a:xfrm>
            <a:off x="768096" y="1325880"/>
            <a:ext cx="10753344" cy="4937760"/>
          </a:xfrm>
          <a:prstGeom prst="rect">
            <a:avLst/>
          </a:prstGeom>
          <a:noFill/>
          <a:ln/>
        </p:spPr>
        <p:txBody>
          <a:bodyPr wrap="square" lIns="0" tIns="0" rIns="0" bIns="0" rtlCol="0" anchor="t"/>
          <a:lstStyle/>
          <a:p>
            <a:pPr marL="146304" indent="0">
              <a:spcBef>
                <a:spcPts val="700"/>
              </a:spcBef>
              <a:spcAft>
                <a:spcPts val="600"/>
              </a:spcAft>
              <a:buSzPct val="100000"/>
              <a:buNone/>
            </a:pPr>
            <a:r>
              <a:rPr lang="en-US" sz="1700" b="1" dirty="0">
                <a:solidFill>
                  <a:srgbClr val="1D2F82"/>
                </a:solidFill>
                <a:latin typeface="Calibri" pitchFamily="34" charset="0"/>
                <a:ea typeface="Calibri" pitchFamily="34" charset="-122"/>
                <a:cs typeface="Calibri" pitchFamily="34" charset="-120"/>
              </a:rPr>
              <a:t xml:space="preserve">Aim:</a:t>
            </a:r>
          </a:p>
          <a:p>
            <a:pPr marL="146304" indent="0">
              <a:spcAft>
                <a:spcPts val="600"/>
              </a:spcAft>
              <a:buSzPct val="100000"/>
              <a:buNone/>
            </a:pPr>
            <a:r>
              <a:rPr lang="en-US" sz="1500" dirty="0">
                <a:solidFill>
                  <a:srgbClr val="000000"/>
                </a:solidFill>
                <a:latin typeface="Calibri" pitchFamily="34" charset="0"/>
                <a:ea typeface="Calibri" pitchFamily="34" charset="-122"/>
                <a:cs typeface="Calibri" pitchFamily="34" charset="-120"/>
              </a:rPr>
              <a:t xml:space="preserve">How much benefit does runtime adaptation add beyond a fixed gate-driver setting, and under what conditions is that benefit worth the hardware?</a:t>
            </a:r>
          </a:p>
          <a:p>
            <a:pPr marL="146304" indent="0">
              <a:spcBef>
                <a:spcPts val="700"/>
              </a:spcBef>
              <a:spcAft>
                <a:spcPts val="600"/>
              </a:spcAft>
              <a:buSzPct val="100000"/>
              <a:buNone/>
            </a:pPr>
            <a:r>
              <a:rPr lang="en-US" sz="1700" b="1" dirty="0">
                <a:solidFill>
                  <a:srgbClr val="1D2F82"/>
                </a:solidFill>
                <a:latin typeface="Calibri" pitchFamily="34" charset="0"/>
                <a:ea typeface="Calibri" pitchFamily="34" charset="-122"/>
                <a:cs typeface="Calibri" pitchFamily="34" charset="-120"/>
              </a:rPr>
              <a:t xml:space="preserve">Proposed Solution:</a:t>
            </a:r>
          </a:p>
          <a:p>
            <a:pPr marL="146304" indent="0">
              <a:spcAft>
                <a:spcPts val="600"/>
              </a:spcAft>
              <a:buSzPct val="100000"/>
              <a:buNone/>
            </a:pPr>
            <a:r>
              <a:rPr lang="en-US" sz="1500" dirty="0">
                <a:solidFill>
                  <a:srgbClr val="000000"/>
                </a:solidFill>
                <a:latin typeface="Calibri" pitchFamily="34" charset="0"/>
                <a:ea typeface="Calibri" pitchFamily="34" charset="-122"/>
                <a:cs typeface="Calibri" pitchFamily="34" charset="-120"/>
              </a:rPr>
              <a:t xml:space="preserve">A GaN buck converter driven by a </a:t>
            </a:r>
            <a:r>
              <a:rPr lang="en-US" sz="1500" b="1" dirty="0">
                <a:solidFill>
                  <a:srgbClr val="000000"/>
                </a:solidFill>
                <a:latin typeface="Calibri" pitchFamily="34" charset="0"/>
                <a:ea typeface="Calibri" pitchFamily="34" charset="-122"/>
                <a:cs typeface="Calibri" pitchFamily="34" charset="-120"/>
              </a:rPr>
              <a:t xml:space="preserve">segmented gate driver</a:t>
            </a:r>
            <a:r>
              <a:rPr lang="en-US" sz="1500" dirty="0">
                <a:solidFill>
                  <a:srgbClr val="000000"/>
                </a:solidFill>
                <a:latin typeface="Calibri" pitchFamily="34" charset="0"/>
                <a:ea typeface="Calibri" pitchFamily="34" charset="-122"/>
                <a:cs typeface="Calibri" pitchFamily="34" charset="-120"/>
              </a:rPr>
              <a:t xml:space="preserve">: 8 pull-up steps, 8 pull-down, adjustable dead time, a Miller clamp and a −2 V off rail - every one a setting we can change and measure.</a:t>
            </a:r>
          </a:p>
          <a:p>
            <a:pPr marL="146304" indent="0">
              <a:spcBef>
                <a:spcPts val="700"/>
              </a:spcBef>
              <a:spcAft>
                <a:spcPts val="600"/>
              </a:spcAft>
              <a:buSzPct val="100000"/>
              <a:buNone/>
            </a:pPr>
            <a:r>
              <a:rPr lang="en-US" sz="1700" b="1" dirty="0">
                <a:solidFill>
                  <a:srgbClr val="1D2F82"/>
                </a:solidFill>
                <a:latin typeface="Calibri" pitchFamily="34" charset="0"/>
                <a:ea typeface="Calibri" pitchFamily="34" charset="-122"/>
                <a:cs typeface="Calibri" pitchFamily="34" charset="-120"/>
              </a:rPr>
              <a:t xml:space="preserve">How we approached it:</a:t>
            </a:r>
          </a:p>
          <a:p>
            <a:pPr marL="146304" indent="0">
              <a:spcAft>
                <a:spcPts val="600"/>
              </a:spcAft>
              <a:buSzPct val="100000"/>
              <a:buNone/>
            </a:pPr>
            <a:r>
              <a:rPr lang="en-US" sz="1500" b="1" dirty="0">
                <a:solidFill>
                  <a:srgbClr val="000000"/>
                </a:solidFill>
                <a:latin typeface="Calibri" pitchFamily="34" charset="0"/>
                <a:ea typeface="Calibri" pitchFamily="34" charset="-122"/>
                <a:cs typeface="Calibri" pitchFamily="34" charset="-120"/>
              </a:rPr>
              <a:t xml:space="preserve">1. Build the converter and check it converts.</a:t>
            </a:r>
            <a:r>
              <a:rPr lang="en-US" sz="1500" dirty="0">
                <a:solidFill>
                  <a:srgbClr val="000000"/>
                </a:solidFill>
                <a:latin typeface="Calibri" pitchFamily="34" charset="0"/>
                <a:ea typeface="Calibri" pitchFamily="34" charset="-122"/>
                <a:cs typeface="Calibri" pitchFamily="34" charset="-120"/>
              </a:rPr>
              <a:t xml:space="preserve"> 100 V in, 48.50 V out at 4.869 A: 236.26 W, 97.49 % efficient.</a:t>
            </a:r>
          </a:p>
          <a:p>
            <a:pPr marL="146304" indent="0">
              <a:spcAft>
                <a:spcPts val="600"/>
              </a:spcAft>
              <a:buSzPct val="100000"/>
              <a:buNone/>
            </a:pPr>
            <a:r>
              <a:rPr lang="en-US" sz="1500" b="1" dirty="0">
                <a:solidFill>
                  <a:srgbClr val="000000"/>
                </a:solidFill>
                <a:latin typeface="Calibri" pitchFamily="34" charset="0"/>
                <a:ea typeface="Calibri" pitchFamily="34" charset="-122"/>
                <a:cs typeface="Calibri" pitchFamily="34" charset="-120"/>
              </a:rPr>
              <a:t xml:space="preserve">2. Recreate the fault.</a:t>
            </a:r>
            <a:r>
              <a:rPr lang="en-US" sz="1500" dirty="0">
                <a:solidFill>
                  <a:srgbClr val="000000"/>
                </a:solidFill>
                <a:latin typeface="Calibri" pitchFamily="34" charset="0"/>
                <a:ea typeface="Calibri" pitchFamily="34" charset="-122"/>
                <a:cs typeface="Calibri" pitchFamily="34" charset="-120"/>
              </a:rPr>
              <a:t xml:space="preserve"> At the fastest setting the off gate reaches 1.65 V against a 1.4 V threshold.</a:t>
            </a:r>
          </a:p>
          <a:p>
            <a:pPr marL="146304" indent="0">
              <a:spcAft>
                <a:spcPts val="600"/>
              </a:spcAft>
              <a:buSzPct val="100000"/>
              <a:buNone/>
            </a:pPr>
            <a:r>
              <a:rPr lang="en-US" sz="1500" b="1" dirty="0">
                <a:solidFill>
                  <a:srgbClr val="000000"/>
                </a:solidFill>
                <a:latin typeface="Calibri" pitchFamily="34" charset="0"/>
                <a:ea typeface="Calibri" pitchFamily="34" charset="-122"/>
                <a:cs typeface="Calibri" pitchFamily="34" charset="-120"/>
              </a:rPr>
              <a:t xml:space="preserve">3. Fix it one change at a time,</a:t>
            </a:r>
            <a:r>
              <a:rPr lang="en-US" sz="1500" dirty="0">
                <a:solidFill>
                  <a:srgbClr val="000000"/>
                </a:solidFill>
                <a:latin typeface="Calibri" pitchFamily="34" charset="0"/>
                <a:ea typeface="Calibri" pitchFamily="34" charset="-122"/>
                <a:cs typeface="Calibri" pitchFamily="34" charset="-120"/>
              </a:rPr>
              <a:t xml:space="preserve"> each measured on its own run.</a:t>
            </a:r>
          </a:p>
          <a:p>
            <a:pPr marL="146304" indent="0">
              <a:spcAft>
                <a:spcPts val="600"/>
              </a:spcAft>
              <a:buSzPct val="100000"/>
              <a:buNone/>
            </a:pPr>
            <a:r>
              <a:rPr lang="en-US" sz="1500" b="1" dirty="0">
                <a:solidFill>
                  <a:srgbClr val="000000"/>
                </a:solidFill>
                <a:latin typeface="Calibri" pitchFamily="34" charset="0"/>
                <a:ea typeface="Calibri" pitchFamily="34" charset="-122"/>
                <a:cs typeface="Calibri" pitchFamily="34" charset="-120"/>
              </a:rPr>
              <a:t xml:space="preserve">4. Ask whether one fixed setting is enough,</a:t>
            </a:r>
            <a:r>
              <a:rPr lang="en-US" sz="1500" dirty="0">
                <a:solidFill>
                  <a:srgbClr val="000000"/>
                </a:solidFill>
                <a:latin typeface="Calibri" pitchFamily="34" charset="0"/>
                <a:ea typeface="Calibri" pitchFamily="34" charset="-122"/>
                <a:cs typeface="Calibri" pitchFamily="34" charset="-120"/>
              </a:rPr>
              <a:t xml:space="preserve"> by seeing whether the best setting moves with the operating point.</a:t>
            </a:r>
          </a:p>
          <a:p>
            <a:pPr marL="146304" indent="0">
              <a:spcBef>
                <a:spcPts val="700"/>
              </a:spcBef>
              <a:spcAft>
                <a:spcPts val="600"/>
              </a:spcAft>
              <a:buSzPct val="100000"/>
              <a:buNone/>
            </a:pPr>
            <a:r>
              <a:rPr lang="en-US" sz="1700" b="1" dirty="0">
                <a:solidFill>
                  <a:srgbClr val="1D2F82"/>
                </a:solidFill>
                <a:latin typeface="Calibri" pitchFamily="34" charset="0"/>
                <a:ea typeface="Calibri" pitchFamily="34" charset="-122"/>
                <a:cs typeface="Calibri" pitchFamily="34" charset="-120"/>
              </a:rPr>
              <a:t xml:space="preserve">Tools:</a:t>
            </a:r>
          </a:p>
          <a:p>
            <a:pPr marL="146304" indent="0">
              <a:spcAft>
                <a:spcPts val="600"/>
              </a:spcAft>
              <a:buSzPct val="100000"/>
              <a:buNone/>
            </a:pPr>
            <a:r>
              <a:rPr lang="en-US" sz="1500" b="1" dirty="0">
                <a:solidFill>
                  <a:srgbClr val="000000"/>
                </a:solidFill>
                <a:latin typeface="Calibri" pitchFamily="34" charset="0"/>
                <a:ea typeface="Calibri" pitchFamily="34" charset="-122"/>
                <a:cs typeface="Calibri" pitchFamily="34" charset="-120"/>
              </a:rPr>
              <a:t xml:space="preserve">ngspice</a:t>
            </a:r>
            <a:r>
              <a:rPr lang="en-US" sz="1500" dirty="0">
                <a:solidFill>
                  <a:srgbClr val="000000"/>
                </a:solidFill>
                <a:latin typeface="Calibri" pitchFamily="34" charset="0"/>
                <a:ea typeface="Calibri" pitchFamily="34" charset="-122"/>
                <a:cs typeface="Calibri" pitchFamily="34" charset="-120"/>
              </a:rPr>
              <a:t xml:space="preserve"> runs every simulation. </a:t>
            </a:r>
            <a:r>
              <a:rPr lang="en-US" sz="1500" b="1" dirty="0">
                <a:solidFill>
                  <a:srgbClr val="000000"/>
                </a:solidFill>
                <a:latin typeface="Calibri" pitchFamily="34" charset="0"/>
                <a:ea typeface="Calibri" pitchFamily="34" charset="-122"/>
                <a:cs typeface="Calibri" pitchFamily="34" charset="-120"/>
              </a:rPr>
              <a:t xml:space="preserve">KiCad</a:t>
            </a:r>
            <a:r>
              <a:rPr lang="en-US" sz="1500" dirty="0">
                <a:solidFill>
                  <a:srgbClr val="000000"/>
                </a:solidFill>
                <a:latin typeface="Calibri" pitchFamily="34" charset="0"/>
                <a:ea typeface="Calibri" pitchFamily="34" charset="-122"/>
                <a:cs typeface="Calibri" pitchFamily="34" charset="-120"/>
              </a:rPr>
              <a:t xml:space="preserve"> draws every schematic, from the same netlist ngspice runs.</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4</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System Architecture</a:t>
            </a:r>
            <a:endParaRPr lang="en-US" sz="2800" dirty="0"/>
          </a:p>
        </p:txBody>
      </p:sp>
      <p:pic>
        <p:nvPicPr>
          <p:cNvPr id="5" name="Picture 4" descr="fig_architecture.png"/>
          <p:cNvPicPr>
            <a:picLocks noChangeAspect="1"/>
          </p:cNvPicPr>
          <p:nvPr/>
        </p:nvPicPr>
        <p:blipFill>
          <a:blip r:embed="rId4"/>
          <a:stretch>
            <a:fillRect/>
          </a:stretch>
        </p:blipFill>
        <p:spPr>
          <a:xfrm>
            <a:off x="518007" y="1207008"/>
            <a:ext cx="11155680" cy="4077464"/>
          </a:xfrm>
          <a:prstGeom prst="rect">
            <a:avLst/>
          </a:prstGeom>
        </p:spPr>
      </p:pic>
      <p:sp>
        <p:nvSpPr>
          <p:cNvPr id="6" name="TextBox 5"/>
          <p:cNvSpPr txBox="1"/>
          <p:nvPr/>
        </p:nvSpPr>
        <p:spPr>
          <a:xfrm>
            <a:off x="502920" y="5897880"/>
            <a:ext cx="10838382" cy="68580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1 - </a:t>
            </a:r>
            <a:r>
              <a:rPr lang="en-US" sz="1150" b="1" dirty="0">
                <a:solidFill>
                  <a:srgbClr val="000000"/>
                </a:solidFill>
                <a:latin typeface="Calibri" pitchFamily="34" charset="0"/>
                <a:ea typeface="Calibri" pitchFamily="34" charset="-122"/>
                <a:cs typeface="Calibri" pitchFamily="34" charset="-120"/>
              </a:rPr>
              <a:t xml:space="preserve"> Drawn diagram, not simulation output. </a:t>
            </a:r>
            <a:r>
              <a:rPr lang="en-US" sz="1150" dirty="0">
                <a:solidFill>
                  <a:srgbClr val="000000"/>
                </a:solidFill>
                <a:latin typeface="Calibri" pitchFamily="34" charset="0"/>
                <a:ea typeface="Calibri" pitchFamily="34" charset="-122"/>
                <a:cs typeface="Calibri" pitchFamily="34" charset="-120"/>
              </a:rPr>
              <a:t xml:space="preserve">One signal path: a PWM command, the FPGA controller that holds the control word, the segmented driver that shapes the edge, and the half-bridge it drives. The driver in green is what this project designs; it is drawn once as </a:t>
            </a:r>
            <a:r>
              <a:rPr lang="en-US" sz="1150" dirty="0">
                <a:solidFill>
                  <a:srgbClr val="000000"/>
                </a:solidFill>
                <a:latin typeface="Calibri" pitchFamily="34" charset="0"/>
                <a:ea typeface="Calibri" pitchFamily="34" charset="-122"/>
                <a:cs typeface="Calibri" pitchFamily="34" charset="-120"/>
                <a:hlinkClick r:id="rId5"/>
              </a:rPr>
              <a:t xml:space="preserve">kicad/gan_segdrv.kicad_sch</a:t>
            </a:r>
            <a:r>
              <a:rPr lang="en-US" sz="1150" dirty="0">
                <a:solidFill>
                  <a:srgbClr val="000000"/>
                </a:solidFill>
                <a:latin typeface="Calibri" pitchFamily="34" charset="0"/>
                <a:ea typeface="Calibri" pitchFamily="34" charset="-122"/>
                <a:cs typeface="Calibri" pitchFamily="34" charset="-120"/>
              </a:rPr>
              <a:t xml:space="preserve"> and placed twice in </a:t>
            </a:r>
            <a:r>
              <a:rPr lang="en-US" sz="1150" dirty="0">
                <a:solidFill>
                  <a:srgbClr val="000000"/>
                </a:solidFill>
                <a:latin typeface="Calibri" pitchFamily="34" charset="0"/>
                <a:ea typeface="Calibri" pitchFamily="34" charset="-122"/>
                <a:cs typeface="Calibri" pitchFamily="34" charset="-120"/>
                <a:hlinkClick r:id="rId6"/>
              </a:rPr>
              <a:t xml:space="preserve">kicad/gan_buck.kicad_sch</a:t>
            </a:r>
            <a:r>
              <a:rPr lang="en-US" sz="1150" dirty="0">
                <a:solidFill>
                  <a:srgbClr val="000000"/>
                </a:solidFill>
                <a:latin typeface="Calibri" pitchFamily="34" charset="0"/>
                <a:ea typeface="Calibri" pitchFamily="34" charset="-122"/>
                <a:cs typeface="Calibri" pitchFamily="34" charset="-120"/>
              </a:rPr>
              <a:t xml:space="preserve">, one per gate. The control word is set at power-up and never changed - re-tuning it while the converter runs is the 2.6 % this project measures. In red, the fault: the switching edge couples through C_GD into the gate that should stay off.</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5</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Novelty: Three Added Blocks</a:t>
            </a:r>
            <a:endParaRPr lang="en-US" sz="2800" dirty="0"/>
          </a:p>
        </p:txBody>
      </p:sp>
      <p:sp>
        <p:nvSpPr>
          <p:cNvPr id="5" name="TextBox 4"/>
          <p:cNvSpPr txBox="1"/>
          <p:nvPr/>
        </p:nvSpPr>
        <p:spPr>
          <a:xfrm>
            <a:off x="640080" y="932688"/>
            <a:ext cx="11064240" cy="365760"/>
          </a:xfrm>
          <a:prstGeom prst="rect">
            <a:avLst/>
          </a:prstGeom>
          <a:noFill/>
        </p:spPr>
        <p:txBody>
          <a:bodyPr wrap="square" lIns="0" tIns="0" rIns="0" bIns="0">
            <a:spAutoFit/>
          </a:bodyPr>
          <a:lstStyle/>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rPr>
              <a:t xml:space="preserve">Same command, same segmented output stage, same power stage. Three blocks added - in green.</a:t>
            </a:r>
          </a:p>
        </p:txBody>
      </p:sp>
      <p:pic>
        <p:nvPicPr>
          <p:cNvPr id="6" name="Picture 5" descr="fig_arch_delta.png"/>
          <p:cNvPicPr>
            <a:picLocks noChangeAspect="1"/>
          </p:cNvPicPr>
          <p:nvPr/>
        </p:nvPicPr>
        <p:blipFill>
          <a:blip r:embed="rId4"/>
          <a:stretch>
            <a:fillRect/>
          </a:stretch>
        </p:blipFill>
        <p:spPr>
          <a:xfrm>
            <a:off x="844156" y="1353312"/>
            <a:ext cx="10503383" cy="4315968"/>
          </a:xfrm>
          <a:prstGeom prst="rect">
            <a:avLst/>
          </a:prstGeom>
        </p:spPr>
      </p:pic>
      <p:sp>
        <p:nvSpPr>
          <p:cNvPr id="7" name="TextBox 6"/>
          <p:cNvSpPr txBox="1"/>
          <p:nvPr/>
        </p:nvSpPr>
        <p:spPr>
          <a:xfrm>
            <a:off x="502920" y="5724144"/>
            <a:ext cx="10838382" cy="987552"/>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2 - </a:t>
            </a:r>
            <a:r>
              <a:rPr lang="en-US" sz="1150" b="1" dirty="0">
                <a:solidFill>
                  <a:srgbClr val="000000"/>
                </a:solidFill>
                <a:latin typeface="Calibri" pitchFamily="34" charset="0"/>
                <a:ea typeface="Calibri" pitchFamily="34" charset="-122"/>
                <a:cs typeface="Calibri" pitchFamily="34" charset="-120"/>
              </a:rPr>
              <a:t xml:space="preserve"> Drawn diagram, not simulation output. </a:t>
            </a:r>
            <a:r>
              <a:rPr lang="en-US" sz="1150" dirty="0">
                <a:solidFill>
                  <a:srgbClr val="000000"/>
                </a:solidFill>
                <a:latin typeface="Calibri" pitchFamily="34" charset="0"/>
                <a:ea typeface="Calibri" pitchFamily="34" charset="-122"/>
                <a:cs typeface="Calibri" pitchFamily="34" charset="-120"/>
              </a:rPr>
              <a:t xml:space="preserve">The five things that differ, and nothing else. Their column is the base paper as we rebuilt it in </a:t>
            </a:r>
            <a:r>
              <a:rPr lang="en-US" sz="1150" dirty="0">
                <a:solidFill>
                  <a:srgbClr val="000000"/>
                </a:solidFill>
                <a:latin typeface="Calibri" pitchFamily="34" charset="0"/>
                <a:ea typeface="Calibri" pitchFamily="34" charset="-122"/>
                <a:cs typeface="Calibri" pitchFamily="34" charset="-120"/>
                <a:hlinkClick r:id="rId5"/>
              </a:rPr>
              <a:t xml:space="preserve">models/zhangdrv.lib</a:t>
            </a:r>
            <a:r>
              <a:rPr lang="en-US" sz="1150" dirty="0">
                <a:solidFill>
                  <a:srgbClr val="000000"/>
                </a:solidFill>
                <a:latin typeface="Calibri" pitchFamily="34" charset="0"/>
                <a:ea typeface="Calibri" pitchFamily="34" charset="-122"/>
                <a:cs typeface="Calibri" pitchFamily="34" charset="-120"/>
              </a:rPr>
              <a:t xml:space="preserve">; ours is </a:t>
            </a:r>
            <a:r>
              <a:rPr lang="en-US" sz="1150" dirty="0">
                <a:solidFill>
                  <a:srgbClr val="000000"/>
                </a:solidFill>
                <a:latin typeface="Calibri" pitchFamily="34" charset="0"/>
                <a:ea typeface="Calibri" pitchFamily="34" charset="-122"/>
                <a:cs typeface="Calibri" pitchFamily="34" charset="-120"/>
                <a:hlinkClick r:id="rId6"/>
              </a:rPr>
              <a:t xml:space="preserve">models/segdrv.lib</a:t>
            </a:r>
            <a:r>
              <a:rPr lang="en-US" sz="1150" dirty="0">
                <a:solidFill>
                  <a:srgbClr val="000000"/>
                </a:solidFill>
                <a:latin typeface="Calibri" pitchFamily="34" charset="0"/>
                <a:ea typeface="Calibri" pitchFamily="34" charset="-122"/>
                <a:cs typeface="Calibri" pitchFamily="34" charset="-120"/>
              </a:rPr>
              <a:t xml:space="preserve">. Shaded: the three we add - digital control in place of one fixed resistor, an always-on Miller clamp, and an off rail selectable to −2 V. The command, the power stage and the idea of segmenting the output are all our implementation of theirs. The last row is what those three deliver at the headline corner, read from </a:t>
            </a:r>
            <a:r>
              <a:rPr lang="en-US" sz="1150" dirty="0">
                <a:solidFill>
                  <a:srgbClr val="000000"/>
                </a:solidFill>
                <a:latin typeface="Calibri" pitchFamily="34" charset="0"/>
                <a:ea typeface="Calibri" pitchFamily="34" charset="-122"/>
                <a:cs typeface="Calibri" pitchFamily="34" charset="-120"/>
                <a:hlinkClick r:id="rId7"/>
              </a:rPr>
              <a:t xml:space="preserve">results/headtohead.csv</a:t>
            </a:r>
            <a:r>
              <a:rPr lang="en-US" sz="1150" dirty="0">
                <a:solidFill>
                  <a:srgbClr val="000000"/>
                </a:solidFill>
                <a:latin typeface="Calibri" pitchFamily="34" charset="0"/>
                <a:ea typeface="Calibri" pitchFamily="34" charset="-122"/>
                <a:cs typeface="Calibri" pitchFamily="34" charset="-120"/>
              </a:rPr>
              <a:t xml:space="preserve">: +0.407 V becomes +2.576 V, from one fixed setting.</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6</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Crosstalk Mechanism at Device Level</a:t>
            </a:r>
            <a:endParaRPr lang="en-US" sz="2800" dirty="0"/>
          </a:p>
        </p:txBody>
      </p:sp>
      <p:sp>
        <p:nvSpPr>
          <p:cNvPr id="5" name="TextBox 4"/>
          <p:cNvSpPr txBox="1"/>
          <p:nvPr/>
        </p:nvSpPr>
        <p:spPr>
          <a:xfrm>
            <a:off x="640080" y="932688"/>
            <a:ext cx="11064240" cy="365760"/>
          </a:xfrm>
          <a:prstGeom prst="rect">
            <a:avLst/>
          </a:prstGeom>
          <a:noFill/>
        </p:spPr>
        <p:txBody>
          <a:bodyPr wrap="square" lIns="0" tIns="0" rIns="0" bIns="0">
            <a:spAutoFit/>
          </a:bodyPr>
          <a:lstStyle/>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rPr>
              <a:t xml:space="preserve">Why a fast edge turns on the device that should be off, and what the driver does about it.</a:t>
            </a:r>
          </a:p>
        </p:txBody>
      </p:sp>
      <p:pic>
        <p:nvPicPr>
          <p:cNvPr id="6" name="Picture 5" descr="fig_gan_level.png"/>
          <p:cNvPicPr>
            <a:picLocks noChangeAspect="1"/>
          </p:cNvPicPr>
          <p:nvPr/>
        </p:nvPicPr>
        <p:blipFill>
          <a:blip r:embed="rId4"/>
          <a:stretch>
            <a:fillRect/>
          </a:stretch>
        </p:blipFill>
        <p:spPr>
          <a:xfrm>
            <a:off x="1363116" y="1417320"/>
            <a:ext cx="9465460" cy="3977639"/>
          </a:xfrm>
          <a:prstGeom prst="rect">
            <a:avLst/>
          </a:prstGeom>
        </p:spPr>
      </p:pic>
      <p:sp>
        <p:nvSpPr>
          <p:cNvPr id="7" name="TextBox 6"/>
          <p:cNvSpPr txBox="1"/>
          <p:nvPr/>
        </p:nvSpPr>
        <p:spPr>
          <a:xfrm>
            <a:off x="502920" y="5541264"/>
            <a:ext cx="10838382" cy="11155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3 - </a:t>
            </a:r>
            <a:r>
              <a:rPr lang="en-US" sz="1150" dirty="0">
                <a:solidFill>
                  <a:srgbClr val="000000"/>
                </a:solidFill>
                <a:latin typeface="Calibri" pitchFamily="34" charset="0"/>
                <a:ea typeface="Calibri" pitchFamily="34" charset="-122"/>
                <a:cs typeface="Calibri" pitchFamily="34" charset="-120"/>
              </a:rPr>
              <a:t xml:space="preserve">Left: the half-bridge. When the low-side device turns on the switch node falls from 106 V, its 90–10 % edge taking 2.90 ns and peaking at 124 V/ns, and that dv/dt drives a current through C_GD into the high-side gate. Right: the three parallel paths that current sees at the gate node. The segment count sets how hard the gate is held; the Miller clamp adds a 0.5 ohm path of its own, timed to the other device's edge; the off rail sets where the gate starts from. The two additions are not one mechanism - the rail moves the starting point, the clamp shortens the lift - which is why they add rather than overlap. </a:t>
            </a:r>
            <a:r>
              <a:rPr lang="en-US" sz="1150" dirty="0">
                <a:solidFill>
                  <a:srgbClr val="000000"/>
                </a:solidFill>
                <a:latin typeface="Calibri" pitchFamily="34" charset="0"/>
                <a:ea typeface="Calibri" pitchFamily="34" charset="-122"/>
                <a:cs typeface="Calibri" pitchFamily="34" charset="-120"/>
                <a:hlinkClick r:id="rId5"/>
              </a:rPr>
              <a:t xml:space="preserve">scripts/gan_level_figure.py</a:t>
            </a:r>
            <a:r>
              <a:rPr lang="en-US" sz="1150" dirty="0">
                <a:solidFill>
                  <a:srgbClr val="000000"/>
                </a:solidFill>
                <a:latin typeface="Calibri" pitchFamily="34" charset="0"/>
                <a:ea typeface="Calibri" pitchFamily="34" charset="-122"/>
                <a:cs typeface="Calibri" pitchFamily="34" charset="-120"/>
              </a:rPr>
              <a:t xml:space="preserve">, from </a:t>
            </a:r>
            <a:r>
              <a:rPr lang="en-US" sz="1150" dirty="0">
                <a:solidFill>
                  <a:srgbClr val="000000"/>
                </a:solidFill>
                <a:latin typeface="Calibri" pitchFamily="34" charset="0"/>
                <a:ea typeface="Calibri" pitchFamily="34" charset="-122"/>
                <a:cs typeface="Calibri" pitchFamily="34" charset="-120"/>
                <a:hlinkClick r:id="rId6"/>
              </a:rPr>
              <a:t xml:space="preserve">results/waveform_anatomy.txt</a:t>
            </a:r>
            <a:r>
              <a:rPr lang="en-US" sz="1150" dirty="0">
                <a:solidFill>
                  <a:srgbClr val="000000"/>
                </a:solidFill>
                <a:latin typeface="Calibri" pitchFamily="34" charset="0"/>
                <a:ea typeface="Calibri" pitchFamily="34" charset="-122"/>
                <a:cs typeface="Calibri" pitchFamily="34" charset="-120"/>
              </a:rPr>
              <a:t xml:space="preserv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7</a:t>
            </a:r>
            <a:endParaRPr lang="en-US" sz="1000" dirty="0"/>
          </a:p>
        </p:txBody>
      </p:sp>
      <p:sp>
        <p:nvSpPr>
          <p:cNvPr id="3" name="Text 1"/>
          <p:cNvSpPr txBox="1"/>
          <p:nvPr/>
        </p:nvSpPr>
        <p:spPr>
          <a:xfrm>
            <a:off x="548640" y="320040"/>
            <a:ext cx="9601200" cy="50292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Implementation: Converter Schematic</a:t>
            </a:r>
            <a:endParaRPr lang="en-US" sz="2800" dirty="0"/>
          </a:p>
        </p:txBody>
      </p:sp>
      <p:pic>
        <p:nvPicPr>
          <p:cNvPr id="5" name="Picture 4" descr="01-converter-schematic.png"/>
          <p:cNvPicPr>
            <a:picLocks noChangeAspect="1"/>
          </p:cNvPicPr>
          <p:nvPr/>
        </p:nvPicPr>
        <p:blipFill>
          <a:blip r:embed="rId4"/>
          <a:stretch>
            <a:fillRect/>
          </a:stretch>
        </p:blipFill>
        <p:spPr>
          <a:xfrm>
            <a:off x="2463005" y="914400"/>
            <a:ext cx="7265684" cy="5138928"/>
          </a:xfrm>
          <a:prstGeom prst="rect">
            <a:avLst/>
          </a:prstGeom>
        </p:spPr>
      </p:pic>
      <p:sp>
        <p:nvSpPr>
          <p:cNvPr id="6" name="TextBox 5"/>
          <p:cNvSpPr txBox="1"/>
          <p:nvPr/>
        </p:nvSpPr>
        <p:spPr>
          <a:xfrm>
            <a:off x="502920" y="6144768"/>
            <a:ext cx="10838382" cy="713232"/>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4 - </a:t>
            </a:r>
            <a:r>
              <a:rPr lang="en-US" sz="1150" dirty="0">
                <a:solidFill>
                  <a:srgbClr val="000000"/>
                </a:solidFill>
                <a:latin typeface="Calibri" pitchFamily="34" charset="0"/>
                <a:ea typeface="Calibri" pitchFamily="34" charset="-122"/>
                <a:cs typeface="Calibri" pitchFamily="34" charset="-120"/>
                <a:hlinkClick r:id="rId5"/>
              </a:rPr>
              <a:t xml:space="preserve">kicad/gan_buck.kicad_sch</a:t>
            </a:r>
            <a:r>
              <a:rPr lang="en-US" sz="1150" dirty="0">
                <a:solidFill>
                  <a:srgbClr val="000000"/>
                </a:solidFill>
                <a:latin typeface="Calibri" pitchFamily="34" charset="0"/>
                <a:ea typeface="Calibri" pitchFamily="34" charset="-122"/>
                <a:cs typeface="Calibri" pitchFamily="34" charset="-120"/>
              </a:rPr>
              <a:t xml:space="preserve">, the root sheet, plotted by KiCad 7.0.11. Drawn from </a:t>
            </a:r>
            <a:r>
              <a:rPr lang="en-US" sz="1150" dirty="0">
                <a:solidFill>
                  <a:srgbClr val="000000"/>
                </a:solidFill>
                <a:latin typeface="Calibri" pitchFamily="34" charset="0"/>
                <a:ea typeface="Calibri" pitchFamily="34" charset="-122"/>
                <a:cs typeface="Calibri" pitchFamily="34" charset="-120"/>
                <a:hlinkClick r:id="rId6"/>
              </a:rPr>
              <a:t xml:space="preserve">sim/buck.cir</a:t>
            </a:r>
            <a:r>
              <a:rPr lang="en-US" sz="1150" dirty="0">
                <a:solidFill>
                  <a:srgbClr val="000000"/>
                </a:solidFill>
                <a:latin typeface="Calibri" pitchFamily="34" charset="0"/>
                <a:ea typeface="Calibri" pitchFamily="34" charset="-122"/>
                <a:cs typeface="Calibri" pitchFamily="34" charset="-120"/>
              </a:rPr>
              <a:t xml:space="preserve">, so every value on it is the netlist's. The two gate drivers are hierarchical sub-sheets of this page.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8</a:t>
            </a:r>
            <a:endParaRPr lang="en-US" sz="1000" dirty="0"/>
          </a:p>
        </p:txBody>
      </p:sp>
      <p:sp>
        <p:nvSpPr>
          <p:cNvPr id="3" name="Text 1"/>
          <p:cNvSpPr txBox="1"/>
          <p:nvPr/>
        </p:nvSpPr>
        <p:spPr>
          <a:xfrm>
            <a:off x="548640" y="320040"/>
            <a:ext cx="9601200" cy="50292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Implementation: Proposed Gate Driver</a:t>
            </a:r>
            <a:endParaRPr lang="en-US" sz="2800" dirty="0"/>
          </a:p>
        </p:txBody>
      </p:sp>
      <p:pic>
        <p:nvPicPr>
          <p:cNvPr id="5" name="Picture 4" descr="04-driver-proposed.png"/>
          <p:cNvPicPr>
            <a:picLocks noChangeAspect="1"/>
          </p:cNvPicPr>
          <p:nvPr/>
        </p:nvPicPr>
        <p:blipFill>
          <a:blip r:embed="rId4"/>
          <a:stretch>
            <a:fillRect/>
          </a:stretch>
        </p:blipFill>
        <p:spPr>
          <a:xfrm>
            <a:off x="2463005" y="914400"/>
            <a:ext cx="7265684" cy="5138928"/>
          </a:xfrm>
          <a:prstGeom prst="rect">
            <a:avLst/>
          </a:prstGeom>
        </p:spPr>
      </p:pic>
      <p:sp>
        <p:nvSpPr>
          <p:cNvPr id="6" name="TextBox 5"/>
          <p:cNvSpPr txBox="1"/>
          <p:nvPr/>
        </p:nvSpPr>
        <p:spPr>
          <a:xfrm>
            <a:off x="502920" y="6144768"/>
            <a:ext cx="10838382" cy="713232"/>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5 - </a:t>
            </a:r>
            <a:r>
              <a:rPr lang="en-US" sz="1150" dirty="0">
                <a:solidFill>
                  <a:srgbClr val="000000"/>
                </a:solidFill>
                <a:latin typeface="Calibri" pitchFamily="34" charset="0"/>
                <a:ea typeface="Calibri" pitchFamily="34" charset="-122"/>
                <a:cs typeface="Calibri" pitchFamily="34" charset="-120"/>
                <a:hlinkClick r:id="rId5"/>
              </a:rPr>
              <a:t xml:space="preserve">kicad/gan_segdrv.kicad_sch</a:t>
            </a:r>
            <a:r>
              <a:rPr lang="en-US" sz="1150" dirty="0">
                <a:solidFill>
                  <a:srgbClr val="000000"/>
                </a:solidFill>
                <a:latin typeface="Calibri" pitchFamily="34" charset="0"/>
                <a:ea typeface="Calibri" pitchFamily="34" charset="-122"/>
                <a:cs typeface="Calibri" pitchFamily="34" charset="-120"/>
              </a:rPr>
              <a:t xml:space="preserve">. Eight pull-up segments, eight pull-down, the active Miller clamp on the right, and the off rail selectable to −2 V. Each segment is one switch and one resistor; the resistor carries the control word.</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9</a:t>
            </a:r>
            <a:endParaRPr lang="en-US" sz="1000" dirty="0"/>
          </a:p>
        </p:txBody>
      </p:sp>
      <p:sp>
        <p:nvSpPr>
          <p:cNvPr id="3" name="Text 1"/>
          <p:cNvSpPr txBox="1"/>
          <p:nvPr/>
        </p:nvSpPr>
        <p:spPr>
          <a:xfrm>
            <a:off x="548640" y="320040"/>
            <a:ext cx="9601200" cy="50292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Implementation: Base Paper Gate Driver</a:t>
            </a:r>
            <a:endParaRPr lang="en-US" sz="2800" dirty="0"/>
          </a:p>
        </p:txBody>
      </p:sp>
      <p:pic>
        <p:nvPicPr>
          <p:cNvPr id="5" name="Picture 4" descr="05-driver-base-paper.png"/>
          <p:cNvPicPr>
            <a:picLocks noChangeAspect="1"/>
          </p:cNvPicPr>
          <p:nvPr/>
        </p:nvPicPr>
        <p:blipFill>
          <a:blip r:embed="rId4"/>
          <a:stretch>
            <a:fillRect/>
          </a:stretch>
        </p:blipFill>
        <p:spPr>
          <a:xfrm>
            <a:off x="2461147" y="914400"/>
            <a:ext cx="7269399" cy="5138928"/>
          </a:xfrm>
          <a:prstGeom prst="rect">
            <a:avLst/>
          </a:prstGeom>
        </p:spPr>
      </p:pic>
      <p:sp>
        <p:nvSpPr>
          <p:cNvPr id="6" name="TextBox 5"/>
          <p:cNvSpPr txBox="1"/>
          <p:nvPr/>
        </p:nvSpPr>
        <p:spPr>
          <a:xfrm>
            <a:off x="502920" y="6144768"/>
            <a:ext cx="10838382" cy="713232"/>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6 - </a:t>
            </a:r>
            <a:r>
              <a:rPr lang="en-US" sz="1150" dirty="0">
                <a:solidFill>
                  <a:srgbClr val="000000"/>
                </a:solidFill>
                <a:latin typeface="Calibri" pitchFamily="34" charset="0"/>
                <a:ea typeface="Calibri" pitchFamily="34" charset="-122"/>
                <a:cs typeface="Calibri" pitchFamily="34" charset="-120"/>
                <a:hlinkClick r:id="rId5"/>
              </a:rPr>
              <a:t xml:space="preserve">kicad/gan_zhangdrv.kicad_sch</a:t>
            </a:r>
            <a:r>
              <a:rPr lang="en-US" sz="1150" dirty="0">
                <a:solidFill>
                  <a:srgbClr val="000000"/>
                </a:solidFill>
                <a:latin typeface="Calibri" pitchFamily="34" charset="0"/>
                <a:ea typeface="Calibri" pitchFamily="34" charset="-122"/>
                <a:cs typeface="Calibri" pitchFamily="34" charset="-120"/>
              </a:rPr>
              <a:t xml:space="preserve">, the base paper's driver reimplemented in the same testbench. Seven segments per bank in two stages, one bias resistor, no clamp branch, and the off rail tied to reference.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10</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Segmented Driver: SPICE Implementation</a:t>
            </a:r>
            <a:endParaRPr lang="en-US" sz="2800" dirty="0"/>
          </a:p>
        </p:txBody>
      </p:sp>
      <p:sp>
        <p:nvSpPr>
          <p:cNvPr id="5" name="TextBox 4"/>
          <p:cNvSpPr txBox="1"/>
          <p:nvPr/>
        </p:nvSpPr>
        <p:spPr>
          <a:xfrm>
            <a:off x="640080" y="932688"/>
            <a:ext cx="11064240" cy="365760"/>
          </a:xfrm>
          <a:prstGeom prst="rect">
            <a:avLst/>
          </a:prstGeom>
          <a:noFill/>
        </p:spPr>
        <p:txBody>
          <a:bodyPr wrap="square" lIns="0" tIns="0" rIns="0" bIns="0">
            <a:spAutoFit/>
          </a:bodyPr>
          <a:lstStyle/>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hlinkClick r:id="rId5"/>
              </a:rPr>
              <a:t xml:space="preserve">models/segdrv.lib</a:t>
            </a:r>
            <a:r>
              <a:rPr lang="en-US" sz="1300" b="1" dirty="0">
                <a:solidFill>
                  <a:srgbClr val="000000"/>
                </a:solidFill>
                <a:latin typeface="Calibri" pitchFamily="34" charset="0"/>
                <a:ea typeface="Calibri" pitchFamily="34" charset="-122"/>
                <a:cs typeface="Calibri" pitchFamily="34" charset="-120"/>
              </a:rPr>
              <a:t xml:space="preserve"> - the output stage varied throughout the study.</a:t>
            </a:r>
          </a:p>
        </p:txBody>
      </p:sp>
      <p:pic>
        <p:nvPicPr>
          <p:cNvPr id="6" name="Picture 5" descr="fig_code_segdrv.png"/>
          <p:cNvPicPr>
            <a:picLocks noChangeAspect="1"/>
          </p:cNvPicPr>
          <p:nvPr/>
        </p:nvPicPr>
        <p:blipFill>
          <a:blip r:embed="rId4"/>
          <a:stretch>
            <a:fillRect/>
          </a:stretch>
        </p:blipFill>
        <p:spPr>
          <a:xfrm>
            <a:off x="1048556" y="1481328"/>
            <a:ext cx="10094581" cy="3017520"/>
          </a:xfrm>
          <a:prstGeom prst="rect">
            <a:avLst/>
          </a:prstGeom>
        </p:spPr>
      </p:pic>
      <p:sp>
        <p:nvSpPr>
          <p:cNvPr id="7" name="TextBox 6"/>
          <p:cNvSpPr txBox="1"/>
          <p:nvPr/>
        </p:nvSpPr>
        <p:spPr>
          <a:xfrm>
            <a:off x="502920" y="4846320"/>
            <a:ext cx="11201400" cy="155448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7 - </a:t>
            </a:r>
            <a:r>
              <a:rPr lang="en-US" sz="1150" dirty="0">
                <a:solidFill>
                  <a:srgbClr val="000000"/>
                </a:solidFill>
                <a:latin typeface="Calibri" pitchFamily="34" charset="0"/>
                <a:ea typeface="Calibri" pitchFamily="34" charset="-122"/>
                <a:cs typeface="Calibri" pitchFamily="34" charset="-120"/>
              </a:rPr>
              <a:t xml:space="preserve">Eight pull-up segments and eight pull-down, each a switch and a resistor. A segment is in circuit when the control word reaches it and 1 GΩ out of it when it does not, which is how 4 + 4 bits from the FPGA become a drive strength. The clamp is not one of the segments: it has its own switch, its own timing and its own 0.5 Ω path to the off rail, because it has to hold the gate down while the other device switches. The segments are discrete by design: a single variable resistor would simulate identically and could not be laid out.</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11</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Methodology</a:t>
            </a:r>
            <a:endParaRPr lang="en-US" sz="2800" dirty="0"/>
          </a:p>
        </p:txBody>
      </p:sp>
      <p:sp>
        <p:nvSpPr>
          <p:cNvPr id="5" name="TextBox 4"/>
          <p:cNvSpPr txBox="1"/>
          <p:nvPr/>
        </p:nvSpPr>
        <p:spPr>
          <a:xfrm>
            <a:off x="640080" y="932688"/>
            <a:ext cx="11064240" cy="365760"/>
          </a:xfrm>
          <a:prstGeom prst="rect">
            <a:avLst/>
          </a:prstGeom>
          <a:noFill/>
        </p:spPr>
        <p:txBody>
          <a:bodyPr wrap="square" lIns="0" tIns="0" rIns="0" bIns="0">
            <a:spAutoFit/>
          </a:bodyPr>
          <a:lstStyle/>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rPr>
              <a:t xml:space="preserve">Every comparison is the same file with one thing changed. The following is held identical; the listed parameter is the only one that varies.</a:t>
            </a:r>
          </a:p>
        </p:txBody>
      </p:sp>
      <p:sp>
        <p:nvSpPr>
          <p:cNvPr id="6" name="TextBox 5"/>
          <p:cNvSpPr txBox="1"/>
          <p:nvPr/>
        </p:nvSpPr>
        <p:spPr>
          <a:xfrm>
            <a:off x="640080" y="1481328"/>
            <a:ext cx="5394960" cy="310896"/>
          </a:xfrm>
          <a:prstGeom prst="rect">
            <a:avLst/>
          </a:prstGeom>
          <a:noFill/>
        </p:spPr>
        <p:txBody>
          <a:bodyPr wrap="square" lIns="0" tIns="0" rIns="0" bIns="0">
            <a:spAutoFit/>
          </a:bodyPr>
          <a:lstStyle/>
          <a:p>
            <a:pPr marL="177800" indent="0">
              <a:spcAft>
                <a:spcPts val="0"/>
              </a:spcAft>
              <a:buSzPct val="100000"/>
              <a:buNone/>
            </a:pPr>
            <a:r>
              <a:rPr lang="en-US" sz="1250" b="1" dirty="0">
                <a:solidFill>
                  <a:srgbClr val="000000"/>
                </a:solidFill>
                <a:latin typeface="Calibri" pitchFamily="34" charset="0"/>
                <a:ea typeface="Calibri" pitchFamily="34" charset="-122"/>
                <a:cs typeface="Calibri" pitchFamily="34" charset="-120"/>
              </a:rPr>
              <a:t xml:space="preserve">HELD IDENTICAL</a:t>
            </a:r>
          </a:p>
        </p:txBody>
      </p:sp>
      <p:sp>
        <p:nvSpPr>
          <p:cNvPr id="7" name="TextBox 6"/>
          <p:cNvSpPr txBox="1"/>
          <p:nvPr/>
        </p:nvSpPr>
        <p:spPr>
          <a:xfrm>
            <a:off x="6309360" y="1481328"/>
            <a:ext cx="5394960" cy="310896"/>
          </a:xfrm>
          <a:prstGeom prst="rect">
            <a:avLst/>
          </a:prstGeom>
          <a:noFill/>
        </p:spPr>
        <p:txBody>
          <a:bodyPr wrap="square" lIns="0" tIns="0" rIns="0" bIns="0">
            <a:spAutoFit/>
          </a:bodyPr>
          <a:lstStyle/>
          <a:p>
            <a:pPr marL="177800" indent="0">
              <a:spcAft>
                <a:spcPts val="0"/>
              </a:spcAft>
              <a:buSzPct val="100000"/>
              <a:buNone/>
            </a:pPr>
            <a:r>
              <a:rPr lang="en-US" sz="1250" b="1" dirty="0">
                <a:solidFill>
                  <a:srgbClr val="000000"/>
                </a:solidFill>
                <a:latin typeface="Calibri" pitchFamily="34" charset="0"/>
                <a:ea typeface="Calibri" pitchFamily="34" charset="-122"/>
                <a:cs typeface="Calibri" pitchFamily="34" charset="-120"/>
              </a:rPr>
              <a:t xml:space="preserve">WHAT CHANGES</a:t>
            </a:r>
          </a:p>
        </p:txBody>
      </p:sp>
      <p:sp>
        <p:nvSpPr>
          <p:cNvPr id="8" name="TextBox 7"/>
          <p:cNvSpPr txBox="1"/>
          <p:nvPr/>
        </p:nvSpPr>
        <p:spPr>
          <a:xfrm>
            <a:off x="640080" y="1883664"/>
            <a:ext cx="5394960" cy="566928"/>
          </a:xfrm>
          <a:prstGeom prst="rect">
            <a:avLst/>
          </a:prstGeom>
          <a:noFill/>
        </p:spPr>
        <p:txBody>
          <a:bodyPr wrap="square" lIns="0" tIns="0" rIns="0" bIns="0">
            <a:spAutoFit/>
          </a:bodyPr>
          <a:lstStyle/>
          <a:p>
            <a:pPr marL="177800" indent="0">
              <a:spcAft>
                <a:spcPts val="0"/>
              </a:spcAft>
              <a:buSzPct val="100000"/>
              <a:buNone/>
            </a:pPr>
            <a:r>
              <a:rPr lang="en-US" sz="1120" b="1" dirty="0">
                <a:solidFill>
                  <a:srgbClr val="000000"/>
                </a:solidFill>
                <a:latin typeface="Calibri" pitchFamily="34" charset="0"/>
                <a:ea typeface="Calibri" pitchFamily="34" charset="-122"/>
                <a:cs typeface="Calibri" pitchFamily="34" charset="-120"/>
              </a:rPr>
              <a:t xml:space="preserve">the netlist   </a:t>
            </a:r>
            <a:r>
              <a:rPr lang="en-US" sz="1120" dirty="0">
                <a:solidFill>
                  <a:srgbClr val="000000"/>
                </a:solidFill>
                <a:latin typeface="Calibri" pitchFamily="34" charset="0"/>
                <a:ea typeface="Calibri" pitchFamily="34" charset="-122"/>
                <a:cs typeface="Calibri" pitchFamily="34" charset="-120"/>
                <a:hlinkClick r:id="rId4"/>
              </a:rPr>
              <a:t xml:space="preserve">sim/dpt.cir</a:t>
            </a:r>
            <a:r>
              <a:rPr lang="en-US" sz="1120" dirty="0">
                <a:solidFill>
                  <a:srgbClr val="000000"/>
                </a:solidFill>
                <a:latin typeface="Calibri" pitchFamily="34" charset="0"/>
                <a:ea typeface="Calibri" pitchFamily="34" charset="-122"/>
                <a:cs typeface="Calibri" pitchFamily="34" charset="-120"/>
              </a:rPr>
              <a:t xml:space="preserve">, byte for byte - not a copy, not a variant</a:t>
            </a:r>
          </a:p>
        </p:txBody>
      </p:sp>
      <p:sp>
        <p:nvSpPr>
          <p:cNvPr id="9" name="TextBox 8"/>
          <p:cNvSpPr txBox="1"/>
          <p:nvPr/>
        </p:nvSpPr>
        <p:spPr>
          <a:xfrm>
            <a:off x="6309360" y="1883664"/>
            <a:ext cx="5394960" cy="566928"/>
          </a:xfrm>
          <a:prstGeom prst="rect">
            <a:avLst/>
          </a:prstGeom>
          <a:noFill/>
        </p:spPr>
        <p:txBody>
          <a:bodyPr wrap="square" lIns="0" tIns="0" rIns="0" bIns="0">
            <a:spAutoFit/>
          </a:bodyPr>
          <a:lstStyle/>
          <a:p>
            <a:pPr marL="177800" indent="0">
              <a:spcAft>
                <a:spcPts val="0"/>
              </a:spcAft>
              <a:buSzPct val="100000"/>
              <a:buNone/>
            </a:pPr>
            <a:r>
              <a:rPr lang="en-US" sz="1120" b="1" dirty="0">
                <a:solidFill>
                  <a:srgbClr val="000000"/>
                </a:solidFill>
                <a:latin typeface="Calibri" pitchFamily="34" charset="0"/>
                <a:ea typeface="Calibri" pitchFamily="34" charset="-122"/>
                <a:cs typeface="Calibri" pitchFamily="34" charset="-120"/>
              </a:rPr>
              <a:t xml:space="preserve">theirs vs ours   </a:t>
            </a:r>
            <a:r>
              <a:rPr lang="en-US" sz="1120" dirty="0">
                <a:solidFill>
                  <a:srgbClr val="000000"/>
                </a:solidFill>
                <a:latin typeface="Calibri" pitchFamily="34" charset="0"/>
                <a:ea typeface="Calibri" pitchFamily="34" charset="-122"/>
                <a:cs typeface="Calibri" pitchFamily="34" charset="-120"/>
              </a:rPr>
              <a:t xml:space="preserve">the driver subcircuit, and nothing else: </a:t>
            </a:r>
            <a:r>
              <a:rPr lang="en-US" sz="1120" dirty="0">
                <a:solidFill>
                  <a:srgbClr val="000000"/>
                </a:solidFill>
                <a:latin typeface="Calibri" pitchFamily="34" charset="0"/>
                <a:ea typeface="Calibri" pitchFamily="34" charset="-122"/>
                <a:cs typeface="Calibri" pitchFamily="34" charset="-120"/>
                <a:hlinkClick r:id="rId5"/>
              </a:rPr>
              <a:t xml:space="preserve">models/zhangdrv.lib</a:t>
            </a:r>
            <a:r>
              <a:rPr lang="en-US" sz="1120" dirty="0">
                <a:solidFill>
                  <a:srgbClr val="000000"/>
                </a:solidFill>
                <a:latin typeface="Calibri" pitchFamily="34" charset="0"/>
                <a:ea typeface="Calibri" pitchFamily="34" charset="-122"/>
                <a:cs typeface="Calibri" pitchFamily="34" charset="-120"/>
              </a:rPr>
              <a:t xml:space="preserve"> ↔ </a:t>
            </a:r>
            <a:r>
              <a:rPr lang="en-US" sz="1120" dirty="0">
                <a:solidFill>
                  <a:srgbClr val="000000"/>
                </a:solidFill>
                <a:latin typeface="Calibri" pitchFamily="34" charset="0"/>
                <a:ea typeface="Calibri" pitchFamily="34" charset="-122"/>
                <a:cs typeface="Calibri" pitchFamily="34" charset="-120"/>
                <a:hlinkClick r:id="rId6"/>
              </a:rPr>
              <a:t xml:space="preserve">models/segdrv.lib</a:t>
            </a:r>
          </a:p>
        </p:txBody>
      </p:sp>
      <p:sp>
        <p:nvSpPr>
          <p:cNvPr id="10" name="TextBox 9"/>
          <p:cNvSpPr txBox="1"/>
          <p:nvPr/>
        </p:nvSpPr>
        <p:spPr>
          <a:xfrm>
            <a:off x="640080" y="2523744"/>
            <a:ext cx="5394960" cy="566928"/>
          </a:xfrm>
          <a:prstGeom prst="rect">
            <a:avLst/>
          </a:prstGeom>
          <a:noFill/>
        </p:spPr>
        <p:txBody>
          <a:bodyPr wrap="square" lIns="0" tIns="0" rIns="0" bIns="0">
            <a:spAutoFit/>
          </a:bodyPr>
          <a:lstStyle/>
          <a:p>
            <a:pPr marL="177800" indent="0">
              <a:spcAft>
                <a:spcPts val="0"/>
              </a:spcAft>
              <a:buSzPct val="100000"/>
              <a:buNone/>
            </a:pPr>
            <a:r>
              <a:rPr lang="en-US" sz="1120" b="1" dirty="0">
                <a:solidFill>
                  <a:srgbClr val="000000"/>
                </a:solidFill>
                <a:latin typeface="Calibri" pitchFamily="34" charset="0"/>
                <a:ea typeface="Calibri" pitchFamily="34" charset="-122"/>
                <a:cs typeface="Calibri" pitchFamily="34" charset="-120"/>
              </a:rPr>
              <a:t xml:space="preserve">the device   </a:t>
            </a:r>
            <a:r>
              <a:rPr lang="en-US" sz="1120" dirty="0">
                <a:solidFill>
                  <a:srgbClr val="000000"/>
                </a:solidFill>
                <a:latin typeface="Calibri" pitchFamily="34" charset="0"/>
                <a:ea typeface="Calibri" pitchFamily="34" charset="-122"/>
                <a:cs typeface="Calibri" pitchFamily="34" charset="-120"/>
                <a:hlinkClick r:id="rId7"/>
              </a:rPr>
              <a:t xml:space="preserve">models/egan.lib</a:t>
            </a:r>
            <a:r>
              <a:rPr lang="en-US" sz="1120" dirty="0">
                <a:solidFill>
                  <a:srgbClr val="000000"/>
                </a:solidFill>
                <a:latin typeface="Calibri" pitchFamily="34" charset="0"/>
                <a:ea typeface="Calibri" pitchFamily="34" charset="-122"/>
                <a:cs typeface="Calibri" pitchFamily="34" charset="-120"/>
              </a:rPr>
              <a:t xml:space="preserve"> on both sides, same V_th, same R_ds(on), same C_gs</a:t>
            </a:r>
          </a:p>
        </p:txBody>
      </p:sp>
      <p:sp>
        <p:nvSpPr>
          <p:cNvPr id="11" name="TextBox 10"/>
          <p:cNvSpPr txBox="1"/>
          <p:nvPr/>
        </p:nvSpPr>
        <p:spPr>
          <a:xfrm>
            <a:off x="6309360" y="2523744"/>
            <a:ext cx="5394960" cy="566928"/>
          </a:xfrm>
          <a:prstGeom prst="rect">
            <a:avLst/>
          </a:prstGeom>
          <a:noFill/>
        </p:spPr>
        <p:txBody>
          <a:bodyPr wrap="square" lIns="0" tIns="0" rIns="0" bIns="0">
            <a:spAutoFit/>
          </a:bodyPr>
          <a:lstStyle/>
          <a:p>
            <a:pPr marL="177800" indent="0">
              <a:spcAft>
                <a:spcPts val="0"/>
              </a:spcAft>
              <a:buSzPct val="100000"/>
              <a:buNone/>
            </a:pPr>
            <a:r>
              <a:rPr lang="en-US" sz="1120" b="1" dirty="0">
                <a:solidFill>
                  <a:srgbClr val="000000"/>
                </a:solidFill>
                <a:latin typeface="Calibri" pitchFamily="34" charset="0"/>
                <a:ea typeface="Calibri" pitchFamily="34" charset="-122"/>
                <a:cs typeface="Calibri" pitchFamily="34" charset="-120"/>
              </a:rPr>
              <a:t xml:space="preserve">GaN vs silicon   </a:t>
            </a:r>
            <a:r>
              <a:rPr lang="en-US" sz="1120" dirty="0">
                <a:solidFill>
                  <a:srgbClr val="000000"/>
                </a:solidFill>
                <a:latin typeface="Calibri" pitchFamily="34" charset="0"/>
                <a:ea typeface="Calibri" pitchFamily="34" charset="-122"/>
                <a:cs typeface="Calibri" pitchFamily="34" charset="-120"/>
              </a:rPr>
              <a:t xml:space="preserve">the device model only, R_ds(on) matched at the 25 mΩ class</a:t>
            </a:r>
          </a:p>
        </p:txBody>
      </p:sp>
      <p:sp>
        <p:nvSpPr>
          <p:cNvPr id="12" name="TextBox 11"/>
          <p:cNvSpPr txBox="1"/>
          <p:nvPr/>
        </p:nvSpPr>
        <p:spPr>
          <a:xfrm>
            <a:off x="640080" y="3163824"/>
            <a:ext cx="5394960" cy="566928"/>
          </a:xfrm>
          <a:prstGeom prst="rect">
            <a:avLst/>
          </a:prstGeom>
          <a:noFill/>
        </p:spPr>
        <p:txBody>
          <a:bodyPr wrap="square" lIns="0" tIns="0" rIns="0" bIns="0">
            <a:spAutoFit/>
          </a:bodyPr>
          <a:lstStyle/>
          <a:p>
            <a:pPr marL="177800" indent="0">
              <a:spcAft>
                <a:spcPts val="0"/>
              </a:spcAft>
              <a:buSzPct val="100000"/>
              <a:buNone/>
            </a:pPr>
            <a:r>
              <a:rPr lang="en-US" sz="1120" b="1" dirty="0">
                <a:solidFill>
                  <a:srgbClr val="000000"/>
                </a:solidFill>
                <a:latin typeface="Calibri" pitchFamily="34" charset="0"/>
                <a:ea typeface="Calibri" pitchFamily="34" charset="-122"/>
                <a:cs typeface="Calibri" pitchFamily="34" charset="-120"/>
              </a:rPr>
              <a:t xml:space="preserve">the parasitics   </a:t>
            </a:r>
            <a:r>
              <a:rPr lang="en-US" sz="1120" dirty="0">
                <a:solidFill>
                  <a:srgbClr val="000000"/>
                </a:solidFill>
                <a:latin typeface="Calibri" pitchFamily="34" charset="0"/>
                <a:ea typeface="Calibri" pitchFamily="34" charset="-122"/>
                <a:cs typeface="Calibri" pitchFamily="34" charset="-120"/>
              </a:rPr>
              <a:t xml:space="preserve">3 nH power loop, 0.3 Ω loop resistance, same gate inductance</a:t>
            </a:r>
          </a:p>
        </p:txBody>
      </p:sp>
      <p:sp>
        <p:nvSpPr>
          <p:cNvPr id="13" name="TextBox 12"/>
          <p:cNvSpPr txBox="1"/>
          <p:nvPr/>
        </p:nvSpPr>
        <p:spPr>
          <a:xfrm>
            <a:off x="6309360" y="3163824"/>
            <a:ext cx="5394960" cy="566928"/>
          </a:xfrm>
          <a:prstGeom prst="rect">
            <a:avLst/>
          </a:prstGeom>
          <a:noFill/>
        </p:spPr>
        <p:txBody>
          <a:bodyPr wrap="square" lIns="0" tIns="0" rIns="0" bIns="0">
            <a:spAutoFit/>
          </a:bodyPr>
          <a:lstStyle/>
          <a:p>
            <a:pPr marL="177800" indent="0">
              <a:spcAft>
                <a:spcPts val="0"/>
              </a:spcAft>
              <a:buSzPct val="100000"/>
              <a:buNone/>
            </a:pPr>
            <a:r>
              <a:rPr lang="en-US" sz="1120" b="1" dirty="0">
                <a:solidFill>
                  <a:srgbClr val="000000"/>
                </a:solidFill>
                <a:latin typeface="Calibri" pitchFamily="34" charset="0"/>
                <a:ea typeface="Calibri" pitchFamily="34" charset="-122"/>
                <a:cs typeface="Calibri" pitchFamily="34" charset="-120"/>
              </a:rPr>
              <a:t xml:space="preserve">clamp on/off   </a:t>
            </a:r>
            <a:r>
              <a:rPr lang="en-US" sz="1120" dirty="0">
                <a:solidFill>
                  <a:srgbClr val="000000"/>
                </a:solidFill>
                <a:latin typeface="Calibri" pitchFamily="34" charset="0"/>
                <a:ea typeface="Calibri" pitchFamily="34" charset="-122"/>
                <a:cs typeface="Calibri" pitchFamily="34" charset="-120"/>
              </a:rPr>
              <a:t xml:space="preserve">one parameter, CLKEN; off rail, one parameter, VNEG</a:t>
            </a:r>
          </a:p>
        </p:txBody>
      </p:sp>
      <p:sp>
        <p:nvSpPr>
          <p:cNvPr id="14" name="TextBox 13"/>
          <p:cNvSpPr txBox="1"/>
          <p:nvPr/>
        </p:nvSpPr>
        <p:spPr>
          <a:xfrm>
            <a:off x="640080" y="3803904"/>
            <a:ext cx="5394960" cy="566928"/>
          </a:xfrm>
          <a:prstGeom prst="rect">
            <a:avLst/>
          </a:prstGeom>
          <a:noFill/>
        </p:spPr>
        <p:txBody>
          <a:bodyPr wrap="square" lIns="0" tIns="0" rIns="0" bIns="0">
            <a:spAutoFit/>
          </a:bodyPr>
          <a:lstStyle/>
          <a:p>
            <a:pPr marL="177800" indent="0">
              <a:spcAft>
                <a:spcPts val="0"/>
              </a:spcAft>
              <a:buSzPct val="100000"/>
              <a:buNone/>
            </a:pPr>
            <a:r>
              <a:rPr lang="en-US" sz="1120" b="1" dirty="0">
                <a:solidFill>
                  <a:srgbClr val="000000"/>
                </a:solidFill>
                <a:latin typeface="Calibri" pitchFamily="34" charset="0"/>
                <a:ea typeface="Calibri" pitchFamily="34" charset="-122"/>
                <a:cs typeface="Calibri" pitchFamily="34" charset="-120"/>
              </a:rPr>
              <a:t xml:space="preserve">the operating point   </a:t>
            </a:r>
            <a:r>
              <a:rPr lang="en-US" sz="1120" dirty="0">
                <a:solidFill>
                  <a:srgbClr val="000000"/>
                </a:solidFill>
                <a:latin typeface="Calibri" pitchFamily="34" charset="0"/>
                <a:ea typeface="Calibri" pitchFamily="34" charset="-122"/>
                <a:cs typeface="Calibri" pitchFamily="34" charset="-120"/>
              </a:rPr>
              <a:t xml:space="preserve">100 V bus, 10 A load, 25 °C junction</a:t>
            </a:r>
          </a:p>
        </p:txBody>
      </p:sp>
      <p:sp>
        <p:nvSpPr>
          <p:cNvPr id="15" name="TextBox 14"/>
          <p:cNvSpPr txBox="1"/>
          <p:nvPr/>
        </p:nvSpPr>
        <p:spPr>
          <a:xfrm>
            <a:off x="640080" y="4443984"/>
            <a:ext cx="5394960" cy="566928"/>
          </a:xfrm>
          <a:prstGeom prst="rect">
            <a:avLst/>
          </a:prstGeom>
          <a:noFill/>
        </p:spPr>
        <p:txBody>
          <a:bodyPr wrap="square" lIns="0" tIns="0" rIns="0" bIns="0">
            <a:spAutoFit/>
          </a:bodyPr>
          <a:lstStyle/>
          <a:p>
            <a:pPr marL="177800" indent="0">
              <a:spcAft>
                <a:spcPts val="0"/>
              </a:spcAft>
              <a:buSzPct val="100000"/>
              <a:buNone/>
            </a:pPr>
            <a:r>
              <a:rPr lang="en-US" sz="1120" b="1" dirty="0">
                <a:solidFill>
                  <a:srgbClr val="000000"/>
                </a:solidFill>
                <a:latin typeface="Calibri" pitchFamily="34" charset="0"/>
                <a:ea typeface="Calibri" pitchFamily="34" charset="-122"/>
                <a:cs typeface="Calibri" pitchFamily="34" charset="-120"/>
              </a:rPr>
              <a:t xml:space="preserve">the solver   </a:t>
            </a:r>
            <a:r>
              <a:rPr lang="en-US" sz="1120" dirty="0">
                <a:solidFill>
                  <a:srgbClr val="000000"/>
                </a:solidFill>
                <a:latin typeface="Calibri" pitchFamily="34" charset="0"/>
                <a:ea typeface="Calibri" pitchFamily="34" charset="-122"/>
                <a:cs typeface="Calibri" pitchFamily="34" charset="-120"/>
              </a:rPr>
              <a:t xml:space="preserve">same timestep, same options, same initial conditions</a:t>
            </a:r>
          </a:p>
        </p:txBody>
      </p:sp>
      <p:sp>
        <p:nvSpPr>
          <p:cNvPr id="16" name="TextBox 15"/>
          <p:cNvSpPr txBox="1"/>
          <p:nvPr/>
        </p:nvSpPr>
        <p:spPr>
          <a:xfrm>
            <a:off x="640080" y="5175504"/>
            <a:ext cx="11064240" cy="365760"/>
          </a:xfrm>
          <a:prstGeom prst="rect">
            <a:avLst/>
          </a:prstGeom>
          <a:noFill/>
        </p:spPr>
        <p:txBody>
          <a:bodyPr wrap="square" lIns="0" tIns="0" rIns="0" bIns="0">
            <a:spAutoFit/>
          </a:bodyPr>
          <a:lstStyle/>
          <a:p>
            <a:pPr marL="177800" indent="0">
              <a:spcAft>
                <a:spcPts val="0"/>
              </a:spcAft>
              <a:buSzPct val="100000"/>
              <a:buNone/>
            </a:pPr>
            <a:r>
              <a:rPr lang="en-US" sz="1120" b="1" dirty="0">
                <a:solidFill>
                  <a:srgbClr val="000000"/>
                </a:solidFill>
                <a:latin typeface="Calibri" pitchFamily="34" charset="0"/>
                <a:ea typeface="Calibri" pitchFamily="34" charset="-122"/>
                <a:cs typeface="Calibri" pitchFamily="34" charset="-120"/>
              </a:rPr>
              <a:t xml:space="preserve">ENVIRONMENT   </a:t>
            </a:r>
            <a:r>
              <a:rPr lang="en-US" sz="1120" dirty="0">
                <a:solidFill>
                  <a:srgbClr val="000000"/>
                </a:solidFill>
                <a:latin typeface="Calibri" pitchFamily="34" charset="0"/>
                <a:ea typeface="Calibri" pitchFamily="34" charset="-122"/>
                <a:cs typeface="Calibri" pitchFamily="34" charset="-120"/>
              </a:rPr>
              <a:t xml:space="preserve">ngspice-42 and KiCad 7.0.11 on a Debian container, headless, no hardware in the loop. Both are open source; there is no licensed tool and no vendor model anywhere in this project.</a:t>
            </a:r>
          </a:p>
        </p:txBody>
      </p:sp>
      <p:sp>
        <p:nvSpPr>
          <p:cNvPr id="17" name="TextBox 16"/>
          <p:cNvSpPr txBox="1"/>
          <p:nvPr/>
        </p:nvSpPr>
        <p:spPr>
          <a:xfrm>
            <a:off x="502920" y="5888736"/>
            <a:ext cx="10838382" cy="93268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8 - </a:t>
            </a:r>
            <a:r>
              <a:rPr lang="en-US" sz="1150" dirty="0">
                <a:solidFill>
                  <a:srgbClr val="000000"/>
                </a:solidFill>
                <a:latin typeface="Calibri" pitchFamily="34" charset="0"/>
                <a:ea typeface="Calibri" pitchFamily="34" charset="-122"/>
                <a:cs typeface="Calibri" pitchFamily="34" charset="-120"/>
              </a:rPr>
              <a:t xml:space="preserve">Their driver is additionally given a freedom its own paper does not have: </a:t>
            </a:r>
            <a:r>
              <a:rPr lang="en-US" sz="1150" dirty="0">
                <a:solidFill>
                  <a:srgbClr val="000000"/>
                </a:solidFill>
                <a:latin typeface="Calibri" pitchFamily="34" charset="0"/>
                <a:ea typeface="Calibri" pitchFamily="34" charset="-122"/>
                <a:cs typeface="Calibri" pitchFamily="34" charset="-120"/>
                <a:hlinkClick r:id="rId8"/>
              </a:rPr>
              <a:t xml:space="preserve">scripts/headtohead.py</a:t>
            </a:r>
            <a:r>
              <a:rPr lang="en-US" sz="1150" dirty="0">
                <a:solidFill>
                  <a:srgbClr val="000000"/>
                </a:solidFill>
                <a:latin typeface="Calibri" pitchFamily="34" charset="0"/>
                <a:ea typeface="Calibri" pitchFamily="34" charset="-122"/>
                <a:cs typeface="Calibri" pitchFamily="34" charset="-120"/>
              </a:rPr>
              <a:t xml:space="preserve"> searches both of its controls at every corner and it is run at the setting that search finds optimal for it, read out of </a:t>
            </a:r>
            <a:r>
              <a:rPr lang="en-US" sz="1150" dirty="0">
                <a:solidFill>
                  <a:srgbClr val="000000"/>
                </a:solidFill>
                <a:latin typeface="Calibri" pitchFamily="34" charset="0"/>
                <a:ea typeface="Calibri" pitchFamily="34" charset="-122"/>
                <a:cs typeface="Calibri" pitchFamily="34" charset="-120"/>
                <a:hlinkClick r:id="rId9"/>
              </a:rPr>
              <a:t xml:space="preserve">results/headtohead.txt</a:t>
            </a:r>
            <a:r>
              <a:rPr lang="en-US" sz="1150" dirty="0">
                <a:solidFill>
                  <a:srgbClr val="000000"/>
                </a:solidFill>
                <a:latin typeface="Calibri" pitchFamily="34" charset="0"/>
                <a:ea typeface="Calibri" pitchFamily="34" charset="-122"/>
                <a:cs typeface="Calibri" pitchFamily="34" charset="-120"/>
              </a:rPr>
              <a:t xml:space="preserve">. Ours runs one fixed control word at every corner. Any remaining difference is the driver. </a:t>
            </a:r>
            <a:r>
              <a:rPr lang="en-US" sz="1150" dirty="0">
                <a:solidFill>
                  <a:srgbClr val="000000"/>
                </a:solidFill>
                <a:latin typeface="Calibri" pitchFamily="34" charset="0"/>
                <a:ea typeface="Calibri" pitchFamily="34" charset="-122"/>
                <a:cs typeface="Calibri" pitchFamily="34" charset="-120"/>
                <a:hlinkClick r:id="rId10"/>
              </a:rPr>
              <a:t xml:space="preserve">results/RESULTS-SUMMARY.txt</a:t>
            </a:r>
            <a:r>
              <a:rPr lang="en-US" sz="1150" dirty="0">
                <a:solidFill>
                  <a:srgbClr val="000000"/>
                </a:solidFill>
                <a:latin typeface="Calibri" pitchFamily="34" charset="0"/>
                <a:ea typeface="Calibri" pitchFamily="34" charset="-122"/>
                <a:cs typeface="Calibri" pitchFamily="34" charset="-120"/>
              </a:rPr>
              <a:t xml:space="preserve"> names the script behind each number, and </a:t>
            </a:r>
            <a:r>
              <a:rPr lang="en-US" sz="1150" dirty="0">
                <a:solidFill>
                  <a:srgbClr val="000000"/>
                </a:solidFill>
                <a:latin typeface="Calibri" pitchFamily="34" charset="0"/>
                <a:ea typeface="Calibri" pitchFamily="34" charset="-122"/>
                <a:cs typeface="Calibri" pitchFamily="34" charset="-120"/>
                <a:hlinkClick r:id="rId11"/>
              </a:rPr>
              <a:t xml:space="preserve">review/check_consistency.py</a:t>
            </a:r>
            <a:r>
              <a:rPr lang="en-US" sz="1150" dirty="0">
                <a:solidFill>
                  <a:srgbClr val="000000"/>
                </a:solidFill>
                <a:latin typeface="Calibri" pitchFamily="34" charset="0"/>
                <a:ea typeface="Calibri" pitchFamily="34" charset="-122"/>
                <a:cs typeface="Calibri" pitchFamily="34" charset="-120"/>
              </a:rPr>
              <a:t xml:space="preserve"> fails the build if a slide and the data disagree.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Model Validation: Three Device Models</a:t>
            </a:r>
            <a:endParaRPr lang="en-US" sz="2800" dirty="0"/>
          </a:p>
        </p:txBody>
      </p:sp>
      <p:sp>
        <p:nvSpPr>
          <p:cNvPr id="5" name="TextBox 4"/>
          <p:cNvSpPr txBox="1"/>
          <p:nvPr/>
        </p:nvSpPr>
        <p:spPr>
          <a:xfrm>
            <a:off x="640080" y="932688"/>
            <a:ext cx="11064240" cy="365760"/>
          </a:xfrm>
          <a:prstGeom prst="rect">
            <a:avLst/>
          </a:prstGeom>
          <a:noFill/>
        </p:spPr>
        <p:txBody>
          <a:bodyPr wrap="square" lIns="0" tIns="0" rIns="0" bIns="0">
            <a:spAutoFit/>
          </a:bodyPr>
          <a:lstStyle/>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rPr>
              <a:t xml:space="preserve">The same three configurations, run on three independent device models.</a:t>
            </a:r>
          </a:p>
        </p:txBody>
      </p:sp>
      <p:pic>
        <p:nvPicPr>
          <p:cNvPr id="6" name="Picture 5" descr="fig_model_table.png"/>
          <p:cNvPicPr>
            <a:picLocks noChangeAspect="1"/>
          </p:cNvPicPr>
          <p:nvPr/>
        </p:nvPicPr>
        <p:blipFill>
          <a:blip r:embed="rId4"/>
          <a:stretch>
            <a:fillRect/>
          </a:stretch>
        </p:blipFill>
        <p:spPr>
          <a:xfrm>
            <a:off x="1033332" y="1417320"/>
            <a:ext cx="10125027" cy="3749039"/>
          </a:xfrm>
          <a:prstGeom prst="rect">
            <a:avLst/>
          </a:prstGeom>
        </p:spPr>
      </p:pic>
      <p:sp>
        <p:nvSpPr>
          <p:cNvPr id="7" name="TextBox 6"/>
          <p:cNvSpPr txBox="1"/>
          <p:nvPr/>
        </p:nvSpPr>
        <p:spPr>
          <a:xfrm>
            <a:off x="502920" y="5303520"/>
            <a:ext cx="10838382" cy="129844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9 - </a:t>
            </a:r>
            <a:r>
              <a:rPr lang="en-US" sz="1150" dirty="0">
                <a:solidFill>
                  <a:srgbClr val="000000"/>
                </a:solidFill>
                <a:latin typeface="Calibri" pitchFamily="34" charset="0"/>
                <a:ea typeface="Calibri" pitchFamily="34" charset="-122"/>
                <a:cs typeface="Calibri" pitchFamily="34" charset="-120"/>
              </a:rPr>
              <a:t xml:space="preserve">Simulated in ngspice. </a:t>
            </a:r>
            <a:r>
              <a:rPr lang="en-US" sz="1150" dirty="0">
                <a:solidFill>
                  <a:srgbClr val="000000"/>
                </a:solidFill>
                <a:latin typeface="Calibri" pitchFamily="34" charset="0"/>
                <a:ea typeface="Calibri" pitchFamily="34" charset="-122"/>
                <a:cs typeface="Calibri" pitchFamily="34" charset="-120"/>
                <a:hlinkClick r:id="rId5"/>
              </a:rPr>
              <a:t xml:space="preserve">models/egan.lib</a:t>
            </a:r>
            <a:r>
              <a:rPr lang="en-US" sz="1150" dirty="0">
                <a:solidFill>
                  <a:srgbClr val="000000"/>
                </a:solidFill>
                <a:latin typeface="Calibri" pitchFamily="34" charset="0"/>
                <a:ea typeface="Calibri" pitchFamily="34" charset="-122"/>
                <a:cs typeface="Calibri" pitchFamily="34" charset="-120"/>
              </a:rPr>
              <a:t xml:space="preserve"> is behavioural with diode junction capacitances; </a:t>
            </a:r>
            <a:r>
              <a:rPr lang="en-US" sz="1150" dirty="0">
                <a:solidFill>
                  <a:srgbClr val="000000"/>
                </a:solidFill>
                <a:latin typeface="Calibri" pitchFamily="34" charset="0"/>
                <a:ea typeface="Calibri" pitchFamily="34" charset="-122"/>
                <a:cs typeface="Calibri" pitchFamily="34" charset="-120"/>
                <a:hlinkClick r:id="rId6"/>
              </a:rPr>
              <a:t xml:space="preserve">scripts/silicon_check.py</a:t>
            </a:r>
            <a:r>
              <a:rPr lang="en-US" sz="1150" dirty="0">
                <a:solidFill>
                  <a:srgbClr val="000000"/>
                </a:solidFill>
                <a:latin typeface="Calibri" pitchFamily="34" charset="0"/>
                <a:ea typeface="Calibri" pitchFamily="34" charset="-122"/>
                <a:cs typeface="Calibri" pitchFamily="34" charset="-120"/>
              </a:rPr>
              <a:t xml:space="preserve"> runs real SKY130 transistors; </a:t>
            </a:r>
            <a:r>
              <a:rPr lang="en-US" sz="1150" dirty="0">
                <a:solidFill>
                  <a:srgbClr val="000000"/>
                </a:solidFill>
                <a:latin typeface="Calibri" pitchFamily="34" charset="0"/>
                <a:ea typeface="Calibri" pitchFamily="34" charset="-122"/>
                <a:cs typeface="Calibri" pitchFamily="34" charset="-120"/>
                <a:hlinkClick r:id="rId7"/>
              </a:rPr>
              <a:t xml:space="preserve">models/egan_c.lib</a:t>
            </a:r>
            <a:r>
              <a:rPr lang="en-US" sz="1150" dirty="0">
                <a:solidFill>
                  <a:srgbClr val="000000"/>
                </a:solidFill>
                <a:latin typeface="Calibri" pitchFamily="34" charset="0"/>
                <a:ea typeface="Calibri" pitchFamily="34" charset="-122"/>
                <a:cs typeface="Calibri" pitchFamily="34" charset="-120"/>
              </a:rPr>
              <a:t xml:space="preserve"> replaces the diodes with a charge-based C(V). The sign of the no-clamp margin depends on the model: on the charge-based model the OFF gate reaches only +0.115 V of margin, meaning it never crosses threshold and the fault does not occur, against −0.249 V behaviourally and −0.563 V on SKY130. What every model agrees on is the ordering of the three configurations, and that the shipped configuration is safe on all of them by +2.032 to +2.710 V. The claim this project makes is the second one.</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13</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Numerical Reliability</a:t>
            </a:r>
            <a:endParaRPr lang="en-US" sz="2800" dirty="0"/>
          </a:p>
        </p:txBody>
      </p:sp>
      <p:sp>
        <p:nvSpPr>
          <p:cNvPr id="5" name="TextBox 4"/>
          <p:cNvSpPr txBox="1"/>
          <p:nvPr/>
        </p:nvSpPr>
        <p:spPr>
          <a:xfrm>
            <a:off x="640080" y="932688"/>
            <a:ext cx="11064240" cy="365760"/>
          </a:xfrm>
          <a:prstGeom prst="rect">
            <a:avLst/>
          </a:prstGeom>
          <a:noFill/>
        </p:spPr>
        <p:txBody>
          <a:bodyPr wrap="square" lIns="0" tIns="0" rIns="0" bIns="0">
            <a:spAutoFit/>
          </a:bodyPr>
          <a:lstStyle/>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rPr>
              <a:t xml:space="preserve">Whether these numbers are physics or solver settings, and every run accounted for.</a:t>
            </a:r>
          </a:p>
        </p:txBody>
      </p:sp>
      <p:pic>
        <p:nvPicPr>
          <p:cNvPr id="6" name="Picture 5" descr="fig_convergence.png"/>
          <p:cNvPicPr>
            <a:picLocks noChangeAspect="1"/>
          </p:cNvPicPr>
          <p:nvPr/>
        </p:nvPicPr>
        <p:blipFill>
          <a:blip r:embed="rId4"/>
          <a:stretch>
            <a:fillRect/>
          </a:stretch>
        </p:blipFill>
        <p:spPr>
          <a:xfrm>
            <a:off x="733799" y="1389888"/>
            <a:ext cx="10724096" cy="3794760"/>
          </a:xfrm>
          <a:prstGeom prst="rect">
            <a:avLst/>
          </a:prstGeom>
        </p:spPr>
      </p:pic>
      <p:sp>
        <p:nvSpPr>
          <p:cNvPr id="7" name="TextBox 6"/>
          <p:cNvSpPr txBox="1"/>
          <p:nvPr/>
        </p:nvSpPr>
        <p:spPr>
          <a:xfrm>
            <a:off x="502920" y="5303520"/>
            <a:ext cx="10838382" cy="132588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10 - </a:t>
            </a:r>
            <a:r>
              <a:rPr lang="en-US" sz="1150" dirty="0">
                <a:solidFill>
                  <a:srgbClr val="000000"/>
                </a:solidFill>
                <a:latin typeface="Calibri" pitchFamily="34" charset="0"/>
                <a:ea typeface="Calibri" pitchFamily="34" charset="-122"/>
                <a:cs typeface="Calibri" pitchFamily="34" charset="-120"/>
                <a:hlinkClick r:id="rId5"/>
              </a:rPr>
              <a:t xml:space="preserve">scripts/metric_converge.py</a:t>
            </a:r>
            <a:r>
              <a:rPr lang="en-US" sz="1150" dirty="0">
                <a:solidFill>
                  <a:srgbClr val="000000"/>
                </a:solidFill>
                <a:latin typeface="Calibri" pitchFamily="34" charset="0"/>
                <a:ea typeface="Calibri" pitchFamily="34" charset="-122"/>
                <a:cs typeface="Calibri" pitchFamily="34" charset="-120"/>
              </a:rPr>
              <a:t xml:space="preserve"> re-runs one word at five timesteps spanning 25×. The crosstalk margin the result rests on moves 0.14 % over that range and the spurious gate peak 0.04 %; </a:t>
            </a:r>
            <a:r>
              <a:rPr lang="en-US" sz="1150" dirty="0">
                <a:solidFill>
                  <a:srgbClr val="000000"/>
                </a:solidFill>
                <a:latin typeface="Calibri" pitchFamily="34" charset="0"/>
                <a:ea typeface="Calibri" pitchFamily="34" charset="-122"/>
                <a:cs typeface="Calibri" pitchFamily="34" charset="-120"/>
                <a:hlinkClick r:id="rId6"/>
              </a:rPr>
              <a:t xml:space="preserve">scripts/verdict_stability.py</a:t>
            </a:r>
            <a:r>
              <a:rPr lang="en-US" sz="1150" dirty="0">
                <a:solidFill>
                  <a:srgbClr val="000000"/>
                </a:solidFill>
                <a:latin typeface="Calibri" pitchFamily="34" charset="0"/>
                <a:ea typeface="Calibri" pitchFamily="34" charset="-122"/>
                <a:cs typeface="Calibri" pitchFamily="34" charset="-120"/>
              </a:rPr>
              <a:t xml:space="preserve"> flips 0 of 80 feasibility verdicts. Separately, the 36-corner grid is 25,911 completed runs of 25,920. </a:t>
            </a:r>
            <a:r>
              <a:rPr lang="en-US" sz="1150" dirty="0">
                <a:solidFill>
                  <a:srgbClr val="000000"/>
                </a:solidFill>
                <a:latin typeface="Calibri" pitchFamily="34" charset="0"/>
                <a:ea typeface="Calibri" pitchFamily="34" charset="-122"/>
                <a:cs typeface="Calibri" pitchFamily="34" charset="-120"/>
                <a:hlinkClick r:id="rId7"/>
              </a:rPr>
              <a:t xml:space="preserve">scripts/failed_runs.py</a:t>
            </a:r>
            <a:r>
              <a:rPr lang="en-US" sz="1150" dirty="0">
                <a:solidFill>
                  <a:srgbClr val="000000"/>
                </a:solidFill>
                <a:latin typeface="Calibri" pitchFamily="34" charset="0"/>
                <a:ea typeface="Calibri" pitchFamily="34" charset="-122"/>
                <a:cs typeface="Calibri" pitchFamily="34" charset="-120"/>
              </a:rPr>
              <a:t xml:space="preserve"> re-runs the nine that are not there: all nine fail again, so they are reproducible rather than flaky, all nine abort with the same ngspice transient convergence failure at the high-side gate node, and all nine are half-fixed settings - clamp without the rail, or rail without the clamp. None is the shipped configuration. One figure appears twice at different resolutions and the deck quotes the finer: switch-node overshoot is 17.9 % at the 0.02 ns step this deck reports, against 15.1 % at the sweep's 0.2 ns step, which is what </a:t>
            </a:r>
            <a:r>
              <a:rPr lang="en-US" sz="1150" dirty="0">
                <a:solidFill>
                  <a:srgbClr val="000000"/>
                </a:solidFill>
                <a:latin typeface="Calibri" pitchFamily="34" charset="0"/>
                <a:ea typeface="Calibri" pitchFamily="34" charset="-122"/>
                <a:cs typeface="Calibri" pitchFamily="34" charset="-120"/>
                <a:hlinkClick r:id="rId8"/>
              </a:rPr>
              <a:t xml:space="preserve">proof/LIVE-BUCK.sh</a:t>
            </a:r>
            <a:r>
              <a:rPr lang="en-US" sz="1150" dirty="0">
                <a:solidFill>
                  <a:srgbClr val="000000"/>
                </a:solidFill>
                <a:latin typeface="Calibri" pitchFamily="34" charset="0"/>
                <a:ea typeface="Calibri" pitchFamily="34" charset="-122"/>
                <a:cs typeface="Calibri" pitchFamily="34" charset="-120"/>
              </a:rPr>
              <a:t xml:space="preserve"> prints and says.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14</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Base Paper Driver: Simulation Result</a:t>
            </a:r>
            <a:endParaRPr lang="en-US" sz="2800" dirty="0"/>
          </a:p>
        </p:txBody>
      </p:sp>
      <p:sp>
        <p:nvSpPr>
          <p:cNvPr id="5" name="TextBox 4"/>
          <p:cNvSpPr txBox="1"/>
          <p:nvPr/>
        </p:nvSpPr>
        <p:spPr>
          <a:xfrm>
            <a:off x="640080" y="969264"/>
            <a:ext cx="11064240" cy="402336"/>
          </a:xfrm>
          <a:prstGeom prst="rect">
            <a:avLst/>
          </a:prstGeom>
          <a:noFill/>
        </p:spPr>
        <p:txBody>
          <a:bodyPr wrap="square" lIns="0" tIns="0" rIns="0" bIns="0">
            <a:spAutoFit/>
          </a:bodyPr>
          <a:lstStyle/>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hlinkClick r:id="rId7"/>
              </a:rPr>
              <a:t xml:space="preserve">models/zhangdrv.lib</a:t>
            </a:r>
            <a:r>
              <a:rPr lang="en-US" sz="1300" b="1" dirty="0">
                <a:solidFill>
                  <a:srgbClr val="000000"/>
                </a:solidFill>
                <a:latin typeface="Calibri" pitchFamily="34" charset="0"/>
                <a:ea typeface="Calibri" pitchFamily="34" charset="-122"/>
                <a:cs typeface="Calibri" pitchFamily="34" charset="-120"/>
              </a:rPr>
              <a:t xml:space="preserve"> on </a:t>
            </a:r>
            <a:r>
              <a:rPr lang="en-US" sz="1300" b="1" dirty="0">
                <a:solidFill>
                  <a:srgbClr val="000000"/>
                </a:solidFill>
                <a:latin typeface="Calibri" pitchFamily="34" charset="0"/>
                <a:ea typeface="Calibri" pitchFamily="34" charset="-122"/>
                <a:cs typeface="Calibri" pitchFamily="34" charset="-120"/>
                <a:hlinkClick r:id="rId8"/>
              </a:rPr>
              <a:t xml:space="preserve">sim/dpt.cir</a:t>
            </a:r>
            <a:r>
              <a:rPr lang="en-US" sz="1300" b="1" dirty="0">
                <a:solidFill>
                  <a:srgbClr val="000000"/>
                </a:solidFill>
                <a:latin typeface="Calibri" pitchFamily="34" charset="0"/>
                <a:ea typeface="Calibri" pitchFamily="34" charset="-122"/>
                <a:cs typeface="Calibri" pitchFamily="34" charset="-120"/>
              </a:rPr>
              <a:t xml:space="preserve">. Seven segments per bank in two stages, no clamp branch, no negative off rail.</a:t>
            </a:r>
          </a:p>
        </p:txBody>
      </p:sp>
      <p:pic>
        <p:nvPicPr>
          <p:cNvPr id="6" name="demo_basepaper.mp4">
            <a:hlinkClick r:id="" action="ppaction://media"/>
          </p:cNvPr>
          <p:cNvPicPr>
            <a:picLocks noChangeAspect="1"/>
          </p:cNvPicPr>
          <p:nvPr>
            <a:videoFile r:link="rId5"/>
            <p:extLst>
              <p:ext uri="{DAA4B4D4-6D71-4841-9C94-3DE7FCFB9230}">
                <p14:media xmlns:p14="http://schemas.microsoft.com/office/powerpoint/2010/main" r:embed="rId4"/>
              </p:ext>
            </p:extLst>
          </p:nvPr>
        </p:nvPicPr>
        <p:blipFill>
          <a:blip r:embed="rId6"/>
          <a:stretch>
            <a:fillRect/>
          </a:stretch>
        </p:blipFill>
        <p:spPr>
          <a:xfrm>
            <a:off x="2253996" y="1444752"/>
            <a:ext cx="7680960" cy="4315968"/>
          </a:xfrm>
          <a:prstGeom prst="rect">
            <a:avLst/>
          </a:prstGeom>
        </p:spPr>
      </p:pic>
      <p:sp>
        <p:nvSpPr>
          <p:cNvPr id="7" name="TextBox 6"/>
          <p:cNvSpPr txBox="1"/>
          <p:nvPr/>
        </p:nvSpPr>
        <p:spPr>
          <a:xfrm>
            <a:off x="502920" y="5852160"/>
            <a:ext cx="10838382" cy="969264"/>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11 - </a:t>
            </a:r>
            <a:r>
              <a:rPr lang="en-US" sz="1150" dirty="0">
                <a:solidFill>
                  <a:srgbClr val="000000"/>
                </a:solidFill>
                <a:latin typeface="Calibri" pitchFamily="34" charset="0"/>
                <a:ea typeface="Calibri" pitchFamily="34" charset="-122"/>
                <a:cs typeface="Calibri" pitchFamily="34" charset="-120"/>
              </a:rPr>
              <a:t xml:space="preserve">Their circuit, ngspice running it, the waveform. OFF gate peaks +0.993 V against a 1.400 V threshold - 0.407 V of margin. Run at nseg=2, tstep=4n, the setting </a:t>
            </a:r>
            <a:r>
              <a:rPr lang="en-US" sz="1150" dirty="0">
                <a:solidFill>
                  <a:srgbClr val="000000"/>
                </a:solidFill>
                <a:latin typeface="Calibri" pitchFamily="34" charset="0"/>
                <a:ea typeface="Calibri" pitchFamily="34" charset="-122"/>
                <a:cs typeface="Calibri" pitchFamily="34" charset="-120"/>
                <a:hlinkClick r:id="rId9"/>
              </a:rPr>
              <a:t xml:space="preserve">scripts/headtohead.py</a:t>
            </a:r>
            <a:r>
              <a:rPr lang="en-US" sz="1150" dirty="0">
                <a:solidFill>
                  <a:srgbClr val="000000"/>
                </a:solidFill>
                <a:latin typeface="Calibri" pitchFamily="34" charset="0"/>
                <a:ea typeface="Calibri" pitchFamily="34" charset="-122"/>
                <a:cs typeface="Calibri" pitchFamily="34" charset="-120"/>
              </a:rPr>
              <a:t xml:space="preserve"> found best for their driver here. 35 s.</a:t>
            </a:r>
          </a:p>
        </p:txBody>
      </p:sp>
    </p:spTree>
  </p:cSld>
  <p:clrMapOvr>
    <a:masterClrMapping/>
  </p:clrMapOvr>
  <p:timing>
    <p:tnLst>
      <p:par>
        <p:cTn id="1" dur="indefinite" restart="never" nodeType="tmRoot">
          <p:childTnLst>
            <p:video>
              <p:cMediaNode vol="80000">
                <p:cTn id="2" fill="hold" display="0">
                  <p:stCondLst>
                    <p:cond delay="indefinite"/>
                  </p:stCondLst>
                </p:cTn>
                <p:tgtEl>
                  <p:spTgt spid="6"/>
                </p:tgtEl>
              </p:cMediaNode>
            </p:video>
          </p:childTnLst>
        </p:cTn>
      </p:par>
    </p:tnLst>
  </p:timing>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15</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Proposed Driver: Simulation Result</a:t>
            </a:r>
            <a:endParaRPr lang="en-US" sz="2800" dirty="0"/>
          </a:p>
        </p:txBody>
      </p:sp>
      <p:sp>
        <p:nvSpPr>
          <p:cNvPr id="5" name="TextBox 4"/>
          <p:cNvSpPr txBox="1"/>
          <p:nvPr/>
        </p:nvSpPr>
        <p:spPr>
          <a:xfrm>
            <a:off x="640080" y="969264"/>
            <a:ext cx="11064240" cy="402336"/>
          </a:xfrm>
          <a:prstGeom prst="rect">
            <a:avLst/>
          </a:prstGeom>
          <a:noFill/>
        </p:spPr>
        <p:txBody>
          <a:bodyPr wrap="square" lIns="0" tIns="0" rIns="0" bIns="0">
            <a:spAutoFit/>
          </a:bodyPr>
          <a:lstStyle/>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hlinkClick r:id="rId7"/>
              </a:rPr>
              <a:t xml:space="preserve">models/segdrv.lib</a:t>
            </a:r>
            <a:r>
              <a:rPr lang="en-US" sz="1300" b="1" dirty="0">
                <a:solidFill>
                  <a:srgbClr val="000000"/>
                </a:solidFill>
                <a:latin typeface="Calibri" pitchFamily="34" charset="0"/>
                <a:ea typeface="Calibri" pitchFamily="34" charset="-122"/>
                <a:cs typeface="Calibri" pitchFamily="34" charset="-120"/>
              </a:rPr>
              <a:t xml:space="preserve"> on the same </a:t>
            </a:r>
            <a:r>
              <a:rPr lang="en-US" sz="1300" b="1" dirty="0">
                <a:solidFill>
                  <a:srgbClr val="000000"/>
                </a:solidFill>
                <a:latin typeface="Calibri" pitchFamily="34" charset="0"/>
                <a:ea typeface="Calibri" pitchFamily="34" charset="-122"/>
                <a:cs typeface="Calibri" pitchFamily="34" charset="-120"/>
                <a:hlinkClick r:id="rId8"/>
              </a:rPr>
              <a:t xml:space="preserve">sim/dpt.cir</a:t>
            </a:r>
            <a:r>
              <a:rPr lang="en-US" sz="1300" b="1" dirty="0">
                <a:solidFill>
                  <a:srgbClr val="000000"/>
                </a:solidFill>
                <a:latin typeface="Calibri" pitchFamily="34" charset="0"/>
                <a:ea typeface="Calibri" pitchFamily="34" charset="-122"/>
                <a:cs typeface="Calibri" pitchFamily="34" charset="-120"/>
              </a:rPr>
              <a:t xml:space="preserve">. Eight segments per bank, active Miller clamp, −2 V off rail.</a:t>
            </a:r>
          </a:p>
        </p:txBody>
      </p:sp>
      <p:pic>
        <p:nvPicPr>
          <p:cNvPr id="6" name="demo_ours.mp4">
            <a:hlinkClick r:id="" action="ppaction://media"/>
          </p:cNvPr>
          <p:cNvPicPr>
            <a:picLocks noChangeAspect="1"/>
          </p:cNvPicPr>
          <p:nvPr>
            <a:videoFile r:link="rId5"/>
            <p:extLst>
              <p:ext uri="{DAA4B4D4-6D71-4841-9C94-3DE7FCFB9230}">
                <p14:media xmlns:p14="http://schemas.microsoft.com/office/powerpoint/2010/main" r:embed="rId4"/>
              </p:ext>
            </p:extLst>
          </p:nvPr>
        </p:nvPicPr>
        <p:blipFill>
          <a:blip r:embed="rId6"/>
          <a:stretch>
            <a:fillRect/>
          </a:stretch>
        </p:blipFill>
        <p:spPr>
          <a:xfrm>
            <a:off x="2253996" y="1444752"/>
            <a:ext cx="7680960" cy="4315968"/>
          </a:xfrm>
          <a:prstGeom prst="rect">
            <a:avLst/>
          </a:prstGeom>
        </p:spPr>
      </p:pic>
      <p:sp>
        <p:nvSpPr>
          <p:cNvPr id="7" name="TextBox 6"/>
          <p:cNvSpPr txBox="1"/>
          <p:nvPr/>
        </p:nvSpPr>
        <p:spPr>
          <a:xfrm>
            <a:off x="502920" y="5852160"/>
            <a:ext cx="10838382" cy="969264"/>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12 - </a:t>
            </a:r>
            <a:r>
              <a:rPr lang="en-US" sz="1150" dirty="0">
                <a:solidFill>
                  <a:srgbClr val="000000"/>
                </a:solidFill>
                <a:latin typeface="Calibri" pitchFamily="34" charset="0"/>
                <a:ea typeface="Calibri" pitchFamily="34" charset="-122"/>
                <a:cs typeface="Calibri" pitchFamily="34" charset="-120"/>
              </a:rPr>
              <a:t xml:space="preserve">The same sequence, our driver. Gate peaks −1.176 V - 2.576 V of margin, 6.3× our implementation of their scheme. One fixed control word. Axes identical to the previous slide. 35 s.</a:t>
            </a:r>
          </a:p>
        </p:txBody>
      </p:sp>
    </p:spTree>
  </p:cSld>
  <p:clrMapOvr>
    <a:masterClrMapping/>
  </p:clrMapOvr>
  <p:timing>
    <p:tnLst>
      <p:par>
        <p:cTn id="1" dur="indefinite" restart="never" nodeType="tmRoot">
          <p:childTnLst>
            <p:video>
              <p:cMediaNode vol="80000">
                <p:cTn id="2" fill="hold" display="0">
                  <p:stCondLst>
                    <p:cond delay="indefinite"/>
                  </p:stCondLst>
                </p:cTn>
                <p:tgtEl>
                  <p:spTgt spid="6"/>
                </p:tgtEl>
              </p:cMediaNode>
            </p:video>
          </p:childTnLst>
        </p:cTn>
      </p:par>
    </p:tnLst>
  </p:timing>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16</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Live Simulation</a:t>
            </a:r>
            <a:endParaRPr lang="en-US" sz="2800" dirty="0"/>
          </a:p>
        </p:txBody>
      </p:sp>
      <p:sp>
        <p:nvSpPr>
          <p:cNvPr id="5" name="TextBox 4"/>
          <p:cNvSpPr txBox="1"/>
          <p:nvPr/>
        </p:nvSpPr>
        <p:spPr>
          <a:xfrm>
            <a:off x="640080" y="1005840"/>
            <a:ext cx="11064240" cy="402336"/>
          </a:xfrm>
          <a:prstGeom prst="rect">
            <a:avLst/>
          </a:prstGeom>
          <a:noFill/>
        </p:spPr>
        <p:txBody>
          <a:bodyPr wrap="square" lIns="0" tIns="0" rIns="0" bIns="0">
            <a:spAutoFit/>
          </a:bodyPr>
          <a:lstStyle/>
          <a:p>
            <a:pPr marL="177800" indent="0">
              <a:spcAft>
                <a:spcPts val="0"/>
              </a:spcAft>
              <a:buSzPct val="100000"/>
              <a:buNone/>
            </a:pPr>
            <a:r>
              <a:rPr lang="en-US" sz="1400" b="1" dirty="0">
                <a:solidFill>
                  <a:srgbClr val="000000"/>
                </a:solidFill>
                <a:latin typeface="Calibri" pitchFamily="34" charset="0"/>
                <a:ea typeface="Calibri" pitchFamily="34" charset="-122"/>
                <a:cs typeface="Calibri" pitchFamily="34" charset="-120"/>
              </a:rPr>
              <a:t xml:space="preserve">bash </a:t>
            </a:r>
            <a:r>
              <a:rPr lang="en-US" sz="1400" b="1" dirty="0">
                <a:solidFill>
                  <a:srgbClr val="000000"/>
                </a:solidFill>
                <a:latin typeface="Calibri" pitchFamily="34" charset="0"/>
                <a:ea typeface="Calibri" pitchFamily="34" charset="-122"/>
                <a:cs typeface="Calibri" pitchFamily="34" charset="-120"/>
                <a:hlinkClick r:id="rId8"/>
              </a:rPr>
              <a:t xml:space="preserve">proof/LIVE-SIM.sh</a:t>
            </a:r>
            <a:r>
              <a:rPr lang="en-US" sz="1400" dirty="0">
                <a:solidFill>
                  <a:srgbClr val="000000"/>
                </a:solidFill>
                <a:latin typeface="Calibri" pitchFamily="34" charset="0"/>
                <a:ea typeface="Calibri" pitchFamily="34" charset="-122"/>
                <a:cs typeface="Calibri" pitchFamily="34" charset="-120"/>
              </a:rPr>
              <a:t xml:space="preserve">   - two ngspice transients, about ten seconds, on the presentation machine.</a:t>
            </a:r>
          </a:p>
        </p:txBody>
      </p:sp>
      <p:pic>
        <p:nvPicPr>
          <p:cNvPr id="6" name="live_demo_recording.mp4">
            <a:hlinkClick r:id="" action="ppaction://media"/>
          </p:cNvPr>
          <p:cNvPicPr>
            <a:picLocks noChangeAspect="1"/>
          </p:cNvPicPr>
          <p:nvPr>
            <a:videoFile r:link="rId5"/>
            <p:extLst>
              <p:ext uri="{DAA4B4D4-6D71-4841-9C94-3DE7FCFB9230}">
                <p14:media xmlns:p14="http://schemas.microsoft.com/office/powerpoint/2010/main" r:embed="rId4"/>
              </p:ext>
            </p:extLst>
          </p:nvPr>
        </p:nvPicPr>
        <p:blipFill>
          <a:blip r:embed="rId6"/>
          <a:stretch>
            <a:fillRect/>
          </a:stretch>
        </p:blipFill>
        <p:spPr>
          <a:xfrm>
            <a:off x="777240" y="1645920"/>
            <a:ext cx="5029200" cy="2825496"/>
          </a:xfrm>
          <a:prstGeom prst="rect">
            <a:avLst/>
          </a:prstGeom>
        </p:spPr>
      </p:pic>
      <p:pic>
        <p:nvPicPr>
          <p:cNvPr id="7" name="Picture 6" descr="fig_live_sim.png"/>
          <p:cNvPicPr>
            <a:picLocks noChangeAspect="1"/>
          </p:cNvPicPr>
          <p:nvPr/>
        </p:nvPicPr>
        <p:blipFill>
          <a:blip r:embed="rId7"/>
          <a:stretch>
            <a:fillRect/>
          </a:stretch>
        </p:blipFill>
        <p:spPr>
          <a:xfrm>
            <a:off x="6812280" y="1645920"/>
            <a:ext cx="3961520" cy="2825496"/>
          </a:xfrm>
          <a:prstGeom prst="rect">
            <a:avLst/>
          </a:prstGeom>
        </p:spPr>
      </p:pic>
      <p:sp>
        <p:nvSpPr>
          <p:cNvPr id="8" name="TextBox 7"/>
          <p:cNvSpPr txBox="1"/>
          <p:nvPr/>
        </p:nvSpPr>
        <p:spPr>
          <a:xfrm>
            <a:off x="777240" y="4553712"/>
            <a:ext cx="5029200" cy="310896"/>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recorded run of the same command</a:t>
            </a:r>
          </a:p>
        </p:txBody>
      </p:sp>
      <p:sp>
        <p:nvSpPr>
          <p:cNvPr id="9" name="TextBox 8"/>
          <p:cNvSpPr txBox="1"/>
          <p:nvPr/>
        </p:nvSpPr>
        <p:spPr>
          <a:xfrm>
            <a:off x="6812280" y="4553712"/>
            <a:ext cx="4572000" cy="310896"/>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the waveforms it produces</a:t>
            </a:r>
          </a:p>
        </p:txBody>
      </p:sp>
      <p:sp>
        <p:nvSpPr>
          <p:cNvPr id="10" name="TextBox 9"/>
          <p:cNvSpPr txBox="1"/>
          <p:nvPr/>
        </p:nvSpPr>
        <p:spPr>
          <a:xfrm>
            <a:off x="502920" y="4974336"/>
            <a:ext cx="11201400" cy="128016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13 - </a:t>
            </a:r>
            <a:r>
              <a:rPr lang="en-US" sz="1150" b="1" dirty="0">
                <a:solidFill>
                  <a:srgbClr val="000000"/>
                </a:solidFill>
                <a:latin typeface="Calibri" pitchFamily="34" charset="0"/>
                <a:ea typeface="Calibri" pitchFamily="34" charset="-122"/>
                <a:cs typeface="Calibri" pitchFamily="34" charset="-120"/>
              </a:rPr>
              <a:t xml:space="preserve"> Simulated in ngspice. </a:t>
            </a:r>
            <a:r>
              <a:rPr lang="en-US" sz="1150" dirty="0">
                <a:solidFill>
                  <a:srgbClr val="000000"/>
                </a:solidFill>
                <a:latin typeface="Calibri" pitchFamily="34" charset="0"/>
                <a:ea typeface="Calibri" pitchFamily="34" charset="-122"/>
                <a:cs typeface="Calibri" pitchFamily="34" charset="-120"/>
              </a:rPr>
              <a:t xml:space="preserve">Two runs of one circuit file. Between them only CLKEN (the Miller clamp) and VNEG (the gate off rail) change, so no other parameter varies. It prints what it measured beside what these slides claim - OFF gate 1.649 V against the deck's 1.65, margin 2.576 V against the deck's 2.576 - then draws the waveforms those two runs produced. 3.8 s of that is ngspice; the rest is drawing. </a:t>
            </a:r>
            <a:r>
              <a:rPr lang="en-US" sz="1150" dirty="0">
                <a:solidFill>
                  <a:srgbClr val="000000"/>
                </a:solidFill>
                <a:latin typeface="Calibri" pitchFamily="34" charset="0"/>
                <a:ea typeface="Calibri" pitchFamily="34" charset="-122"/>
                <a:cs typeface="Calibri" pitchFamily="34" charset="-120"/>
                <a:hlinkClick r:id="rId9"/>
              </a:rPr>
              <a:t xml:space="preserve">scripts/live_demo.py</a:t>
            </a:r>
            <a:r>
              <a:rPr lang="en-US" sz="1150" dirty="0">
                <a:solidFill>
                  <a:srgbClr val="000000"/>
                </a:solidFill>
                <a:latin typeface="Calibri" pitchFamily="34" charset="0"/>
                <a:ea typeface="Calibri" pitchFamily="34" charset="-122"/>
                <a:cs typeface="Calibri" pitchFamily="34" charset="-120"/>
              </a:rPr>
              <a:t xml:space="preserve">.</a:t>
            </a:r>
          </a:p>
        </p:txBody>
      </p:sp>
    </p:spTree>
  </p:cSld>
  <p:clrMapOvr>
    <a:masterClrMapping/>
  </p:clrMapOvr>
  <p:timing>
    <p:tnLst>
      <p:par>
        <p:cTn id="1" dur="indefinite" restart="never" nodeType="tmRoot">
          <p:childTnLst>
            <p:video>
              <p:cMediaNode vol="80000">
                <p:cTn id="2" fill="hold" display="0">
                  <p:stCondLst>
                    <p:cond delay="indefinite"/>
                  </p:stCondLst>
                </p:cTn>
                <p:tgtEl>
                  <p:spTgt spid="6"/>
                </p:tgtEl>
              </p:cMediaNode>
            </p:video>
          </p:childTnLst>
        </p:cTn>
      </p:par>
    </p:tnLst>
  </p:timing>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17</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Crosstalk: Fault and Mitigation</a:t>
            </a:r>
            <a:endParaRPr lang="en-US" sz="2800" dirty="0"/>
          </a:p>
        </p:txBody>
      </p:sp>
      <p:pic>
        <p:nvPicPr>
          <p:cNvPr id="5" name="Picture 4" descr="image.png"/>
          <p:cNvPicPr>
            <a:picLocks noChangeAspect="1"/>
          </p:cNvPicPr>
          <p:nvPr/>
        </p:nvPicPr>
        <p:blipFill>
          <a:blip r:embed="rId3"/>
          <a:stretch>
            <a:fillRect/>
          </a:stretch>
        </p:blipFill>
        <p:spPr>
          <a:xfrm>
            <a:off x="2697138" y="1188720"/>
            <a:ext cx="6797419" cy="4315968"/>
          </a:xfrm>
          <a:prstGeom prst="rect">
            <a:avLst/>
          </a:prstGeom>
        </p:spPr>
      </p:pic>
      <p:sp>
        <p:nvSpPr>
          <p:cNvPr id="6" name="TextBox 5"/>
          <p:cNvSpPr txBox="1"/>
          <p:nvPr/>
        </p:nvSpPr>
        <p:spPr>
          <a:xfrm>
            <a:off x="502920" y="5742432"/>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14 - </a:t>
            </a:r>
            <a:r>
              <a:rPr lang="en-US" sz="1150" b="1" dirty="0">
                <a:solidFill>
                  <a:srgbClr val="000000"/>
                </a:solidFill>
                <a:latin typeface="Calibri" pitchFamily="34" charset="0"/>
                <a:ea typeface="Calibri" pitchFamily="34" charset="-122"/>
                <a:cs typeface="Calibri" pitchFamily="34" charset="-120"/>
              </a:rPr>
              <a:t xml:space="preserve"> Simulated in ngspice. </a:t>
            </a:r>
            <a:r>
              <a:rPr lang="en-US" sz="1150" dirty="0">
                <a:solidFill>
                  <a:srgbClr val="000000"/>
                </a:solidFill>
                <a:latin typeface="Calibri" pitchFamily="34" charset="0"/>
                <a:ea typeface="Calibri" pitchFamily="34" charset="-122"/>
                <a:cs typeface="Calibri" pitchFamily="34" charset="-120"/>
              </a:rPr>
              <a:t xml:space="preserve">Two runs of </a:t>
            </a:r>
            <a:r>
              <a:rPr lang="en-US" sz="1150" dirty="0">
                <a:solidFill>
                  <a:srgbClr val="000000"/>
                </a:solidFill>
                <a:latin typeface="Calibri" pitchFamily="34" charset="0"/>
                <a:ea typeface="Calibri" pitchFamily="34" charset="-122"/>
                <a:cs typeface="Calibri" pitchFamily="34" charset="-120"/>
                <a:hlinkClick r:id="rId4"/>
              </a:rPr>
              <a:t xml:space="preserve">sim/dpt.cir</a:t>
            </a:r>
            <a:r>
              <a:rPr lang="en-US" sz="1150" dirty="0">
                <a:solidFill>
                  <a:srgbClr val="000000"/>
                </a:solidFill>
                <a:latin typeface="Calibri" pitchFamily="34" charset="0"/>
                <a:ea typeface="Calibri" pitchFamily="34" charset="-122"/>
                <a:cs typeface="Calibri" pitchFamily="34" charset="-120"/>
              </a:rPr>
              <a:t xml:space="preserve">. Top row: the switch node falls from 106 V, its 90–10 % edge taking 2.90 ns and peaking at 124 V/ns - that dv/dt drives i = C_GD·dv/dt into the OFF device's gate, and is the cause. Bottom row: that gate. Left, without the clamp, it rests at +0.005 V, is lifted +1.643 V and peaks at +1.649 V, past the 1.4 V threshold - false_turn_on = 1. Right, with the clamp and the −2 V rail, it rests at −1.941 V, is lifted only +0.765 V and peaks at −1.176 V - false_turn_on = 0. The two fixes are not one mechanism: the rail moves where the gate starts, the clamp shortens the lift by giving the injected charge a 0.5 Ω path out. </a:t>
            </a:r>
            <a:r>
              <a:rPr lang="en-US" sz="1150" dirty="0">
                <a:solidFill>
                  <a:srgbClr val="000000"/>
                </a:solidFill>
                <a:latin typeface="Calibri" pitchFamily="34" charset="0"/>
                <a:ea typeface="Calibri" pitchFamily="34" charset="-122"/>
                <a:cs typeface="Calibri" pitchFamily="34" charset="-120"/>
                <a:hlinkClick r:id="rId5"/>
              </a:rPr>
              <a:t xml:space="preserve">scripts/waveform_anatomy.py</a:t>
            </a:r>
            <a:r>
              <a:rPr lang="en-US" sz="1150" dirty="0">
                <a:solidFill>
                  <a:srgbClr val="000000"/>
                </a:solidFill>
                <a:latin typeface="Calibri" pitchFamily="34" charset="0"/>
                <a:ea typeface="Calibri" pitchFamily="34" charset="-122"/>
                <a:cs typeface="Calibri" pitchFamily="34" charset="-120"/>
              </a:rPr>
              <a:t xml:space="preserve">.</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18</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Comparison with the Base Paper</a:t>
            </a:r>
            <a:endParaRPr lang="en-US" sz="2800" dirty="0"/>
          </a:p>
        </p:txBody>
      </p:sp>
      <p:sp>
        <p:nvSpPr>
          <p:cNvPr id="5" name="TextBox 4"/>
          <p:cNvSpPr txBox="1"/>
          <p:nvPr/>
        </p:nvSpPr>
        <p:spPr>
          <a:xfrm>
            <a:off x="640080" y="1060704"/>
            <a:ext cx="11064240" cy="512064"/>
          </a:xfrm>
          <a:prstGeom prst="rect">
            <a:avLst/>
          </a:prstGeom>
          <a:noFill/>
        </p:spPr>
        <p:txBody>
          <a:bodyPr wrap="square" lIns="0" tIns="0" rIns="0" bIns="0">
            <a:spAutoFit/>
          </a:bodyPr>
          <a:lstStyle/>
          <a:p>
            <a:pPr marL="177800" indent="0">
              <a:spcAft>
                <a:spcPts val="0"/>
              </a:spcAft>
              <a:buSzPct val="100000"/>
              <a:buNone/>
            </a:pPr>
            <a:r>
              <a:rPr lang="en-US" sz="1250" dirty="0">
                <a:solidFill>
                  <a:srgbClr val="000000"/>
                </a:solidFill>
                <a:latin typeface="Calibri" pitchFamily="34" charset="0"/>
                <a:ea typeface="Calibri" pitchFamily="34" charset="-122"/>
                <a:cs typeface="Calibri" pitchFamily="34" charset="-120"/>
              </a:rPr>
              <a:t xml:space="preserve">Only the driver changes. Ours holds one fixed word at every corner; theirs is re-optimised at each one - more freedom than their design has. At three of four corners that search returns their built setting, so those two columns match.</a:t>
            </a:r>
          </a:p>
        </p:txBody>
      </p:sp>
      <p:graphicFrame>
        <p:nvGraphicFramePr>
          <p:cNvPr id="6" name="Table 5"/>
          <p:cNvGraphicFramePr>
            <a:graphicFrameLocks noGrp="1"/>
          </p:cNvGraphicFramePr>
          <p:nvPr/>
        </p:nvGraphicFramePr>
        <p:xfrm>
          <a:off x="566928" y="1645920"/>
          <a:ext cx="11100814" cy="1417320"/>
        </p:xfrm>
        <a:graphic>
          <a:graphicData uri="http://schemas.openxmlformats.org/drawingml/2006/table">
            <a:tbl>
              <a:tblPr firstRow="1">
                <a:tableStyleId>{5C22544A-7EE6-4342-B048-85BDC9FD1C3A}</a:tableStyleId>
              </a:tblPr>
              <a:tblGrid>
                <a:gridCol w="2664195"/>
                <a:gridCol w="2331171"/>
                <a:gridCol w="2442179"/>
                <a:gridCol w="2220163"/>
                <a:gridCol w="1443106"/>
              </a:tblGrid>
              <a:tr h="283464">
                <a:tc>
                  <a:txBody>
                    <a:bodyPr wrap="square"/>
                    <a:lstStyle/>
                    <a:p>
                      <a:r>
                        <a:rPr sz="1000" b="1">
                          <a:latin typeface="Calibri"/>
                        </a:rPr>
                        <a:t>crosstalk margin</a:t>
                      </a:r>
                    </a:p>
                  </a:txBody>
                  <a:tcPr marL="50292" marR="50292" marT="27432" marB="27432"/>
                </a:tc>
                <a:tc>
                  <a:txBody>
                    <a:bodyPr wrap="square"/>
                    <a:lstStyle/>
                    <a:p>
                      <a:r>
                        <a:rPr sz="1000" b="1">
                          <a:latin typeface="Calibri"/>
                        </a:rPr>
                        <a:t>base, as their paper builds it</a:t>
                      </a:r>
                    </a:p>
                  </a:txBody>
                  <a:tcPr marL="50292" marR="50292" marT="27432" marB="27432"/>
                </a:tc>
                <a:tc>
                  <a:txBody>
                    <a:bodyPr wrap="square"/>
                    <a:lstStyle/>
                    <a:p>
                      <a:r>
                        <a:rPr sz="1000" b="1">
                          <a:latin typeface="Calibri"/>
                        </a:rPr>
                        <a:t>base, re-tuned at every corner</a:t>
                      </a:r>
                    </a:p>
                  </a:txBody>
                  <a:tcPr marL="50292" marR="50292" marT="27432" marB="27432"/>
                </a:tc>
                <a:tc>
                  <a:txBody>
                    <a:bodyPr wrap="square"/>
                    <a:lstStyle/>
                    <a:p>
                      <a:r>
                        <a:rPr sz="1000" b="1">
                          <a:latin typeface="Calibri"/>
                        </a:rPr>
                        <a:t>ours, one fixed word</a:t>
                      </a:r>
                    </a:p>
                  </a:txBody>
                  <a:tcPr marL="50292" marR="50292" marT="27432" marB="27432"/>
                </a:tc>
                <a:tc>
                  <a:txBody>
                    <a:bodyPr wrap="square"/>
                    <a:lstStyle/>
                    <a:p>
                      <a:r>
                        <a:rPr sz="1000" b="1">
                          <a:latin typeface="Calibri"/>
                        </a:rPr>
                        <a:t>vs their best</a:t>
                      </a:r>
                    </a:p>
                  </a:txBody>
                  <a:tcPr marL="50292" marR="50292" marT="27432" marB="27432"/>
                </a:tc>
              </a:tr>
              <a:tr h="283464">
                <a:tc>
                  <a:txBody>
                    <a:bodyPr wrap="square"/>
                    <a:lstStyle/>
                    <a:p>
                      <a:r>
                        <a:rPr sz="1000" b="1">
                          <a:latin typeface="Calibri"/>
                        </a:rPr>
                        <a:t>50 V / 2 A / 25 °C</a:t>
                      </a:r>
                    </a:p>
                  </a:txBody>
                  <a:tcPr marL="50292" marR="50292" marT="27432" marB="27432"/>
                </a:tc>
                <a:tc>
                  <a:txBody>
                    <a:bodyPr wrap="square"/>
                    <a:lstStyle/>
                    <a:p>
                      <a:r>
                        <a:rPr sz="1000" b="0">
                          <a:latin typeface="Calibri"/>
                        </a:rPr>
                        <a:t>+0.338 V</a:t>
                      </a:r>
                    </a:p>
                  </a:txBody>
                  <a:tcPr marL="50292" marR="50292" marT="27432" marB="27432"/>
                </a:tc>
                <a:tc>
                  <a:txBody>
                    <a:bodyPr wrap="square"/>
                    <a:lstStyle/>
                    <a:p>
                      <a:r>
                        <a:rPr sz="1000" b="0">
                          <a:latin typeface="Calibri"/>
                        </a:rPr>
                        <a:t>+0.503 V</a:t>
                      </a:r>
                    </a:p>
                  </a:txBody>
                  <a:tcPr marL="50292" marR="50292" marT="27432" marB="27432"/>
                </a:tc>
                <a:tc>
                  <a:txBody>
                    <a:bodyPr wrap="square"/>
                    <a:lstStyle/>
                    <a:p>
                      <a:r>
                        <a:rPr sz="1000" b="1">
                          <a:solidFill>
                            <a:srgbClr val="1B7F3B"/>
                          </a:solidFill>
                          <a:latin typeface="Calibri"/>
                        </a:rPr>
                        <a:t>+2.757 V</a:t>
                      </a:r>
                    </a:p>
                  </a:txBody>
                  <a:tcPr marL="50292" marR="50292" marT="27432" marB="27432"/>
                </a:tc>
                <a:tc>
                  <a:txBody>
                    <a:bodyPr wrap="square"/>
                    <a:lstStyle/>
                    <a:p>
                      <a:r>
                        <a:rPr sz="1000" b="1">
                          <a:latin typeface="Calibri"/>
                        </a:rPr>
                        <a:t>5.5×</a:t>
                      </a:r>
                    </a:p>
                  </a:txBody>
                  <a:tcPr marL="50292" marR="50292" marT="27432" marB="27432"/>
                </a:tc>
              </a:tr>
              <a:tr h="283464">
                <a:tc>
                  <a:txBody>
                    <a:bodyPr wrap="square"/>
                    <a:lstStyle/>
                    <a:p>
                      <a:r>
                        <a:rPr sz="1000" b="1">
                          <a:latin typeface="Calibri"/>
                        </a:rPr>
                        <a:t>100 V / 10 A / 25 °C</a:t>
                      </a:r>
                    </a:p>
                  </a:txBody>
                  <a:tcPr marL="50292" marR="50292" marT="27432" marB="27432"/>
                </a:tc>
                <a:tc>
                  <a:txBody>
                    <a:bodyPr wrap="square"/>
                    <a:lstStyle/>
                    <a:p>
                      <a:r>
                        <a:rPr sz="1000" b="0">
                          <a:latin typeface="Calibri"/>
                        </a:rPr>
                        <a:t>+0.407 V</a:t>
                      </a:r>
                    </a:p>
                  </a:txBody>
                  <a:tcPr marL="50292" marR="50292" marT="27432" marB="27432"/>
                </a:tc>
                <a:tc>
                  <a:txBody>
                    <a:bodyPr wrap="square"/>
                    <a:lstStyle/>
                    <a:p>
                      <a:r>
                        <a:rPr sz="1000" b="0">
                          <a:latin typeface="Calibri"/>
                        </a:rPr>
                        <a:t>+0.407 V</a:t>
                      </a:r>
                    </a:p>
                  </a:txBody>
                  <a:tcPr marL="50292" marR="50292" marT="27432" marB="27432"/>
                </a:tc>
                <a:tc>
                  <a:txBody>
                    <a:bodyPr wrap="square"/>
                    <a:lstStyle/>
                    <a:p>
                      <a:r>
                        <a:rPr sz="1000" b="1">
                          <a:solidFill>
                            <a:srgbClr val="1B7F3B"/>
                          </a:solidFill>
                          <a:latin typeface="Calibri"/>
                        </a:rPr>
                        <a:t>+2.576 V</a:t>
                      </a:r>
                    </a:p>
                  </a:txBody>
                  <a:tcPr marL="50292" marR="50292" marT="27432" marB="27432"/>
                </a:tc>
                <a:tc>
                  <a:txBody>
                    <a:bodyPr wrap="square"/>
                    <a:lstStyle/>
                    <a:p>
                      <a:r>
                        <a:rPr sz="1000" b="1">
                          <a:latin typeface="Calibri"/>
                        </a:rPr>
                        <a:t>6.3×</a:t>
                      </a:r>
                    </a:p>
                  </a:txBody>
                  <a:tcPr marL="50292" marR="50292" marT="27432" marB="27432"/>
                </a:tc>
              </a:tr>
              <a:tr h="283464">
                <a:tc>
                  <a:txBody>
                    <a:bodyPr wrap="square"/>
                    <a:lstStyle/>
                    <a:p>
                      <a:r>
                        <a:rPr sz="1000" b="1">
                          <a:latin typeface="Calibri"/>
                        </a:rPr>
                        <a:t>200 V / 2 A / 125 °C</a:t>
                      </a:r>
                    </a:p>
                  </a:txBody>
                  <a:tcPr marL="50292" marR="50292" marT="27432" marB="27432"/>
                </a:tc>
                <a:tc>
                  <a:txBody>
                    <a:bodyPr wrap="square"/>
                    <a:lstStyle/>
                    <a:p>
                      <a:r>
                        <a:rPr sz="1000" b="0">
                          <a:latin typeface="Calibri"/>
                        </a:rPr>
                        <a:t>+0.261 V</a:t>
                      </a:r>
                    </a:p>
                  </a:txBody>
                  <a:tcPr marL="50292" marR="50292" marT="27432" marB="27432"/>
                </a:tc>
                <a:tc>
                  <a:txBody>
                    <a:bodyPr wrap="square"/>
                    <a:lstStyle/>
                    <a:p>
                      <a:r>
                        <a:rPr sz="1000" b="0">
                          <a:latin typeface="Calibri"/>
                        </a:rPr>
                        <a:t>+0.261 V</a:t>
                      </a:r>
                    </a:p>
                  </a:txBody>
                  <a:tcPr marL="50292" marR="50292" marT="27432" marB="27432"/>
                </a:tc>
                <a:tc>
                  <a:txBody>
                    <a:bodyPr wrap="square"/>
                    <a:lstStyle/>
                    <a:p>
                      <a:r>
                        <a:rPr sz="1000" b="1">
                          <a:solidFill>
                            <a:srgbClr val="1B7F3B"/>
                          </a:solidFill>
                          <a:latin typeface="Calibri"/>
                        </a:rPr>
                        <a:t>+2.309 V</a:t>
                      </a:r>
                    </a:p>
                  </a:txBody>
                  <a:tcPr marL="50292" marR="50292" marT="27432" marB="27432"/>
                </a:tc>
                <a:tc>
                  <a:txBody>
                    <a:bodyPr wrap="square"/>
                    <a:lstStyle/>
                    <a:p>
                      <a:r>
                        <a:rPr sz="1000" b="1">
                          <a:latin typeface="Calibri"/>
                        </a:rPr>
                        <a:t>8.9×</a:t>
                      </a:r>
                    </a:p>
                  </a:txBody>
                  <a:tcPr marL="50292" marR="50292" marT="27432" marB="27432"/>
                </a:tc>
              </a:tr>
              <a:tr h="283464">
                <a:tc>
                  <a:txBody>
                    <a:bodyPr wrap="square"/>
                    <a:lstStyle/>
                    <a:p>
                      <a:r>
                        <a:rPr sz="1000" b="1">
                          <a:latin typeface="Calibri"/>
                        </a:rPr>
                        <a:t>200 V / 10 A / 125 °C</a:t>
                      </a:r>
                    </a:p>
                  </a:txBody>
                  <a:tcPr marL="50292" marR="50292" marT="27432" marB="27432"/>
                </a:tc>
                <a:tc>
                  <a:txBody>
                    <a:bodyPr wrap="square"/>
                    <a:lstStyle/>
                    <a:p>
                      <a:r>
                        <a:rPr sz="1000" b="1">
                          <a:solidFill>
                            <a:srgbClr val="B56A00"/>
                          </a:solidFill>
                          <a:latin typeface="Calibri"/>
                        </a:rPr>
                        <a:t>+0.181 V</a:t>
                      </a:r>
                    </a:p>
                  </a:txBody>
                  <a:tcPr marL="50292" marR="50292" marT="27432" marB="27432"/>
                </a:tc>
                <a:tc>
                  <a:txBody>
                    <a:bodyPr wrap="square"/>
                    <a:lstStyle/>
                    <a:p>
                      <a:r>
                        <a:rPr sz="1000" b="0">
                          <a:latin typeface="Calibri"/>
                        </a:rPr>
                        <a:t>+0.181 V</a:t>
                      </a:r>
                    </a:p>
                  </a:txBody>
                  <a:tcPr marL="50292" marR="50292" marT="27432" marB="27432"/>
                </a:tc>
                <a:tc>
                  <a:txBody>
                    <a:bodyPr wrap="square"/>
                    <a:lstStyle/>
                    <a:p>
                      <a:r>
                        <a:rPr sz="1000" b="1">
                          <a:solidFill>
                            <a:srgbClr val="1B7F3B"/>
                          </a:solidFill>
                          <a:latin typeface="Calibri"/>
                        </a:rPr>
                        <a:t>+2.251 V</a:t>
                      </a:r>
                    </a:p>
                  </a:txBody>
                  <a:tcPr marL="50292" marR="50292" marT="27432" marB="27432"/>
                </a:tc>
                <a:tc>
                  <a:txBody>
                    <a:bodyPr wrap="square"/>
                    <a:lstStyle/>
                    <a:p>
                      <a:r>
                        <a:rPr sz="1000" b="1">
                          <a:latin typeface="Calibri"/>
                        </a:rPr>
                        <a:t>12.4×</a:t>
                      </a:r>
                    </a:p>
                  </a:txBody>
                  <a:tcPr marL="50292" marR="50292" marT="27432" marB="27432"/>
                </a:tc>
              </a:tr>
            </a:tbl>
          </a:graphicData>
        </a:graphic>
      </p:graphicFrame>
      <p:sp>
        <p:nvSpPr>
          <p:cNvPr id="7" name="TextBox 6"/>
          <p:cNvSpPr txBox="1"/>
          <p:nvPr/>
        </p:nvSpPr>
        <p:spPr>
          <a:xfrm>
            <a:off x="640080" y="3236976"/>
            <a:ext cx="5349240" cy="310896"/>
          </a:xfrm>
          <a:prstGeom prst="rect">
            <a:avLst/>
          </a:prstGeom>
          <a:noFill/>
        </p:spPr>
        <p:txBody>
          <a:bodyPr wrap="square" lIns="0" tIns="0" rIns="0" bIns="0">
            <a:spAutoFit/>
          </a:bodyPr>
          <a:lstStyle/>
          <a:p>
            <a:pPr marL="177800" indent="0">
              <a:spcAft>
                <a:spcPts val="0"/>
              </a:spcAft>
              <a:buSzPct val="100000"/>
              <a:buNone/>
            </a:pPr>
            <a:r>
              <a:rPr lang="en-US" sz="1250" b="1" dirty="0">
                <a:solidFill>
                  <a:srgbClr val="000000"/>
                </a:solidFill>
                <a:latin typeface="Calibri" pitchFamily="34" charset="0"/>
                <a:ea typeface="Calibri" pitchFamily="34" charset="-122"/>
                <a:cs typeface="Calibri" pitchFamily="34" charset="-120"/>
              </a:rPr>
              <a:t xml:space="preserve">The margin gap widens with stress</a:t>
            </a:r>
          </a:p>
        </p:txBody>
      </p:sp>
      <p:sp>
        <p:nvSpPr>
          <p:cNvPr id="8" name="TextBox 7"/>
          <p:cNvSpPr txBox="1"/>
          <p:nvPr/>
        </p:nvSpPr>
        <p:spPr>
          <a:xfrm>
            <a:off x="640080" y="3584448"/>
            <a:ext cx="5349240" cy="1417320"/>
          </a:xfrm>
          <a:prstGeom prst="rect">
            <a:avLst/>
          </a:prstGeom>
          <a:noFill/>
        </p:spPr>
        <p:txBody>
          <a:bodyPr wrap="square" lIns="0" tIns="0" rIns="0" bIns="0">
            <a:spAutoFit/>
          </a:bodyPr>
          <a:lstStyle/>
          <a:p>
            <a:pPr marL="177800" indent="0">
              <a:spcAft>
                <a:spcPts val="110"/>
              </a:spcAft>
              <a:buSzPct val="100000"/>
              <a:buNone/>
            </a:pPr>
            <a:r>
              <a:rPr lang="en-US" sz="1150" dirty="0">
                <a:solidFill>
                  <a:srgbClr val="000000"/>
                </a:solidFill>
                <a:latin typeface="Calibri" pitchFamily="34" charset="0"/>
                <a:ea typeface="Calibri" pitchFamily="34" charset="-122"/>
                <a:cs typeface="Calibri" pitchFamily="34" charset="-120"/>
              </a:rPr>
              <a:t xml:space="preserve">Their margin falls +0.503 → +0.181 V from the mildest corner to the hottest, at their best setting for each. Ours goes +2.757 → +2.251 V. They degrade where it matters most; a clamp does not care how hot the device is.</a:t>
            </a:r>
          </a:p>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Worst corner is what a converter has to survive: +0.181 V against +2.251 V.</a:t>
            </a:r>
          </a:p>
        </p:txBody>
      </p:sp>
      <p:sp>
        <p:nvSpPr>
          <p:cNvPr id="9" name="TextBox 8"/>
          <p:cNvSpPr txBox="1"/>
          <p:nvPr/>
        </p:nvSpPr>
        <p:spPr>
          <a:xfrm>
            <a:off x="6400800" y="3236976"/>
            <a:ext cx="5303520" cy="310896"/>
          </a:xfrm>
          <a:prstGeom prst="rect">
            <a:avLst/>
          </a:prstGeom>
          <a:noFill/>
        </p:spPr>
        <p:txBody>
          <a:bodyPr wrap="square" lIns="0" tIns="0" rIns="0" bIns="0">
            <a:spAutoFit/>
          </a:bodyPr>
          <a:lstStyle/>
          <a:p>
            <a:pPr marL="177800" indent="0">
              <a:spcAft>
                <a:spcPts val="0"/>
              </a:spcAft>
              <a:buSzPct val="100000"/>
              <a:buNone/>
            </a:pPr>
            <a:r>
              <a:rPr lang="en-US" sz="1250" b="1" dirty="0">
                <a:solidFill>
                  <a:srgbClr val="000000"/>
                </a:solidFill>
                <a:latin typeface="Calibri" pitchFamily="34" charset="0"/>
                <a:ea typeface="Calibri" pitchFamily="34" charset="-122"/>
                <a:cs typeface="Calibri" pitchFamily="34" charset="-120"/>
              </a:rPr>
              <a:t xml:space="preserve">The edge is faster, not slower</a:t>
            </a:r>
          </a:p>
        </p:txBody>
      </p:sp>
      <p:sp>
        <p:nvSpPr>
          <p:cNvPr id="10" name="TextBox 9"/>
          <p:cNvSpPr txBox="1"/>
          <p:nvPr/>
        </p:nvSpPr>
        <p:spPr>
          <a:xfrm>
            <a:off x="6400800" y="3584448"/>
            <a:ext cx="5303520" cy="1417320"/>
          </a:xfrm>
          <a:prstGeom prst="rect">
            <a:avLst/>
          </a:prstGeom>
          <a:noFill/>
        </p:spPr>
        <p:txBody>
          <a:bodyPr wrap="square" lIns="0" tIns="0" rIns="0" bIns="0">
            <a:spAutoFit/>
          </a:bodyPr>
          <a:lstStyle/>
          <a:p>
            <a:pPr marL="177800" indent="0">
              <a:spcAft>
                <a:spcPts val="110"/>
              </a:spcAft>
              <a:buSzPct val="100000"/>
              <a:buNone/>
            </a:pPr>
            <a:r>
              <a:rPr lang="en-US" sz="1150" dirty="0">
                <a:solidFill>
                  <a:srgbClr val="000000"/>
                </a:solidFill>
                <a:latin typeface="Calibri" pitchFamily="34" charset="0"/>
                <a:ea typeface="Calibri" pitchFamily="34" charset="-122"/>
                <a:cs typeface="Calibri" pitchFamily="34" charset="-120"/>
              </a:rPr>
              <a:t xml:space="preserve">Their scheme reduces crosstalk by slowing the edge: 67–103 V/ns at the switch node. Ours runs 101–175 V/ns - about twice as fast - and still wins by a factor of several.</a:t>
            </a:r>
          </a:p>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The margin is not bought with switching speed. That is the useful form of the result.</a:t>
            </a:r>
          </a:p>
        </p:txBody>
      </p:sp>
      <p:sp>
        <p:nvSpPr>
          <p:cNvPr id="11" name="TextBox 10"/>
          <p:cNvSpPr txBox="1"/>
          <p:nvPr/>
        </p:nvSpPr>
        <p:spPr>
          <a:xfrm>
            <a:off x="640080" y="5120640"/>
            <a:ext cx="10698480" cy="1371600"/>
          </a:xfrm>
          <a:prstGeom prst="rect">
            <a:avLst/>
          </a:prstGeom>
          <a:noFill/>
        </p:spPr>
        <p:txBody>
          <a:bodyPr wrap="square" lIns="0" tIns="0" rIns="0" bIns="0">
            <a:spAutoFit/>
          </a:bodyPr>
          <a:lstStyle/>
          <a:p>
            <a:pPr marL="177800" indent="0">
              <a:spcAft>
                <a:spcPts val="180"/>
              </a:spcAft>
              <a:buSzPct val="100000"/>
              <a:buNone/>
            </a:pPr>
            <a:r>
              <a:rPr lang="en-US" sz="1250" b="1" dirty="0">
                <a:solidFill>
                  <a:srgbClr val="000000"/>
                </a:solidFill>
                <a:latin typeface="Calibri" pitchFamily="34" charset="0"/>
                <a:ea typeface="Calibri" pitchFamily="34" charset="-122"/>
                <a:cs typeface="Calibri" pitchFamily="34" charset="-120"/>
              </a:rPr>
              <a:t xml:space="preserve">What it costs.  </a:t>
            </a:r>
            <a:r>
              <a:rPr lang="en-US" sz="1250" dirty="0">
                <a:solidFill>
                  <a:srgbClr val="000000"/>
                </a:solidFill>
                <a:latin typeface="Calibri" pitchFamily="34" charset="0"/>
                <a:ea typeface="Calibri" pitchFamily="34" charset="-122"/>
                <a:cs typeface="Calibri" pitchFamily="34" charset="-120"/>
              </a:rPr>
              <a:t xml:space="preserve">Turn-on energy higher at 3 of 4 corners. Their driver: one bias resistor. Ours: a clamp device, a negative supply, 20 LUTs.</a:t>
            </a:r>
          </a:p>
          <a:p>
            <a:pPr marL="177800" indent="0">
              <a:spcAft>
                <a:spcPts val="0"/>
              </a:spcAft>
              <a:buSzPct val="100000"/>
              <a:buNone/>
            </a:pPr>
            <a:r>
              <a:rPr lang="en-US" sz="1250" b="1" dirty="0">
                <a:solidFill>
                  <a:srgbClr val="000000"/>
                </a:solidFill>
                <a:latin typeface="Calibri" pitchFamily="34" charset="0"/>
                <a:ea typeface="Calibri" pitchFamily="34" charset="-122"/>
                <a:cs typeface="Calibri" pitchFamily="34" charset="-120"/>
              </a:rPr>
              <a:t xml:space="preserve">What we do not claim.  </a:t>
            </a:r>
            <a:r>
              <a:rPr lang="en-US" sz="1250" dirty="0">
                <a:solidFill>
                  <a:srgbClr val="000000"/>
                </a:solidFill>
                <a:latin typeface="Calibri" pitchFamily="34" charset="0"/>
                <a:ea typeface="Calibri" pitchFamily="34" charset="-122"/>
                <a:cs typeface="Calibri" pitchFamily="34" charset="-120"/>
              </a:rPr>
              <a:t xml:space="preserve">Their netlist is unpublished. Every ratio here is against our implementation of their scheme, not their measured result.</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19</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Why GaN and Not Silicon</a:t>
            </a:r>
            <a:endParaRPr lang="en-US" sz="2800" dirty="0"/>
          </a:p>
        </p:txBody>
      </p:sp>
      <p:sp>
        <p:nvSpPr>
          <p:cNvPr id="5" name="TextBox 4"/>
          <p:cNvSpPr txBox="1"/>
          <p:nvPr/>
        </p:nvSpPr>
        <p:spPr>
          <a:xfrm>
            <a:off x="640080" y="932688"/>
            <a:ext cx="11064240" cy="365760"/>
          </a:xfrm>
          <a:prstGeom prst="rect">
            <a:avLst/>
          </a:prstGeom>
          <a:noFill/>
        </p:spPr>
        <p:txBody>
          <a:bodyPr wrap="square" lIns="0" tIns="0" rIns="0" bIns="0">
            <a:spAutoFit/>
          </a:bodyPr>
          <a:lstStyle/>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rPr>
              <a:t xml:space="preserve">The same converter, twice. Only the device changes.</a:t>
            </a:r>
          </a:p>
        </p:txBody>
      </p:sp>
      <p:pic>
        <p:nvPicPr>
          <p:cNvPr id="6" name="Picture 5" descr="fig_si_gan.png"/>
          <p:cNvPicPr>
            <a:picLocks noChangeAspect="1"/>
          </p:cNvPicPr>
          <p:nvPr/>
        </p:nvPicPr>
        <p:blipFill>
          <a:blip r:embed="rId4"/>
          <a:stretch>
            <a:fillRect/>
          </a:stretch>
        </p:blipFill>
        <p:spPr>
          <a:xfrm>
            <a:off x="1468447" y="1444752"/>
            <a:ext cx="9254800" cy="3246120"/>
          </a:xfrm>
          <a:prstGeom prst="rect">
            <a:avLst/>
          </a:prstGeom>
        </p:spPr>
      </p:pic>
      <p:sp>
        <p:nvSpPr>
          <p:cNvPr id="7" name="TextBox 6"/>
          <p:cNvSpPr txBox="1"/>
          <p:nvPr/>
        </p:nvSpPr>
        <p:spPr>
          <a:xfrm>
            <a:off x="502920" y="4864608"/>
            <a:ext cx="10838382" cy="164592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15 - </a:t>
            </a:r>
            <a:r>
              <a:rPr lang="en-US" sz="1150" dirty="0">
                <a:solidFill>
                  <a:srgbClr val="000000"/>
                </a:solidFill>
                <a:latin typeface="Calibri" pitchFamily="34" charset="0"/>
                <a:ea typeface="Calibri" pitchFamily="34" charset="-122"/>
                <a:cs typeface="Calibri" pitchFamily="34" charset="-120"/>
              </a:rPr>
              <a:t xml:space="preserve">Simulated in ngspice, </a:t>
            </a:r>
            <a:r>
              <a:rPr lang="en-US" sz="1150" dirty="0">
                <a:solidFill>
                  <a:srgbClr val="000000"/>
                </a:solidFill>
                <a:latin typeface="Calibri" pitchFamily="34" charset="0"/>
                <a:ea typeface="Calibri" pitchFamily="34" charset="-122"/>
                <a:cs typeface="Calibri" pitchFamily="34" charset="-120"/>
                <a:hlinkClick r:id="rId5"/>
              </a:rPr>
              <a:t xml:space="preserve">scripts/si_vs_gan.py</a:t>
            </a:r>
            <a:r>
              <a:rPr lang="en-US" sz="1150" dirty="0">
                <a:solidFill>
                  <a:srgbClr val="000000"/>
                </a:solidFill>
                <a:latin typeface="Calibri" pitchFamily="34" charset="0"/>
                <a:ea typeface="Calibri" pitchFamily="34" charset="-122"/>
                <a:cs typeface="Calibri" pitchFamily="34" charset="-120"/>
              </a:rPr>
              <a:t xml:space="preserve"> on </a:t>
            </a:r>
            <a:r>
              <a:rPr lang="en-US" sz="1150" dirty="0">
                <a:solidFill>
                  <a:srgbClr val="000000"/>
                </a:solidFill>
                <a:latin typeface="Calibri" pitchFamily="34" charset="0"/>
                <a:ea typeface="Calibri" pitchFamily="34" charset="-122"/>
                <a:cs typeface="Calibri" pitchFamily="34" charset="-120"/>
                <a:hlinkClick r:id="rId6"/>
              </a:rPr>
              <a:t xml:space="preserve">sim/buck.cir</a:t>
            </a:r>
            <a:r>
              <a:rPr lang="en-US" sz="1150" dirty="0">
                <a:solidFill>
                  <a:srgbClr val="000000"/>
                </a:solidFill>
                <a:latin typeface="Calibri" pitchFamily="34" charset="0"/>
                <a:ea typeface="Calibri" pitchFamily="34" charset="-122"/>
                <a:cs typeface="Calibri" pitchFamily="34" charset="-120"/>
              </a:rPr>
              <a:t xml:space="preserve">. 100 V to 50 V, 500 kHz, 10 ohm. The silicon device is matched to the GaN part on R_ds(on), 24.0 against 25.0 m-ohm, so conduction loss is equal by construction and the difference is switching, gate drive and reverse recovery: 6.22 W wasted against 12.63 W, and 97.42 % efficiency against 95.06 %. One caveat: the two do not deliver identical output power, because GaN has no body diode and its third-quadrant drop in dead time is larger than a silicon body-diode drop - which is the same mechanism that makes our −2 V rail cost turn-on energy. Loss per watt delivered normalises for it: 2.65 % against 5.19 %.</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20</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When Runtime Adaptation Is Worth Building</a:t>
            </a:r>
            <a:endParaRPr lang="en-US" sz="2800" dirty="0"/>
          </a:p>
        </p:txBody>
      </p:sp>
      <p:sp>
        <p:nvSpPr>
          <p:cNvPr id="5" name="TextBox 4"/>
          <p:cNvSpPr txBox="1"/>
          <p:nvPr/>
        </p:nvSpPr>
        <p:spPr>
          <a:xfrm>
            <a:off x="640080" y="932688"/>
            <a:ext cx="11064240" cy="365760"/>
          </a:xfrm>
          <a:prstGeom prst="rect">
            <a:avLst/>
          </a:prstGeom>
          <a:noFill/>
        </p:spPr>
        <p:txBody>
          <a:bodyPr wrap="square" lIns="0" tIns="0" rIns="0" bIns="0">
            <a:spAutoFit/>
          </a:bodyPr>
          <a:lstStyle/>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rPr>
              <a:t xml:space="preserve">The headline is conditional, and this is the condition.</a:t>
            </a:r>
          </a:p>
        </p:txBody>
      </p:sp>
      <p:pic>
        <p:nvPicPr>
          <p:cNvPr id="6" name="Picture 5" descr="fig_lloop_ceiling.png"/>
          <p:cNvPicPr>
            <a:picLocks noChangeAspect="1"/>
          </p:cNvPicPr>
          <p:nvPr/>
        </p:nvPicPr>
        <p:blipFill>
          <a:blip r:embed="rId4"/>
          <a:stretch>
            <a:fillRect/>
          </a:stretch>
        </p:blipFill>
        <p:spPr>
          <a:xfrm>
            <a:off x="2674004" y="1389888"/>
            <a:ext cx="6843685" cy="3749039"/>
          </a:xfrm>
          <a:prstGeom prst="rect">
            <a:avLst/>
          </a:prstGeom>
        </p:spPr>
      </p:pic>
      <p:sp>
        <p:nvSpPr>
          <p:cNvPr id="7" name="TextBox 6"/>
          <p:cNvSpPr txBox="1"/>
          <p:nvPr/>
        </p:nvSpPr>
        <p:spPr>
          <a:xfrm>
            <a:off x="502920" y="5212080"/>
            <a:ext cx="10838382" cy="141732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16 - </a:t>
            </a:r>
            <a:r>
              <a:rPr lang="en-US" sz="1150" dirty="0">
                <a:solidFill>
                  <a:srgbClr val="000000"/>
                </a:solidFill>
                <a:latin typeface="Calibri" pitchFamily="34" charset="0"/>
                <a:ea typeface="Calibri" pitchFamily="34" charset="-122"/>
                <a:cs typeface="Calibri" pitchFamily="34" charset="-120"/>
              </a:rPr>
              <a:t xml:space="preserve">Simulated in ngspice, </a:t>
            </a:r>
            <a:r>
              <a:rPr lang="en-US" sz="1150" dirty="0">
                <a:solidFill>
                  <a:srgbClr val="000000"/>
                </a:solidFill>
                <a:latin typeface="Calibri" pitchFamily="34" charset="0"/>
                <a:ea typeface="Calibri" pitchFamily="34" charset="-122"/>
                <a:cs typeface="Calibri" pitchFamily="34" charset="-120"/>
                <a:hlinkClick r:id="rId5"/>
              </a:rPr>
              <a:t xml:space="preserve">scripts/lloop_sweep.py</a:t>
            </a:r>
            <a:r>
              <a:rPr lang="en-US" sz="1150" dirty="0">
                <a:solidFill>
                  <a:srgbClr val="000000"/>
                </a:solidFill>
                <a:latin typeface="Calibri" pitchFamily="34" charset="0"/>
                <a:ea typeface="Calibri" pitchFamily="34" charset="-122"/>
                <a:cs typeface="Calibri" pitchFamily="34" charset="-120"/>
              </a:rPr>
              <a:t xml:space="preserve"> into lloop_analyse.py. The ceiling on per-corner scheduling is 13.5 % at 1.5 nH and 0.55 % at 4.5 nH, so the answer to "is adaptive gate control worth the sensor, the lookup table and the controller" is not a property of the driver: it is a property of the board the driver sits on. Below about 2.5 nH the answer is yes and above it the answer is no. The series is not monotonic in that band, which is why it is drawn as eight points rather than as a curve. Three different quantities must not be confused: this axis is the CEILING on scheduling over four corners, 5.95 % at our nominal 3.0 nH; over the full 36-corner grid that ceiling is 3.50 %; and what adapting per operating point actually returns there is 2.6 %. 3.0 nH is a nominal simulation condition, not a measured layout.</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21</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Cost of the Fix</a:t>
            </a:r>
            <a:endParaRPr lang="en-US" sz="2800" dirty="0"/>
          </a:p>
        </p:txBody>
      </p:sp>
      <p:sp>
        <p:nvSpPr>
          <p:cNvPr id="5" name="TextBox 4"/>
          <p:cNvSpPr txBox="1"/>
          <p:nvPr/>
        </p:nvSpPr>
        <p:spPr>
          <a:xfrm>
            <a:off x="640080" y="932688"/>
            <a:ext cx="11064240" cy="365760"/>
          </a:xfrm>
          <a:prstGeom prst="rect">
            <a:avLst/>
          </a:prstGeom>
          <a:noFill/>
        </p:spPr>
        <p:txBody>
          <a:bodyPr wrap="square" lIns="0" tIns="0" rIns="0" bIns="0">
            <a:spAutoFit/>
          </a:bodyPr>
          <a:lstStyle/>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rPr>
              <a:t xml:space="preserve">What the crosstalk margin is paid for with.</a:t>
            </a:r>
          </a:p>
        </p:txBody>
      </p:sp>
      <p:pic>
        <p:nvPicPr>
          <p:cNvPr id="6" name="Picture 5" descr="fig_cost_table.png"/>
          <p:cNvPicPr>
            <a:picLocks noChangeAspect="1"/>
          </p:cNvPicPr>
          <p:nvPr/>
        </p:nvPicPr>
        <p:blipFill>
          <a:blip r:embed="rId4"/>
          <a:stretch>
            <a:fillRect/>
          </a:stretch>
        </p:blipFill>
        <p:spPr>
          <a:xfrm>
            <a:off x="426567" y="1417320"/>
            <a:ext cx="11338558" cy="2882376"/>
          </a:xfrm>
          <a:prstGeom prst="rect">
            <a:avLst/>
          </a:prstGeom>
        </p:spPr>
      </p:pic>
      <p:sp>
        <p:nvSpPr>
          <p:cNvPr id="7" name="TextBox 6"/>
          <p:cNvSpPr txBox="1"/>
          <p:nvPr/>
        </p:nvSpPr>
        <p:spPr>
          <a:xfrm>
            <a:off x="502920" y="5193792"/>
            <a:ext cx="10838382" cy="1353312"/>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17 - </a:t>
            </a:r>
            <a:r>
              <a:rPr lang="en-US" sz="1150" dirty="0">
                <a:solidFill>
                  <a:srgbClr val="000000"/>
                </a:solidFill>
                <a:latin typeface="Calibri" pitchFamily="34" charset="0"/>
                <a:ea typeface="Calibri" pitchFamily="34" charset="-122"/>
                <a:cs typeface="Calibri" pitchFamily="34" charset="-120"/>
              </a:rPr>
              <a:t xml:space="preserve">Simulated in ngspice, from </a:t>
            </a:r>
            <a:r>
              <a:rPr lang="en-US" sz="1150" dirty="0">
                <a:solidFill>
                  <a:srgbClr val="000000"/>
                </a:solidFill>
                <a:latin typeface="Calibri" pitchFamily="34" charset="0"/>
                <a:ea typeface="Calibri" pitchFamily="34" charset="-122"/>
                <a:cs typeface="Calibri" pitchFamily="34" charset="-120"/>
                <a:hlinkClick r:id="rId5"/>
              </a:rPr>
              <a:t xml:space="preserve">results/buck_sweep.csv</a:t>
            </a:r>
            <a:r>
              <a:rPr lang="en-US" sz="1150" dirty="0">
                <a:solidFill>
                  <a:srgbClr val="000000"/>
                </a:solidFill>
                <a:latin typeface="Calibri" pitchFamily="34" charset="0"/>
                <a:ea typeface="Calibri" pitchFamily="34" charset="-122"/>
                <a:cs typeface="Calibri" pitchFamily="34" charset="-120"/>
              </a:rPr>
              <a:t xml:space="preserve">, </a:t>
            </a:r>
            <a:r>
              <a:rPr lang="en-US" sz="1150" dirty="0">
                <a:solidFill>
                  <a:srgbClr val="000000"/>
                </a:solidFill>
                <a:latin typeface="Calibri" pitchFamily="34" charset="0"/>
                <a:ea typeface="Calibri" pitchFamily="34" charset="-122"/>
                <a:cs typeface="Calibri" pitchFamily="34" charset="-120"/>
                <a:hlinkClick r:id="rId6"/>
              </a:rPr>
              <a:t xml:space="preserve">results/panel_metrics.csv</a:t>
            </a:r>
            <a:r>
              <a:rPr lang="en-US" sz="1150" dirty="0">
                <a:solidFill>
                  <a:srgbClr val="000000"/>
                </a:solidFill>
                <a:latin typeface="Calibri" pitchFamily="34" charset="0"/>
                <a:ea typeface="Calibri" pitchFamily="34" charset="-122"/>
                <a:cs typeface="Calibri" pitchFamily="34" charset="-120"/>
              </a:rPr>
              <a:t xml:space="preserve"> and </a:t>
            </a:r>
            <a:r>
              <a:rPr lang="en-US" sz="1150" dirty="0">
                <a:solidFill>
                  <a:srgbClr val="000000"/>
                </a:solidFill>
                <a:latin typeface="Calibri" pitchFamily="34" charset="0"/>
                <a:ea typeface="Calibri" pitchFamily="34" charset="-122"/>
                <a:cs typeface="Calibri" pitchFamily="34" charset="-120"/>
                <a:hlinkClick r:id="rId7"/>
              </a:rPr>
              <a:t xml:space="preserve">results/headtohead.csv</a:t>
            </a:r>
            <a:r>
              <a:rPr lang="en-US" sz="1150" dirty="0">
                <a:solidFill>
                  <a:srgbClr val="000000"/>
                </a:solidFill>
                <a:latin typeface="Calibri" pitchFamily="34" charset="0"/>
                <a:ea typeface="Calibri" pitchFamily="34" charset="-122"/>
                <a:cs typeface="Calibri" pitchFamily="34" charset="-120"/>
              </a:rPr>
              <a:t xml:space="preserve">. The fix buys +2.825 V of gate margin, and it is bought with 0.24 points of converter efficiency, 0.570 W of loss and 12 V of extra switch-node peak. About 0.22 W of that loss is third-quadrant conduction: GaN has no body diode, so during dead time the device conducts in reverse at V_th + |V_off| + I·R_ds(on), and a deeper off rail makes that drop larger. At 118 V on a 200 V-rated device the stress is 59 % of rating, so it is a real cost but not the binding constraint at this bus.</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Conclusions</a:t>
            </a:r>
            <a:endParaRPr lang="en-US" sz="2800" dirty="0"/>
          </a:p>
        </p:txBody>
      </p:sp>
      <p:sp>
        <p:nvSpPr>
          <p:cNvPr id="5" name="TextBox 4"/>
          <p:cNvSpPr txBox="1"/>
          <p:nvPr/>
        </p:nvSpPr>
        <p:spPr>
          <a:xfrm>
            <a:off x="640080" y="960120"/>
            <a:ext cx="11064240" cy="4846320"/>
          </a:xfrm>
          <a:prstGeom prst="rect">
            <a:avLst/>
          </a:prstGeom>
          <a:noFill/>
        </p:spPr>
        <p:txBody>
          <a:bodyPr wrap="square" lIns="0" tIns="0" rIns="0" bIns="0">
            <a:spAutoFit/>
          </a:bodyPr>
          <a:lstStyle/>
          <a:p>
            <a:pPr marL="177800" indent="0">
              <a:spcAft>
                <a:spcPts val="230"/>
              </a:spcAft>
              <a:buSzPct val="100000"/>
              <a:buNone/>
            </a:pPr>
            <a:r>
              <a:rPr lang="en-US" sz="1300" b="1" dirty="0">
                <a:solidFill>
                  <a:srgbClr val="000000"/>
                </a:solidFill>
                <a:latin typeface="Calibri" pitchFamily="34" charset="0"/>
                <a:ea typeface="Calibri" pitchFamily="34" charset="-122"/>
                <a:cs typeface="Calibri" pitchFamily="34" charset="-120"/>
              </a:rPr>
              <a:t xml:space="preserve">1.  Gate robustness.  </a:t>
            </a:r>
            <a:r>
              <a:rPr lang="en-US" sz="1300" dirty="0">
                <a:solidFill>
                  <a:srgbClr val="000000"/>
                </a:solidFill>
                <a:latin typeface="Calibri" pitchFamily="34" charset="0"/>
                <a:ea typeface="Calibri" pitchFamily="34" charset="-122"/>
                <a:cs typeface="Calibri" pitchFamily="34" charset="-120"/>
              </a:rPr>
              <a:t xml:space="preserve">An always-on Miller clamp with a −2 V off rail raises the simulated off-state gate margin on all three device models tried, from −0.249 V to +2.576 V on the behavioural model and to between +2.0 and +2.7 V on the other two.</a:t>
            </a:r>
          </a:p>
          <a:p>
            <a:pPr marL="177800" indent="0">
              <a:spcAft>
                <a:spcPts val="230"/>
              </a:spcAft>
              <a:buSzPct val="100000"/>
              <a:buNone/>
            </a:pPr>
            <a:r>
              <a:rPr lang="en-US" sz="1300" b="1" dirty="0">
                <a:solidFill>
                  <a:srgbClr val="000000"/>
                </a:solidFill>
                <a:latin typeface="Calibri" pitchFamily="34" charset="0"/>
                <a:ea typeface="Calibri" pitchFamily="34" charset="-122"/>
                <a:cs typeface="Calibri" pitchFamily="34" charset="-120"/>
              </a:rPr>
              <a:t xml:space="preserve">2.  Adaptation.  </a:t>
            </a:r>
            <a:r>
              <a:rPr lang="en-US" sz="1300" dirty="0">
                <a:solidFill>
                  <a:srgbClr val="000000"/>
                </a:solidFill>
                <a:latin typeface="Calibri" pitchFamily="34" charset="0"/>
                <a:ea typeface="Calibri" pitchFamily="34" charset="-122"/>
                <a:cs typeface="Calibri" pitchFamily="34" charset="-120"/>
              </a:rPr>
              <a:t xml:space="preserve">Choosing one good fixed control word is worth 26.5 % of the baseline. Re-tuning it while the converter runs adds 2.6 % more - 8.9 % of the total gain - at our nominal 3 nH power loop.</a:t>
            </a:r>
          </a:p>
          <a:p>
            <a:pPr marL="177800" indent="0">
              <a:spcAft>
                <a:spcPts val="230"/>
              </a:spcAft>
              <a:buSzPct val="100000"/>
              <a:buNone/>
            </a:pPr>
            <a:r>
              <a:rPr lang="en-US" sz="1300" b="1" dirty="0">
                <a:solidFill>
                  <a:srgbClr val="000000"/>
                </a:solidFill>
                <a:latin typeface="Calibri" pitchFamily="34" charset="0"/>
                <a:ea typeface="Calibri" pitchFamily="34" charset="-122"/>
                <a:cs typeface="Calibri" pitchFamily="34" charset="-120"/>
              </a:rPr>
              <a:t xml:space="preserve">3.  That answer is conditional.  </a:t>
            </a:r>
            <a:r>
              <a:rPr lang="en-US" sz="1300" dirty="0">
                <a:solidFill>
                  <a:srgbClr val="000000"/>
                </a:solidFill>
                <a:latin typeface="Calibri" pitchFamily="34" charset="0"/>
                <a:ea typeface="Calibri" pitchFamily="34" charset="-122"/>
                <a:cs typeface="Calibri" pitchFamily="34" charset="-120"/>
              </a:rPr>
              <a:t xml:space="preserve">The ceiling on scheduling runs from 13.5 % at 1.5 nH to 0.55 % at 4.5 nH. Whether adaptive gate control earns its hardware is decided by board layout, not by the driver.</a:t>
            </a:r>
          </a:p>
          <a:p>
            <a:pPr marL="177800" indent="0">
              <a:spcAft>
                <a:spcPts val="230"/>
              </a:spcAft>
              <a:buSzPct val="100000"/>
              <a:buNone/>
            </a:pPr>
            <a:r>
              <a:rPr lang="en-US" sz="1300" b="1" dirty="0">
                <a:solidFill>
                  <a:srgbClr val="000000"/>
                </a:solidFill>
                <a:latin typeface="Calibri" pitchFamily="34" charset="0"/>
                <a:ea typeface="Calibri" pitchFamily="34" charset="-122"/>
                <a:cs typeface="Calibri" pitchFamily="34" charset="-120"/>
              </a:rPr>
              <a:t xml:space="preserve">4.  It is a trade.  </a:t>
            </a:r>
            <a:r>
              <a:rPr lang="en-US" sz="1300" dirty="0">
                <a:solidFill>
                  <a:srgbClr val="000000"/>
                </a:solidFill>
                <a:latin typeface="Calibri" pitchFamily="34" charset="0"/>
                <a:ea typeface="Calibri" pitchFamily="34" charset="-122"/>
                <a:cs typeface="Calibri" pitchFamily="34" charset="-120"/>
              </a:rPr>
              <a:t xml:space="preserve">The margin costs 0.24 efficiency points, 0.570 W and 12 V of switch-node stress, and raises turn-on energy at three of four corners.</a:t>
            </a:r>
          </a:p>
          <a:p>
            <a:pPr marL="177800" indent="0">
              <a:spcAft>
                <a:spcPts val="230"/>
              </a:spcAft>
              <a:buSzPct val="100000"/>
              <a:buNone/>
            </a:pPr>
            <a:r>
              <a:rPr lang="en-US" sz="1300" b="1" dirty="0">
                <a:solidFill>
                  <a:srgbClr val="000000"/>
                </a:solidFill>
                <a:latin typeface="Calibri" pitchFamily="34" charset="0"/>
                <a:ea typeface="Calibri" pitchFamily="34" charset="-122"/>
                <a:cs typeface="Calibri" pitchFamily="34" charset="-120"/>
              </a:rPr>
              <a:t xml:space="preserve">5.  Status.  </a:t>
            </a:r>
            <a:r>
              <a:rPr lang="en-US" sz="1300" dirty="0">
                <a:solidFill>
                  <a:srgbClr val="000000"/>
                </a:solidFill>
                <a:latin typeface="Calibri" pitchFamily="34" charset="0"/>
                <a:ea typeface="Calibri" pitchFamily="34" charset="-122"/>
                <a:cs typeface="Calibri" pitchFamily="34" charset="-120"/>
              </a:rPr>
              <a:t xml:space="preserve">Simulation only. No hardware built. The comparison is against our own implementation of the published baseline, because the authors' netlist is not published.</a:t>
            </a:r>
          </a:p>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rPr>
              <a:t xml:space="preserve">6.  What would change this.  </a:t>
            </a:r>
            <a:r>
              <a:rPr lang="en-US" sz="1300" dirty="0">
                <a:solidFill>
                  <a:srgbClr val="000000"/>
                </a:solidFill>
                <a:latin typeface="Calibri" pitchFamily="34" charset="0"/>
                <a:ea typeface="Calibri" pitchFamily="34" charset="-122"/>
                <a:cs typeface="Calibri" pitchFamily="34" charset="-120"/>
              </a:rPr>
              <a:t xml:space="preserve">A measured gate waveform that does not match the simulated one, or an extracted loop inductance below 2.5 nH - which we have not measured, and which would invert conclusion 3.</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23</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Next Steps</a:t>
            </a:r>
            <a:endParaRPr lang="en-US" sz="2800" dirty="0"/>
          </a:p>
        </p:txBody>
      </p:sp>
      <p:sp>
        <p:nvSpPr>
          <p:cNvPr id="5" name="TextBox 4"/>
          <p:cNvSpPr txBox="1"/>
          <p:nvPr/>
        </p:nvSpPr>
        <p:spPr>
          <a:xfrm>
            <a:off x="640080" y="932688"/>
            <a:ext cx="11064240" cy="365760"/>
          </a:xfrm>
          <a:prstGeom prst="rect">
            <a:avLst/>
          </a:prstGeom>
          <a:noFill/>
        </p:spPr>
        <p:txBody>
          <a:bodyPr wrap="square" lIns="0" tIns="0" rIns="0" bIns="0">
            <a:spAutoFit/>
          </a:bodyPr>
          <a:lstStyle/>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rPr>
              <a:t xml:space="preserve">What remains is bench work, not further simulation.</a:t>
            </a:r>
          </a:p>
        </p:txBody>
      </p:sp>
      <p:sp>
        <p:nvSpPr>
          <p:cNvPr id="6" name="TextBox 5"/>
          <p:cNvSpPr txBox="1"/>
          <p:nvPr/>
        </p:nvSpPr>
        <p:spPr>
          <a:xfrm>
            <a:off x="640080" y="1600200"/>
            <a:ext cx="11064240" cy="4480560"/>
          </a:xfrm>
          <a:prstGeom prst="rect">
            <a:avLst/>
          </a:prstGeom>
          <a:noFill/>
        </p:spPr>
        <p:txBody>
          <a:bodyPr wrap="square" lIns="0" tIns="0" rIns="0" bIns="0">
            <a:spAutoFit/>
          </a:bodyPr>
          <a:lstStyle/>
          <a:p>
            <a:pPr marL="177800" indent="0">
              <a:spcAft>
                <a:spcPts val="360"/>
              </a:spcAft>
              <a:buSzPct val="100000"/>
              <a:buNone/>
            </a:pPr>
            <a:r>
              <a:rPr lang="en-US" sz="1500" b="1" dirty="0">
                <a:solidFill>
                  <a:srgbClr val="000000"/>
                </a:solidFill>
                <a:latin typeface="Calibri" pitchFamily="34" charset="0"/>
                <a:ea typeface="Calibri" pitchFamily="34" charset="-122"/>
                <a:cs typeface="Calibri" pitchFamily="34" charset="-120"/>
              </a:rPr>
              <a:t xml:space="preserve">Place-and-route on a chosen board. </a:t>
            </a:r>
            <a:r>
              <a:rPr lang="en-US" sz="1500" dirty="0">
                <a:solidFill>
                  <a:srgbClr val="000000"/>
                </a:solidFill>
                <a:latin typeface="Calibri" pitchFamily="34" charset="0"/>
                <a:ea typeface="Calibri" pitchFamily="34" charset="-122"/>
                <a:cs typeface="Calibri" pitchFamily="34" charset="-120"/>
              </a:rPr>
              <a:t xml:space="preserve">Synthesis is done; the flow stops there because the XDC pins are placeholders. Doing it properly also means driving the 200 MHz clock from an MMCM rather than straight off a pin, which is what makes 34 clock-to-pin paths fail today.</a:t>
            </a:r>
          </a:p>
          <a:p>
            <a:pPr marL="177800" indent="0">
              <a:spcAft>
                <a:spcPts val="360"/>
              </a:spcAft>
              <a:buSzPct val="100000"/>
              <a:buNone/>
            </a:pPr>
            <a:r>
              <a:rPr lang="en-US" sz="1500" b="1" dirty="0">
                <a:solidFill>
                  <a:srgbClr val="000000"/>
                </a:solidFill>
                <a:latin typeface="Calibri" pitchFamily="34" charset="0"/>
                <a:ea typeface="Calibri" pitchFamily="34" charset="-122"/>
                <a:cs typeface="Calibri" pitchFamily="34" charset="-120"/>
              </a:rPr>
              <a:t xml:space="preserve">A hardware half-bridge, measured. </a:t>
            </a:r>
            <a:r>
              <a:rPr lang="en-US" sz="1500" dirty="0">
                <a:solidFill>
                  <a:srgbClr val="000000"/>
                </a:solidFill>
                <a:latin typeface="Calibri" pitchFamily="34" charset="0"/>
                <a:ea typeface="Calibri" pitchFamily="34" charset="-122"/>
                <a:cs typeface="Calibri" pitchFamily="34" charset="-120"/>
              </a:rPr>
              <a:t xml:space="preserve">This is the whole of the remaining risk. Everything in this deck is a simulation of a converter that has never been built. 24 jointly varied devices and three model forms do not replace one measurement.</a:t>
            </a:r>
          </a:p>
          <a:p>
            <a:pPr marL="177800" indent="0">
              <a:spcAft>
                <a:spcPts val="0"/>
              </a:spcAft>
              <a:buSzPct val="100000"/>
              <a:buNone/>
            </a:pPr>
            <a:r>
              <a:rPr lang="en-US" sz="1400" dirty="0">
                <a:solidFill>
                  <a:srgbClr val="000000"/>
                </a:solidFill>
                <a:latin typeface="Calibri" pitchFamily="34" charset="0"/>
                <a:ea typeface="Calibri" pitchFamily="34" charset="-122"/>
                <a:cs typeface="Calibri" pitchFamily="34" charset="-120"/>
              </a:rPr>
              <a:t xml:space="preserve">Additionally: transcribe the silicon MOSFET datasheet digits rather than using datasheet-class values, and re-run the ceiling on the transistor-level stage now that it is known to work.</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24</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References  (1–15)</a:t>
            </a:r>
            <a:endParaRPr lang="en-US" sz="2800" dirty="0"/>
          </a:p>
        </p:txBody>
      </p:sp>
      <p:sp>
        <p:nvSpPr>
          <p:cNvPr id="5" name="Text 2"/>
          <p:cNvSpPr txBox="1"/>
          <p:nvPr/>
        </p:nvSpPr>
        <p:spPr>
          <a:xfrm>
            <a:off x="640080" y="1325880"/>
            <a:ext cx="10881360" cy="4343400"/>
          </a:xfrm>
          <a:prstGeom prst="rect">
            <a:avLst/>
          </a:prstGeom>
          <a:noFill/>
          <a:ln/>
        </p:spPr>
        <p:txBody>
          <a:bodyPr wrap="square" lIns="0" tIns="0" rIns="0" bIns="0" rtlCol="0" anchor="t"/>
          <a:lstStyle/>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  </a:t>
            </a:r>
            <a:r>
              <a:rPr lang="en-US" sz="900" dirty="0">
                <a:solidFill>
                  <a:srgbClr val="000000"/>
                </a:solidFill>
                <a:latin typeface="Calibri" pitchFamily="34" charset="0"/>
                <a:ea typeface="Calibri" pitchFamily="34" charset="-122"/>
                <a:cs typeface="Calibri" pitchFamily="34" charset="-120"/>
              </a:rPr>
              <a:t xml:space="preserve">Z. Zhang, F. Wang, L. M. Tolbert and B. J. Blalock, “Active Gate Driver for Crosstalk Suppression of SiC Devices in a Phase-Leg Configuration,” IEEE Trans. Power Electron., vol. 29, no. 4, pp. 1986–1997, Apr. 2014.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  </a:t>
            </a:r>
            <a:r>
              <a:rPr lang="en-US" sz="900" dirty="0">
                <a:solidFill>
                  <a:srgbClr val="000000"/>
                </a:solidFill>
                <a:latin typeface="Calibri" pitchFamily="34" charset="0"/>
                <a:ea typeface="Calibri" pitchFamily="34" charset="-122"/>
                <a:cs typeface="Calibri" pitchFamily="34" charset="-120"/>
              </a:rPr>
              <a:t xml:space="preserve">R. Xie, H. Wang, G. Tang, X. Yang and K. J. Chen, “An Analytical Model for False Turn-On Evaluation of High-Voltage Enhancement-Mode GaN Transistor in Bridge-Leg Configuration,” IEEE Trans. Power Electron., vol. 32, no. 8, pp. 6416–6433, Aug. 2017.</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[3]  </a:t>
            </a:r>
            <a:r>
              <a:rPr lang="en-US" sz="900" dirty="0">
                <a:solidFill>
                  <a:srgbClr val="000000"/>
                </a:solidFill>
                <a:latin typeface="Calibri" pitchFamily="34" charset="0"/>
                <a:ea typeface="Calibri" pitchFamily="34" charset="-122"/>
                <a:cs typeface="Calibri" pitchFamily="34" charset="-120"/>
              </a:rPr>
              <a:t xml:space="preserve">D. Reusch and J. Strydom, “Understanding the Effect of PCB Layout on Circuit Performance in a High-Frequency Gallium-Nitride-Based Point of Load Converter,” IEEE Trans. Power Electron., vol. 29, no. 4, pp. 2008–2015, Apr. 2014.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[4]  </a:t>
            </a:r>
            <a:r>
              <a:rPr lang="en-US" sz="900" dirty="0">
                <a:solidFill>
                  <a:srgbClr val="000000"/>
                </a:solidFill>
                <a:latin typeface="Calibri" pitchFamily="34" charset="0"/>
                <a:ea typeface="Calibri" pitchFamily="34" charset="-122"/>
                <a:cs typeface="Calibri" pitchFamily="34" charset="-120"/>
              </a:rPr>
              <a:t xml:space="preserve">B. Li, G. Zhang, C. Li, G. Wang, S. Liu and D. Xu, “Crosstalk Suppression Method for GaN-Based Bridge Configuration Using Negative Voltage Self-Recovery Gate Drive,” IEEE Trans. Power Electron., vol. 37, no. 4, pp. 4406–4418, 2022.</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[5]  </a:t>
            </a:r>
            <a:r>
              <a:rPr lang="en-US" sz="900" dirty="0">
                <a:solidFill>
                  <a:srgbClr val="000000"/>
                </a:solidFill>
                <a:latin typeface="Calibri" pitchFamily="34" charset="0"/>
                <a:ea typeface="Calibri" pitchFamily="34" charset="-122"/>
                <a:cs typeface="Calibri" pitchFamily="34" charset="-120"/>
              </a:rPr>
              <a:t xml:space="preserve">X. Chen, H. Peng, S. Song, Q. Tong and Y. Kang, “A Novel Control Strategy for Optimal Tradeoff between Overshoot and Switching Loss Based on Double Closed-Loop Self-Regulating Active Gate Driver,” IEEE Trans. Power Electron., vol. 39, no. 10, pp. 13033–13043, 2024.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[6]  </a:t>
            </a:r>
            <a:r>
              <a:rPr lang="en-US" sz="900" dirty="0">
                <a:solidFill>
                  <a:srgbClr val="000000"/>
                </a:solidFill>
                <a:latin typeface="Calibri" pitchFamily="34" charset="0"/>
                <a:ea typeface="Calibri" pitchFamily="34" charset="-122"/>
                <a:cs typeface="Calibri" pitchFamily="34" charset="-120"/>
              </a:rPr>
              <a:t xml:space="preserve">W. Song, T. Hu, J. Chen, T. Tang, H. Yue and G. Liu, “A Self-Regulating Active Gate Driver of Voltage Overshoot Suppression for SiC MOSFETs Under Variable Load Current Conditions,” IEEE Trans. Power Electron., vol. 40, no. 8, pp. 10623–10634, 2025.</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[7]  </a:t>
            </a:r>
            <a:r>
              <a:rPr lang="en-US" sz="900" dirty="0">
                <a:solidFill>
                  <a:srgbClr val="000000"/>
                </a:solidFill>
                <a:latin typeface="Calibri" pitchFamily="34" charset="0"/>
                <a:ea typeface="Calibri" pitchFamily="34" charset="-122"/>
                <a:cs typeface="Calibri" pitchFamily="34" charset="-120"/>
              </a:rPr>
              <a:t xml:space="preserve">C.W. Kuo, T.W. Wang, L.C. Chen, C.C. Tu, Y.K. Hsiao and P.H. Chen, “Universal Active Gate Driver IC With Closed-Loop Timing Control and Gate-Sensing Technique for Silicon Carbide Power Devices,” IEEE Trans. Power Electron., vol. 40, no. 4, pp. 5120–5129, 2025.</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[8]  </a:t>
            </a:r>
            <a:r>
              <a:rPr lang="en-US" sz="900" dirty="0">
                <a:solidFill>
                  <a:srgbClr val="000000"/>
                </a:solidFill>
                <a:latin typeface="Calibri" pitchFamily="34" charset="0"/>
                <a:ea typeface="Calibri" pitchFamily="34" charset="-122"/>
                <a:cs typeface="Calibri" pitchFamily="34" charset="-120"/>
              </a:rPr>
              <a:t xml:space="preserve">G.H. Thuc and C.J. Chen, “An Integrated Driver With Dual-Edge Adaptive Dead-Time Control for GaN-Based Synchronous Buck Converter,” IEEE Trans. Ind. Appl., vol. 60, no. 6, pp. 9157–9170, 2024.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[9]  </a:t>
            </a:r>
            <a:r>
              <a:rPr lang="en-US" sz="900" dirty="0">
                <a:solidFill>
                  <a:srgbClr val="000000"/>
                </a:solidFill>
                <a:latin typeface="Calibri" pitchFamily="34" charset="0"/>
                <a:ea typeface="Calibri" pitchFamily="34" charset="-122"/>
                <a:cs typeface="Calibri" pitchFamily="34" charset="-120"/>
              </a:rPr>
              <a:t xml:space="preserve">H. Takayama, T. Okuda and T. Hikihara, “Digital Active Gate Drive of SiC MOSFETs for Controlling Switching Behavior - Preparation Toward Universal Digitization of Power Switching,” Int. J. Circuit Theory Appl., vol. 50, no. 1, pp. 183–196, 2022.</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[10]  </a:t>
            </a:r>
            <a:r>
              <a:rPr lang="en-US" sz="900" b="1" dirty="0">
                <a:solidFill>
                  <a:srgbClr val="000000"/>
                </a:solidFill>
                <a:latin typeface="Calibri" pitchFamily="34" charset="0"/>
                <a:ea typeface="Calibri" pitchFamily="34" charset="-122"/>
                <a:cs typeface="Calibri" pitchFamily="34" charset="-120"/>
              </a:rPr>
              <a:t xml:space="preserve">BASE PAPER - </a:t>
            </a:r>
            <a:r>
              <a:rPr lang="en-US" sz="900" dirty="0">
                <a:solidFill>
                  <a:srgbClr val="000000"/>
                </a:solidFill>
                <a:latin typeface="Calibri" pitchFamily="34" charset="0"/>
                <a:ea typeface="Calibri" pitchFamily="34" charset="-122"/>
                <a:cs typeface="Calibri" pitchFamily="34" charset="-120"/>
              </a:rPr>
              <a:t xml:space="preserve">W.J. Zhang, J. Yu, Y. Leng, W.T. Cui, G.Q. Deng and W.T. Ng, “A Segmented Gate Driver for E-mode GaN HEMTs with Simple Driving Strength Pattern Control,” in Proc. IEEE 32nd Int. Symp. Power Semicond. Devices ICs (ISPSD), 2020, pp. 102–105.</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[11]  </a:t>
            </a:r>
            <a:r>
              <a:rPr lang="en-US" sz="900" dirty="0">
                <a:solidFill>
                  <a:srgbClr val="000000"/>
                </a:solidFill>
                <a:latin typeface="Calibri" pitchFamily="34" charset="0"/>
                <a:ea typeface="Calibri" pitchFamily="34" charset="-122"/>
                <a:cs typeface="Calibri" pitchFamily="34" charset="-120"/>
              </a:rPr>
              <a:t xml:space="preserve">X. Wang, M. Tao, J. Xiao, D. Luo, M. He, Q. Zhou, X. Zhang and M. Wang, “High-Frequency Three-Level Gate Driver for GaN HEMT Bridge Crosstalk Suppression,” IEEE Trans. Power Electron., vol. 39, no. 1, pp. 1343–1352, 2024.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[12]  </a:t>
            </a:r>
            <a:r>
              <a:rPr lang="en-US" sz="900" dirty="0">
                <a:solidFill>
                  <a:srgbClr val="000000"/>
                </a:solidFill>
                <a:latin typeface="Calibri" pitchFamily="34" charset="0"/>
                <a:ea typeface="Calibri" pitchFamily="34" charset="-122"/>
                <a:cs typeface="Calibri" pitchFamily="34" charset="-120"/>
              </a:rPr>
              <a:t xml:space="preserve">L. Wang, X. Sun, Y. Yan, M. Ma and D. Xu, “An Integrated Suppression Method of Both Gate-Source Voltage Oscillation and Crosstalk for GaN HEMT Gate Driver,” IEEE Trans. Power Electron., vol. 39, no. 11, pp. 14643–14655, 2024.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[13]  </a:t>
            </a:r>
            <a:r>
              <a:rPr lang="en-US" sz="900" dirty="0">
                <a:solidFill>
                  <a:srgbClr val="000000"/>
                </a:solidFill>
                <a:latin typeface="Calibri" pitchFamily="34" charset="0"/>
                <a:ea typeface="Calibri" pitchFamily="34" charset="-122"/>
                <a:cs typeface="Calibri" pitchFamily="34" charset="-120"/>
              </a:rPr>
              <a:t xml:space="preserve">Y. Cai, D. Ye, W. Lv and Z. Chen, “A High-Efficient GaN Driver With Hybrid Adaptive Dead-Time Control and Peak Delay Control for Synchronous Buck Converter,” IEEE Trans. Power Electron., vol. 41, no. 1, pp. 279–290, 2026.</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[14]  </a:t>
            </a:r>
            <a:r>
              <a:rPr lang="en-US" sz="900" dirty="0">
                <a:solidFill>
                  <a:srgbClr val="000000"/>
                </a:solidFill>
                <a:latin typeface="Calibri" pitchFamily="34" charset="0"/>
                <a:ea typeface="Calibri" pitchFamily="34" charset="-122"/>
                <a:cs typeface="Calibri" pitchFamily="34" charset="-120"/>
              </a:rPr>
              <a:t xml:space="preserve">Y. Zheng, S. Zhao, P. Agarwal, F. Liu, Y. Zhao and A. Mantooth, “A Multi-Level Turn-Off Gate Driver for Crosstalk Noise Suppression of GaN HEMTs,” IEEE Open J. Power Electron., pp. 1–15, 2026.</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[15]  </a:t>
            </a:r>
            <a:r>
              <a:rPr lang="en-US" sz="900" dirty="0">
                <a:solidFill>
                  <a:srgbClr val="000000"/>
                </a:solidFill>
                <a:latin typeface="Calibri" pitchFamily="34" charset="0"/>
                <a:ea typeface="Calibri" pitchFamily="34" charset="-122"/>
                <a:cs typeface="Calibri" pitchFamily="34" charset="-120"/>
              </a:rPr>
              <a:t xml:space="preserve">M.K. Banda, S. Madichetty, D.M. Natham and S. Koduru, “An Event-Triggered Dual-Polarity Gate Clamp for GaN HEMT Gate Oscillation Suppression,” IEEE Trans. Power Electron., vol. 41, no. 9, pp. 14402–14405, 2026.</a:t>
            </a:r>
          </a:p>
        </p:txBody>
      </p:sp>
      <p:sp>
        <p:nvSpPr>
          <p:cNvPr id="6" name="Text 3"/>
          <p:cNvSpPr txBox="1"/>
          <p:nvPr/>
        </p:nvSpPr>
        <p:spPr>
          <a:xfrm>
            <a:off x="640080" y="5806440"/>
            <a:ext cx="10881360" cy="365760"/>
          </a:xfrm>
          <a:prstGeom prst="rect">
            <a:avLst/>
          </a:prstGeom>
          <a:noFill/>
          <a:ln/>
        </p:spPr>
        <p:txBody>
          <a:bodyPr wrap="square" lIns="0" tIns="0" rIns="0" bIns="0" rtlCol="0" anchor="ctr"/>
          <a:lstStyle/>
          <a:p>
            <a:pPr marL="177800" indent="0">
              <a:spcAft>
                <a:spcPts val="0"/>
              </a:spcAft>
              <a:buSzPct val="100000"/>
              <a:buNone/>
            </a:pPr>
            <a:r>
              <a:rPr lang="en-US" sz="1050" dirty="0">
                <a:solidFill>
                  <a:srgbClr val="000000"/>
                </a:solidFill>
                <a:latin typeface="Calibri" pitchFamily="34" charset="0"/>
                <a:ea typeface="Calibri" pitchFamily="34" charset="-122"/>
                <a:cs typeface="Calibri" pitchFamily="34" charset="-120"/>
              </a:rPr>
              <a:t xml:space="preserve">The papers this design engages with directly. [10] is the base paper, reimplemented in </a:t>
            </a:r>
            <a:r>
              <a:rPr lang="en-US" sz="1050" dirty="0">
                <a:solidFill>
                  <a:srgbClr val="000000"/>
                </a:solidFill>
                <a:latin typeface="Calibri" pitchFamily="34" charset="0"/>
                <a:ea typeface="Calibri" pitchFamily="34" charset="-122"/>
                <a:cs typeface="Calibri" pitchFamily="34" charset="-120"/>
                <a:hlinkClick r:id="rId4"/>
              </a:rPr>
              <a:t xml:space="preserve">models/zhangdrv.lib</a:t>
            </a:r>
            <a:r>
              <a:rPr lang="en-US" sz="1050" dirty="0">
                <a:solidFill>
                  <a:srgbClr val="000000"/>
                </a:solidFill>
                <a:latin typeface="Calibri" pitchFamily="34" charset="0"/>
                <a:ea typeface="Calibri" pitchFamily="34" charset="-122"/>
                <a:cs typeface="Calibri" pitchFamily="34" charset="-120"/>
              </a:rPr>
              <a:t xml:space="preserve"> and measured against throughout.</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25</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Thank you</a:t>
            </a:r>
            <a:endParaRPr lang="en-US" sz="2800" dirty="0"/>
          </a:p>
        </p:txBody>
      </p:sp>
      <p:sp>
        <p:nvSpPr>
          <p:cNvPr id="5" name="TextBox 4"/>
          <p:cNvSpPr txBox="1"/>
          <p:nvPr/>
        </p:nvSpPr>
        <p:spPr>
          <a:xfrm>
            <a:off x="640080" y="2103120"/>
            <a:ext cx="10881360" cy="2926080"/>
          </a:xfrm>
          <a:prstGeom prst="rect">
            <a:avLst/>
          </a:prstGeom>
          <a:noFill/>
        </p:spPr>
        <p:txBody>
          <a:bodyPr wrap="square" lIns="0" tIns="0" rIns="0" bIns="0">
            <a:spAutoFit/>
          </a:bodyPr>
          <a:lstStyle/>
          <a:p>
            <a:pPr marL="177800" indent="0">
              <a:spcAft>
                <a:spcPts val="400"/>
              </a:spcAft>
              <a:buSzPct val="100000"/>
              <a:buNone/>
            </a:pPr>
            <a:r>
              <a:rPr lang="en-US" sz="2600" b="1" dirty="0">
                <a:solidFill>
                  <a:srgbClr val="000000"/>
                </a:solidFill>
                <a:latin typeface="Calibri" pitchFamily="34" charset="0"/>
                <a:ea typeface="Calibri" pitchFamily="34" charset="-122"/>
                <a:cs typeface="Calibri" pitchFamily="34" charset="-120"/>
              </a:rPr>
              <a:t xml:space="preserve">GaN Based Synchronous Buck Converter with an Improved Gate Driver</a:t>
            </a:r>
          </a:p>
          <a:p>
            <a:pPr marL="177800" indent="0">
              <a:spcAft>
                <a:spcPts val="240"/>
              </a:spcAft>
              <a:buSzPct val="100000"/>
              <a:buNone/>
            </a:pPr>
            <a:r>
              <a:rPr lang="en-US" sz="1500" dirty="0">
                <a:solidFill>
                  <a:srgbClr val="000000"/>
                </a:solidFill>
                <a:latin typeface="Calibri" pitchFamily="34" charset="0"/>
                <a:ea typeface="Calibri" pitchFamily="34" charset="-122"/>
                <a:cs typeface="Calibri" pitchFamily="34" charset="-120"/>
              </a:rPr>
              <a:t xml:space="preserve">Sanjay Kumar  23BEC1447     ·     Aamir Abdullah  23BPS1197     ·     Amritha S  23BEC1368</a:t>
            </a:r>
          </a:p>
          <a:p>
            <a:pPr marL="177800" indent="0">
              <a:spcAft>
                <a:spcPts val="400"/>
              </a:spcAft>
              <a:buSzPct val="100000"/>
              <a:buNone/>
            </a:pPr>
            <a:r>
              <a:rPr lang="en-US" sz="1500" dirty="0">
                <a:solidFill>
                  <a:srgbClr val="000000"/>
                </a:solidFill>
                <a:latin typeface="Calibri" pitchFamily="34" charset="0"/>
                <a:ea typeface="Calibri" pitchFamily="34" charset="-122"/>
                <a:cs typeface="Calibri" pitchFamily="34" charset="-120"/>
              </a:rPr>
              <a:t xml:space="preserve">Guide: Dr. Bindu  -  SENSE, VIT Chennai</a:t>
            </a:r>
          </a:p>
          <a:p>
            <a:pPr marL="177800" indent="0">
              <a:spcAft>
                <a:spcPts val="0"/>
              </a:spcAft>
              <a:buSzPct val="100000"/>
              <a:buNone/>
            </a:pPr>
            <a:r>
              <a:rPr lang="en-US" sz="1400" dirty="0">
                <a:solidFill>
                  <a:srgbClr val="000000"/>
                </a:solidFill>
                <a:latin typeface="Calibri" pitchFamily="34" charset="0"/>
                <a:ea typeface="Calibri" pitchFamily="34" charset="-122"/>
                <a:cs typeface="Calibri" pitchFamily="34" charset="-120"/>
              </a:rPr>
              <a:t xml:space="preserve">Everything in this deck runs on request: </a:t>
            </a:r>
            <a:r>
              <a:rPr lang="en-US" sz="1400" b="1" dirty="0">
                <a:solidFill>
                  <a:srgbClr val="000000"/>
                </a:solidFill>
                <a:latin typeface="Calibri" pitchFamily="34" charset="0"/>
                <a:ea typeface="Calibri" pitchFamily="34" charset="-122"/>
                <a:cs typeface="Calibri" pitchFamily="34" charset="-120"/>
                <a:hlinkClick r:id="rId4"/>
              </a:rPr>
              <a:t xml:space="preserve">github.com/Amritha902/gan-driver</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6</TotalTime>
  <Words>496</Words>
  <Application>Microsoft Macintosh PowerPoint</Application>
  <PresentationFormat>Widescreen</PresentationFormat>
  <Paragraphs>89</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mark kandan</cp:lastModifiedBy>
  <cp:revision>2</cp:revision>
  <dcterms:created xsi:type="dcterms:W3CDTF">2026-08-27T09:57:11Z</dcterms:created>
  <dcterms:modified xsi:type="dcterms:W3CDTF">2026-08-27T10:07:08Z</dcterms:modified>
</cp:coreProperties>
</file>