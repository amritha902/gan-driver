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348" r:id="rId91"/>
    <p:sldId id="315" r:id="rId58"/>
    <p:sldId id="317" r:id="rId60"/>
    <p:sldId id="318" r:id="rId61"/>
    <p:sldId id="319" r:id="rId62"/>
    <p:sldId id="320" r:id="rId63"/>
    <p:sldId id="322" r:id="rId65"/>
    <p:sldId id="324" r:id="rId67"/>
    <p:sldId id="359" r:id="rId102"/>
    <p:sldId id="360" r:id="rId103"/>
    <p:sldId id="325" r:id="rId68"/>
    <p:sldId id="326" r:id="rId69"/>
    <p:sldId id="339" r:id="rId82"/>
    <p:sldId id="309" r:id="rId52"/>
    <p:sldId id="355" r:id="rId98"/>
    <p:sldId id="361" r:id="rId104"/>
    <p:sldId id="362" r:id="rId105"/>
    <p:sldId id="363" r:id="rId106"/>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3.xml"/><Relationship Id="rId25" Type="http://schemas.openxmlformats.org/officeDocument/2006/relationships/slide" Target="slides/slide4.xml"/><Relationship Id="rId52" Type="http://schemas.openxmlformats.org/officeDocument/2006/relationships/slide" Target="slides/slide18.xml"/><Relationship Id="rId58" Type="http://schemas.openxmlformats.org/officeDocument/2006/relationships/slide" Target="slides/slide6.xml"/><Relationship Id="rId60" Type="http://schemas.openxmlformats.org/officeDocument/2006/relationships/slide" Target="slides/slide7.xml"/><Relationship Id="rId61" Type="http://schemas.openxmlformats.org/officeDocument/2006/relationships/slide" Target="slides/slide8.xml"/><Relationship Id="rId62" Type="http://schemas.openxmlformats.org/officeDocument/2006/relationships/slide" Target="slides/slide9.xml"/><Relationship Id="rId63" Type="http://schemas.openxmlformats.org/officeDocument/2006/relationships/slide" Target="slides/slide10.xml"/><Relationship Id="rId65" Type="http://schemas.openxmlformats.org/officeDocument/2006/relationships/slide" Target="slides/slide11.xml"/><Relationship Id="rId67" Type="http://schemas.openxmlformats.org/officeDocument/2006/relationships/slide" Target="slides/slide12.xml"/><Relationship Id="rId68" Type="http://schemas.openxmlformats.org/officeDocument/2006/relationships/slide" Target="slides/slide15.xml"/><Relationship Id="rId69" Type="http://schemas.openxmlformats.org/officeDocument/2006/relationships/slide" Target="slides/slide16.xml"/><Relationship Id="rId71" Type="http://schemas.openxmlformats.org/officeDocument/2006/relationships/slide" Target="slides/slide25.xml"/><Relationship Id="rId82" Type="http://schemas.openxmlformats.org/officeDocument/2006/relationships/slide" Target="slides/slide17.xml"/><Relationship Id="rId91" Type="http://schemas.openxmlformats.org/officeDocument/2006/relationships/slide" Target="slides/slide5.xml"/><Relationship Id="rId98" Type="http://schemas.openxmlformats.org/officeDocument/2006/relationships/slide" Target="slides/slide19.xml"/><Relationship Id="rId102" Type="http://schemas.openxmlformats.org/officeDocument/2006/relationships/slide" Target="slides/slide13.xml"/><Relationship Id="rId103" Type="http://schemas.openxmlformats.org/officeDocument/2006/relationships/slide" Target="slides/slide14.xml"/><Relationship Id="rId104" Type="http://schemas.openxmlformats.org/officeDocument/2006/relationships/slide" Target="slides/slide20.xml"/><Relationship Id="rId105" Type="http://schemas.openxmlformats.org/officeDocument/2006/relationships/slide" Target="slides/slide21.xml"/><Relationship Id="rId106"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scripts/headtohead.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lloop_sweep.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one - the one that must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1.4 V is enough to turn it on</a:t>
            </a:r>
            <a:r>
              <a:rPr lang="en-US" sz="1500" dirty="0">
                <a:solidFill>
                  <a:srgbClr val="000000"/>
                </a:solidFill>
                <a:latin typeface="Calibri" pitchFamily="34" charset="0"/>
                <a:ea typeface="Calibri" pitchFamily="34" charset="-122"/>
                <a:cs typeface="Calibri" pitchFamily="34" charset="-120"/>
              </a:rPr>
              <a:t xml:space="preserve">. Both conduct, and the supply shorts through them.</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chargers. GaN is chosen because it switches fast - and that speed is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Drive in steps, clamp the off gate, adjust the dead time,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Those gains are reported as one number.</a:t>
            </a:r>
            <a:r>
              <a:rPr lang="en-US" sz="1500" dirty="0">
                <a:solidFill>
                  <a:srgbClr val="000000"/>
                </a:solidFill>
                <a:latin typeface="Calibri" pitchFamily="34" charset="0"/>
                <a:ea typeface="Calibri" pitchFamily="34" charset="-122"/>
                <a:cs typeface="Calibri" pitchFamily="34" charset="-120"/>
              </a:rPr>
              <a:t xml:space="preserve"> They mix picking one good setting with changing it while the converter runs. Only the second needs a sensor, a lookup table and a controller - so nobody knows whether that hardware is worth building.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How much benefit does runtime adaptation add beyond a fixed gate-driver setting, and under what conditions is that benefit worth the hardware?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adjustable dead time, a Miller clamp and a −2 V off rail - every one a setting we can change and measure.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in, 48.50 V out at 4.869 A: 236.26 W, 97.49 % efficient.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off gate reaches 1.65 V against a 1.4 V threshold.</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each measured on its own run.</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seeing whether the best setting moves with the operating point.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Tools:</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ngspice</a:t>
            </a:r>
            <a:r>
              <a:rPr lang="en-US" sz="1500" dirty="0">
                <a:solidFill>
                  <a:srgbClr val="000000"/>
                </a:solidFill>
                <a:latin typeface="Calibri" pitchFamily="34" charset="0"/>
                <a:ea typeface="Calibri" pitchFamily="34" charset="-122"/>
                <a:cs typeface="Calibri" pitchFamily="34" charset="-120"/>
              </a:rPr>
              <a:t xml:space="preserve"> runs every simulation. </a:t>
            </a:r>
            <a:r>
              <a:rPr lang="en-US" sz="1500" b="1" dirty="0">
                <a:solidFill>
                  <a:srgbClr val="000000"/>
                </a:solidFill>
                <a:latin typeface="Calibri" pitchFamily="34" charset="0"/>
                <a:ea typeface="Calibri" pitchFamily="34" charset="-122"/>
                <a:cs typeface="Calibri" pitchFamily="34" charset="-120"/>
              </a:rPr>
              <a:t xml:space="preserve">KiCad</a:t>
            </a:r>
            <a:r>
              <a:rPr lang="en-US" sz="1500" dirty="0">
                <a:solidFill>
                  <a:srgbClr val="000000"/>
                </a:solidFill>
                <a:latin typeface="Calibri" pitchFamily="34" charset="0"/>
                <a:ea typeface="Calibri" pitchFamily="34" charset="-122"/>
                <a:cs typeface="Calibri" pitchFamily="34" charset="-120"/>
              </a:rPr>
              <a:t xml:space="preserve"> draws every schematic, from the same netlist ngspice runs.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4077464"/>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segments per bank in two stages, and a rail their own sheet labels “tied to ref - NO negative rail”. Bottom right, ours: the same eight-segment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segment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segments, eight pull-down, the active Miller clamp on the right, and the off rail selectable to −2 V. Each segment is one switch and one resistor; the resistor carries the control word.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segments per bank in two stages, one bias resistor, no clamp branch, and the off rail tied to reference.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Eight pull-up segments and eight pull-down, each a switch and a resistor. A segment is in circuit when the control word reaches it and 1 GΩ out of it when it does not, which is how 4 + 4 bits from the FPGA become a drive strength. The clamp is not one of the segments: it has its own switch, its own timing and its own 0.5 Ω path to the off rail, because it has to hold the gate down while the other device switches. The segments are discrete by design: a single variable resistor would simulate identically and could not be laid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CHANGES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733799" y="1389888"/>
            <a:ext cx="10724096" cy="3794760"/>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segments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Their circuit, ngspice running it, the waveform. OFF gate peaks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9"/>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best for their driver here.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segments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 same sequence, our driver. Gate peaks −1.176 V - 2.576 V of margin, 6.3× our implementation of their scheme. One fixed control word. Axes identical to the previous slide.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Only the driver changes. Ours holds one fixed word at every corner; theirs is re-optimised at each one - more freedom than their design has. At three of four corners that search returns their built setting, so those two columns match.</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it costs.  </a:t>
            </a:r>
            <a:r>
              <a:rPr lang="en-US" sz="1250" dirty="0">
                <a:solidFill>
                  <a:srgbClr val="000000"/>
                </a:solidFill>
                <a:latin typeface="Calibri" pitchFamily="34" charset="0"/>
                <a:ea typeface="Calibri" pitchFamily="34" charset="-122"/>
                <a:cs typeface="Calibri" pitchFamily="34" charset="-120"/>
              </a:rPr>
              <a:t xml:space="preserve">Turn-on energy higher at 3 of 4 corners. Their driver: one bias resistor. Ours: a clamp device, a negative supply, 20 LUTs.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we do not claim.  </a:t>
            </a:r>
            <a:r>
              <a:rPr lang="en-US" sz="1250" dirty="0">
                <a:solidFill>
                  <a:srgbClr val="000000"/>
                </a:solidFill>
                <a:latin typeface="Calibri" pitchFamily="34" charset="0"/>
                <a:ea typeface="Calibri" pitchFamily="34" charset="-122"/>
                <a:cs typeface="Calibri" pitchFamily="34" charset="-120"/>
              </a:rPr>
              <a:t xml:space="preserve">Their netlist is unpublished. Every ratio here is against our implementation of their scheme, not their measured result.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12080"/>
            <a:ext cx="10838382" cy="1417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Three different quantities must not be confused: this axis is the CEILING on scheduling over four corners, 5.95 % at our nominal 3.0 nH; over the full 36-corner grid that ceiling is 3.50 %; and what adapting per operating point actually returns there is 2.6 %. 3.0 nH is a nominal simulation condition, not a measured layout.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built. The comparison is against our own implementation of the published baseline, because the authors' netlist is not published.</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6.  What would change this.  </a:t>
            </a:r>
            <a:r>
              <a:rPr lang="en-US" sz="1300" dirty="0">
                <a:solidFill>
                  <a:srgbClr val="000000"/>
                </a:solidFill>
                <a:latin typeface="Calibri" pitchFamily="34" charset="0"/>
                <a:ea typeface="Calibri" pitchFamily="34" charset="-122"/>
                <a:cs typeface="Calibri" pitchFamily="34" charset="-120"/>
              </a:rPr>
              <a:t xml:space="preserve">A measured gate waveform that does not match the simulated one, or an extracted loop inductance below 2.5 nH - which we have not measured, and which would invert conclusion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