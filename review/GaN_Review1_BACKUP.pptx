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263" r:id="rId9"/>
    <p:sldId id="294" r:id="rId28"/>
    <p:sldId id="292" r:id="rId32"/>
    <p:sldId id="275" r:id="rId26"/>
    <p:sldId id="276" r:id="rId27"/>
    <p:sldId id="264" r:id="rId10"/>
    <p:sldId id="273" r:id="rId24"/>
    <p:sldId id="285" r:id="rId36"/>
    <p:sldId id="318" r:id="rId61"/>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16 —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a:lstStyle/>
                    <a:p>
                      <a:pPr marL="0" indent="0">
                        <a:buNone/>
                      </a:pPr>
                      <a:r>
                        <a:rPr lang="en-US" sz="1300" dirty="0">
                          <a:solidFill>
                            <a:srgbClr val="000000"/>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five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12</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8 —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5897880"/>
            <a:ext cx="11201400"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1201400"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75 %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Twelve blocks, weighted by how much of the project each is. Eight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Closed-loop regulation of the converter</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solidFill>
                            <a:srgbClr val="555555"/>
                          </a:solidFill>
                          <a:latin typeface="Calibri"/>
                        </a:rPr>
                        <a:t>Review-II. Changes where it operates, so the study is redone after</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Transistor-level output stage in Cadence</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 Re-run the ceiling on real devices, not behavioural ones</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75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25 % is the half that needs Cadence, a board and a bench, and no amount of further simulating will deliver it.</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we are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is done. </a:t>
            </a:r>
            <a:r>
              <a:rPr lang="en-US" sz="1500" dirty="0">
                <a:solidFill>
                  <a:srgbClr val="000000"/>
                </a:solidFill>
                <a:latin typeface="Calibri" pitchFamily="34" charset="0"/>
                <a:ea typeface="Calibri" pitchFamily="34" charset="-122"/>
                <a:cs typeface="Calibri" pitchFamily="34" charset="-120"/>
              </a:rPr>
              <a:t xml:space="preserve">The converter is built and converting, the crosstalk fault is reproduced and fixed, the named cases have been run, and the FPGA controller is written and verified.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What we aim to do next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 close the loop.</a:t>
            </a:r>
            <a:r>
              <a:rPr lang="en-US" sz="1500" dirty="0">
                <a:solidFill>
                  <a:srgbClr val="000000"/>
                </a:solidFill>
                <a:latin typeface="Calibri" pitchFamily="34" charset="0"/>
                <a:ea typeface="Calibri" pitchFamily="34" charset="-122"/>
                <a:cs typeface="Calibri" pitchFamily="34" charset="-120"/>
              </a:rPr>
              <a:t xml:space="preserve"> Add a feedback controller so the output holds its value when the load changes, then re-run the driver-setting study with the loop closed.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 settle the light-load question.</a:t>
            </a:r>
            <a:r>
              <a:rPr lang="en-US" sz="1500" dirty="0">
                <a:solidFill>
                  <a:srgbClr val="000000"/>
                </a:solidFill>
                <a:latin typeface="Calibri" pitchFamily="34" charset="0"/>
                <a:ea typeface="Calibri" pitchFamily="34" charset="-122"/>
                <a:cs typeface="Calibri" pitchFamily="34" charset="-120"/>
              </a:rPr>
              <a:t xml:space="preserve"> The cheapest dead time is 15 ns at full load and 5 ns at light load. Run the converter at both and measure what a two-setting controller actually saves against one fixed setting — that is the number the whole project turns on.</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Same tools throughout.</a:t>
            </a:r>
            <a:r>
              <a:rPr lang="en-US" sz="1500" dirty="0">
                <a:solidFill>
                  <a:srgbClr val="000000"/>
                </a:solidFill>
                <a:latin typeface="Calibri" pitchFamily="34" charset="0"/>
                <a:ea typeface="Calibri" pitchFamily="34" charset="-122"/>
                <a:cs typeface="Calibri" pitchFamily="34" charset="-120"/>
              </a:rPr>
              <a:t xml:space="preserve"> ngspice for the circuit, Vivado for the FPGA, start to finish.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The risk we already know.</a:t>
            </a:r>
            <a:r>
              <a:rPr lang="en-US" sz="1500" dirty="0">
                <a:solidFill>
                  <a:srgbClr val="000000"/>
                </a:solidFill>
                <a:latin typeface="Calibri" pitchFamily="34" charset="0"/>
                <a:ea typeface="Calibri" pitchFamily="34" charset="-122"/>
                <a:cs typeface="Calibri" pitchFamily="34" charset="-120"/>
              </a:rPr>
              <a:t xml:space="preserve"> Closing the loop changes where the converter actually operates, so the setting study has to be redone afterwards, not before. That ordering is the schedule risk.</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Where the work lives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 the circuits, the scripts, the Verilog and the Vivado reports.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23 —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18 —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1201400"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21 —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22 —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sp>
        <p:nvSpPr>
          <p:cNvPr id="5" name="TextBox 4"/>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Six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627632"/>
          <a:ext cx="11100814" cy="4160520"/>
        </p:xfrm>
        <a:graphic>
          <a:graphicData uri="http://schemas.openxmlformats.org/drawingml/2006/table">
            <a:tbl>
              <a:tblPr firstRow="1">
                <a:tableStyleId>{5C22544A-7EE6-4342-B048-85BDC9FD1C3A}</a:tableStyleId>
              </a:tblPr>
              <a:tblGrid>
                <a:gridCol w="3330244"/>
                <a:gridCol w="2886212"/>
                <a:gridCol w="3552261"/>
                <a:gridCol w="1332097"/>
              </a:tblGrid>
              <a:tr h="520065">
                <a:tc>
                  <a:txBody>
                    <a:bodyPr wrap="square"/>
                    <a:lstStyle/>
                    <a:p>
                      <a:r>
                        <a:rPr sz="1050" b="1">
                          <a:latin typeface="Calibri"/>
                        </a:rPr>
                        <a:t>Gap in the published work</a:t>
                      </a:r>
                    </a:p>
                  </a:txBody>
                  <a:tcPr marL="50292" marR="50292" marT="27432" marB="27432"/>
                </a:tc>
                <a:tc>
                  <a:txBody>
                    <a:bodyPr wrap="square"/>
                    <a:lstStyle/>
                    <a:p>
                      <a:r>
                        <a:rPr sz="1050" b="1">
                          <a:latin typeface="Calibri"/>
                        </a:rPr>
                        <a:t>What the architecture does</a:t>
                      </a:r>
                    </a:p>
                  </a:txBody>
                  <a:tcPr marL="50292" marR="50292" marT="27432" marB="27432"/>
                </a:tc>
                <a:tc>
                  <a:txBody>
                    <a:bodyPr wrap="square"/>
                    <a:lstStyle/>
                    <a:p>
                      <a:r>
                        <a:rPr sz="1050" b="1">
                          <a:latin typeface="Calibri"/>
                        </a:rPr>
                        <a:t>Evidence</a:t>
                      </a:r>
                    </a:p>
                  </a:txBody>
                  <a:tcPr marL="50292" marR="50292" marT="27432" marB="27432"/>
                </a:tc>
                <a:tc>
                  <a:txBody>
                    <a:bodyPr wrap="square"/>
                    <a:lstStyle/>
                    <a:p>
                      <a:r>
                        <a:rPr sz="1050" b="1">
                          <a:latin typeface="Calibri"/>
                        </a:rPr>
                        <a:t>Status</a:t>
                      </a:r>
                    </a:p>
                  </a:txBody>
                  <a:tcPr marL="50292" marR="50292" marT="27432" marB="27432"/>
                </a:tc>
              </a:tr>
              <a:tr h="520065">
                <a:tc>
                  <a:txBody>
                    <a:bodyPr wrap="square"/>
                    <a:lstStyle/>
                    <a:p>
                      <a:r>
                        <a:rPr sz="900" b="0">
                          <a:latin typeface="Calibri"/>
                        </a:rPr>
                        <a:t>Segmented drivers report one number. Nobody separates a better FIXED setting from live RE-TUNING.</a:t>
                      </a:r>
                    </a:p>
                  </a:txBody>
                  <a:tcPr marL="50292" marR="50292" marT="27432" marB="27432"/>
                </a:tc>
                <a:tc>
                  <a:txBody>
                    <a:bodyPr wrap="square"/>
                    <a:lstStyle/>
                    <a:p>
                      <a:r>
                        <a:rPr sz="900" b="0">
                          <a:latin typeface="Calibri"/>
                        </a:rPr>
                        <a:t>720 control words × 4 operating points, every combination run.</a:t>
                      </a:r>
                    </a:p>
                  </a:txBody>
                  <a:tcPr marL="50292" marR="50292" marT="27432" marB="27432"/>
                </a:tc>
                <a:tc>
                  <a:txBody>
                    <a:bodyPr wrap="square"/>
                    <a:lstStyle/>
                    <a:p>
                      <a:r>
                        <a:rPr sz="900" b="0">
                          <a:latin typeface="Calibri"/>
                        </a:rPr>
                        <a:t>Fixed 25.1 %, adaptive 3.9 % — adaptive is 13.4 % of the gain (novelty.py).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Nobody says how much CONTROLLER the adaptive part justifies.</a:t>
                      </a:r>
                    </a:p>
                  </a:txBody>
                  <a:tcPr marL="50292" marR="50292" marT="27432" marB="27432"/>
                </a:tc>
                <a:tc>
                  <a:txBody>
                    <a:bodyPr wrap="square"/>
                    <a:lstStyle/>
                    <a:p>
                      <a:r>
                        <a:rPr sz="900" b="0">
                          <a:latin typeface="Calibri"/>
                        </a:rPr>
                        <a:t>A complexity ladder: constant word → one comparator → two → full lookup table.</a:t>
                      </a:r>
                    </a:p>
                  </a:txBody>
                  <a:tcPr marL="50292" marR="50292" marT="27432" marB="27432"/>
                </a:tc>
                <a:tc>
                  <a:txBody>
                    <a:bodyPr wrap="square"/>
                    <a:lstStyle/>
                    <a:p>
                      <a:r>
                        <a:rPr sz="900" b="0">
                          <a:latin typeface="Calibri"/>
                        </a:rPr>
                        <a:t>One comparator takes 46 % of it. 7.2 % is left to justify a sense + ADC + LUT (controller_ladder.py).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Prior segmented drivers stage the slices but carry no Miller clamp and no negative off rail.</a:t>
                      </a:r>
                    </a:p>
                  </a:txBody>
                  <a:tcPr marL="50292" marR="50292" marT="27432" marB="27432"/>
                </a:tc>
                <a:tc>
                  <a:txBody>
                    <a:bodyPr wrap="square"/>
                    <a:lstStyle/>
                    <a:p>
                      <a:r>
                        <a:rPr sz="900" b="0">
                          <a:latin typeface="Calibri"/>
                        </a:rPr>
                        <a:t>8 + 8 slices AND a clamp AND a −2 V off-bias, each measurable on its own.</a:t>
                      </a:r>
                    </a:p>
                  </a:txBody>
                  <a:tcPr marL="50292" marR="50292" marT="27432" marB="27432"/>
                </a:tc>
                <a:tc>
                  <a:txBody>
                    <a:bodyPr wrap="square"/>
                    <a:lstStyle/>
                    <a:p>
                      <a:r>
                        <a:rPr sz="900" b="0">
                          <a:latin typeface="Calibri"/>
                        </a:rPr>
                        <a:t>Base paper at its best +0.407 V; ours +2.576 V — 6.3× (basepaper_compare.py).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The driver is asserted to be programmable; the logic is rarely synthesised.</a:t>
                      </a:r>
                    </a:p>
                  </a:txBody>
                  <a:tcPr marL="50292" marR="50292" marT="27432" marB="27432"/>
                </a:tc>
                <a:tc>
                  <a:txBody>
                    <a:bodyPr wrap="square"/>
                    <a:lstStyle/>
                    <a:p>
                      <a:r>
                        <a:rPr sz="900" b="0">
                          <a:latin typeface="Calibri"/>
                        </a:rPr>
                        <a:t>seg_gate_ctrl.v, thermometer-coded, with its own dead-time generator.</a:t>
                      </a:r>
                    </a:p>
                  </a:txBody>
                  <a:tcPr marL="50292" marR="50292" marT="27432" marB="27432"/>
                </a:tc>
                <a:tc>
                  <a:txBody>
                    <a:bodyPr wrap="square"/>
                    <a:lstStyle/>
                    <a:p>
                      <a:r>
                        <a:rPr sz="900" b="0">
                          <a:latin typeface="Calibri"/>
                        </a:rPr>
                        <a:t>8 properties in Icarus; 20 LUT / 20 FF on xc7a35t, 200 MHz met, 1.996 ns slack.</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Controller and power stage are verified separately and never made to meet.</a:t>
                      </a:r>
                    </a:p>
                  </a:txBody>
                  <a:tcPr marL="50292" marR="50292" marT="27432" marB="27432"/>
                </a:tc>
                <a:tc>
                  <a:txBody>
                    <a:bodyPr wrap="square"/>
                    <a:lstStyle/>
                    <a:p>
                      <a:r>
                        <a:rPr sz="900" b="0">
                          <a:latin typeface="Calibri"/>
                        </a:rPr>
                        <a:t>The RTL's own VCD drives the SPICE slices — one source per wire, no integer in between.</a:t>
                      </a:r>
                    </a:p>
                  </a:txBody>
                  <a:tcPr marL="50292" marR="50292" marT="27432" marB="27432"/>
                </a:tc>
                <a:tc>
                  <a:txBody>
                    <a:bodyPr wrap="square"/>
                    <a:lstStyle/>
                    <a:p>
                      <a:r>
                        <a:rPr sz="900" b="0">
                          <a:latin typeface="Calibri"/>
                        </a:rPr>
                        <a:t>Margins agree to 0.081 V, and it found a one-cycle dead-time error (rtl_cosim.py).</a:t>
                      </a:r>
                    </a:p>
                  </a:txBody>
                  <a:tcPr marL="50292" marR="50292" marT="27432" marB="27432"/>
                </a:tc>
                <a:tc>
                  <a:txBody>
                    <a:bodyPr wrap="square"/>
                    <a:lstStyle/>
                    <a:p>
                      <a:r>
                        <a:rPr sz="900" b="1">
                          <a:solidFill>
                            <a:srgbClr val="1B7F3B"/>
                          </a:solidFill>
                          <a:latin typeface="Calibri"/>
                        </a:rPr>
                        <a:t>CLOSED</a:t>
                      </a:r>
                    </a:p>
                  </a:txBody>
                  <a:tcPr marL="50292" marR="50292" marT="27432" marB="27432"/>
                </a:tc>
              </a:tr>
              <a:tr h="520065">
                <a:tc>
                  <a:txBody>
                    <a:bodyPr wrap="square"/>
                    <a:lstStyle/>
                    <a:p>
                      <a:r>
                        <a:rPr sz="900" b="0">
                          <a:latin typeface="Calibri"/>
                        </a:rPr>
                        <a:t>Whether a fitted schedule GENERALISES to an unseen operating point is never tested.</a:t>
                      </a:r>
                    </a:p>
                  </a:txBody>
                  <a:tcPr marL="50292" marR="50292" marT="27432" marB="27432"/>
                </a:tc>
                <a:tc>
                  <a:txBody>
                    <a:bodyPr wrap="square"/>
                    <a:lstStyle/>
                    <a:p>
                      <a:r>
                        <a:rPr sz="900" b="0">
                          <a:latin typeface="Calibri"/>
                        </a:rPr>
                        <a:t>Leave-one-corner-out: fit the comparator on three corners, test on the fourth.</a:t>
                      </a:r>
                    </a:p>
                  </a:txBody>
                  <a:tcPr marL="50292" marR="50292" marT="27432" marB="27432"/>
                </a:tc>
                <a:tc>
                  <a:txBody>
                    <a:bodyPr wrap="square"/>
                    <a:lstStyle/>
                    <a:p>
                      <a:r>
                        <a:rPr sz="900" b="0">
                          <a:latin typeface="Calibri"/>
                        </a:rPr>
                        <a:t>Worse than the fixed word on 3 of 4 held-out corners. n = 4, so weak — and we say so.</a:t>
                      </a:r>
                    </a:p>
                  </a:txBody>
                  <a:tcPr marL="50292" marR="50292" marT="27432" marB="27432"/>
                </a:tc>
                <a:tc>
                  <a:txBody>
                    <a:bodyPr wrap="square"/>
                    <a:lstStyle/>
                    <a:p>
                      <a:r>
                        <a:rPr sz="900" b="1">
                          <a:solidFill>
                            <a:srgbClr val="B56A00"/>
                          </a:solidFill>
                          <a:latin typeface="Calibri"/>
                        </a:rPr>
                        <a:t>ANSWERED, NEGATIVE</a:t>
                      </a:r>
                    </a:p>
                  </a:txBody>
                  <a:tcPr marL="50292" marR="50292" marT="27432" marB="27432"/>
                </a:tc>
              </a:tr>
              <a:tr h="520065">
                <a:tc>
                  <a:txBody>
                    <a:bodyPr wrap="square"/>
                    <a:lstStyle/>
                    <a:p>
                      <a:r>
                        <a:rPr sz="900" b="0">
                          <a:latin typeface="Calibri"/>
                        </a:rPr>
                        <a:t>All of the above is simulation.</a:t>
                      </a:r>
                    </a:p>
                  </a:txBody>
                  <a:tcPr marL="50292" marR="50292" marT="27432" marB="27432"/>
                </a:tc>
                <a:tc>
                  <a:txBody>
                    <a:bodyPr wrap="square"/>
                    <a:lstStyle/>
                    <a:p>
                      <a:r>
                        <a:rPr sz="900" b="0">
                          <a:latin typeface="Calibri"/>
                        </a:rPr>
                        <a:t>—</a:t>
                      </a:r>
                    </a:p>
                  </a:txBody>
                  <a:tcPr marL="50292" marR="50292" marT="27432" marB="27432"/>
                </a:tc>
                <a:tc>
                  <a:txBody>
                    <a:bodyPr wrap="square"/>
                    <a:lstStyle/>
                    <a:p>
                      <a:r>
                        <a:rPr sz="900" b="0">
                          <a:latin typeface="Calibri"/>
                        </a:rPr>
                        <a:t>No silicon measured. One behavioural device model underlies every number in this deck.</a:t>
                      </a:r>
                    </a:p>
                  </a:txBody>
                  <a:tcPr marL="50292" marR="50292" marT="27432" marB="27432"/>
                </a:tc>
                <a:tc>
                  <a:txBody>
                    <a:bodyPr wrap="square"/>
                    <a:lstStyle/>
                    <a:p>
                      <a:r>
                        <a:rPr sz="9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Five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1064240"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