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57" r:id="rId3"/>
    <p:sldId id="258" r:id="rId4"/>
    <p:sldId id="259" r:id="rId5"/>
    <p:sldId id="260" r:id="rId6"/>
    <p:sldId id="267" r:id="rId18"/>
    <p:sldId id="281" r:id="rId32"/>
    <p:sldId id="261" r:id="rId7"/>
    <p:sldId id="274" r:id="rId25"/>
    <p:sldId id="279" r:id="rId30"/>
    <p:sldId id="277" r:id="rId28"/>
    <p:sldId id="278" r:id="rId29"/>
    <p:sldId id="282" r:id="rId33"/>
    <p:sldId id="262" r:id="rId8"/>
    <p:sldId id="272" r:id="rId23"/>
    <p:sldId id="273" r:id="rId24"/>
    <p:sldId id="263" r:id="rId9"/>
    <p:sldId id="280" r:id="rId31"/>
    <p:sldId id="275" r:id="rId26"/>
    <p:sldId id="276" r:id="rId27"/>
    <p:sldId id="264" r:id="rId10"/>
    <p:sldId id="268" r:id="rId19"/>
    <p:sldId id="269" r:id="rId20"/>
    <p:sldId id="270" r:id="rId21"/>
    <p:sldId id="271" r:id="rId22"/>
    <p:sldId id="265" r:id="rId11"/>
    <p:sldId id="283" r:id="rId34"/>
    <p:sldId id="266" r:id="rId1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7.xml"/><Relationship Id="rId8" Type="http://schemas.openxmlformats.org/officeDocument/2006/relationships/slide" Target="slides/slide9.xml"/><Relationship Id="rId9" Type="http://schemas.openxmlformats.org/officeDocument/2006/relationships/slide" Target="slides/slide12.xml"/><Relationship Id="rId10" Type="http://schemas.openxmlformats.org/officeDocument/2006/relationships/slide" Target="slides/slide15.xml"/><Relationship Id="rId11" Type="http://schemas.openxmlformats.org/officeDocument/2006/relationships/slide" Target="slides/slide20.xml"/><Relationship Id="rId12" Type="http://schemas.openxmlformats.org/officeDocument/2006/relationships/slide" Target="slides/slide2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6.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10.xml"/><Relationship Id="rId24" Type="http://schemas.openxmlformats.org/officeDocument/2006/relationships/slide" Target="slides/slide11.xml"/><Relationship Id="rId25" Type="http://schemas.openxmlformats.org/officeDocument/2006/relationships/slide" Target="slides/slide8.xml"/><Relationship Id="rId26" Type="http://schemas.openxmlformats.org/officeDocument/2006/relationships/slide" Target="slides/slide13.xml"/><Relationship Id="rId27" Type="http://schemas.openxmlformats.org/officeDocument/2006/relationships/slide" Target="slides/slide14.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SKIP. Template slide.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literature mark. Do not read the table. Eight references, three verified to page level; point at [3], layout sets loop inductance, which decides our answer.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50 %-completion requirement. Five claims, each with a number. If asked 'is this really 50 %?': the search is complete, stress-tested, and both objections to it - layout and EMI - have been tested rather than argued. What remains is silicon and hardware.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The problem reproduced and fixed. Point at the red X below the threshold line. Then: safety costs 0.04 % — nearly free once the clamp is present.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design chart, and the most USEFUL thing in the deck. Do NOT call it a single crossover: eight points show a BAND. Adaptive control pays from about 2.5 nH down, peaks at 13.5 % at 1.5 nH, then FALLS BACK to 8.1 % at 1.0 nH. Say why, because it is the interesting part: at 1.0 nH only 165 of 720 words are still safe, so the fixed word and the per-corner optima are squeezed into the same narrow region and the gap scheduling exploits shrinks. Below ~2 nH feasibility binds, not optimisation. We checked it is not the clamp-chatter artefact — excluding every chatter point leaves all eight ceilings unchanged to the digit. The literature does not state this trade-off because it never separates the fixed and adaptive halves.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Thank you. Expect: 'why is the clamp worth more than scheduling?', 'have you run real silicon?' (no — Review-II), 'did Cadence actually run?' (no, and the deck says so), 'is 8 references enough?' (it is the stated minimum). Newer ones: 'your dead-time number depends on which corners you pick' — yes, and we found that ourselves; it is one light-load corner - leave-one-out table in FINDINGS.md section 32. 'Doesn't EMI change your answer?' — we ran it; it makes scheduling worth less, not more.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 literature mark. Closest prior work. [8] adapts dead time, the one field we find worth scheduling — and it does so across a 0.2-2 A range, which is exactly the light-load corner our leave-one-out test shows carries all of that benefit. Independent support, not competition.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the timeline and tools requirement. M1-M6. If asked what could go wrong: M1, the PDK — a 1.8 V / 3.3 V teaching PDK cannot take a 5 V rail.</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FPGA. If asked: written AND verified, eight asserted properties, then mutation-tested. Dead time gets a live register and drive strength is strapped, because that is what the study found.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5.2 %. Say plainly this is a NEGATIVE result about the adaptive premise and you are reporting it rather than hiding it. Keep it short — slides 18 and 19 do the real work.</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[45 s]  CORE — the novelty slide, and the one sentence the panel should leave with: 'a full sense-plus-ADC-plus-lookup-table is left justifying 3.7 % of the gain over a fixed word and one comparator.' Build it in three steps. (1) Choosing the fixed word well is worth 25.1 %. (2) Adapting per corner adds only 3.9 % — a seventh of the total. (3) And 72 % of even THAT is capturable with a single light-load comparator, not a lookup table. No published work separates these, because separating them needs the exhaustive search rather than a shortlist. If asked why nobody found this: they report one number.</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robustness table. Best answer to 'is this just your model?': every device parameter leaves the ceiling at 4.3-7.7 %; only loop inductance moves it, and that is board layout, not the transistor.</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Play the video. Real captured ngspice output — the failure, the fix, the search. Let it run; do not talk over it.</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use if the panel probes rigour. TEN wrong numbers caught by our own checks is a strength; say it that way. The best one to tell: dead time ranked first at 5.45 % on four corners and dead LAST at 0.00 % on two, and we chased it to a single light-load corner rather than quoting the flattering number. The leave-one-out table is in results/FINDINGS.md section 32 if they want it.</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Close on what the data supports and what it now answers. Do NOT concede EMI as a limitation any more - it was tested: pricing it makes scheduling worth LESS, 5.95 % down to 0.15 %. State the remaining limits yourself instead: the two EMI measures disagree about drive strength, no silicon has been measured, and one device model underlies everything.</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do NOT skip this and do not rush it. Every number after this slide is a comparison between control words, and if the panel has not got the definition, slides 13 to 16 are noise to them. Read the six fields out loud, land 720, then land the one distinction that matters: a FIXED word is strapped at power-up and costs nothing; SCHEDULING needs sensing, an ADC and a lookup table. The whole project measures the gap between those two.</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 the comparison the panel will ask for. Land three rows and move on: we go from ONE field to six (720 words); from selected codes to an EXHAUSTIVE search; and from one bundled number to the number SPLIT into fixed versus adaptive. Be honest if pushed: we have NOT re-run [9]'s SiC experiment, so this is a comparison of method and scope, not a claim that we beat their result on their metric. That replication is the next step.</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 this is the MATLAB evidence, and it answers 'did you only use SPICE?'. Land two things. Left: 720 words searched, 504 feasible, and the Pareto front is only 7 words wide — the choice really is that constrained. Right: two textbook hand calculations for the same spurious voltage disagree by 8.7x, and the SPICE number sits between them. That is the argument for simulating. If you have time, add the dead-time saturation at 15 ns from the caption.</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notesSlide" Target="../notesSlides/notesSlide1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microsoft.com/office/2007/relationships/media" Target="../media/media1.mp4"/><Relationship Id="rId3" Type="http://schemas.openxmlformats.org/officeDocument/2006/relationships/image" Target="../media/image1.png"/><Relationship Id="rId4" Type="http://schemas.openxmlformats.org/officeDocument/2006/relationships/video" Target="../media/media1.mp4"/><Relationship Id="rId5" Type="http://schemas.openxmlformats.org/officeDocument/2006/relationships/image" Target="../media/image4.png"/><Relationship Id="rId6" Type="http://schemas.openxmlformats.org/officeDocument/2006/relationships/notesSlide" Target="../notesSlides/notesSlide19.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8.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sp>
        <p:nvSpPr>
          <p:cNvPr id="3" name="Text 1"/>
          <p:cNvSpPr txBox="1"/>
          <p:nvPr/>
        </p:nvSpPr>
        <p:spPr>
          <a:xfrm>
            <a:off x="548640" y="320040"/>
            <a:ext cx="9601200" cy="9144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Slide 1 — Scanned, Guide-Signed Title Slide (Mandatory)</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554480"/>
            <a:ext cx="10881360" cy="4828032"/>
          </a:xfrm>
          <a:prstGeom prst="rect">
            <a:avLst/>
          </a:prstGeom>
          <a:noFill/>
          <a:ln/>
        </p:spPr>
        <p:txBody>
          <a:bodyPr wrap="square" lIns="0" tIns="0" rIns="0" bIns="0" rtlCol="0" anchor="t"/>
          <a:lstStyle/>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Before the Review-I, obtain the guide's signature with date on the title slide (next slide).</a:t>
            </a:r>
            <a:endParaRPr lang="en-US" sz="1600" dirty="0"/>
          </a:p>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Scan or photograph the signed title slide clearly.</a:t>
            </a:r>
            <a:endParaRPr lang="en-US" sz="1600" dirty="0"/>
          </a:p>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Replace this slide with the scanned copy, so that it remains Slide 1 of the presentation.</a:t>
            </a:r>
            <a:endParaRPr lang="en-US" sz="1600" dirty="0"/>
          </a:p>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This requirement applies to every review of Project-I (2026).</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A Segmented Gate Driver for GaN HEMTs: Measuring What Operating-Point Scheduling Is Actually Worth</a:t>
            </a:r>
            <a:endParaRPr lang="en-US" sz="3200" dirty="0"/>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617720" cy="384048"/>
          </a:xfrm>
          <a:prstGeom prst="rect">
            <a:avLst/>
          </a:prstGeom>
          <a:noFill/>
          <a:ln/>
        </p:spPr>
        <p:txBody>
          <a:bodyPr wrap="square" lIns="0" tIns="0" rIns="0" bIns="0" rtlCol="0" anchor="ctr"/>
          <a:lstStyle/>
          <a:p>
            <a:pPr marL="0" indent="0">
              <a:buNone/>
            </a:pPr>
            <a:r>
              <a:rPr lang="en-US" sz="950" dirty="0">
                <a:solidFill>
                  <a:srgbClr val="000000"/>
                </a:solidFill>
                <a:latin typeface="Calibri" pitchFamily="34" charset="0"/>
                <a:ea typeface="Calibri" pitchFamily="34" charset="-122"/>
                <a:cs typeface="Calibri" pitchFamily="34" charset="-120"/>
              </a:rPr>
              <a:t>Sanjay Kumar 23BEC1447  ·  Aamir Abdullah 23BPS1197  ·  Amritha S 23BEC1368</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  ·  09.09.2026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Review-I — 09.09.2026 (5 Marks, 5%)</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Focus: Proposed Solution &amp; 50% Work Completion.</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Duration: 10 minutes.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Presentation contents: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Signed &amp; scanned title slide (Slide 1)</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Problem statement and background</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Literature survey — minimum 8–10 recent references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Existing solutions and their limitations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Proposed solution, scope and methodology</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50% work completed, timeline, tools &amp; technologies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Mark split-up: Problem clarity &amp; relevance (2), Literature survey quality (1), Proposed solution feasibility (1), Presentation quality (1).</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Problem Statement: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In a GaN half-bridge the dV/dt of one device couples through C</a:t>
            </a:r>
            <a:r>
              <a:rPr lang="en-US" sz="1500" dirty="0">
                <a:solidFill>
                  <a:srgbClr val="000000"/>
                </a:solidFill>
                <a:latin typeface="Calibri" pitchFamily="34" charset="0"/>
                <a:ea typeface="Calibri" pitchFamily="34" charset="-122"/>
                <a:cs typeface="Calibri" pitchFamily="34" charset="-120"/>
              </a:rPr>
              <a:t xml:space="preserve">GD</a:t>
            </a:r>
            <a:r>
              <a:rPr lang="en-US" sz="1500" dirty="0">
                <a:solidFill>
                  <a:srgbClr val="000000"/>
                </a:solidFill>
                <a:latin typeface="Calibri" pitchFamily="34" charset="0"/>
                <a:ea typeface="Calibri" pitchFamily="34" charset="-122"/>
                <a:cs typeface="Calibri" pitchFamily="34" charset="-120"/>
              </a:rPr>
              <a:t xml:space="preserve"> into the gate of the device meant to be off. With a threshold near 1.4 V the spurious pulse can exceed it and turn that device partially on — shoot-through, extra loss, and at worst destruction.</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Background &amp; Significance: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GaN half-bridges are the switching core of EV and HEV traction inverters, on-board chargers and high-density server supplies, where the whole reason to choose GaN is to switch faster — which is exactly what makes this failure mode worse.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Negative off-bias is uniquely expensive on GaN: with no body diode the reverse drop is V</a:t>
            </a:r>
            <a:r>
              <a:rPr lang="en-US" sz="1500" dirty="0">
                <a:solidFill>
                  <a:srgbClr val="000000"/>
                </a:solidFill>
                <a:latin typeface="Calibri" pitchFamily="34" charset="0"/>
                <a:ea typeface="Calibri" pitchFamily="34" charset="-122"/>
                <a:cs typeface="Calibri" pitchFamily="34" charset="-120"/>
              </a:rPr>
              <a:t xml:space="preserve">th</a:t>
            </a:r>
            <a:r>
              <a:rPr lang="en-US" sz="1500" dirty="0">
                <a:solidFill>
                  <a:srgbClr val="000000"/>
                </a:solidFill>
                <a:latin typeface="Calibri" pitchFamily="34" charset="0"/>
                <a:ea typeface="Calibri" pitchFamily="34" charset="-122"/>
                <a:cs typeface="Calibri" pitchFamily="34" charset="-120"/>
              </a:rPr>
              <a:t xml:space="preserve"> + I·R + |V</a:t>
            </a:r>
            <a:r>
              <a:rPr lang="en-US" sz="1500" dirty="0">
                <a:solidFill>
                  <a:srgbClr val="000000"/>
                </a:solidFill>
                <a:latin typeface="Calibri" pitchFamily="34" charset="0"/>
                <a:ea typeface="Calibri" pitchFamily="34" charset="-122"/>
                <a:cs typeface="Calibri" pitchFamily="34" charset="-120"/>
              </a:rPr>
              <a:t xml:space="preserve">GS,off</a:t>
            </a:r>
            <a:r>
              <a:rPr lang="en-US" sz="1500" dirty="0">
                <a:solidFill>
                  <a:srgbClr val="000000"/>
                </a:solidFill>
                <a:latin typeface="Calibri" pitchFamily="34" charset="0"/>
                <a:ea typeface="Calibri" pitchFamily="34" charset="-122"/>
                <a:cs typeface="Calibri" pitchFamily="34" charset="-120"/>
              </a:rPr>
              <a:t xml:space="preserve">|, so each volt of margin is paid for again across the dead time.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Existing Solutions: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Active gate drivers with segmented drive strength, Miller clamps, programmable dead time and negative off-bias [1]–[4]. Closed-loop designs adapt to the operating point and report large gains — 30.5 % less overshoot, 75 % less turn-off loss — against a conventional driver [5]–[7].</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Limitations / Research Gap:</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No published work has ever measured what the adaptation is worth.</a:t>
            </a:r>
            <a:r>
              <a:rPr lang="en-US" sz="1500" dirty="0">
                <a:solidFill>
                  <a:srgbClr val="000000"/>
                </a:solidFill>
                <a:latin typeface="Calibri" pitchFamily="34" charset="0"/>
                <a:ea typeface="Calibri" pitchFamily="34" charset="-122"/>
                <a:cs typeface="Calibri" pitchFamily="34" charset="-120"/>
              </a:rPr>
              <a:t xml:space="preserve"> Those gains bundle </a:t>
            </a:r>
            <a:r>
              <a:rPr lang="en-US" sz="1500" b="1" dirty="0">
                <a:solidFill>
                  <a:srgbClr val="000000"/>
                </a:solidFill>
                <a:latin typeface="Calibri" pitchFamily="34" charset="0"/>
                <a:ea typeface="Calibri" pitchFamily="34" charset="-122"/>
                <a:cs typeface="Calibri" pitchFamily="34" charset="-120"/>
              </a:rPr>
              <a:t xml:space="preserve">choosing better fixed settings</a:t>
            </a:r>
            <a:r>
              <a:rPr lang="en-US" sz="1500" dirty="0">
                <a:solidFill>
                  <a:srgbClr val="000000"/>
                </a:solidFill>
                <a:latin typeface="Calibri" pitchFamily="34" charset="0"/>
                <a:ea typeface="Calibri" pitchFamily="34" charset="-122"/>
                <a:cs typeface="Calibri" pitchFamily="34" charset="-120"/>
              </a:rPr>
              <a:t xml:space="preserve"> with </a:t>
            </a:r>
            <a:r>
              <a:rPr lang="en-US" sz="1500" b="1" dirty="0">
                <a:solidFill>
                  <a:srgbClr val="000000"/>
                </a:solidFill>
                <a:latin typeface="Calibri" pitchFamily="34" charset="0"/>
                <a:ea typeface="Calibri" pitchFamily="34" charset="-122"/>
                <a:cs typeface="Calibri" pitchFamily="34" charset="-120"/>
              </a:rPr>
              <a:t xml:space="preserve">adapting settings per operating point</a:t>
            </a:r>
            <a:r>
              <a:rPr lang="en-US" sz="1500" dirty="0">
                <a:solidFill>
                  <a:srgbClr val="000000"/>
                </a:solidFill>
                <a:latin typeface="Calibri" pitchFamily="34" charset="0"/>
                <a:ea typeface="Calibri" pitchFamily="34" charset="-122"/>
                <a:cs typeface="Calibri" pitchFamily="34" charset="-120"/>
              </a:rPr>
              <a:t xml:space="preserve">. Only the second needs sensing, a lookup table and a controller — the cost that justifies the architecture, and the one nobody has priced.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Literature Landscape — four clusters, and where we sit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3611880"/>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wrap="square"/>
                    <a:lstStyle/>
                    <a:p>
                      <a:pPr marL="0" indent="0">
                        <a:buNone/>
                      </a:pPr>
                      <a:r>
                        <a:rPr sz="1050" b="0">
                          <a:solidFill>
                            <a:srgbClr val="000000"/>
                          </a:solidFill>
                          <a:latin typeface="Calibri"/>
                        </a:rPr>
                        <a: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1050" b="0">
                          <a:solidFill>
                            <a:srgbClr val="000000"/>
                          </a:solidFill>
                          <a:latin typeface="Calibri"/>
                        </a:rPr>
                        <a:t>Cluster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1050" b="0">
                          <a:solidFill>
                            <a:srgbClr val="000000"/>
                          </a:solidFill>
                          <a:latin typeface="Calibri"/>
                        </a:rPr>
                        <a:t>Refs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gridSpan="2">
                  <a:txBody>
                    <a:bodyPr wrap="square"/>
                    <a:lstStyle/>
                    <a:p>
                      <a:pPr marL="0" indent="0">
                        <a:buNone/>
                      </a:pPr>
                      <a:r>
                        <a:rPr sz="1050" b="0">
                          <a:solidFill>
                            <a:srgbClr val="000000"/>
                          </a:solidFill>
                          <a:latin typeface="Calibri"/>
                        </a:rPr>
                        <a:t>What the cluster does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22960">
                <a:tc>
                  <a:txBody>
                    <a:bodyPr wrap="square"/>
                    <a:lstStyle/>
                    <a:p>
                      <a:pPr marL="0" indent="0">
                        <a:buNone/>
                      </a:pPr>
                      <a:r>
                        <a:rPr sz="1050" b="0">
                          <a:solidFill>
                            <a:srgbClr val="000000"/>
                          </a:solidFill>
                          <a:latin typeface="Calibri"/>
                        </a:rPr>
                        <a:t>A</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A · Passive / analogue crosstalk fixes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[1] [2] [3] [4] [11] [12]</a:t>
                      </a:r>
                      <a:endParaRPr lang="en-US" sz="1300" dirty="0">
                        <a:latin typeface="Calibri" charset="0"/>
                        <a:ea typeface="Calibri" charset="0"/>
                        <a:cs typeface="Calibri" charset="0"/>
                      </a:endParaRPr>
                    </a:p>
                    <a:p>
                      <a:r>
                        <a:rPr sz="1050" b="0">
                          <a:solidFill>
                            <a:srgbClr val="000000"/>
                          </a:solidFill>
                          <a:latin typeface="Calibri"/>
                        </a:rPr>
                        <a:t>[14]–[19] [21]</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2">
                  <a:txBody>
                    <a:bodyPr wrap="square"/>
                    <a:lstStyle/>
                    <a:p>
                      <a:pPr marL="0" indent="0">
                        <a:buNone/>
                      </a:pPr>
                      <a:r>
                        <a:rPr sz="1050" b="0">
                          <a:solidFill>
                            <a:srgbClr val="000000"/>
                          </a:solidFill>
                          <a:latin typeface="Calibri"/>
                        </a:rPr>
                        <a:t>Negative off-bias, RC-diode rails, three-level drive, Miller clamps. Cheap and effective, but the setting is chosen once by hand and never revisited.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22960">
                <a:tc>
                  <a:txBody>
                    <a:bodyPr wrap="square"/>
                    <a:lstStyle/>
                    <a:p>
                      <a:pPr marL="0" indent="0">
                        <a:buNone/>
                      </a:pPr>
                      <a:r>
                        <a:rPr sz="1050" b="0">
                          <a:solidFill>
                            <a:srgbClr val="000000"/>
                          </a:solidFill>
                          <a:latin typeface="Calibri"/>
                        </a:rPr>
                        <a:t>B</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B · Closed-loop analogue adaptation</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[5] [6] [7]</a:t>
                      </a:r>
                      <a:endParaRPr lang="en-US" sz="1300" dirty="0">
                        <a:latin typeface="Calibri" charset="0"/>
                        <a:ea typeface="Calibri" charset="0"/>
                        <a:cs typeface="Calibri" charset="0"/>
                      </a:endParaRPr>
                    </a:p>
                    <a:p>
                      <a:r>
                        <a:rPr sz="1050" b="0">
                          <a:solidFill>
                            <a:srgbClr val="000000"/>
                          </a:solidFill>
                          <a:latin typeface="Calibri"/>
                        </a:rPr>
                        <a:t>[20] [22] [23] [29] [30]</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2">
                  <a:txBody>
                    <a:bodyPr wrap="square"/>
                    <a:lstStyle/>
                    <a:p>
                      <a:pPr marL="0" indent="0">
                        <a:buNone/>
                      </a:pPr>
                      <a:r>
                        <a:rPr sz="1050" b="0">
                          <a:solidFill>
                            <a:srgbClr val="000000"/>
                          </a:solidFill>
                          <a:latin typeface="Calibri"/>
                        </a:rPr>
                        <a:t>Sense the operating point, regulate drive strength or timing in the loop. Reports large gains — 30.5 % less overshoot, 75 % less turn-off loss — against a conventional driver.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22960">
                <a:tc>
                  <a:txBody>
                    <a:bodyPr wrap="square"/>
                    <a:lstStyle/>
                    <a:p>
                      <a:pPr marL="0" indent="0">
                        <a:buNone/>
                      </a:pPr>
                      <a:r>
                        <a:rPr sz="1050" b="0">
                          <a:solidFill>
                            <a:srgbClr val="000000"/>
                          </a:solidFill>
                          <a:latin typeface="Calibri"/>
                        </a:rPr>
                        <a:t>C</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C · Adaptive dead-time control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[8] [13]</a:t>
                      </a:r>
                      <a:endParaRPr lang="en-US" sz="1300" dirty="0">
                        <a:latin typeface="Calibri" charset="0"/>
                        <a:ea typeface="Calibri" charset="0"/>
                        <a:cs typeface="Calibri" charset="0"/>
                      </a:endParaRPr>
                    </a:p>
                    <a:p>
                      <a:r>
                        <a:rPr sz="1050" b="0">
                          <a:solidFill>
                            <a:srgbClr val="000000"/>
                          </a:solidFill>
                          <a:latin typeface="Calibri"/>
                        </a:rPr>
                        <a:t>[25] [26] [28]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2">
                  <a:txBody>
                    <a:bodyPr wrap="square"/>
                    <a:lstStyle/>
                    <a:p>
                      <a:pPr marL="0" indent="0">
                        <a:buNone/>
                      </a:pPr>
                      <a:r>
                        <a:rPr sz="1050" b="0">
                          <a:solidFill>
                            <a:srgbClr val="000000"/>
                          </a:solidFill>
                          <a:latin typeface="Calibri"/>
                        </a:rPr>
                        <a:t>Dead time driven to sub-nanosecond across load. The one field our own freeze test finds actually carries the benefit — and only at light load.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22960">
                <a:tc>
                  <a:txBody>
                    <a:bodyPr wrap="square"/>
                    <a:lstStyle/>
                    <a:p>
                      <a:pPr marL="0" indent="0">
                        <a:buNone/>
                      </a:pPr>
                      <a:r>
                        <a:rPr sz="1050" b="0">
                          <a:solidFill>
                            <a:srgbClr val="000000"/>
                          </a:solidFill>
                          <a:latin typeface="Calibri"/>
                        </a:rPr>
                        <a:t>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D · DIGITAL / segmented drive  — where this project sits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[9] BASE   [10]</a:t>
                      </a:r>
                      <a:endParaRPr lang="en-US" sz="1300" dirty="0">
                        <a:latin typeface="Calibri" charset="0"/>
                        <a:ea typeface="Calibri" charset="0"/>
                        <a:cs typeface="Calibri" charset="0"/>
                      </a:endParaRPr>
                    </a:p>
                    <a:p>
                      <a:r>
                        <a:rPr sz="1050" b="0">
                          <a:solidFill>
                            <a:srgbClr val="000000"/>
                          </a:solidFill>
                          <a:latin typeface="Calibri"/>
                        </a:rPr>
                        <a:t>[24] [27]</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2">
                  <a:txBody>
                    <a:bodyPr wrap="square"/>
                    <a:lstStyle/>
                    <a:p>
                      <a:pPr marL="0" indent="0">
                        <a:buNone/>
                      </a:pPr>
                      <a:r>
                        <a:rPr sz="1050" b="0">
                          <a:solidFill>
                            <a:srgbClr val="000000"/>
                          </a:solidFill>
                          <a:latin typeface="Calibri"/>
                        </a:rPr>
                        <a:t>The gate waveform selected by a multibit CODE rather than a resistor network. [9] is the BASE PAPER — doi.org/10.1002/cta.3136 — and [10] is the closest GaN implementation. Digital means FPGA-implementable, and the code space can be searched exhaustively.</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5" name="Text 2"/>
          <p:cNvSpPr txBox="1"/>
          <p:nvPr/>
        </p:nvSpPr>
        <p:spPr>
          <a:xfrm>
            <a:off x="548640" y="5897880"/>
            <a:ext cx="11064240" cy="365760"/>
          </a:xfrm>
          <a:prstGeom prst="rect">
            <a:avLst/>
          </a:prstGeom>
          <a:noFill/>
          <a:ln/>
        </p:spPr>
        <p:txBody>
          <a:bodyPr wrap="square" lIns="0" tIns="0" rIns="0" bIns="0" rtlCol="0" anchor="ct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30 references, all publisher-verified, grouped by what the driver DOES. Clusters A–C set or regulate in analogue; only cluster D makes the setting a digital CODE — which is what makes an exhaustive search possible at all.</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Five Closest — and the base paper we replicate</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4343400"/>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wrap="square"/>
                    <a:lstStyle/>
                    <a:p>
                      <a:pPr marL="0" indent="0">
                        <a:buNone/>
                      </a:pPr>
                      <a:r>
                        <a:rPr sz="950" b="1">
                          <a:solidFill>
                            <a:srgbClr val="000000"/>
                          </a:solidFill>
                          <a:latin typeface="Calibri"/>
                        </a:rPr>
                        <a:t>Ref</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Author(s) &amp; Year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Title / Source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Aim  —  what the paper sets out to do</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Gap we found  →  what WE fill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04672">
                <a:tc>
                  <a:txBody>
                    <a:bodyPr wrap="square"/>
                    <a:lstStyle/>
                    <a:p>
                      <a:pPr marL="0" indent="0">
                        <a:buNone/>
                      </a:pPr>
                      <a:r>
                        <a:rPr sz="1050" b="1">
                          <a:solidFill>
                            <a:srgbClr val="000000"/>
                          </a:solidFill>
                          <a:latin typeface="Calibri"/>
                        </a:rPr>
                        <a:t>BASE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H. Takayama, T. Okuda &amp; T. Hikihara (2022)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Digital Active Gate Drive of SiC MOSFETs for Controlling Switching Behavior — Preparation Toward Universal Digitization of Power Switching</a:t>
                      </a:r>
                      <a:endParaRPr lang="en-US" sz="1300" dirty="0">
                        <a:latin typeface="Calibri" charset="0"/>
                        <a:ea typeface="Calibri" charset="0"/>
                        <a:cs typeface="Calibri" charset="0"/>
                      </a:endParaRPr>
                    </a:p>
                    <a:p>
                      <a:r>
                        <a:rPr sz="900" b="1">
                          <a:solidFill>
                            <a:srgbClr val="000000"/>
                          </a:solidFill>
                          <a:latin typeface="Calibri"/>
                        </a:rPr>
                        <a:t>Int. J. Circuit Theory Appl., vol. 50, no. 1, pp. 183–196</a:t>
                      </a:r>
                    </a:p>
                    <a:p>
                      <a:r>
                        <a:rPr sz="900" b="1">
                          <a:solidFill>
                            <a:srgbClr val="000000"/>
                          </a:solidFill>
                          <a:latin typeface="Calibri"/>
                        </a:rPr>
                        <a:t>doi.org/10.1002/cta.3136</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DAC-inspired driver: a multibit gate signal SEQUENCE sets the gate waveform digitally, so switching behaviour is chosen by a code rather than by a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BASE PAPER. Its multibit gate code is the direct ancestor of our 720-point control word, and it is digital — implementable on an FPGA — rather than a fixed analogue network. We replicate its premise on GaN and then ask the question it does not: of the gain a code buys, how much needs per-operating-point adaptation at all?  </a:t>
                      </a:r>
                      <a:r>
                        <a:rPr sz="900" b="1">
                          <a:solidFill>
                            <a:srgbClr val="000000"/>
                          </a:solidFill>
                          <a:latin typeface="Calibri"/>
                        </a:rPr>
                        <a:t>WE FILL: </a:t>
                      </a:r>
                      <a:r>
                        <a:rPr sz="900" b="0">
                          <a:solidFill>
                            <a:srgbClr val="000000"/>
                          </a:solidFill>
                          <a:latin typeface="Calibri"/>
                        </a:rPr>
                        <a:t>the exhaustive 720-word search that makes the fixed-vs-adaptive split measurable, and the GaN third-quadrant cost their SiC device never pays.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04672">
                <a:tc>
                  <a:txBody>
                    <a:bodyPr wrap="square"/>
                    <a:lstStyle/>
                    <a:p>
                      <a:pPr marL="0" indent="0">
                        <a:buNone/>
                      </a:pPr>
                      <a:r>
                        <a:rPr sz="1050" b="0">
                          <a:solidFill>
                            <a:srgbClr val="000000"/>
                          </a:solidFill>
                          <a:latin typeface="Calibri"/>
                        </a:rPr>
                        <a:t>10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Zhang, Yu, Leng, Cui, Deng &amp; Ng (2020)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Segmented Gate Driver for E-mode GaN HEMTs with Simple Driving Strength Pattern Control</a:t>
                      </a:r>
                      <a:endParaRPr lang="en-US" sz="1300" dirty="0">
                        <a:latin typeface="Calibri" charset="0"/>
                        <a:ea typeface="Calibri" charset="0"/>
                        <a:cs typeface="Calibri" charset="0"/>
                      </a:endParaRPr>
                    </a:p>
                    <a:p>
                      <a:r>
                        <a:rPr sz="900" b="1">
                          <a:solidFill>
                            <a:srgbClr val="000000"/>
                          </a:solidFill>
                          <a:latin typeface="Calibri"/>
                        </a:rPr>
                        <a:t>Proc. IEEE ISPSD, 2020, pp. 102–105</a:t>
                      </a:r>
                    </a:p>
                    <a:p>
                      <a:r>
                        <a:rPr sz="900" b="1">
                          <a:solidFill>
                            <a:srgbClr val="000000"/>
                          </a:solidFill>
                          <a:latin typeface="Calibri"/>
                        </a:rPr>
                        <a:t>ieeexplore.ieee.org/document/9170108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Segmented output stage on E-mode GaN: 7 slices, pattern timing 0.5–5 ns, strength set by one external bias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Architecturally the closest published driver to ours — segmented slices, pattern-selected strength. It is an ASIC with a fixed pattern set; our contribution is to search the whole pattern space exhaustively and price what the search actually buys.  </a:t>
                      </a:r>
                      <a:r>
                        <a:rPr sz="900" b="1">
                          <a:solidFill>
                            <a:srgbClr val="000000"/>
                          </a:solidFill>
                          <a:latin typeface="Calibri"/>
                        </a:rPr>
                        <a:t>WE FILL: </a:t>
                      </a:r>
                      <a:r>
                        <a:rPr sz="900" b="0">
                          <a:solidFill>
                            <a:srgbClr val="000000"/>
                          </a:solidFill>
                          <a:latin typeface="Calibri"/>
                        </a:rPr>
                        <a:t>the price of the pattern space: what an exhaustive search buys over their fixed pattern set.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04672">
                <a:tc>
                  <a:txBody>
                    <a:bodyPr wrap="square"/>
                    <a:lstStyle/>
                    <a:p>
                      <a:pPr marL="0" indent="0">
                        <a:buNone/>
                      </a:pPr>
                      <a:r>
                        <a:rPr sz="1050" b="0">
                          <a:solidFill>
                            <a:srgbClr val="000000"/>
                          </a:solidFill>
                          <a:latin typeface="Calibri"/>
                        </a:rPr>
                        <a:t>11</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Tao, Xiao, Luo, He, Zhou, Zhang &amp; Wang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High-Frequency Three-Level Gate Driver for GaN HEMT Bridge Crosstalk Suppression</a:t>
                      </a:r>
                      <a:endParaRPr lang="en-US" sz="1300" dirty="0">
                        <a:latin typeface="Calibri" charset="0"/>
                        <a:ea typeface="Calibri" charset="0"/>
                        <a:cs typeface="Calibri" charset="0"/>
                      </a:endParaRPr>
                    </a:p>
                    <a:p>
                      <a:r>
                        <a:rPr sz="900" b="1">
                          <a:solidFill>
                            <a:srgbClr val="000000"/>
                          </a:solidFill>
                          <a:latin typeface="Calibri"/>
                        </a:rPr>
                        <a:t>IEEE Trans. Power Electron., 39(1), 1343–1352</a:t>
                      </a:r>
                    </a:p>
                    <a:p>
                      <a:r>
                        <a:rPr sz="900" b="1">
                          <a:solidFill>
                            <a:srgbClr val="000000"/>
                          </a:solidFill>
                          <a:latin typeface="Calibri"/>
                        </a:rPr>
                        <a:t>ieeexplore.ieee.org/document/10286072</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Three-level drive; capacitor–diode negative rail with a digitally-clamped zero level, to 5 MHz</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Recent, GaN, and on exactly our failure mode. It suppresses crosstalk with added passives; we get the same protection from the Miller clamp already in the cell and measure its price at 0.04 %.  </a:t>
                      </a:r>
                      <a:r>
                        <a:rPr sz="900" b="1">
                          <a:solidFill>
                            <a:srgbClr val="000000"/>
                          </a:solidFill>
                          <a:latin typeface="Calibri"/>
                        </a:rPr>
                        <a:t>WE FILL: </a:t>
                      </a:r>
                      <a:r>
                        <a:rPr sz="900" b="0">
                          <a:solidFill>
                            <a:srgbClr val="000000"/>
                          </a:solidFill>
                          <a:latin typeface="Calibri"/>
                        </a:rPr>
                        <a:t>whether the setting has to change with the operating point at all. It does not: 3.9 % of baseline.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04672">
                <a:tc>
                  <a:txBody>
                    <a:bodyPr wrap="square"/>
                    <a:lstStyle/>
                    <a:p>
                      <a:pPr marL="0" indent="0">
                        <a:buNone/>
                      </a:pPr>
                      <a:r>
                        <a:rPr sz="1050" b="0">
                          <a:solidFill>
                            <a:srgbClr val="000000"/>
                          </a:solidFill>
                          <a:latin typeface="Calibri"/>
                        </a:rPr>
                        <a:t>12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Sun, Yan, Ma &amp; Xu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An Integrated Suppression Method of Both Gate-Source Voltage Oscillation and Crosstalk for GaN HEMT Gate Driver</a:t>
                      </a:r>
                      <a:endParaRPr lang="en-US" sz="1300" dirty="0">
                        <a:latin typeface="Calibri" charset="0"/>
                        <a:ea typeface="Calibri" charset="0"/>
                        <a:cs typeface="Calibri" charset="0"/>
                      </a:endParaRPr>
                    </a:p>
                    <a:p>
                      <a:r>
                        <a:rPr sz="900" b="1">
                          <a:solidFill>
                            <a:srgbClr val="000000"/>
                          </a:solidFill>
                          <a:latin typeface="Calibri"/>
                        </a:rPr>
                        <a:t>IEEE Trans. Power Electron., 39(11), 14643–14655</a:t>
                      </a:r>
                    </a:p>
                    <a:p>
                      <a:r>
                        <a:rPr sz="900" b="1">
                          <a:solidFill>
                            <a:srgbClr val="000000"/>
                          </a:solidFill>
                          <a:latin typeface="Calibri"/>
                        </a:rPr>
                        <a:t>ieeexplore.ieee.org/document/10591431</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One driver addressing gate-source ringing and crosstalk together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Confirms the two effects are coupled, which is why our cost function prices loss and overshoot jointly rather than optimising either alone.  </a:t>
                      </a:r>
                      <a:r>
                        <a:rPr sz="900" b="1">
                          <a:solidFill>
                            <a:srgbClr val="000000"/>
                          </a:solidFill>
                          <a:latin typeface="Calibri"/>
                        </a:rPr>
                        <a:t>WE FILL: </a:t>
                      </a:r>
                      <a:r>
                        <a:rPr sz="900" b="0">
                          <a:solidFill>
                            <a:srgbClr val="000000"/>
                          </a:solidFill>
                          <a:latin typeface="Calibri"/>
                        </a:rPr>
                        <a:t>both effects in ONE cost function, showing the objectives genuinely conflict (Pareto, slide 16).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r h="804672">
                <a:tc>
                  <a:txBody>
                    <a:bodyPr wrap="square"/>
                    <a:lstStyle/>
                    <a:p>
                      <a:pPr marL="0" indent="0">
                        <a:buNone/>
                      </a:pPr>
                      <a:r>
                        <a:rPr sz="1050" b="0">
                          <a:solidFill>
                            <a:srgbClr val="000000"/>
                          </a:solidFill>
                          <a:latin typeface="Calibri"/>
                        </a:rPr>
                        <a:t>13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Cai, Ye, Lv &amp; Chen (2026)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High-Efficient GaN Driver With Hybrid Adaptive Dead-Time Control and Peak Delay Control for Synchronous Buck Converter</a:t>
                      </a:r>
                      <a:endParaRPr lang="en-US" sz="1300" dirty="0">
                        <a:latin typeface="Calibri" charset="0"/>
                        <a:ea typeface="Calibri" charset="0"/>
                        <a:cs typeface="Calibri" charset="0"/>
                      </a:endParaRPr>
                    </a:p>
                    <a:p>
                      <a:r>
                        <a:rPr sz="900" b="1">
                          <a:solidFill>
                            <a:srgbClr val="000000"/>
                          </a:solidFill>
                          <a:latin typeface="Calibri"/>
                        </a:rPr>
                        <a:t>IEEE Trans. Power Electron., 41(1), 279–290</a:t>
                      </a:r>
                    </a:p>
                    <a:p>
                      <a:r>
                        <a:rPr sz="900" b="1">
                          <a:solidFill>
                            <a:srgbClr val="000000"/>
                          </a:solidFill>
                          <a:latin typeface="Calibri"/>
                        </a:rPr>
                        <a:t>ieeexplore.ieee.org/document/11146698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Hybrid adaptive dead-time plus peak delay control on a GaN synchronous buck</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most recent adaptive dead-time driver we found, and it adapts the one field our leave-one-out test shows carries the whole benefit — and only at light load.  </a:t>
                      </a:r>
                      <a:r>
                        <a:rPr sz="900" b="1">
                          <a:solidFill>
                            <a:srgbClr val="000000"/>
                          </a:solidFill>
                          <a:latin typeface="Calibri"/>
                        </a:rPr>
                        <a:t>WE FILL: </a:t>
                      </a:r>
                      <a:r>
                        <a:rPr sz="900" b="0">
                          <a:solidFill>
                            <a:srgbClr val="000000"/>
                          </a:solidFill>
                          <a:latin typeface="Calibri"/>
                        </a:rPr>
                        <a:t>which field is worth scheduling. Only dead time, and only at light load; drive strength is worth 0.00 %.</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5" name="Text 2"/>
          <p:cNvSpPr txBox="1"/>
          <p:nvPr/>
        </p:nvSpPr>
        <p:spPr>
          <a:xfrm>
            <a:off x="548640" y="6291072"/>
            <a:ext cx="10332720" cy="365760"/>
          </a:xfrm>
          <a:prstGeom prst="rect">
            <a:avLst/>
          </a:prstGeom>
          <a:noFill/>
          <a:ln/>
        </p:spPr>
        <p:txBody>
          <a:bodyPr wrap="square" lIns="0" tIns="0" rIns="0" bIns="0" rtlCol="0" anchor="ct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[9] is the BASE PAPER: we reproduce its premise — a gate waveform chosen by a multibit code — on GaN, then extend it. All five are verified against the publisher record.</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Proposed Solution &amp; Methodology</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Aim:</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To measure how much of an active gate driver’s benefit actually requires per-operating-point adaptation, and how much comes from simply choosing a better fixed setting — by searching the control word exhaustively rather than arguing the case.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Proposed Solution:</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 segmented GaN gate driver with a 720-point control word: 8 pull-up slices, 8 pull-down slices, dead time 5–35 ns, an active Miller clamp, and a selectable off-bias rail (0 / −2 V).</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Method: </a:t>
            </a:r>
            <a:r>
              <a:rPr lang="en-US" sz="1500" dirty="0">
                <a:solidFill>
                  <a:srgbClr val="000000"/>
                </a:solidFill>
                <a:latin typeface="Calibri" pitchFamily="34" charset="0"/>
                <a:ea typeface="Calibri" pitchFamily="34" charset="-122"/>
                <a:cs typeface="Calibri" pitchFamily="34" charset="-120"/>
              </a:rPr>
              <a:t xml:space="preserve">sweep the full word at every corner, so each per-corner optimum is a true optimum, then compare against the best single fixed word. That difference is the value of adaptation, and nothing else.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Methodology / Approach:</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Double-pulse test in ngspice with a behavioural eGaN model from datasheet quantities; its symmetric channel makes the third-quadrant cost of negative bias emerge from device physics.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metrics per run, frozen in one extractor early; every reported quantity must be flat across a 5× timestep range — enforced, not assumed.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Project Scope: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scope: </a:t>
            </a:r>
            <a:r>
              <a:rPr lang="en-US" sz="1500" dirty="0">
                <a:solidFill>
                  <a:srgbClr val="000000"/>
                </a:solidFill>
                <a:latin typeface="Calibri" pitchFamily="34" charset="0"/>
                <a:ea typeface="Calibri" pitchFamily="34" charset="-122"/>
                <a:cs typeface="Calibri" pitchFamily="34" charset="-120"/>
              </a:rPr>
              <a:t xml:space="preserve">driver architecture, control-word optimisation, transistor-level output stage in SKY130. </a:t>
            </a:r>
            <a:r>
              <a:rPr lang="en-US" sz="1500" b="1" dirty="0">
                <a:solidFill>
                  <a:srgbClr val="000000"/>
                </a:solidFill>
                <a:latin typeface="Calibri" pitchFamily="34" charset="0"/>
                <a:ea typeface="Calibri" pitchFamily="34" charset="-122"/>
                <a:cs typeface="Calibri" pitchFamily="34" charset="-120"/>
              </a:rPr>
              <a:t xml:space="preserve">Out of scope: </a:t>
            </a:r>
            <a:r>
              <a:rPr lang="en-US" sz="1500" dirty="0">
                <a:solidFill>
                  <a:srgbClr val="000000"/>
                </a:solidFill>
                <a:latin typeface="Calibri" pitchFamily="34" charset="0"/>
                <a:ea typeface="Calibri" pitchFamily="34" charset="-122"/>
                <a:cs typeface="Calibri" pitchFamily="34" charset="-120"/>
              </a:rPr>
              <a:t xml:space="preserve">GaN device fabrication, sensing hardware, PCB build.</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_architecture.png"/>
          <p:cNvPicPr>
            <a:picLocks noChangeAspect="1"/>
          </p:cNvPicPr>
          <p:nvPr/>
        </p:nvPicPr>
        <p:blipFill>
          <a:blip r:embed="rId4"/>
          <a:stretch>
            <a:fillRect/>
          </a:stretch>
        </p:blipFill>
        <p:spPr>
          <a:xfrm>
            <a:off x="1069848" y="1207008"/>
            <a:ext cx="10058400" cy="4800600"/>
          </a:xfrm>
          <a:prstGeom prst="rect">
            <a:avLst/>
          </a:prstGeom>
        </p:spPr>
      </p:pic>
      <p:sp>
        <p:nvSpPr>
          <p:cNvPr id="6" name="TextBox 5"/>
          <p:cNvSpPr txBox="1"/>
          <p:nvPr/>
        </p:nvSpPr>
        <p:spPr>
          <a:xfrm>
            <a:off x="640080" y="6089904"/>
            <a:ext cx="10881360" cy="347472"/>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Solid blocks are configured once at power-up. The dashed block — sensing, ADC and lookup table — is the adaptive machinery this project exists to price.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Work Completed — 50 %</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Crosstalk reproduced, and fixed.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Fastest drive, no clamp: spurious gate peak </a:t>
            </a:r>
            <a:r>
              <a:rPr lang="en-US" sz="1500" b="1" dirty="0">
                <a:solidFill>
                  <a:srgbClr val="000000"/>
                </a:solidFill>
                <a:latin typeface="Calibri" pitchFamily="34" charset="0"/>
                <a:ea typeface="Calibri" pitchFamily="34" charset="-122"/>
                <a:cs typeface="Calibri" pitchFamily="34" charset="-120"/>
              </a:rPr>
              <a:t xml:space="preserve">1.65 V</a:t>
            </a:r>
            <a:r>
              <a:rPr lang="en-US" sz="1500" dirty="0">
                <a:solidFill>
                  <a:srgbClr val="000000"/>
                </a:solidFill>
                <a:latin typeface="Calibri" pitchFamily="34" charset="0"/>
                <a:ea typeface="Calibri" pitchFamily="34" charset="-122"/>
                <a:cs typeface="Calibri" pitchFamily="34" charset="-120"/>
              </a:rPr>
              <a:t xml:space="preserve"> against a 1.4 V threshold — false turn-on, the failure this project exists to remove. Miller clamp on with −2 V off-bias: </a:t>
            </a:r>
            <a:r>
              <a:rPr lang="en-US" sz="1500" b="1" dirty="0">
                <a:solidFill>
                  <a:srgbClr val="000000"/>
                </a:solidFill>
                <a:latin typeface="Calibri" pitchFamily="34" charset="0"/>
                <a:ea typeface="Calibri" pitchFamily="34" charset="-122"/>
                <a:cs typeface="Calibri" pitchFamily="34" charset="-120"/>
              </a:rPr>
              <a:t xml:space="preserve">−1.18 V</a:t>
            </a:r>
            <a:r>
              <a:rPr lang="en-US" sz="1500" dirty="0">
                <a:solidFill>
                  <a:srgbClr val="000000"/>
                </a:solidFill>
                <a:latin typeface="Calibri" pitchFamily="34" charset="0"/>
                <a:ea typeface="Calibri" pitchFamily="34" charset="-122"/>
                <a:cs typeface="Calibri" pitchFamily="34" charset="-120"/>
              </a:rPr>
              <a:t xml:space="preserve">, a 2.58 V margin.</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full exhaustive search is done.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720 control words at each of four corners (50–200 V, 2–10 A, 25–125 °C) = 2,880 transients, plus 1,511 over a 36-point operating grid. Every per-corner optimum is a true optimum, not the best of a shortlist.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result has been stress-tested.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21,600 further transients perturbing five device-model parameters; the ceiling holds between 4.3 % and 7.7 % against every one of them.</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Both objections to the result have been tested, not argued.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Loop inductance (7,192 transients, eight values): adaptive control pays below ~2.5 nH, peaking at 13.5 %. EMI (1,440 transients): pricing it makes scheduling worth </a:t>
            </a:r>
            <a:r>
              <a:rPr lang="en-US" sz="1500" b="1" dirty="0">
                <a:solidFill>
                  <a:srgbClr val="000000"/>
                </a:solidFill>
                <a:latin typeface="Calibri" pitchFamily="34" charset="0"/>
                <a:ea typeface="Calibri" pitchFamily="34" charset="-122"/>
                <a:cs typeface="Calibri" pitchFamily="34" charset="-120"/>
              </a:rPr>
              <a:t xml:space="preserve">less</a:t>
            </a:r>
            <a:r>
              <a:rPr lang="en-US" sz="1500" dirty="0">
                <a:solidFill>
                  <a:srgbClr val="000000"/>
                </a:solidFill>
                <a:latin typeface="Calibri" pitchFamily="34" charset="0"/>
                <a:ea typeface="Calibri" pitchFamily="34" charset="-122"/>
                <a:cs typeface="Calibri" pitchFamily="34" charset="-120"/>
              </a:rPr>
              <a:t xml:space="preserve">, not more — 5.95 % → 0.15 %.</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LTspice port has been run in LTspice.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The three shipped .cir files give 1.6487 / 0.8282 / −1.1768 V in LTspice 24, matching ngspice within 2 mV — the result is not an artefact of one simulator. Spectre remains a port.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total: </a:t>
            </a:r>
            <a:r>
              <a:rPr lang="en-US" sz="1500" dirty="0">
                <a:solidFill>
                  <a:srgbClr val="000000"/>
                </a:solidFill>
                <a:latin typeface="Calibri" pitchFamily="34" charset="0"/>
                <a:ea typeface="Calibri" pitchFamily="34" charset="-122"/>
                <a:cs typeface="Calibri" pitchFamily="34" charset="-120"/>
              </a:rPr>
              <a:t xml:space="preserve">nearly 35,000 transient simulations, a 34-section written record, and a full manuscript draft with five tables and four figures.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Timeline, Milestones &amp; Tools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Timeline &amp; milestones</a:t>
            </a:r>
            <a:r>
              <a:rPr lang="en-US" sz="1600" dirty="0">
                <a:solidFill>
                  <a:srgbClr val="000000"/>
                </a:solidFill>
                <a:latin typeface="Calibri" pitchFamily="34" charset="0"/>
                <a:ea typeface="Calibri" pitchFamily="34" charset="-122"/>
                <a:cs typeface="Calibri" pitchFamily="34" charset="-120"/>
              </a:rPr>
              <a:t xml:space="preserve">  (dates follow the department calendar)</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 — complete. </a:t>
            </a:r>
            <a:r>
              <a:rPr lang="en-US" sz="1500" dirty="0">
                <a:solidFill>
                  <a:srgbClr val="000000"/>
                </a:solidFill>
                <a:latin typeface="Calibri" pitchFamily="34" charset="0"/>
                <a:ea typeface="Calibri" pitchFamily="34" charset="-122"/>
                <a:cs typeface="Calibri" pitchFamily="34" charset="-120"/>
              </a:rPr>
              <a:t xml:space="preserve">Problem reproduced, driver and testbench built, exhaustive search finished, ceiling established and stress-tested against the device model.</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Review-II. </a:t>
            </a:r>
            <a:r>
              <a:rPr lang="en-US" sz="1500" dirty="0">
                <a:solidFill>
                  <a:srgbClr val="000000"/>
                </a:solidFill>
                <a:latin typeface="Calibri" pitchFamily="34" charset="0"/>
                <a:ea typeface="Calibri" pitchFamily="34" charset="-122"/>
                <a:cs typeface="Calibri" pitchFamily="34" charset="-120"/>
              </a:rPr>
              <a:t xml:space="preserve">M1 secure a 5 V-capable PDK · M2 draw the segmented output stage at transistor level in Cadence · M3 re-run the ceiling on real devices and compare it against the ideal-switch bound reported here.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Review-III. </a:t>
            </a:r>
            <a:r>
              <a:rPr lang="en-US" sz="1500" dirty="0">
                <a:solidFill>
                  <a:srgbClr val="000000"/>
                </a:solidFill>
                <a:latin typeface="Calibri" pitchFamily="34" charset="0"/>
                <a:ea typeface="Calibri" pitchFamily="34" charset="-122"/>
                <a:cs typeface="Calibri" pitchFamily="34" charset="-120"/>
              </a:rPr>
              <a:t xml:space="preserve">M4 build the half-bridge · M5 measure crosstalk margin at one corner against the simulated 1.65 V · M6 submit the manuscript.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Tools &amp; technologies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ngspice 42 (every sweep) · LTspice 24, in which the port was re-run · Icarus Verilog (RTL, 8 asserted properties) · Xilinx Vivado (export written) · Cadence Spectre / OCEAN · SKY130 PDK (BSIM4) · Python / NumPy / Matplotlib · MATLAB Online, an independent cross-check of the Pareto analysis · Git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How to check any of it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Every number on these slides is regenerated by a named script in the repository </a:t>
            </a:r>
            <a:r>
              <a:rPr lang="en-US" sz="1500" b="1" dirty="0">
                <a:solidFill>
                  <a:srgbClr val="000000"/>
                </a:solidFill>
                <a:latin typeface="Calibri" pitchFamily="34" charset="0"/>
                <a:ea typeface="Calibri" pitchFamily="34" charset="-122"/>
                <a:cs typeface="Calibri" pitchFamily="34" charset="-120"/>
              </a:rPr>
              <a:t xml:space="preserve">github.com/Amritha902/gan-driver</a:t>
            </a:r>
            <a:r>
              <a:rPr lang="en-US" sz="1500" dirty="0">
                <a:solidFill>
                  <a:srgbClr val="000000"/>
                </a:solidFill>
                <a:latin typeface="Calibri" pitchFamily="34" charset="0"/>
                <a:ea typeface="Calibri" pitchFamily="34" charset="-122"/>
                <a:cs typeface="Calibri" pitchFamily="34" charset="-120"/>
              </a:rPr>
              <a:t xml:space="preserve">. Netlists, raw sweep data and analysis scripts are all committed; no figure is drawn by hand, and no number is typed in twice.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FPGA Controller — verified RTL</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2240280"/>
          </a:xfrm>
          <a:prstGeom prst="rect">
            <a:avLst/>
          </a:prstGeom>
          <a:noFill/>
          <a:ln/>
        </p:spPr>
        <p:txBody>
          <a:bodyPr wrap="square" lIns="0" tIns="0" rIns="0" bIns="0" rtlCol="0" anchor="t"/>
          <a:lstStyle/>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Three modules emitting exactly the 720-point control word the SPICE model consumes.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Dead time gets a </a:t>
            </a:r>
            <a:r>
              <a:rPr lang="en-US" sz="1500" b="1" dirty="0">
                <a:solidFill>
                  <a:srgbClr val="000000"/>
                </a:solidFill>
                <a:latin typeface="Calibri" pitchFamily="34" charset="0"/>
                <a:ea typeface="Calibri" pitchFamily="34" charset="-122"/>
                <a:cs typeface="Calibri" pitchFamily="34" charset="-120"/>
              </a:rPr>
              <a:t xml:space="preserve">live register</a:t>
            </a:r>
            <a:r>
              <a:rPr lang="en-US" sz="1500" dirty="0">
                <a:solidFill>
                  <a:srgbClr val="000000"/>
                </a:solidFill>
                <a:latin typeface="Calibri" pitchFamily="34" charset="0"/>
                <a:ea typeface="Calibri" pitchFamily="34" charset="-122"/>
                <a:cs typeface="Calibri" pitchFamily="34" charset="-120"/>
              </a:rPr>
              <a:t xml:space="preserve">; drive strength is </a:t>
            </a:r>
            <a:r>
              <a:rPr lang="en-US" sz="1500" b="1" dirty="0">
                <a:solidFill>
                  <a:srgbClr val="000000"/>
                </a:solidFill>
                <a:latin typeface="Calibri" pitchFamily="34" charset="0"/>
                <a:ea typeface="Calibri" pitchFamily="34" charset="-122"/>
                <a:cs typeface="Calibri" pitchFamily="34" charset="-120"/>
              </a:rPr>
              <a:t xml:space="preserve">strapped</a:t>
            </a:r>
            <a:r>
              <a:rPr lang="en-US" sz="1500" dirty="0">
                <a:solidFill>
                  <a:srgbClr val="000000"/>
                </a:solidFill>
                <a:latin typeface="Calibri" pitchFamily="34" charset="0"/>
                <a:ea typeface="Calibri" pitchFamily="34" charset="-122"/>
                <a:cs typeface="Calibri" pitchFamily="34" charset="-120"/>
              </a:rPr>
              <a:t xml:space="preserve"> — the study's own result built into the hardware, since dead time is worth 5.45 % to schedule (carried by the light-load corner alone) and pull-up 0.00 %.</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Reset lands on the safest word, not the fastest.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asserted properties pass under Icarus; a shoot-through mutant is caught 221× (sh rtl/mutate.sh).</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Synthesised to Artix-7 primitives. </a:t>
            </a:r>
            <a:r>
              <a:rPr lang="en-US" sz="1500" dirty="0">
                <a:solidFill>
                  <a:srgbClr val="000000"/>
                </a:solidFill>
                <a:latin typeface="Calibri" pitchFamily="34" charset="0"/>
                <a:ea typeface="Calibri" pitchFamily="34" charset="-122"/>
                <a:cs typeface="Calibri" pitchFamily="34" charset="-120"/>
              </a:rPr>
              <a:t xml:space="preserve">Strapping the word instead of leaving all six fields live takes the controller from </a:t>
            </a:r>
            <a:r>
              <a:rPr lang="en-US" sz="1500" b="1" dirty="0">
                <a:solidFill>
                  <a:srgbClr val="000000"/>
                </a:solidFill>
                <a:latin typeface="Calibri" pitchFamily="34" charset="0"/>
                <a:ea typeface="Calibri" pitchFamily="34" charset="-122"/>
                <a:cs typeface="Calibri" pitchFamily="34" charset="-120"/>
              </a:rPr>
              <a:t xml:space="preserve">53 LUTs to 27</a:t>
            </a:r>
            <a:r>
              <a:rPr lang="en-US" sz="1500" dirty="0">
                <a:solidFill>
                  <a:srgbClr val="000000"/>
                </a:solidFill>
                <a:latin typeface="Calibri" pitchFamily="34" charset="0"/>
                <a:ea typeface="Calibri" pitchFamily="34" charset="-122"/>
                <a:cs typeface="Calibri" pitchFamily="34" charset="-120"/>
              </a:rPr>
              <a:t xml:space="preserve"> (33 FFs to 25) — half the fabric for the 3.9 % adaptation buys. yosys synth_xilinx; Vivado itself needs Windows/Linux, so no place-and-route or timing yet.</a:t>
            </a:r>
          </a:p>
        </p:txBody>
      </p:sp>
      <p:pic>
        <p:nvPicPr>
          <p:cNvPr id="6" name="Picture 5" descr="fig_rtl_waveform.png"/>
          <p:cNvPicPr>
            <a:picLocks noChangeAspect="1"/>
          </p:cNvPicPr>
          <p:nvPr/>
        </p:nvPicPr>
        <p:blipFill>
          <a:blip r:embed="rId4"/>
          <a:stretch>
            <a:fillRect/>
          </a:stretch>
        </p:blipFill>
        <p:spPr>
          <a:xfrm>
            <a:off x="2743200" y="3703320"/>
            <a:ext cx="6675120" cy="2422423"/>
          </a:xfrm>
          <a:prstGeom prst="rect">
            <a:avLst/>
          </a:prstGeom>
        </p:spPr>
      </p:pic>
      <p:sp>
        <p:nvSpPr>
          <p:cNvPr id="7" name="TextBox 6"/>
          <p:cNvSpPr txBox="1"/>
          <p:nvPr/>
        </p:nvSpPr>
        <p:spPr>
          <a:xfrm>
            <a:off x="2743200" y="6217920"/>
            <a:ext cx="6675120" cy="310896"/>
          </a:xfrm>
          <a:prstGeom prst="rect">
            <a:avLst/>
          </a:prstGeom>
          <a:noFill/>
        </p:spPr>
        <p:txBody>
          <a:bodyPr wrap="square" lIns="0" tIns="0" rIns="0" bIns="0">
            <a:spAutoFit/>
          </a:bodyP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Icarus Verilog VCD. ls_pu falls to 0 before hs_pu rises — the shaded dead time is the gap, and no shoot-through window exists.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1 — crosstalk is real; the clamp fixes it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1_crosstalk.png"/>
          <p:cNvPicPr>
            <a:picLocks noChangeAspect="1"/>
          </p:cNvPicPr>
          <p:nvPr/>
        </p:nvPicPr>
        <p:blipFill>
          <a:blip r:embed="rId4"/>
          <a:stretch>
            <a:fillRect/>
          </a:stretch>
        </p:blipFill>
        <p:spPr>
          <a:xfrm>
            <a:off x="640080" y="1325880"/>
            <a:ext cx="6675120" cy="4238315"/>
          </a:xfrm>
          <a:prstGeom prst="rect">
            <a:avLst/>
          </a:prstGeom>
        </p:spPr>
      </p:pic>
      <p:sp>
        <p:nvSpPr>
          <p:cNvPr id="6" name="TextBox 5"/>
          <p:cNvSpPr txBox="1"/>
          <p:nvPr/>
        </p:nvSpPr>
        <p:spPr>
          <a:xfrm>
            <a:off x="640080" y="5760720"/>
            <a:ext cx="6675120" cy="41148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Fig. 1  Spurious gate voltage on the off-device: the failure, and the actuator that removes it.</a:t>
            </a:r>
          </a:p>
        </p:txBody>
      </p:sp>
      <p:sp>
        <p:nvSpPr>
          <p:cNvPr id="7" name="TextBox 6"/>
          <p:cNvSpPr txBox="1"/>
          <p:nvPr/>
        </p:nvSpPr>
        <p:spPr>
          <a:xfrm>
            <a:off x="7635240" y="1325880"/>
            <a:ext cx="388620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The problem is real, and reproduced</a:t>
            </a:r>
          </a:p>
        </p:txBody>
      </p:sp>
      <p:sp>
        <p:nvSpPr>
          <p:cNvPr id="8" name="TextBox 7"/>
          <p:cNvSpPr txBox="1"/>
          <p:nvPr/>
        </p:nvSpPr>
        <p:spPr>
          <a:xfrm>
            <a:off x="7635240" y="182880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1.65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spurious gate peak vs 1.4 V threshold</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Fastest drive, no clamp — false turn-on</a:t>
            </a:r>
          </a:p>
        </p:txBody>
      </p:sp>
      <p:sp>
        <p:nvSpPr>
          <p:cNvPr id="9" name="TextBox 8"/>
          <p:cNvSpPr txBox="1"/>
          <p:nvPr/>
        </p:nvSpPr>
        <p:spPr>
          <a:xfrm>
            <a:off x="7635240" y="306324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2.58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margin with clamp + −2 V off-bias</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The actuator removes it completely</a:t>
            </a:r>
          </a:p>
        </p:txBody>
      </p:sp>
      <p:sp>
        <p:nvSpPr>
          <p:cNvPr id="10" name="TextBox 9"/>
          <p:cNvSpPr txBox="1"/>
          <p:nvPr/>
        </p:nvSpPr>
        <p:spPr>
          <a:xfrm>
            <a:off x="7635240" y="4343400"/>
            <a:ext cx="3886200" cy="1828800"/>
          </a:xfrm>
          <a:prstGeom prst="rect">
            <a:avLst/>
          </a:prstGeom>
          <a:noFill/>
        </p:spPr>
        <p:txBody>
          <a:bodyPr wrap="square" lIns="0" tIns="0" rIns="0" bIns="0">
            <a:spAutoFit/>
          </a:bodyPr>
          <a:lstStyle/>
          <a:p>
            <a:pPr marL="177800" indent="0">
              <a:spcAft>
                <a:spcPts val="200"/>
              </a:spcAft>
              <a:buSzPct val="100000"/>
              <a:buNone/>
            </a:pPr>
            <a:r>
              <a:rPr lang="en-US" sz="1500" b="1" dirty="0">
                <a:solidFill>
                  <a:srgbClr val="000000"/>
                </a:solidFill>
                <a:latin typeface="Calibri" pitchFamily="34" charset="0"/>
                <a:ea typeface="Calibri" pitchFamily="34" charset="-122"/>
                <a:cs typeface="Calibri" pitchFamily="34" charset="-120"/>
              </a:rPr>
              <a:t xml:space="preserve">And safety is nearly free</a:t>
            </a:r>
          </a:p>
          <a:p>
            <a:pPr marL="177800" indent="0">
              <a:spcAft>
                <a:spcPts val="200"/>
              </a:spcAft>
              <a:buSzPct val="100000"/>
              <a:buNone/>
            </a:pPr>
            <a:r>
              <a:rPr lang="en-US" sz="1300" dirty="0">
                <a:solidFill>
                  <a:srgbClr val="000000"/>
                </a:solidFill>
                <a:latin typeface="Calibri" pitchFamily="34" charset="0"/>
                <a:ea typeface="Calibri" pitchFamily="34" charset="-122"/>
                <a:cs typeface="Calibri" pitchFamily="34" charset="-120"/>
              </a:rPr>
              <a:t xml:space="preserve">The energy-optimal control word is already crosstalk-safe at three of four corners. At the fourth, safety costs </a:t>
            </a:r>
            <a:r>
              <a:rPr lang="en-US" sz="1300" b="1" dirty="0">
                <a:solidFill>
                  <a:srgbClr val="000000"/>
                </a:solidFill>
                <a:latin typeface="Calibri" pitchFamily="34" charset="0"/>
                <a:ea typeface="Calibri" pitchFamily="34" charset="-122"/>
                <a:cs typeface="Calibri" pitchFamily="34" charset="-120"/>
              </a:rPr>
              <a:t xml:space="preserve">0.04 % of switching energy</a:t>
            </a:r>
            <a:r>
              <a:rPr lang="en-US" sz="1300" dirty="0">
                <a:solidFill>
                  <a:srgbClr val="000000"/>
                </a:solidFill>
                <a:latin typeface="Calibri" pitchFamily="34" charset="0"/>
                <a:ea typeface="Calibri" pitchFamily="34" charset="-122"/>
                <a:cs typeface="Calibri" pitchFamily="34" charset="-120"/>
              </a:rPr>
              <a:t xml:space="preserve"> — 3.335 µJ against 3.334 µJ.</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The clamp itself is worth 9.7–12.2 % of the blended cost, from a static architecture choice needing no sensing or controller.</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2 — scheduling is worth only 5.2 %</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paper_fig2_ceiling.png"/>
          <p:cNvPicPr>
            <a:picLocks noChangeAspect="1"/>
          </p:cNvPicPr>
          <p:nvPr/>
        </p:nvPicPr>
        <p:blipFill>
          <a:blip r:embed="rId2"/>
          <a:stretch>
            <a:fillRect/>
          </a:stretch>
        </p:blipFill>
        <p:spPr>
          <a:xfrm>
            <a:off x="640080" y="1417320"/>
            <a:ext cx="6035040" cy="3212290"/>
          </a:xfrm>
          <a:prstGeom prst="rect">
            <a:avLst/>
          </a:prstGeom>
        </p:spPr>
      </p:pic>
      <p:sp>
        <p:nvSpPr>
          <p:cNvPr id="6" name="TextBox 5"/>
          <p:cNvSpPr txBox="1"/>
          <p:nvPr/>
        </p:nvSpPr>
        <p:spPr>
          <a:xfrm>
            <a:off x="640080" y="4892040"/>
            <a:ext cx="6035040" cy="41148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Fig. 2  Cost of one fixed control word vs the true per-corner optimum, four corners.</a:t>
            </a:r>
          </a:p>
        </p:txBody>
      </p:sp>
      <p:sp>
        <p:nvSpPr>
          <p:cNvPr id="7" name="TextBox 6"/>
          <p:cNvSpPr txBox="1"/>
          <p:nvPr/>
        </p:nvSpPr>
        <p:spPr>
          <a:xfrm>
            <a:off x="640080" y="5440680"/>
            <a:ext cx="6035040" cy="822960"/>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Full 720-word search at every corner — 2,880 transients — so each per-corner optimum is a true optimum, not the best of a shortlist.</a:t>
            </a:r>
          </a:p>
        </p:txBody>
      </p:sp>
      <p:sp>
        <p:nvSpPr>
          <p:cNvPr id="8" name="TextBox 7"/>
          <p:cNvSpPr txBox="1"/>
          <p:nvPr/>
        </p:nvSpPr>
        <p:spPr>
          <a:xfrm>
            <a:off x="6995160" y="1325880"/>
            <a:ext cx="452628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What adaptation is actually worth</a:t>
            </a:r>
          </a:p>
        </p:txBody>
      </p:sp>
      <p:sp>
        <p:nvSpPr>
          <p:cNvPr id="9" name="TextBox 8"/>
          <p:cNvSpPr txBox="1"/>
          <p:nvPr/>
        </p:nvSpPr>
        <p:spPr>
          <a:xfrm>
            <a:off x="6995160" y="1828800"/>
            <a:ext cx="45262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5.2 %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ceiling on operating-point scheduling</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vs the best single fixed word (= 3.9 % of baseline). A fixed word is nearly as good.</a:t>
            </a:r>
          </a:p>
        </p:txBody>
      </p:sp>
      <p:sp>
        <p:nvSpPr>
          <p:cNvPr id="10" name="TextBox 9"/>
          <p:cNvSpPr txBox="1"/>
          <p:nvPr/>
        </p:nvSpPr>
        <p:spPr>
          <a:xfrm>
            <a:off x="6995160" y="3035808"/>
            <a:ext cx="4526280" cy="3401568"/>
          </a:xfrm>
          <a:prstGeom prst="rect">
            <a:avLst/>
          </a:prstGeom>
          <a:noFill/>
        </p:spPr>
        <p:txBody>
          <a:bodyPr wrap="square" lIns="0" tIns="0" rIns="0" bIns="0">
            <a:spAutoFit/>
          </a:bodyPr>
          <a:lstStyle/>
          <a:p>
            <a:pPr marL="177800" indent="0">
              <a:spcAft>
                <a:spcPts val="18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benefit is not spread out. </a:t>
            </a:r>
            <a:r>
              <a:rPr lang="en-US" sz="1300" dirty="0">
                <a:solidFill>
                  <a:srgbClr val="000000"/>
                </a:solidFill>
                <a:latin typeface="Calibri" pitchFamily="34" charset="0"/>
                <a:ea typeface="Calibri" pitchFamily="34" charset="-122"/>
                <a:cs typeface="Calibri" pitchFamily="34" charset="-120"/>
              </a:rPr>
              <a:t xml:space="preserve">Three corners lose 1–4 % from a fixed word; one loses 12.7 %.</a:t>
            </a:r>
          </a:p>
          <a:p>
            <a:pPr marL="177800" indent="0">
              <a:spcAft>
                <a:spcPts val="180"/>
              </a:spcAft>
              <a:buSzPct val="100000"/>
              <a:buNone/>
            </a:pPr>
            <a:r>
              <a:rPr lang="en-US" sz="1200" b="1" dirty="0">
                <a:solidFill>
                  <a:srgbClr val="000000"/>
                </a:solidFill>
                <a:latin typeface="Calibri" pitchFamily="34" charset="0"/>
                <a:ea typeface="Calibri" pitchFamily="34" charset="-122"/>
                <a:cs typeface="Calibri" pitchFamily="34" charset="-120"/>
              </a:rPr>
              <a:t xml:space="preserve">5.2 % is the generous figure: </a:t>
            </a:r>
            <a:r>
              <a:rPr lang="en-US" sz="1200" dirty="0">
                <a:solidFill>
                  <a:srgbClr val="000000"/>
                </a:solidFill>
                <a:latin typeface="Calibri" pitchFamily="34" charset="0"/>
                <a:ea typeface="Calibri" pitchFamily="34" charset="-122"/>
                <a:cs typeface="Calibri" pitchFamily="34" charset="-120"/>
              </a:rPr>
              <a:t xml:space="preserve">the denser 36-point grid gives </a:t>
            </a:r>
            <a:r>
              <a:rPr lang="en-US" sz="1200" b="1" dirty="0">
                <a:solidFill>
                  <a:srgbClr val="000000"/>
                </a:solidFill>
                <a:latin typeface="Calibri" pitchFamily="34" charset="0"/>
                <a:ea typeface="Calibri" pitchFamily="34" charset="-122"/>
                <a:cs typeface="Calibri" pitchFamily="34" charset="-120"/>
              </a:rPr>
              <a:t xml:space="preserve">2.0 %</a:t>
            </a:r>
            <a:r>
              <a:rPr lang="en-US" sz="1200" dirty="0">
                <a:solidFill>
                  <a:srgbClr val="000000"/>
                </a:solidFill>
                <a:latin typeface="Calibri" pitchFamily="34" charset="0"/>
                <a:ea typeface="Calibri" pitchFamily="34" charset="-122"/>
                <a:cs typeface="Calibri" pitchFamily="34" charset="-120"/>
              </a:rPr>
              <a:t xml:space="preserve">.</a:t>
            </a:r>
          </a:p>
          <a:p>
            <a:pPr marL="177800" indent="0">
              <a:spcAft>
                <a:spcPts val="180"/>
              </a:spcAft>
              <a:buSzPct val="100000"/>
              <a:buNone/>
            </a:pPr>
            <a:r>
              <a:rPr lang="en-US" sz="1200" b="1" dirty="0">
                <a:solidFill>
                  <a:srgbClr val="000000"/>
                </a:solidFill>
                <a:latin typeface="Calibri" pitchFamily="34" charset="0"/>
                <a:ea typeface="Calibri" pitchFamily="34" charset="-122"/>
                <a:cs typeface="Calibri" pitchFamily="34" charset="-120"/>
              </a:rPr>
              <a:t xml:space="preserve">It is carried by the dead time — and the dead time by one corner. </a:t>
            </a:r>
            <a:r>
              <a:rPr lang="en-US" sz="1200" dirty="0">
                <a:solidFill>
                  <a:srgbClr val="000000"/>
                </a:solidFill>
                <a:latin typeface="Calibri" pitchFamily="34" charset="0"/>
                <a:ea typeface="Calibri" pitchFamily="34" charset="-122"/>
                <a:cs typeface="Calibri" pitchFamily="34" charset="-120"/>
              </a:rPr>
              <a:t xml:space="preserve">Freezing dead time costs 5.45 % across four corners. Drop the light-load 50 V / 2 A corner and it costs </a:t>
            </a:r>
            <a:r>
              <a:rPr lang="en-US" sz="1200" b="1" dirty="0">
                <a:solidFill>
                  <a:srgbClr val="000000"/>
                </a:solidFill>
                <a:latin typeface="Calibri" pitchFamily="34" charset="0"/>
                <a:ea typeface="Calibri" pitchFamily="34" charset="-122"/>
                <a:cs typeface="Calibri" pitchFamily="34" charset="-120"/>
              </a:rPr>
              <a:t xml:space="preserve">0.00 %</a:t>
            </a:r>
            <a:r>
              <a:rPr lang="en-US" sz="1200" dirty="0">
                <a:solidFill>
                  <a:srgbClr val="000000"/>
                </a:solidFill>
                <a:latin typeface="Calibri" pitchFamily="34" charset="0"/>
                <a:ea typeface="Calibri" pitchFamily="34" charset="-122"/>
                <a:cs typeface="Calibri" pitchFamily="34" charset="-120"/>
              </a:rPr>
              <a:t xml:space="preserve">: three corners want 5 ns, only that one wants 15 ns. So the adaptive hardware reduces to a light-load detector picking one of two dead times. Freezing pull-up drive strength costs </a:t>
            </a:r>
            <a:r>
              <a:rPr lang="en-US" sz="1200" b="1" dirty="0">
                <a:solidFill>
                  <a:srgbClr val="000000"/>
                </a:solidFill>
                <a:latin typeface="Calibri" pitchFamily="34" charset="0"/>
                <a:ea typeface="Calibri" pitchFamily="34" charset="-122"/>
                <a:cs typeface="Calibri" pitchFamily="34" charset="-120"/>
              </a:rPr>
              <a:t xml:space="preserve">0.00 %</a:t>
            </a:r>
            <a:r>
              <a:rPr lang="en-US" sz="1200" dirty="0">
                <a:solidFill>
                  <a:srgbClr val="000000"/>
                </a:solidFill>
                <a:latin typeface="Calibri" pitchFamily="34" charset="0"/>
                <a:ea typeface="Calibri" pitchFamily="34" charset="-122"/>
                <a:cs typeface="Calibri" pitchFamily="34" charset="-120"/>
              </a:rPr>
              <a:t xml:space="preserve"> — and drive strength is what the active-gate-driver literature actually schedules.</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Robust to the device, conditional on the layout. </a:t>
            </a:r>
            <a:r>
              <a:rPr lang="en-US" sz="1300" dirty="0">
                <a:solidFill>
                  <a:srgbClr val="000000"/>
                </a:solidFill>
                <a:latin typeface="Calibri" pitchFamily="34" charset="0"/>
                <a:ea typeface="Calibri" pitchFamily="34" charset="-122"/>
                <a:cs typeface="Calibri" pitchFamily="34" charset="-120"/>
              </a:rPr>
              <a:t xml:space="preserve">Across 21,600 transients, no device parameter moves the ceiling outside 4.3–7.7 %. Halving the loop inductance takes it to 13.5 %, and loop inductance is board layout, not the transistor [3].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3 — the two halves nobody separates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261872"/>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The base paper [9] </a:t>
            </a:r>
            <a:r>
              <a:rPr lang="en-US" sz="1250" b="1" dirty="0">
                <a:solidFill>
                  <a:srgbClr val="000000"/>
                </a:solidFill>
                <a:latin typeface="Calibri" pitchFamily="34" charset="0"/>
                <a:ea typeface="Calibri" pitchFamily="34" charset="-122"/>
                <a:cs typeface="Calibri" pitchFamily="34" charset="-120"/>
              </a:rPr>
              <a:t xml:space="preserve">(doi.org/10.1002/cta.3136)</a:t>
            </a:r>
            <a:r>
              <a:rPr lang="en-US" sz="1250" dirty="0">
                <a:solidFill>
                  <a:srgbClr val="000000"/>
                </a:solidFill>
                <a:latin typeface="Calibri" pitchFamily="34" charset="0"/>
                <a:ea typeface="Calibri" pitchFamily="34" charset="-122"/>
                <a:cs typeface="Calibri" pitchFamily="34" charset="-120"/>
              </a:rPr>
              <a:t xml:space="preserve"> shows a gate waveform can be chosen by a digital code. It, and every active-gate-driver paper after it, then reports </a:t>
            </a:r>
            <a:r>
              <a:rPr lang="en-US" sz="1250" b="1" dirty="0">
                <a:solidFill>
                  <a:srgbClr val="000000"/>
                </a:solidFill>
                <a:latin typeface="Calibri" pitchFamily="34" charset="0"/>
                <a:ea typeface="Calibri" pitchFamily="34" charset="-122"/>
                <a:cs typeface="Calibri" pitchFamily="34" charset="-120"/>
              </a:rPr>
              <a:t xml:space="preserve">one</a:t>
            </a:r>
            <a:r>
              <a:rPr lang="en-US" sz="1250" dirty="0">
                <a:solidFill>
                  <a:srgbClr val="000000"/>
                </a:solidFill>
                <a:latin typeface="Calibri" pitchFamily="34" charset="0"/>
                <a:ea typeface="Calibri" pitchFamily="34" charset="-122"/>
                <a:cs typeface="Calibri" pitchFamily="34" charset="-120"/>
              </a:rPr>
              <a:t xml:space="preserve"> number — the improvement over a conventional driver. That number bundles two separable effects, and only the second needs sensing, an ADC and a lookup table. Separating them needs the exhaustive search, which is why nobody has.</a:t>
            </a:r>
          </a:p>
        </p:txBody>
      </p:sp>
      <p:sp>
        <p:nvSpPr>
          <p:cNvPr id="6" name="TextBox 5"/>
          <p:cNvSpPr txBox="1"/>
          <p:nvPr/>
        </p:nvSpPr>
        <p:spPr>
          <a:xfrm>
            <a:off x="640080" y="2212848"/>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(A)   Choose a better FIXED word</a:t>
            </a:r>
          </a:p>
        </p:txBody>
      </p:sp>
      <p:sp>
        <p:nvSpPr>
          <p:cNvPr id="7" name="TextBox 6"/>
          <p:cNvSpPr txBox="1"/>
          <p:nvPr/>
        </p:nvSpPr>
        <p:spPr>
          <a:xfrm>
            <a:off x="6812280" y="2029967"/>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25.1 %</a:t>
            </a:r>
          </a:p>
        </p:txBody>
      </p:sp>
      <p:sp>
        <p:nvSpPr>
          <p:cNvPr id="8" name="TextBox 7"/>
          <p:cNvSpPr txBox="1"/>
          <p:nvPr/>
        </p:nvSpPr>
        <p:spPr>
          <a:xfrm>
            <a:off x="9006840" y="2249424"/>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no sensing · no LUT</a:t>
            </a:r>
          </a:p>
        </p:txBody>
      </p:sp>
      <p:sp>
        <p:nvSpPr>
          <p:cNvPr id="9" name="TextBox 8"/>
          <p:cNvSpPr txBox="1"/>
          <p:nvPr/>
        </p:nvSpPr>
        <p:spPr>
          <a:xfrm>
            <a:off x="640080" y="3236976"/>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(B)   ADAPT it per operating point</a:t>
            </a:r>
          </a:p>
        </p:txBody>
      </p:sp>
      <p:sp>
        <p:nvSpPr>
          <p:cNvPr id="10" name="TextBox 9"/>
          <p:cNvSpPr txBox="1"/>
          <p:nvPr/>
        </p:nvSpPr>
        <p:spPr>
          <a:xfrm>
            <a:off x="6812280" y="3054096"/>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3.9 %</a:t>
            </a:r>
          </a:p>
        </p:txBody>
      </p:sp>
      <p:sp>
        <p:nvSpPr>
          <p:cNvPr id="11" name="TextBox 10"/>
          <p:cNvSpPr txBox="1"/>
          <p:nvPr/>
        </p:nvSpPr>
        <p:spPr>
          <a:xfrm>
            <a:off x="9006840" y="3273552"/>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needs all of it</a:t>
            </a:r>
          </a:p>
        </p:txBody>
      </p:sp>
      <p:sp>
        <p:nvSpPr>
          <p:cNvPr id="12" name="TextBox 11"/>
          <p:cNvSpPr txBox="1"/>
          <p:nvPr/>
        </p:nvSpPr>
        <p:spPr>
          <a:xfrm>
            <a:off x="640080" y="4261104"/>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(B′)  …but ONE comparator captures 72 % of (B)</a:t>
            </a:r>
          </a:p>
        </p:txBody>
      </p:sp>
      <p:sp>
        <p:nvSpPr>
          <p:cNvPr id="13" name="TextBox 12"/>
          <p:cNvSpPr txBox="1"/>
          <p:nvPr/>
        </p:nvSpPr>
        <p:spPr>
          <a:xfrm>
            <a:off x="6812280" y="4078224"/>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2.8 %</a:t>
            </a:r>
          </a:p>
        </p:txBody>
      </p:sp>
      <p:sp>
        <p:nvSpPr>
          <p:cNvPr id="14" name="TextBox 13"/>
          <p:cNvSpPr txBox="1"/>
          <p:nvPr/>
        </p:nvSpPr>
        <p:spPr>
          <a:xfrm>
            <a:off x="9006840" y="4297680"/>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a threshold, not a LUT</a:t>
            </a:r>
          </a:p>
        </p:txBody>
      </p:sp>
      <p:sp>
        <p:nvSpPr>
          <p:cNvPr id="15" name="TextBox 14"/>
          <p:cNvSpPr txBox="1"/>
          <p:nvPr/>
        </p:nvSpPr>
        <p:spPr>
          <a:xfrm>
            <a:off x="640080" y="5413248"/>
            <a:ext cx="11064240" cy="1005840"/>
          </a:xfrm>
          <a:prstGeom prst="rect">
            <a:avLst/>
          </a:prstGeom>
          <a:noFill/>
        </p:spPr>
        <p:txBody>
          <a:bodyPr wrap="square" lIns="0" tIns="0" rIns="0" bIns="0">
            <a:spAutoFit/>
          </a:bodyPr>
          <a:lstStyle/>
          <a:p>
            <a:pPr marL="177800" indent="0">
              <a:spcAft>
                <a:spcPts val="130"/>
              </a:spcAft>
              <a:buSzPct val="100000"/>
              <a:buNone/>
            </a:pPr>
            <a:r>
              <a:rPr lang="en-US" sz="1300" dirty="0">
                <a:solidFill>
                  <a:srgbClr val="000000"/>
                </a:solidFill>
                <a:latin typeface="Calibri" pitchFamily="34" charset="0"/>
                <a:ea typeface="Calibri" pitchFamily="34" charset="-122"/>
                <a:cs typeface="Calibri" pitchFamily="34" charset="-120"/>
              </a:rPr>
              <a:t xml:space="preserve">So the full sense + ADC + lookup table is left justifying </a:t>
            </a:r>
            <a:r>
              <a:rPr lang="en-US" sz="1300" b="1" dirty="0">
                <a:solidFill>
                  <a:srgbClr val="000000"/>
                </a:solidFill>
                <a:latin typeface="Calibri" pitchFamily="34" charset="0"/>
                <a:ea typeface="Calibri" pitchFamily="34" charset="-122"/>
                <a:cs typeface="Calibri" pitchFamily="34" charset="-120"/>
              </a:rPr>
              <a:t xml:space="preserve">3.7 % of the total achievable gain</a:t>
            </a:r>
            <a:r>
              <a:rPr lang="en-US" sz="1300" dirty="0">
                <a:solidFill>
                  <a:srgbClr val="000000"/>
                </a:solidFill>
                <a:latin typeface="Calibri" pitchFamily="34" charset="0"/>
                <a:ea typeface="Calibri" pitchFamily="34" charset="-122"/>
                <a:cs typeface="Calibri" pitchFamily="34" charset="-120"/>
              </a:rPr>
              <a:t xml:space="preserve"> over a fixed word plus one comparator. Adaptation is 13.4 % of the gain; a single threshold takes 72 % of that.</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Every figure shares one baseline — the median control word that is safe at all four corners. The split does not rest on the weighting: swept over 106 overshoot weights, (A) stays </a:t>
            </a:r>
            <a:r>
              <a:rPr lang="en-US" sz="1200" b="1" dirty="0">
                <a:solidFill>
                  <a:srgbClr val="000000"/>
                </a:solidFill>
                <a:latin typeface="Calibri" pitchFamily="34" charset="0"/>
                <a:ea typeface="Calibri" pitchFamily="34" charset="-122"/>
                <a:cs typeface="Calibri" pitchFamily="34" charset="-120"/>
              </a:rPr>
              <a:t xml:space="preserve">23.4–29.0 %</a:t>
            </a:r>
            <a:r>
              <a:rPr lang="en-US" sz="1200" dirty="0">
                <a:solidFill>
                  <a:srgbClr val="000000"/>
                </a:solidFill>
                <a:latin typeface="Calibri" pitchFamily="34" charset="0"/>
                <a:ea typeface="Calibri" pitchFamily="34" charset="-122"/>
                <a:cs typeface="Calibri" pitchFamily="34" charset="-120"/>
              </a:rPr>
              <a:t xml:space="preserve"> and (B) </a:t>
            </a:r>
            <a:r>
              <a:rPr lang="en-US" sz="1200" b="1" dirty="0">
                <a:solidFill>
                  <a:srgbClr val="000000"/>
                </a:solidFill>
                <a:latin typeface="Calibri" pitchFamily="34" charset="0"/>
                <a:ea typeface="Calibri" pitchFamily="34" charset="-122"/>
                <a:cs typeface="Calibri" pitchFamily="34" charset="-120"/>
              </a:rPr>
              <a:t xml:space="preserve">1.3–6.4 %</a:t>
            </a:r>
            <a:r>
              <a:rPr lang="en-US" sz="1200" dirty="0">
                <a:solidFill>
                  <a:srgbClr val="000000"/>
                </a:solidFill>
                <a:latin typeface="Calibri" pitchFamily="34" charset="0"/>
                <a:ea typeface="Calibri" pitchFamily="34" charset="-122"/>
                <a:cs typeface="Calibri" pitchFamily="34" charset="-120"/>
              </a:rPr>
              <a:t xml:space="preserve"> — and (A) exceeds (B) at </a:t>
            </a:r>
            <a:r>
              <a:rPr lang="en-US" sz="1200" b="1" dirty="0">
                <a:solidFill>
                  <a:srgbClr val="000000"/>
                </a:solidFill>
                <a:latin typeface="Calibri" pitchFamily="34" charset="0"/>
                <a:ea typeface="Calibri" pitchFamily="34" charset="-122"/>
                <a:cs typeface="Calibri" pitchFamily="34" charset="-120"/>
              </a:rPr>
              <a:t xml:space="preserve">every</a:t>
            </a:r>
            <a:r>
              <a:rPr lang="en-US" sz="1200" dirty="0">
                <a:solidFill>
                  <a:srgbClr val="000000"/>
                </a:solidFill>
                <a:latin typeface="Calibri" pitchFamily="34" charset="0"/>
                <a:ea typeface="Calibri" pitchFamily="34" charset="-122"/>
                <a:cs typeface="Calibri" pitchFamily="34" charset="-120"/>
              </a:rPr>
              <a:t xml:space="preserve"> weight tested, out to 5.0. </a:t>
            </a:r>
            <a:r>
              <a:rPr lang="en-US" sz="1200" b="1" dirty="0">
                <a:solidFill>
                  <a:srgbClr val="000000"/>
                </a:solidFill>
                <a:latin typeface="Calibri" pitchFamily="34" charset="0"/>
                <a:ea typeface="Calibri" pitchFamily="34" charset="-122"/>
                <a:cs typeface="Calibri" pitchFamily="34" charset="-120"/>
              </a:rPr>
              <a:t xml:space="preserve">scripts/novelty.py</a:t>
            </a:r>
            <a:r>
              <a:rPr lang="en-US" sz="1200" dirty="0">
                <a:solidFill>
                  <a:srgbClr val="000000"/>
                </a:solidFill>
                <a:latin typeface="Calibri" pitchFamily="34" charset="0"/>
                <a:ea typeface="Calibri" pitchFamily="34" charset="-122"/>
                <a:cs typeface="Calibri" pitchFamily="34" charset="-120"/>
              </a:rPr>
              <a:t xml:space="preserve">, </a:t>
            </a:r>
            <a:r>
              <a:rPr lang="en-US" sz="1200" b="1" dirty="0">
                <a:solidFill>
                  <a:srgbClr val="000000"/>
                </a:solidFill>
                <a:latin typeface="Calibri" pitchFamily="34" charset="0"/>
                <a:ea typeface="Calibri" pitchFamily="34" charset="-122"/>
                <a:cs typeface="Calibri" pitchFamily="34" charset="-120"/>
              </a:rPr>
              <a:t xml:space="preserve">scripts/weight_sensitivity.py</a:t>
            </a:r>
            <a:r>
              <a:rPr lang="en-US" sz="1200" dirty="0">
                <a:solidFill>
                  <a:srgbClr val="000000"/>
                </a:solidFill>
                <a:latin typeface="Calibri" pitchFamily="34" charset="0"/>
                <a:ea typeface="Calibri" pitchFamily="34" charset="-122"/>
                <a:cs typeface="Calibri" pitchFamily="34" charset="-120"/>
              </a:rPr>
              <a:t xml:space="preserv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4 — adaptive pays below ~2.5 nH</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_lloop.png"/>
          <p:cNvPicPr>
            <a:picLocks noChangeAspect="1"/>
          </p:cNvPicPr>
          <p:nvPr/>
        </p:nvPicPr>
        <p:blipFill>
          <a:blip r:embed="rId4"/>
          <a:stretch>
            <a:fillRect/>
          </a:stretch>
        </p:blipFill>
        <p:spPr>
          <a:xfrm>
            <a:off x="1938528" y="1234440"/>
            <a:ext cx="8311896" cy="4478392"/>
          </a:xfrm>
          <a:prstGeom prst="rect">
            <a:avLst/>
          </a:prstGeom>
        </p:spPr>
      </p:pic>
      <p:sp>
        <p:nvSpPr>
          <p:cNvPr id="6" name="TextBox 5"/>
          <p:cNvSpPr txBox="1"/>
          <p:nvPr/>
        </p:nvSpPr>
        <p:spPr>
          <a:xfrm>
            <a:off x="640080" y="5815584"/>
            <a:ext cx="10881360" cy="64008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Eight inductances, 7,200 transients. The answer is a </a:t>
            </a:r>
            <a:r>
              <a:rPr lang="en-US" sz="1200" b="1" dirty="0">
                <a:solidFill>
                  <a:srgbClr val="000000"/>
                </a:solidFill>
                <a:latin typeface="Calibri" pitchFamily="34" charset="0"/>
                <a:ea typeface="Calibri" pitchFamily="34" charset="-122"/>
                <a:cs typeface="Calibri" pitchFamily="34" charset="-120"/>
              </a:rPr>
              <a:t xml:space="preserve">band</a:t>
            </a:r>
            <a:r>
              <a:rPr lang="en-US" sz="1200" dirty="0">
                <a:solidFill>
                  <a:srgbClr val="000000"/>
                </a:solidFill>
                <a:latin typeface="Calibri" pitchFamily="34" charset="0"/>
                <a:ea typeface="Calibri" pitchFamily="34" charset="-122"/>
                <a:cs typeface="Calibri" pitchFamily="34" charset="-120"/>
              </a:rPr>
              <a:t xml:space="preserve">, not a threshold: adaptive control pays only from about 2.5 nH down, peaking at 13.5 % at 1.5 nH, and it falls back to 8.1 % at 1.0 nH because only 165 of 720 words stay safe there — below ~2 nH feasibility binds, not optimisation. </a:t>
            </a:r>
            <a:r>
              <a:rPr lang="en-US" sz="1200" b="1" dirty="0">
                <a:solidFill>
                  <a:srgbClr val="000000"/>
                </a:solidFill>
                <a:latin typeface="Calibri" pitchFamily="34" charset="0"/>
                <a:ea typeface="Calibri" pitchFamily="34" charset="-122"/>
                <a:cs typeface="Calibri" pitchFamily="34" charset="-120"/>
              </a:rPr>
              <a:t xml:space="preserve">A designer measures their loop and reads off the decision</a:t>
            </a:r>
            <a:r>
              <a:rPr lang="en-US" sz="1200" dirty="0">
                <a:solidFill>
                  <a:srgbClr val="000000"/>
                </a:solidFill>
                <a:latin typeface="Calibri" pitchFamily="34" charset="0"/>
                <a:ea typeface="Calibri" pitchFamily="34" charset="-122"/>
                <a:cs typeface="Calibri" pitchFamily="34" charset="-120"/>
              </a:rPr>
              <a:t xml:space="preserve"> — a trade-off the literature does not state.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Backup — the device doesn’t move it; layout does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325880"/>
            <a:ext cx="347472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Perturbation</a:t>
            </a:r>
          </a:p>
        </p:txBody>
      </p:sp>
      <p:sp>
        <p:nvSpPr>
          <p:cNvPr id="6" name="TextBox 5"/>
          <p:cNvSpPr txBox="1"/>
          <p:nvPr/>
        </p:nvSpPr>
        <p:spPr>
          <a:xfrm>
            <a:off x="4160520" y="1325880"/>
            <a:ext cx="100584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Ceiling</a:t>
            </a:r>
          </a:p>
        </p:txBody>
      </p:sp>
      <p:sp>
        <p:nvSpPr>
          <p:cNvPr id="7" name="TextBox 6"/>
          <p:cNvSpPr txBox="1"/>
          <p:nvPr/>
        </p:nvSpPr>
        <p:spPr>
          <a:xfrm>
            <a:off x="5257800" y="1325880"/>
            <a:ext cx="1097280" cy="27432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vs nom.</a:t>
            </a:r>
          </a:p>
        </p:txBody>
      </p:sp>
      <p:sp>
        <p:nvSpPr>
          <p:cNvPr id="8" name="TextBox 7"/>
          <p:cNvSpPr txBox="1"/>
          <p:nvPr/>
        </p:nvSpPr>
        <p:spPr>
          <a:xfrm>
            <a:off x="640080" y="1719072"/>
            <a:ext cx="347472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Loop inductance −50 %  (1.5 nH)</a:t>
            </a:r>
          </a:p>
        </p:txBody>
      </p:sp>
      <p:sp>
        <p:nvSpPr>
          <p:cNvPr id="9" name="TextBox 8"/>
          <p:cNvSpPr txBox="1"/>
          <p:nvPr/>
        </p:nvSpPr>
        <p:spPr>
          <a:xfrm>
            <a:off x="4160520" y="1719072"/>
            <a:ext cx="100584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13.54 %</a:t>
            </a:r>
          </a:p>
        </p:txBody>
      </p:sp>
      <p:sp>
        <p:nvSpPr>
          <p:cNvPr id="10" name="TextBox 9"/>
          <p:cNvSpPr txBox="1"/>
          <p:nvPr/>
        </p:nvSpPr>
        <p:spPr>
          <a:xfrm>
            <a:off x="5257800" y="1719072"/>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+7.59</a:t>
            </a:r>
          </a:p>
        </p:txBody>
      </p:sp>
      <p:sp>
        <p:nvSpPr>
          <p:cNvPr id="11" name="TextBox 10"/>
          <p:cNvSpPr txBox="1"/>
          <p:nvPr/>
        </p:nvSpPr>
        <p:spPr>
          <a:xfrm>
            <a:off x="640080" y="2025395"/>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Input capacitance +30 %</a:t>
            </a:r>
          </a:p>
        </p:txBody>
      </p:sp>
      <p:sp>
        <p:nvSpPr>
          <p:cNvPr id="12" name="TextBox 11"/>
          <p:cNvSpPr txBox="1"/>
          <p:nvPr/>
        </p:nvSpPr>
        <p:spPr>
          <a:xfrm>
            <a:off x="4160520" y="2025395"/>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7.71 %</a:t>
            </a:r>
          </a:p>
        </p:txBody>
      </p:sp>
      <p:sp>
        <p:nvSpPr>
          <p:cNvPr id="13" name="TextBox 12"/>
          <p:cNvSpPr txBox="1"/>
          <p:nvPr/>
        </p:nvSpPr>
        <p:spPr>
          <a:xfrm>
            <a:off x="5257800" y="2025395"/>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+1.76</a:t>
            </a:r>
          </a:p>
        </p:txBody>
      </p:sp>
      <p:sp>
        <p:nvSpPr>
          <p:cNvPr id="14" name="TextBox 13"/>
          <p:cNvSpPr txBox="1"/>
          <p:nvPr/>
        </p:nvSpPr>
        <p:spPr>
          <a:xfrm>
            <a:off x="640080" y="2331720"/>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Miller capacitance −50 %</a:t>
            </a:r>
          </a:p>
        </p:txBody>
      </p:sp>
      <p:sp>
        <p:nvSpPr>
          <p:cNvPr id="15" name="TextBox 14"/>
          <p:cNvSpPr txBox="1"/>
          <p:nvPr/>
        </p:nvSpPr>
        <p:spPr>
          <a:xfrm>
            <a:off x="4160520" y="2331720"/>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6.93 %</a:t>
            </a:r>
          </a:p>
        </p:txBody>
      </p:sp>
      <p:sp>
        <p:nvSpPr>
          <p:cNvPr id="16" name="TextBox 15"/>
          <p:cNvSpPr txBox="1"/>
          <p:nvPr/>
        </p:nvSpPr>
        <p:spPr>
          <a:xfrm>
            <a:off x="5257800" y="2331720"/>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+0.99</a:t>
            </a:r>
          </a:p>
        </p:txBody>
      </p:sp>
      <p:sp>
        <p:nvSpPr>
          <p:cNvPr id="17" name="TextBox 16"/>
          <p:cNvSpPr txBox="1"/>
          <p:nvPr/>
        </p:nvSpPr>
        <p:spPr>
          <a:xfrm>
            <a:off x="640080" y="2638044"/>
            <a:ext cx="347472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nominal</a:t>
            </a:r>
          </a:p>
        </p:txBody>
      </p:sp>
      <p:sp>
        <p:nvSpPr>
          <p:cNvPr id="18" name="TextBox 17"/>
          <p:cNvSpPr txBox="1"/>
          <p:nvPr/>
        </p:nvSpPr>
        <p:spPr>
          <a:xfrm>
            <a:off x="4160520" y="2638044"/>
            <a:ext cx="100584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5.95 %</a:t>
            </a:r>
          </a:p>
        </p:txBody>
      </p:sp>
      <p:sp>
        <p:nvSpPr>
          <p:cNvPr id="19" name="TextBox 18"/>
          <p:cNvSpPr txBox="1"/>
          <p:nvPr/>
        </p:nvSpPr>
        <p:spPr>
          <a:xfrm>
            <a:off x="5257800" y="2638044"/>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a:t>
            </a:r>
          </a:p>
        </p:txBody>
      </p:sp>
      <p:sp>
        <p:nvSpPr>
          <p:cNvPr id="20" name="TextBox 19"/>
          <p:cNvSpPr txBox="1"/>
          <p:nvPr/>
        </p:nvSpPr>
        <p:spPr>
          <a:xfrm>
            <a:off x="640080" y="2944368"/>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Threshold −20 %</a:t>
            </a:r>
          </a:p>
        </p:txBody>
      </p:sp>
      <p:sp>
        <p:nvSpPr>
          <p:cNvPr id="21" name="TextBox 20"/>
          <p:cNvSpPr txBox="1"/>
          <p:nvPr/>
        </p:nvSpPr>
        <p:spPr>
          <a:xfrm>
            <a:off x="4160520" y="2944368"/>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5.64 %</a:t>
            </a:r>
          </a:p>
        </p:txBody>
      </p:sp>
      <p:sp>
        <p:nvSpPr>
          <p:cNvPr id="22" name="TextBox 21"/>
          <p:cNvSpPr txBox="1"/>
          <p:nvPr/>
        </p:nvSpPr>
        <p:spPr>
          <a:xfrm>
            <a:off x="5257800" y="2944368"/>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−0.31</a:t>
            </a:r>
          </a:p>
        </p:txBody>
      </p:sp>
      <p:sp>
        <p:nvSpPr>
          <p:cNvPr id="23" name="TextBox 22"/>
          <p:cNvSpPr txBox="1"/>
          <p:nvPr/>
        </p:nvSpPr>
        <p:spPr>
          <a:xfrm>
            <a:off x="640080" y="3250691"/>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Transconductance +30 %</a:t>
            </a:r>
          </a:p>
        </p:txBody>
      </p:sp>
      <p:sp>
        <p:nvSpPr>
          <p:cNvPr id="24" name="TextBox 23"/>
          <p:cNvSpPr txBox="1"/>
          <p:nvPr/>
        </p:nvSpPr>
        <p:spPr>
          <a:xfrm>
            <a:off x="4160520" y="3250691"/>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5.08 %</a:t>
            </a:r>
          </a:p>
        </p:txBody>
      </p:sp>
      <p:sp>
        <p:nvSpPr>
          <p:cNvPr id="25" name="TextBox 24"/>
          <p:cNvSpPr txBox="1"/>
          <p:nvPr/>
        </p:nvSpPr>
        <p:spPr>
          <a:xfrm>
            <a:off x="5257800" y="3250691"/>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−0.87</a:t>
            </a:r>
          </a:p>
        </p:txBody>
      </p:sp>
      <p:sp>
        <p:nvSpPr>
          <p:cNvPr id="26" name="TextBox 25"/>
          <p:cNvSpPr txBox="1"/>
          <p:nvPr/>
        </p:nvSpPr>
        <p:spPr>
          <a:xfrm>
            <a:off x="640080" y="3557015"/>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Threshold +20 %</a:t>
            </a:r>
          </a:p>
        </p:txBody>
      </p:sp>
      <p:sp>
        <p:nvSpPr>
          <p:cNvPr id="27" name="TextBox 26"/>
          <p:cNvSpPr txBox="1"/>
          <p:nvPr/>
        </p:nvSpPr>
        <p:spPr>
          <a:xfrm>
            <a:off x="4160520" y="3557015"/>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4.90 %</a:t>
            </a:r>
          </a:p>
        </p:txBody>
      </p:sp>
      <p:sp>
        <p:nvSpPr>
          <p:cNvPr id="28" name="TextBox 27"/>
          <p:cNvSpPr txBox="1"/>
          <p:nvPr/>
        </p:nvSpPr>
        <p:spPr>
          <a:xfrm>
            <a:off x="5257800" y="3557015"/>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−1.05</a:t>
            </a:r>
          </a:p>
        </p:txBody>
      </p:sp>
      <p:sp>
        <p:nvSpPr>
          <p:cNvPr id="29" name="TextBox 28"/>
          <p:cNvSpPr txBox="1"/>
          <p:nvPr/>
        </p:nvSpPr>
        <p:spPr>
          <a:xfrm>
            <a:off x="640080" y="3863339"/>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Input capacitance −30 %</a:t>
            </a:r>
          </a:p>
        </p:txBody>
      </p:sp>
      <p:sp>
        <p:nvSpPr>
          <p:cNvPr id="30" name="TextBox 29"/>
          <p:cNvSpPr txBox="1"/>
          <p:nvPr/>
        </p:nvSpPr>
        <p:spPr>
          <a:xfrm>
            <a:off x="4160520" y="3863339"/>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4.76 %</a:t>
            </a:r>
          </a:p>
        </p:txBody>
      </p:sp>
      <p:sp>
        <p:nvSpPr>
          <p:cNvPr id="31" name="TextBox 30"/>
          <p:cNvSpPr txBox="1"/>
          <p:nvPr/>
        </p:nvSpPr>
        <p:spPr>
          <a:xfrm>
            <a:off x="5257800" y="3863339"/>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−1.19</a:t>
            </a:r>
          </a:p>
        </p:txBody>
      </p:sp>
      <p:sp>
        <p:nvSpPr>
          <p:cNvPr id="32" name="TextBox 31"/>
          <p:cNvSpPr txBox="1"/>
          <p:nvPr/>
        </p:nvSpPr>
        <p:spPr>
          <a:xfrm>
            <a:off x="640080" y="4169663"/>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Transconductance −30 %</a:t>
            </a:r>
          </a:p>
        </p:txBody>
      </p:sp>
      <p:sp>
        <p:nvSpPr>
          <p:cNvPr id="33" name="TextBox 32"/>
          <p:cNvSpPr txBox="1"/>
          <p:nvPr/>
        </p:nvSpPr>
        <p:spPr>
          <a:xfrm>
            <a:off x="4160520" y="4169663"/>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4.45 %</a:t>
            </a:r>
          </a:p>
        </p:txBody>
      </p:sp>
      <p:sp>
        <p:nvSpPr>
          <p:cNvPr id="34" name="TextBox 33"/>
          <p:cNvSpPr txBox="1"/>
          <p:nvPr/>
        </p:nvSpPr>
        <p:spPr>
          <a:xfrm>
            <a:off x="5257800" y="4169663"/>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−1.49</a:t>
            </a:r>
          </a:p>
        </p:txBody>
      </p:sp>
      <p:sp>
        <p:nvSpPr>
          <p:cNvPr id="35" name="TextBox 34"/>
          <p:cNvSpPr txBox="1"/>
          <p:nvPr/>
        </p:nvSpPr>
        <p:spPr>
          <a:xfrm>
            <a:off x="640080" y="4475988"/>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Miller capacitance +50 %</a:t>
            </a:r>
          </a:p>
        </p:txBody>
      </p:sp>
      <p:sp>
        <p:nvSpPr>
          <p:cNvPr id="36" name="TextBox 35"/>
          <p:cNvSpPr txBox="1"/>
          <p:nvPr/>
        </p:nvSpPr>
        <p:spPr>
          <a:xfrm>
            <a:off x="4160520" y="4475988"/>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4.32 %</a:t>
            </a:r>
          </a:p>
        </p:txBody>
      </p:sp>
      <p:sp>
        <p:nvSpPr>
          <p:cNvPr id="37" name="TextBox 36"/>
          <p:cNvSpPr txBox="1"/>
          <p:nvPr/>
        </p:nvSpPr>
        <p:spPr>
          <a:xfrm>
            <a:off x="5257800" y="4475988"/>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−1.63</a:t>
            </a:r>
          </a:p>
        </p:txBody>
      </p:sp>
      <p:sp>
        <p:nvSpPr>
          <p:cNvPr id="38" name="TextBox 37"/>
          <p:cNvSpPr txBox="1"/>
          <p:nvPr/>
        </p:nvSpPr>
        <p:spPr>
          <a:xfrm>
            <a:off x="640080" y="4782312"/>
            <a:ext cx="347472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Loop inductance +50 %  (4.5 nH)</a:t>
            </a:r>
          </a:p>
        </p:txBody>
      </p:sp>
      <p:sp>
        <p:nvSpPr>
          <p:cNvPr id="39" name="TextBox 38"/>
          <p:cNvSpPr txBox="1"/>
          <p:nvPr/>
        </p:nvSpPr>
        <p:spPr>
          <a:xfrm>
            <a:off x="4160520" y="4782312"/>
            <a:ext cx="100584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0.55 %</a:t>
            </a:r>
          </a:p>
        </p:txBody>
      </p:sp>
      <p:sp>
        <p:nvSpPr>
          <p:cNvPr id="40" name="TextBox 39"/>
          <p:cNvSpPr txBox="1"/>
          <p:nvPr/>
        </p:nvSpPr>
        <p:spPr>
          <a:xfrm>
            <a:off x="5257800" y="4782312"/>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−5.39</a:t>
            </a:r>
          </a:p>
        </p:txBody>
      </p:sp>
      <p:sp>
        <p:nvSpPr>
          <p:cNvPr id="41" name="TextBox 40"/>
          <p:cNvSpPr txBox="1"/>
          <p:nvPr/>
        </p:nvSpPr>
        <p:spPr>
          <a:xfrm>
            <a:off x="6903720" y="1325880"/>
            <a:ext cx="4617720" cy="54864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Robust to the device,</a:t>
            </a:r>
          </a:p>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conditional on the layout.</a:t>
            </a:r>
          </a:p>
        </p:txBody>
      </p:sp>
      <p:sp>
        <p:nvSpPr>
          <p:cNvPr id="42" name="TextBox 41"/>
          <p:cNvSpPr txBox="1"/>
          <p:nvPr/>
        </p:nvSpPr>
        <p:spPr>
          <a:xfrm>
            <a:off x="6903720" y="2057400"/>
            <a:ext cx="4617720" cy="4114800"/>
          </a:xfrm>
          <a:prstGeom prst="rect">
            <a:avLst/>
          </a:prstGeom>
          <a:noFill/>
        </p:spPr>
        <p:txBody>
          <a:bodyPr wrap="square" lIns="0" tIns="0" rIns="0" bIns="0">
            <a:spAutoFit/>
          </a:bodyPr>
          <a:lstStyle/>
          <a:p>
            <a:pPr marL="177800" indent="-177800">
              <a:spcAft>
                <a:spcPts val="20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21,600 transients</a:t>
            </a:r>
            <a:r>
              <a:rPr lang="en-US" sz="1300" dirty="0">
                <a:solidFill>
                  <a:srgbClr val="000000"/>
                </a:solidFill>
                <a:latin typeface="Calibri" pitchFamily="34" charset="0"/>
                <a:ea typeface="Calibri" pitchFamily="34" charset="-122"/>
                <a:cs typeface="Calibri" pitchFamily="34" charset="-120"/>
              </a:rPr>
              <a:t xml:space="preserve"> — a full 720-word search at two corners under each of eleven single-parameter perturbations. One failure.</a:t>
            </a:r>
          </a:p>
          <a:p>
            <a:pPr marL="177800" indent="-177800">
              <a:spcAft>
                <a:spcPts val="200"/>
              </a:spcAft>
              <a:buSzPct val="100000"/>
              <a:buChar char="•"/>
            </a:pPr>
            <a:r>
              <a:rPr lang="en-US" sz="1300" dirty="0">
                <a:solidFill>
                  <a:srgbClr val="000000"/>
                </a:solidFill>
                <a:latin typeface="Calibri" pitchFamily="34" charset="0"/>
                <a:ea typeface="Calibri" pitchFamily="34" charset="-122"/>
                <a:cs typeface="Calibri" pitchFamily="34" charset="-120"/>
              </a:rPr>
              <a:t xml:space="preserve">Every </a:t>
            </a:r>
            <a:r>
              <a:rPr lang="en-US" sz="1300" b="1" dirty="0">
                <a:solidFill>
                  <a:srgbClr val="000000"/>
                </a:solidFill>
                <a:latin typeface="Calibri" pitchFamily="34" charset="0"/>
                <a:ea typeface="Calibri" pitchFamily="34" charset="-122"/>
                <a:cs typeface="Calibri" pitchFamily="34" charset="-120"/>
              </a:rPr>
              <a:t xml:space="preserve">device</a:t>
            </a:r>
            <a:r>
              <a:rPr lang="en-US" sz="1300" dirty="0">
                <a:solidFill>
                  <a:srgbClr val="000000"/>
                </a:solidFill>
                <a:latin typeface="Calibri" pitchFamily="34" charset="0"/>
                <a:ea typeface="Calibri" pitchFamily="34" charset="-122"/>
                <a:cs typeface="Calibri" pitchFamily="34" charset="-120"/>
              </a:rPr>
              <a:t xml:space="preserve"> parameter leaves the ceiling between 4.3 % and 7.7 % — at most 1.76 points from nominal. The objection this study was built to answer is not supported.</a:t>
            </a:r>
          </a:p>
          <a:p>
            <a:pPr marL="177800" indent="-177800">
              <a:spcAft>
                <a:spcPts val="200"/>
              </a:spcAft>
              <a:buSzPct val="100000"/>
              <a:buChar char="•"/>
            </a:pPr>
            <a:r>
              <a:rPr lang="en-US" sz="1300" dirty="0">
                <a:solidFill>
                  <a:srgbClr val="000000"/>
                </a:solidFill>
                <a:latin typeface="Calibri" pitchFamily="34" charset="0"/>
                <a:ea typeface="Calibri" pitchFamily="34" charset="-122"/>
                <a:cs typeface="Calibri" pitchFamily="34" charset="-120"/>
              </a:rPr>
              <a:t xml:space="preserve">The one thing that moves it is </a:t>
            </a:r>
            <a:r>
              <a:rPr lang="en-US" sz="1300" b="1" dirty="0">
                <a:solidFill>
                  <a:srgbClr val="000000"/>
                </a:solidFill>
                <a:latin typeface="Calibri" pitchFamily="34" charset="0"/>
                <a:ea typeface="Calibri" pitchFamily="34" charset="-122"/>
                <a:cs typeface="Calibri" pitchFamily="34" charset="-120"/>
              </a:rPr>
              <a:t xml:space="preserve">loop inductance</a:t>
            </a:r>
            <a:r>
              <a:rPr lang="en-US" sz="1300" dirty="0">
                <a:solidFill>
                  <a:srgbClr val="000000"/>
                </a:solidFill>
                <a:latin typeface="Calibri" pitchFamily="34" charset="0"/>
                <a:ea typeface="Calibri" pitchFamily="34" charset="-122"/>
                <a:cs typeface="Calibri" pitchFamily="34" charset="-120"/>
              </a:rPr>
              <a:t xml:space="preserve">, which is board layout, not the transistor. A tighter loop commutates faster, so more charge couples through C</a:t>
            </a:r>
            <a:r>
              <a:rPr lang="en-US" sz="1300" dirty="0">
                <a:solidFill>
                  <a:srgbClr val="000000"/>
                </a:solidFill>
                <a:latin typeface="Calibri" pitchFamily="34" charset="0"/>
                <a:ea typeface="Calibri" pitchFamily="34" charset="-122"/>
                <a:cs typeface="Calibri" pitchFamily="34" charset="-120"/>
              </a:rPr>
              <a:t xml:space="preserve">GD</a:t>
            </a:r>
            <a:r>
              <a:rPr lang="en-US" sz="1300" dirty="0">
                <a:solidFill>
                  <a:srgbClr val="000000"/>
                </a:solidFill>
                <a:latin typeface="Calibri" pitchFamily="34" charset="0"/>
                <a:ea typeface="Calibri" pitchFamily="34" charset="-122"/>
                <a:cs typeface="Calibri" pitchFamily="34" charset="-120"/>
              </a:rPr>
              <a:t xml:space="preserve">: the median spurious gate voltage goes 0.640 V to 3.522 V and the feasible set collapses 474 → 158.</a:t>
            </a:r>
          </a:p>
          <a:p>
            <a:pPr marL="177800" indent="-177800">
              <a:spcAft>
                <a:spcPts val="200"/>
              </a:spcAft>
              <a:buSzPct val="100000"/>
              <a:buChar char="•"/>
            </a:pPr>
            <a:r>
              <a:rPr lang="en-US" sz="1300" dirty="0">
                <a:solidFill>
                  <a:srgbClr val="000000"/>
                </a:solidFill>
                <a:latin typeface="Calibri" pitchFamily="34" charset="0"/>
                <a:ea typeface="Calibri" pitchFamily="34" charset="-122"/>
                <a:cs typeface="Calibri" pitchFamily="34" charset="-120"/>
              </a:rPr>
              <a:t xml:space="preserve">So the claim is narrower and more useful than “robust”: from about 2.5 nH upward a fixed word is nearly as good; on a tighter loop the question has to be re-asked, and the answer there is not even monotonic — see slide 19.</a:t>
            </a:r>
          </a:p>
          <a:p>
            <a:pPr marL="177800" indent="-177800">
              <a:spcAft>
                <a:spcPts val="0"/>
              </a:spcAft>
              <a:buSzPct val="100000"/>
              <a:buChar char="•"/>
            </a:pPr>
            <a:r>
              <a:rPr lang="en-US" sz="1150" b="1" dirty="0">
                <a:solidFill>
                  <a:srgbClr val="000000"/>
                </a:solidFill>
                <a:latin typeface="Calibri" pitchFamily="34" charset="0"/>
                <a:ea typeface="Calibri" pitchFamily="34" charset="-122"/>
                <a:cs typeface="Calibri" pitchFamily="34" charset="-120"/>
              </a:rPr>
              <a:t xml:space="preserve">Baseline note. </a:t>
            </a:r>
            <a:r>
              <a:rPr lang="en-US" sz="1150" dirty="0">
                <a:solidFill>
                  <a:srgbClr val="000000"/>
                </a:solidFill>
                <a:latin typeface="Calibri" pitchFamily="34" charset="0"/>
                <a:ea typeface="Calibri" pitchFamily="34" charset="-122"/>
                <a:cs typeface="Calibri" pitchFamily="34" charset="-120"/>
              </a:rPr>
              <a:t xml:space="preserve">Nominal here is 5.95 %, not the 5.2 % headline — a two-corner search on its own sweep. Compare the </a:t>
            </a:r>
            <a:r>
              <a:rPr lang="en-US" sz="1150" b="1" dirty="0">
                <a:solidFill>
                  <a:srgbClr val="000000"/>
                </a:solidFill>
                <a:latin typeface="Calibri" pitchFamily="34" charset="0"/>
                <a:ea typeface="Calibri" pitchFamily="34" charset="-122"/>
                <a:cs typeface="Calibri" pitchFamily="34" charset="-120"/>
              </a:rPr>
              <a:t xml:space="preserve">vs nom.</a:t>
            </a:r>
            <a:r>
              <a:rPr lang="en-US" sz="1150" dirty="0">
                <a:solidFill>
                  <a:srgbClr val="000000"/>
                </a:solidFill>
                <a:latin typeface="Calibri" pitchFamily="34" charset="0"/>
                <a:ea typeface="Calibri" pitchFamily="34" charset="-122"/>
                <a:cs typeface="Calibri" pitchFamily="34" charset="-120"/>
              </a:rPr>
              <a:t xml:space="preserve"> column, not the absolute values.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demo_crosstalk_explained.mp4">
            <a:hlinkClick r:id="" action="ppaction://media"/>
          </p:cNvPr>
          <p:cNvPicPr>
            <a:picLocks noChangeAspect="1"/>
          </p:cNvPicPr>
          <p:nvPr>
            <a:videoFile r:link="rId4"/>
            <p:extLst>
              <p:ext uri="{DAA4B4D4-6D71-4841-9C94-3DE7FCFB9230}">
                <p14:media xmlns:p14="http://schemas.microsoft.com/office/powerpoint/2010/main" r:embed="rId2"/>
              </p:ext>
            </p:extLst>
          </p:nvPr>
        </p:nvPicPr>
        <p:blipFill>
          <a:blip r:embed="rId5"/>
          <a:stretch>
            <a:fillRect/>
          </a:stretch>
        </p:blipFill>
        <p:spPr>
          <a:xfrm>
            <a:off x="640080" y="1417320"/>
            <a:ext cx="6949440" cy="4050791"/>
          </a:xfrm>
          <a:prstGeom prst="rect">
            <a:avLst/>
          </a:prstGeom>
        </p:spPr>
      </p:pic>
      <p:sp>
        <p:nvSpPr>
          <p:cNvPr id="6" name="TextBox 5"/>
          <p:cNvSpPr txBox="1"/>
          <p:nvPr/>
        </p:nvSpPr>
        <p:spPr>
          <a:xfrm>
            <a:off x="640080" y="5623560"/>
            <a:ext cx="6949440" cy="36576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Click to play (22 s). Real ngspice waveforms from sim/dpt.cir, run twice — only the pacing and the captions are presentational.</a:t>
            </a:r>
          </a:p>
        </p:txBody>
      </p:sp>
      <p:sp>
        <p:nvSpPr>
          <p:cNvPr id="7" name="TextBox 6"/>
          <p:cNvSpPr txBox="1"/>
          <p:nvPr/>
        </p:nvSpPr>
        <p:spPr>
          <a:xfrm>
            <a:off x="7909560" y="1417320"/>
            <a:ext cx="3611880" cy="4206240"/>
          </a:xfrm>
          <a:prstGeom prst="rect">
            <a:avLst/>
          </a:prstGeom>
          <a:noFill/>
        </p:spPr>
        <p:txBody>
          <a:bodyPr wrap="square" lIns="0" tIns="0" rIns="0" bIns="0">
            <a:spAutoFit/>
          </a:bodyPr>
          <a:lstStyle/>
          <a:p>
            <a:pPr marL="177800" indent="0">
              <a:spcAft>
                <a:spcPts val="240"/>
              </a:spcAft>
              <a:buSzPct val="100000"/>
              <a:buNone/>
            </a:pPr>
            <a:r>
              <a:rPr lang="en-US" sz="1500" b="1" dirty="0">
                <a:solidFill>
                  <a:srgbClr val="000000"/>
                </a:solidFill>
                <a:latin typeface="Calibri" pitchFamily="34" charset="0"/>
                <a:ea typeface="Calibri" pitchFamily="34" charset="-122"/>
                <a:cs typeface="Calibri" pitchFamily="34" charset="-120"/>
              </a:rPr>
              <a:t xml:space="preserve">What it shows</a:t>
            </a:r>
          </a:p>
          <a:p>
            <a:pPr marL="177800" indent="-177800">
              <a:spcAft>
                <a:spcPts val="170"/>
              </a:spcAft>
              <a:buSzPct val="100000"/>
              <a:buChar char="•"/>
            </a:pPr>
            <a:r>
              <a:rPr lang="en-US" sz="1250" dirty="0">
                <a:solidFill>
                  <a:srgbClr val="000000"/>
                </a:solidFill>
                <a:latin typeface="Calibri" pitchFamily="34" charset="0"/>
                <a:ea typeface="Calibri" pitchFamily="34" charset="-122"/>
                <a:cs typeface="Calibri" pitchFamily="34" charset="-120"/>
              </a:rPr>
              <a:t xml:space="preserve">TOP row: the switch node. The low-side device turns on and V(sw) collapses from 100 V in a few nanoseconds. That slew is the cause.</a:t>
            </a:r>
          </a:p>
          <a:p>
            <a:pPr marL="177800" indent="-177800">
              <a:spcAft>
                <a:spcPts val="170"/>
              </a:spcAft>
              <a:buSzPct val="100000"/>
              <a:buChar char="•"/>
            </a:pPr>
            <a:r>
              <a:rPr lang="en-US" sz="1250" dirty="0">
                <a:solidFill>
                  <a:srgbClr val="000000"/>
                </a:solidFill>
                <a:latin typeface="Calibri" pitchFamily="34" charset="0"/>
                <a:ea typeface="Calibri" pitchFamily="34" charset="-122"/>
                <a:cs typeface="Calibri" pitchFamily="34" charset="-120"/>
              </a:rPr>
              <a:t xml:space="preserve">BOTTOM row: the OFF device's gate. The dV/dt couples through C</a:t>
            </a:r>
            <a:r>
              <a:rPr lang="en-US" sz="1250" dirty="0">
                <a:solidFill>
                  <a:srgbClr val="000000"/>
                </a:solidFill>
                <a:latin typeface="Calibri" pitchFamily="34" charset="0"/>
                <a:ea typeface="Calibri" pitchFamily="34" charset="-122"/>
                <a:cs typeface="Calibri" pitchFamily="34" charset="-120"/>
              </a:rPr>
              <a:t xml:space="preserve">GD</a:t>
            </a:r>
            <a:r>
              <a:rPr lang="en-US" sz="1250" dirty="0">
                <a:solidFill>
                  <a:srgbClr val="000000"/>
                </a:solidFill>
                <a:latin typeface="Calibri" pitchFamily="34" charset="0"/>
                <a:ea typeface="Calibri" pitchFamily="34" charset="-122"/>
                <a:cs typeface="Calibri" pitchFamily="34" charset="-120"/>
              </a:rPr>
              <a:t xml:space="preserve"> and lifts it.</a:t>
            </a:r>
          </a:p>
          <a:p>
            <a:pPr marL="177800" indent="-177800">
              <a:spcAft>
                <a:spcPts val="170"/>
              </a:spcAft>
              <a:buSzPct val="100000"/>
              <a:buChar char="•"/>
            </a:pPr>
            <a:r>
              <a:rPr lang="en-US" sz="1250" dirty="0">
                <a:solidFill>
                  <a:srgbClr val="000000"/>
                </a:solidFill>
                <a:latin typeface="Calibri" pitchFamily="34" charset="0"/>
                <a:ea typeface="Calibri" pitchFamily="34" charset="-122"/>
                <a:cs typeface="Calibri" pitchFamily="34" charset="-120"/>
              </a:rPr>
              <a:t xml:space="preserve">LEFT, failing: the gate reaches </a:t>
            </a:r>
            <a:r>
              <a:rPr lang="en-US" sz="1250" b="1" dirty="0">
                <a:solidFill>
                  <a:srgbClr val="000000"/>
                </a:solidFill>
                <a:latin typeface="Calibri" pitchFamily="34" charset="0"/>
                <a:ea typeface="Calibri" pitchFamily="34" charset="-122"/>
                <a:cs typeface="Calibri" pitchFamily="34" charset="-120"/>
              </a:rPr>
              <a:t xml:space="preserve">+1.65 V</a:t>
            </a:r>
            <a:r>
              <a:rPr lang="en-US" sz="1250" dirty="0">
                <a:solidFill>
                  <a:srgbClr val="000000"/>
                </a:solidFill>
                <a:latin typeface="Calibri" pitchFamily="34" charset="0"/>
                <a:ea typeface="Calibri" pitchFamily="34" charset="-122"/>
                <a:cs typeface="Calibri" pitchFamily="34" charset="-120"/>
              </a:rPr>
              <a:t xml:space="preserve"> — above the 1.4 V threshold drawn on the plot. The device turns on when it must not.</a:t>
            </a:r>
          </a:p>
          <a:p>
            <a:pPr marL="177800" indent="-177800">
              <a:spcAft>
                <a:spcPts val="170"/>
              </a:spcAft>
              <a:buSzPct val="100000"/>
              <a:buChar char="•"/>
            </a:pPr>
            <a:r>
              <a:rPr lang="en-US" sz="1250" dirty="0">
                <a:solidFill>
                  <a:srgbClr val="000000"/>
                </a:solidFill>
                <a:latin typeface="Calibri" pitchFamily="34" charset="0"/>
                <a:ea typeface="Calibri" pitchFamily="34" charset="-122"/>
                <a:cs typeface="Calibri" pitchFamily="34" charset="-120"/>
              </a:rPr>
              <a:t xml:space="preserve">RIGHT, shipped: same circuit, same word, plus the Miller clamp and −2 V off-bias. Peak </a:t>
            </a:r>
            <a:r>
              <a:rPr lang="en-US" sz="1250" b="1" dirty="0">
                <a:solidFill>
                  <a:srgbClr val="000000"/>
                </a:solidFill>
                <a:latin typeface="Calibri" pitchFamily="34" charset="0"/>
                <a:ea typeface="Calibri" pitchFamily="34" charset="-122"/>
                <a:cs typeface="Calibri" pitchFamily="34" charset="-120"/>
              </a:rPr>
              <a:t xml:space="preserve">−1.18 V</a:t>
            </a:r>
            <a:r>
              <a:rPr lang="en-US" sz="1250" dirty="0">
                <a:solidFill>
                  <a:srgbClr val="000000"/>
                </a:solidFill>
                <a:latin typeface="Calibri" pitchFamily="34" charset="0"/>
                <a:ea typeface="Calibri" pitchFamily="34" charset="-122"/>
                <a:cs typeface="Calibri" pitchFamily="34" charset="-120"/>
              </a:rPr>
              <a:t xml:space="preserve">, a 2.58 V margin.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Both panels are the same simulation deck; only CLKEN and VNEG differ.</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the numbers hold</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554480"/>
            <a:ext cx="5257800" cy="1828800"/>
          </a:xfrm>
          <a:prstGeom prst="rect">
            <a:avLst/>
          </a:prstGeom>
          <a:noFill/>
        </p:spPr>
        <p:txBody>
          <a:bodyPr wrap="square" lIns="0" tIns="0" rIns="0" bIns="0">
            <a:spAutoFit/>
          </a:bodyPr>
          <a:lstStyle/>
          <a:p>
            <a:pPr marL="177800" indent="0">
              <a:spcAft>
                <a:spcPts val="120"/>
              </a:spcAft>
              <a:buSzPct val="100000"/>
              <a:buNone/>
            </a:pPr>
            <a:r>
              <a:rPr lang="en-US" sz="4000" b="1" dirty="0">
                <a:solidFill>
                  <a:srgbClr val="000000"/>
                </a:solidFill>
                <a:latin typeface="Calibri" pitchFamily="34" charset="0"/>
                <a:ea typeface="Calibri" pitchFamily="34" charset="-122"/>
                <a:cs typeface="Calibri" pitchFamily="34" charset="-120"/>
              </a:rPr>
              <a:t xml:space="preserve">34,622</a:t>
            </a:r>
          </a:p>
          <a:p>
            <a:pPr marL="177800" indent="0">
              <a:spcAft>
                <a:spcPts val="100"/>
              </a:spcAft>
              <a:buSzPct val="100000"/>
              <a:buNone/>
            </a:pPr>
            <a:r>
              <a:rPr lang="en-US" sz="1500" b="1" dirty="0">
                <a:solidFill>
                  <a:srgbClr val="000000"/>
                </a:solidFill>
                <a:latin typeface="Calibri" pitchFamily="34" charset="0"/>
                <a:ea typeface="Calibri" pitchFamily="34" charset="-122"/>
                <a:cs typeface="Calibri" pitchFamily="34" charset="-120"/>
              </a:rPr>
              <a:t xml:space="preserve">transient simulations</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Every sweep, corner study, robustness run, loop-inductance and EMI sweep, start to finish.</a:t>
            </a:r>
          </a:p>
        </p:txBody>
      </p:sp>
      <p:sp>
        <p:nvSpPr>
          <p:cNvPr id="6" name="TextBox 5"/>
          <p:cNvSpPr txBox="1"/>
          <p:nvPr/>
        </p:nvSpPr>
        <p:spPr>
          <a:xfrm>
            <a:off x="6263640" y="1554480"/>
            <a:ext cx="5257800" cy="1828800"/>
          </a:xfrm>
          <a:prstGeom prst="rect">
            <a:avLst/>
          </a:prstGeom>
          <a:noFill/>
        </p:spPr>
        <p:txBody>
          <a:bodyPr wrap="square" lIns="0" tIns="0" rIns="0" bIns="0">
            <a:spAutoFit/>
          </a:bodyPr>
          <a:lstStyle/>
          <a:p>
            <a:pPr marL="177800" indent="0">
              <a:spcAft>
                <a:spcPts val="120"/>
              </a:spcAft>
              <a:buSzPct val="100000"/>
              <a:buNone/>
            </a:pPr>
            <a:r>
              <a:rPr lang="en-US" sz="4000" b="1" dirty="0">
                <a:solidFill>
                  <a:srgbClr val="000000"/>
                </a:solidFill>
                <a:latin typeface="Calibri" pitchFamily="34" charset="0"/>
                <a:ea typeface="Calibri" pitchFamily="34" charset="-122"/>
                <a:cs typeface="Calibri" pitchFamily="34" charset="-120"/>
              </a:rPr>
              <a:t xml:space="preserve">720</a:t>
            </a:r>
          </a:p>
          <a:p>
            <a:pPr marL="177800" indent="0">
              <a:spcAft>
                <a:spcPts val="100"/>
              </a:spcAft>
              <a:buSzPct val="100000"/>
              <a:buNone/>
            </a:pPr>
            <a:r>
              <a:rPr lang="en-US" sz="1500" b="1" dirty="0">
                <a:solidFill>
                  <a:srgbClr val="000000"/>
                </a:solidFill>
                <a:latin typeface="Calibri" pitchFamily="34" charset="0"/>
                <a:ea typeface="Calibri" pitchFamily="34" charset="-122"/>
                <a:cs typeface="Calibri" pitchFamily="34" charset="-120"/>
              </a:rPr>
              <a:t xml:space="preserve">control words, searched in full</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At every corner — so each per-corner optimum is a true optimum, not the best of a shortlist.</a:t>
            </a:r>
          </a:p>
        </p:txBody>
      </p:sp>
      <p:sp>
        <p:nvSpPr>
          <p:cNvPr id="7" name="TextBox 6"/>
          <p:cNvSpPr txBox="1"/>
          <p:nvPr/>
        </p:nvSpPr>
        <p:spPr>
          <a:xfrm>
            <a:off x="640080" y="3703320"/>
            <a:ext cx="5257800" cy="1828800"/>
          </a:xfrm>
          <a:prstGeom prst="rect">
            <a:avLst/>
          </a:prstGeom>
          <a:noFill/>
        </p:spPr>
        <p:txBody>
          <a:bodyPr wrap="square" lIns="0" tIns="0" rIns="0" bIns="0">
            <a:spAutoFit/>
          </a:bodyPr>
          <a:lstStyle/>
          <a:p>
            <a:pPr marL="177800" indent="0">
              <a:spcAft>
                <a:spcPts val="120"/>
              </a:spcAft>
              <a:buSzPct val="100000"/>
              <a:buNone/>
            </a:pPr>
            <a:r>
              <a:rPr lang="en-US" sz="4000" b="1" dirty="0">
                <a:solidFill>
                  <a:srgbClr val="000000"/>
                </a:solidFill>
                <a:latin typeface="Calibri" pitchFamily="34" charset="0"/>
                <a:ea typeface="Calibri" pitchFamily="34" charset="-122"/>
                <a:cs typeface="Calibri" pitchFamily="34" charset="-120"/>
              </a:rPr>
              <a:t xml:space="preserve">25×</a:t>
            </a:r>
          </a:p>
          <a:p>
            <a:pPr marL="177800" indent="0">
              <a:spcAft>
                <a:spcPts val="100"/>
              </a:spcAft>
              <a:buSzPct val="100000"/>
              <a:buNone/>
            </a:pPr>
            <a:r>
              <a:rPr lang="en-US" sz="1500" b="1" dirty="0">
                <a:solidFill>
                  <a:srgbClr val="000000"/>
                </a:solidFill>
                <a:latin typeface="Calibri" pitchFamily="34" charset="0"/>
                <a:ea typeface="Calibri" pitchFamily="34" charset="-122"/>
                <a:cs typeface="Calibri" pitchFamily="34" charset="-120"/>
              </a:rPr>
              <a:t xml:space="preserve">timestep refinement survived</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Every reported quantity must be flat across it. Enforced, not assumed.</a:t>
            </a:r>
          </a:p>
        </p:txBody>
      </p:sp>
      <p:sp>
        <p:nvSpPr>
          <p:cNvPr id="8" name="TextBox 7"/>
          <p:cNvSpPr txBox="1"/>
          <p:nvPr/>
        </p:nvSpPr>
        <p:spPr>
          <a:xfrm>
            <a:off x="6263640" y="3703320"/>
            <a:ext cx="5257800" cy="1828800"/>
          </a:xfrm>
          <a:prstGeom prst="rect">
            <a:avLst/>
          </a:prstGeom>
          <a:noFill/>
        </p:spPr>
        <p:txBody>
          <a:bodyPr wrap="square" lIns="0" tIns="0" rIns="0" bIns="0">
            <a:spAutoFit/>
          </a:bodyPr>
          <a:lstStyle/>
          <a:p>
            <a:pPr marL="177800" indent="0">
              <a:spcAft>
                <a:spcPts val="120"/>
              </a:spcAft>
              <a:buSzPct val="100000"/>
              <a:buNone/>
            </a:pPr>
            <a:r>
              <a:rPr lang="en-US" sz="4000" b="1" dirty="0">
                <a:solidFill>
                  <a:srgbClr val="000000"/>
                </a:solidFill>
                <a:latin typeface="Calibri" pitchFamily="34" charset="0"/>
                <a:ea typeface="Calibri" pitchFamily="34" charset="-122"/>
                <a:cs typeface="Calibri" pitchFamily="34" charset="-120"/>
              </a:rPr>
              <a:t xml:space="preserve">10</a:t>
            </a:r>
          </a:p>
          <a:p>
            <a:pPr marL="177800" indent="0">
              <a:spcAft>
                <a:spcPts val="100"/>
              </a:spcAft>
              <a:buSzPct val="100000"/>
              <a:buNone/>
            </a:pPr>
            <a:r>
              <a:rPr lang="en-US" sz="1500" b="1" dirty="0">
                <a:solidFill>
                  <a:srgbClr val="000000"/>
                </a:solidFill>
                <a:latin typeface="Calibri" pitchFamily="34" charset="0"/>
                <a:ea typeface="Calibri" pitchFamily="34" charset="-122"/>
                <a:cs typeface="Calibri" pitchFamily="34" charset="-120"/>
              </a:rPr>
              <a:t xml:space="preserve">wrong numbers caught, and corrected</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By that discipline, before any of them reached the report. Every one came from resampling or re-deriving a figure of our own — none from a reviewer.</a:t>
            </a:r>
          </a:p>
        </p:txBody>
      </p:sp>
      <p:sp>
        <p:nvSpPr>
          <p:cNvPr id="9" name="TextBox 8"/>
          <p:cNvSpPr txBox="1"/>
          <p:nvPr/>
        </p:nvSpPr>
        <p:spPr>
          <a:xfrm>
            <a:off x="640080" y="5897880"/>
            <a:ext cx="10881360" cy="4114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Stated plainly: </a:t>
            </a:r>
            <a:r>
              <a:rPr lang="en-US" sz="1150" dirty="0">
                <a:solidFill>
                  <a:srgbClr val="000000"/>
                </a:solidFill>
                <a:latin typeface="Calibri" pitchFamily="34" charset="0"/>
                <a:ea typeface="Calibri" pitchFamily="34" charset="-122"/>
                <a:cs typeface="Calibri" pitchFamily="34" charset="-120"/>
              </a:rPr>
              <a:t xml:space="preserve">LTspice has now been run: the three shipped .cir files reproduce 1.6487 / 0.8282 / −1.1768 V, matching ngspice to within 2 mV. Spectre is still a port — no installation available.</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Conclusion &amp; next steps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0">
              <a:spcAft>
                <a:spcPts val="200"/>
              </a:spcAft>
              <a:buSzPct val="100000"/>
              <a:buNone/>
            </a:pPr>
            <a:r>
              <a:rPr lang="en-US" sz="1600" b="1" dirty="0">
                <a:solidFill>
                  <a:srgbClr val="000000"/>
                </a:solidFill>
                <a:latin typeface="Calibri" pitchFamily="34" charset="0"/>
                <a:ea typeface="Calibri" pitchFamily="34" charset="-122"/>
                <a:cs typeface="Calibri" pitchFamily="34" charset="-120"/>
              </a:rPr>
              <a:t xml:space="preserve">What the data supports</a:t>
            </a:r>
          </a:p>
          <a:p>
            <a:pPr marL="177800" indent="-177800">
              <a:spcAft>
                <a:spcPts val="180"/>
              </a:spcAft>
              <a:buSzPct val="100000"/>
              <a:buChar char="•"/>
            </a:pPr>
            <a:r>
              <a:rPr lang="en-US" sz="1450" dirty="0">
                <a:solidFill>
                  <a:srgbClr val="000000"/>
                </a:solidFill>
                <a:latin typeface="Calibri" pitchFamily="34" charset="0"/>
                <a:ea typeface="Calibri" pitchFamily="34" charset="-122"/>
                <a:cs typeface="Calibri" pitchFamily="34" charset="-120"/>
              </a:rPr>
              <a:t xml:space="preserve">Choosing the control word well matters enormously — it spans roughly fivefold in switching energy. </a:t>
            </a:r>
            <a:r>
              <a:rPr lang="en-US" sz="1450" b="1" dirty="0">
                <a:solidFill>
                  <a:srgbClr val="000000"/>
                </a:solidFill>
                <a:latin typeface="Calibri" pitchFamily="34" charset="0"/>
                <a:ea typeface="Calibri" pitchFamily="34" charset="-122"/>
                <a:cs typeface="Calibri" pitchFamily="34" charset="-120"/>
              </a:rPr>
              <a:t xml:space="preserve">Adapting it to the operating point does not: 3.9 %, a seventh of the total gain, and one comparator takes 72 % of even that.</a:t>
            </a:r>
          </a:p>
          <a:p>
            <a:pPr marL="177800" indent="-177800">
              <a:spcAft>
                <a:spcPts val="180"/>
              </a:spcAft>
              <a:buSzPct val="100000"/>
              <a:buChar char="•"/>
            </a:pPr>
            <a:r>
              <a:rPr lang="en-US" sz="1400" dirty="0">
                <a:solidFill>
                  <a:srgbClr val="000000"/>
                </a:solidFill>
                <a:latin typeface="Calibri" pitchFamily="34" charset="0"/>
                <a:ea typeface="Calibri" pitchFamily="34" charset="-122"/>
                <a:cs typeface="Calibri" pitchFamily="34" charset="-120"/>
              </a:rPr>
              <a:t xml:space="preserve">The benefit that exists is carried by the </a:t>
            </a:r>
            <a:r>
              <a:rPr lang="en-US" sz="1400" b="1" dirty="0">
                <a:solidFill>
                  <a:srgbClr val="000000"/>
                </a:solidFill>
                <a:latin typeface="Calibri" pitchFamily="34" charset="0"/>
                <a:ea typeface="Calibri" pitchFamily="34" charset="-122"/>
                <a:cs typeface="Calibri" pitchFamily="34" charset="-120"/>
              </a:rPr>
              <a:t xml:space="preserve">dead time</a:t>
            </a:r>
            <a:r>
              <a:rPr lang="en-US" sz="1400" dirty="0">
                <a:solidFill>
                  <a:srgbClr val="000000"/>
                </a:solidFill>
                <a:latin typeface="Calibri" pitchFamily="34" charset="0"/>
                <a:ea typeface="Calibri" pitchFamily="34" charset="-122"/>
                <a:cs typeface="Calibri" pitchFamily="34" charset="-120"/>
              </a:rPr>
              <a:t xml:space="preserve"> — and the dead time, in turn, by the </a:t>
            </a:r>
            <a:r>
              <a:rPr lang="en-US" sz="1400" b="1" dirty="0">
                <a:solidFill>
                  <a:srgbClr val="000000"/>
                </a:solidFill>
                <a:latin typeface="Calibri" pitchFamily="34" charset="0"/>
                <a:ea typeface="Calibri" pitchFamily="34" charset="-122"/>
                <a:cs typeface="Calibri" pitchFamily="34" charset="-120"/>
              </a:rPr>
              <a:t xml:space="preserve">light-load corner alone</a:t>
            </a:r>
            <a:r>
              <a:rPr lang="en-US" sz="1400" dirty="0">
                <a:solidFill>
                  <a:srgbClr val="000000"/>
                </a:solidFill>
                <a:latin typeface="Calibri" pitchFamily="34" charset="0"/>
                <a:ea typeface="Calibri" pitchFamily="34" charset="-122"/>
                <a:cs typeface="Calibri" pitchFamily="34" charset="-120"/>
              </a:rPr>
              <a:t xml:space="preserve">: leave it out and freezing dead time costs 0.00 %. Not by the drive-strength segmentation that motivates the hardware, which stays at 0.00 % even when the objective prices EMI. Crosstalk safety is nearly free once the clamp is present.</a:t>
            </a:r>
          </a:p>
          <a:p>
            <a:pPr marL="177800" indent="-177800">
              <a:spcAft>
                <a:spcPts val="260"/>
              </a:spcAft>
              <a:buSzPct val="100000"/>
              <a:buChar char="•"/>
            </a:pPr>
            <a:r>
              <a:rPr lang="en-US" sz="1450" b="1" dirty="0">
                <a:solidFill>
                  <a:srgbClr val="000000"/>
                </a:solidFill>
                <a:latin typeface="Calibri" pitchFamily="34" charset="0"/>
                <a:ea typeface="Calibri" pitchFamily="34" charset="-122"/>
                <a:cs typeface="Calibri" pitchFamily="34" charset="-120"/>
              </a:rPr>
              <a:t xml:space="preserve">Stated positively — and this is the deliverable, not the percentage: </a:t>
            </a:r>
            <a:r>
              <a:rPr lang="en-US" sz="1450" dirty="0">
                <a:solidFill>
                  <a:srgbClr val="000000"/>
                </a:solidFill>
                <a:latin typeface="Calibri" pitchFamily="34" charset="0"/>
                <a:ea typeface="Calibri" pitchFamily="34" charset="-122"/>
                <a:cs typeface="Calibri" pitchFamily="34" charset="-120"/>
              </a:rPr>
              <a:t xml:space="preserve">use the recommended fixed word with a light-load comparator, and the full sense + ADC + lookup table is left justifying 3.7 % of the achievable gain.</a:t>
            </a:r>
          </a:p>
          <a:p>
            <a:pPr marL="177800" indent="0">
              <a:spcAft>
                <a:spcPts val="200"/>
              </a:spcAft>
              <a:buSzPct val="100000"/>
              <a:buNone/>
            </a:pPr>
            <a:r>
              <a:rPr lang="en-US" sz="1600" b="1" dirty="0">
                <a:solidFill>
                  <a:srgbClr val="000000"/>
                </a:solidFill>
                <a:latin typeface="Calibri" pitchFamily="34" charset="0"/>
                <a:ea typeface="Calibri" pitchFamily="34" charset="-122"/>
                <a:cs typeface="Calibri" pitchFamily="34" charset="-120"/>
              </a:rPr>
              <a:t xml:space="preserve">What the data now answers, and what is next</a:t>
            </a:r>
          </a:p>
          <a:p>
            <a:pPr marL="177800" indent="-177800">
              <a:spcAft>
                <a:spcPts val="180"/>
              </a:spcAft>
              <a:buSzPct val="100000"/>
              <a:buChar char="•"/>
            </a:pPr>
            <a:r>
              <a:rPr lang="en-US" sz="1450" b="1" dirty="0">
                <a:solidFill>
                  <a:srgbClr val="000000"/>
                </a:solidFill>
                <a:latin typeface="Calibri" pitchFamily="34" charset="0"/>
                <a:ea typeface="Calibri" pitchFamily="34" charset="-122"/>
                <a:cs typeface="Calibri" pitchFamily="34" charset="-120"/>
              </a:rPr>
              <a:t xml:space="preserve">The EMI objection is now tested rather than conceded.</a:t>
            </a:r>
            <a:r>
              <a:rPr lang="en-US" sz="1450" dirty="0">
                <a:solidFill>
                  <a:srgbClr val="000000"/>
                </a:solidFill>
                <a:latin typeface="Calibri" pitchFamily="34" charset="0"/>
                <a:ea typeface="Calibri" pitchFamily="34" charset="-122"/>
                <a:cs typeface="Calibri" pitchFamily="34" charset="-120"/>
              </a:rPr>
              <a:t xml:space="preserve"> Re-running the full search under objectives that price turn-on slew rate, and again under 30–500 MHz band energy, makes scheduling worth </a:t>
            </a:r>
            <a:r>
              <a:rPr lang="en-US" sz="1450" b="1" dirty="0">
                <a:solidFill>
                  <a:srgbClr val="000000"/>
                </a:solidFill>
                <a:latin typeface="Calibri" pitchFamily="34" charset="0"/>
                <a:ea typeface="Calibri" pitchFamily="34" charset="-122"/>
                <a:cs typeface="Calibri" pitchFamily="34" charset="-120"/>
              </a:rPr>
              <a:t xml:space="preserve">less</a:t>
            </a:r>
            <a:r>
              <a:rPr lang="en-US" sz="1450" dirty="0">
                <a:solidFill>
                  <a:srgbClr val="000000"/>
                </a:solidFill>
                <a:latin typeface="Calibri" pitchFamily="34" charset="0"/>
                <a:ea typeface="Calibri" pitchFamily="34" charset="-122"/>
                <a:cs typeface="Calibri" pitchFamily="34" charset="-120"/>
              </a:rPr>
              <a:t xml:space="preserve">, not more: 5.95 % falls to 0.15 %. Pull-up strength still does not need scheduling — it needs a different fixed value.</a:t>
            </a:r>
          </a:p>
          <a:p>
            <a:pPr marL="177800" indent="-177800">
              <a:spcAft>
                <a:spcPts val="180"/>
              </a:spcAft>
              <a:buSzPct val="100000"/>
              <a:buChar char="•"/>
            </a:pPr>
            <a:r>
              <a:rPr lang="en-US" sz="1450" b="1" dirty="0">
                <a:solidFill>
                  <a:srgbClr val="000000"/>
                </a:solidFill>
                <a:latin typeface="Calibri" pitchFamily="34" charset="0"/>
                <a:ea typeface="Calibri" pitchFamily="34" charset="-122"/>
                <a:cs typeface="Calibri" pitchFamily="34" charset="-120"/>
              </a:rPr>
              <a:t xml:space="preserve">What it does not support.</a:t>
            </a:r>
            <a:r>
              <a:rPr lang="en-US" sz="1450" dirty="0">
                <a:solidFill>
                  <a:srgbClr val="000000"/>
                </a:solidFill>
                <a:latin typeface="Calibri" pitchFamily="34" charset="0"/>
                <a:ea typeface="Calibri" pitchFamily="34" charset="-122"/>
                <a:cs typeface="Calibri" pitchFamily="34" charset="-120"/>
              </a:rPr>
              <a:t xml:space="preserve"> Which EMI measure a designer should price is unsettled, and the two disagree: under band energy freezing pull-up costs 0.00 % at every weight, under slew rate up to 2.27 % in a narrow transition band. No silicon has been measured, and one device model underlies everything.</a:t>
            </a:r>
          </a:p>
          <a:p>
            <a:pPr marL="177800" indent="-177800">
              <a:spcAft>
                <a:spcPts val="0"/>
              </a:spcAft>
              <a:buSzPct val="100000"/>
              <a:buChar char="•"/>
            </a:pPr>
            <a:r>
              <a:rPr lang="en-US" sz="1450" b="1" dirty="0">
                <a:solidFill>
                  <a:srgbClr val="000000"/>
                </a:solidFill>
                <a:latin typeface="Calibri" pitchFamily="34" charset="0"/>
                <a:ea typeface="Calibri" pitchFamily="34" charset="-122"/>
                <a:cs typeface="Calibri" pitchFamily="34" charset="-120"/>
              </a:rPr>
              <a:t xml:space="preserve">Review-II: </a:t>
            </a:r>
            <a:r>
              <a:rPr lang="en-US" sz="1450" dirty="0">
                <a:solidFill>
                  <a:srgbClr val="000000"/>
                </a:solidFill>
                <a:latin typeface="Calibri" pitchFamily="34" charset="0"/>
                <a:ea typeface="Calibri" pitchFamily="34" charset="-122"/>
                <a:cs typeface="Calibri" pitchFamily="34" charset="-120"/>
              </a:rPr>
              <a:t xml:space="preserve">transistor-level output stage in Cadence on a 5 V-capable PDK; re-run the ceiling on real devices — sub-nanosecond dead-time control needs silicon, not fabric: [13] reaches 0.19 ns where a 200 MHz FPGA grid is 5 ns. </a:t>
            </a:r>
            <a:r>
              <a:rPr lang="en-US" sz="1450" b="1" dirty="0">
                <a:solidFill>
                  <a:srgbClr val="000000"/>
                </a:solidFill>
                <a:latin typeface="Calibri" pitchFamily="34" charset="0"/>
                <a:ea typeface="Calibri" pitchFamily="34" charset="-122"/>
                <a:cs typeface="Calibri" pitchFamily="34" charset="-120"/>
              </a:rPr>
              <a:t xml:space="preserve">Review-III: </a:t>
            </a:r>
            <a:r>
              <a:rPr lang="en-US" sz="1450" dirty="0">
                <a:solidFill>
                  <a:srgbClr val="000000"/>
                </a:solidFill>
                <a:latin typeface="Calibri" pitchFamily="34" charset="0"/>
                <a:ea typeface="Calibri" pitchFamily="34" charset="-122"/>
                <a:cs typeface="Calibri" pitchFamily="34" charset="-120"/>
              </a:rPr>
              <a:t xml:space="preserve">measure a hardware half-bridge at one corner — until then this is a simulation study and is titled as one.</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(1–15)</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B. Li, G. Zhang, C. Li, G. Wang, S. Liu and D. Xu, “Crosstalk Suppression Method for GaN-Based Bridge Configuration Using Negative Voltage Self-Recovery Gate Drive,” IEEE Trans. Power Electron., vol. 37, no. 4, pp. 4406–4418,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X. Chen, H. Peng, S. Song, Q. Tong and Y. Kang, “A Novel Control Strategy for Optimal Tradeoff between Overshoot and Switching Loss Based on Double Closed-Loop Self-Regulating Active Gate Driver,” IEEE Trans. Power Electron., vol. 39, no. 10, pp. 13033–13043,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W. Song, T. Hu, J. Chen, T. Tang, H. Yue and G. Liu, “A Self-Regulating Active Gate Driver of Voltage Overshoot Suppression for SiC MOSFETs Under Variable Load Current Conditions,” IEEE Trans. Power Electron., vol. 40, no. 8, pp. 10623–10634,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C.W. Kuo, T.W. Wang, L.C. Chen, C.C. Tu, Y.K. Hsiao and P.H. Chen, “Universal Active Gate Driver IC With Closed-Loop Timing Control and Gate-Sensing Technique for Silicon Carbide Power Devices,” IEEE Trans. Power Electron., vol. 40, no. 4, pp. 5120–5129,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G.H. Thuc and C.J. Chen, “An Integrated Driver With Dual-Edge Adaptive Dead-Time Control for GaN-Based Synchronous Buck Converter,” IEEE Trans. Ind. Appl., vol. 60, no. 6, pp. 9157–9170,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H. Takayama, T. Okuda and T. Hikihara, “Digital Active Gate Drive of SiC MOSFETs for Controlling Switching Behavior — Preparation Toward Universal Digitization of Power Switching,” Int. J. Circuit Theory Appl., vol. 50, no. 1, pp. 183–196,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dirty="0">
                <a:solidFill>
                  <a:srgbClr val="000000"/>
                </a:solidFill>
                <a:latin typeface="Calibri" pitchFamily="34" charset="0"/>
                <a:ea typeface="Calibri" pitchFamily="34" charset="-122"/>
                <a:cs typeface="Calibri" pitchFamily="34" charset="-120"/>
              </a:rPr>
              <a:t xml:space="preserve">W.J. Zhang, J. Yu, Y. Leng, W.T. Cui, G.Q. Deng and W.T. Ng, “A Segmented Gate Driver for E-mode GaN HEMTs with Simple Driving Strength Pattern Control,” in Proc. IEEE 32nd Int. Symp. Power Semicond. Devices ICs (ISPSD), 2020, pp. 102–105.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X. Wang, M. Tao, J. Xiao, D. Luo, M. He, Q. Zhou, X. Zhang and M. Wang, “High-Frequency Three-Level Gate Driver for GaN HEMT Bridge Crosstalk Suppression,” IEEE Trans. Power Electron., vol. 39, no. 1, pp. 1343–1352,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L. Wang, X. Sun, Y. Yan, M. Ma and D. Xu, “An Integrated Suppression Method of Both Gate-Source Voltage Oscillation and Crosstalk for GaN HEMT Gate Driver,” IEEE Trans. Power Electron., vol. 39, no. 11, pp. 14643–14655,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Y. Cai, D. Ye, W. Lv and Z. Chen, “A High-Efficient GaN Driver With Hybrid Adaptive Dead-Time Control and Peak Delay Control for Synchronous Buck Converter,” IEEE Trans. Power Electron., vol. 41, no. 1, pp. 279–290,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[14]  </a:t>
            </a:r>
            <a:r>
              <a:rPr lang="en-US" sz="900" dirty="0">
                <a:solidFill>
                  <a:srgbClr val="000000"/>
                </a:solidFill>
                <a:latin typeface="Calibri" pitchFamily="34" charset="0"/>
                <a:ea typeface="Calibri" pitchFamily="34" charset="-122"/>
                <a:cs typeface="Calibri" pitchFamily="34" charset="-120"/>
              </a:rPr>
              <a:t xml:space="preserve">Y. Zheng, S. Zhao, P. Agarwal, F. Liu, Y. Zhao and A. Mantooth, “A Multi-Level Turn-Off Gate Driver for Crosstalk Noise Suppression of GaN HEMTs,” IEEE Open J. Power Electron., pp. 1–15,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[15]  </a:t>
            </a:r>
            <a:r>
              <a:rPr lang="en-US" sz="900" dirty="0">
                <a:solidFill>
                  <a:srgbClr val="000000"/>
                </a:solidFill>
                <a:latin typeface="Calibri" pitchFamily="34" charset="0"/>
                <a:ea typeface="Calibri" pitchFamily="34" charset="-122"/>
                <a:cs typeface="Calibri" pitchFamily="34" charset="-120"/>
              </a:rPr>
              <a:t xml:space="preserve">M.K. Banda, S. Madichetty, D.M. Natham and S. Koduru, “An Event-Triggered Dual-Polarity Gate Clamp for GaN HEMT Gate Oscillation Suppression,” IEEE Trans. Power Electron., vol. 41, no. 9, pp. 14402–14405, 2026.</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pic>
        <p:nvPicPr>
          <p:cNvPr id="3"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4" name="Text 1"/>
          <p:cNvSpPr txBox="1"/>
          <p:nvPr/>
        </p:nvSpPr>
        <p:spPr>
          <a:xfrm>
            <a:off x="548640" y="2743200"/>
            <a:ext cx="11091672" cy="914400"/>
          </a:xfrm>
          <a:prstGeom prst="rect">
            <a:avLst/>
          </a:prstGeom>
          <a:noFill/>
          <a:ln/>
        </p:spPr>
        <p:txBody>
          <a:bodyPr wrap="square" lIns="0" tIns="0" rIns="0" bIns="0" rtlCol="0" anchor="ctr"/>
          <a:lstStyle/>
          <a:p>
            <a:pPr marL="0" indent="0" algn="ctr">
              <a:buNone/>
            </a:pPr>
            <a:r>
              <a:rPr lang="en-US" sz="4000" b="1" dirty="0">
                <a:solidFill>
                  <a:srgbClr val="1D2F82"/>
                </a:solidFill>
                <a:latin typeface="Calibri" pitchFamily="34" charset="0"/>
                <a:ea typeface="Calibri" pitchFamily="34" charset="-122"/>
                <a:cs typeface="Calibri" pitchFamily="34" charset="-120"/>
              </a:rPr>
              <a:t>Thank You</a:t>
            </a:r>
            <a:endParaRPr lang="en-US" sz="40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is a “control word”?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143000"/>
            <a:ext cx="10972800" cy="411480"/>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Everything in this deck is measured over control words, so this is the definition the rest of the results rest on.</a:t>
            </a:r>
          </a:p>
        </p:txBody>
      </p:sp>
      <p:sp>
        <p:nvSpPr>
          <p:cNvPr id="6" name="TextBox 5"/>
          <p:cNvSpPr txBox="1"/>
          <p:nvPr/>
        </p:nvSpPr>
        <p:spPr>
          <a:xfrm>
            <a:off x="640080" y="1563623"/>
            <a:ext cx="10972800" cy="274320"/>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ONE control word = one setting of these six fields</a:t>
            </a:r>
          </a:p>
        </p:txBody>
      </p:sp>
      <p:sp>
        <p:nvSpPr>
          <p:cNvPr id="7" name="TextBox 6"/>
          <p:cNvSpPr txBox="1"/>
          <p:nvPr/>
        </p:nvSpPr>
        <p:spPr>
          <a:xfrm>
            <a:off x="777240" y="1874519"/>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N_PU</a:t>
            </a:r>
          </a:p>
        </p:txBody>
      </p:sp>
      <p:sp>
        <p:nvSpPr>
          <p:cNvPr id="8" name="TextBox 7"/>
          <p:cNvSpPr txBox="1"/>
          <p:nvPr/>
        </p:nvSpPr>
        <p:spPr>
          <a:xfrm>
            <a:off x="2286000" y="1874519"/>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pull-up slices ON</a:t>
            </a:r>
          </a:p>
        </p:txBody>
      </p:sp>
      <p:sp>
        <p:nvSpPr>
          <p:cNvPr id="9" name="TextBox 8"/>
          <p:cNvSpPr txBox="1"/>
          <p:nvPr/>
        </p:nvSpPr>
        <p:spPr>
          <a:xfrm>
            <a:off x="5120640" y="1874519"/>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1 – 8</a:t>
            </a:r>
          </a:p>
        </p:txBody>
      </p:sp>
      <p:sp>
        <p:nvSpPr>
          <p:cNvPr id="10" name="TextBox 9"/>
          <p:cNvSpPr txBox="1"/>
          <p:nvPr/>
        </p:nvSpPr>
        <p:spPr>
          <a:xfrm>
            <a:off x="7086600" y="1874519"/>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how hard the device is turned ON</a:t>
            </a:r>
          </a:p>
        </p:txBody>
      </p:sp>
      <p:sp>
        <p:nvSpPr>
          <p:cNvPr id="11" name="TextBox 10"/>
          <p:cNvSpPr txBox="1"/>
          <p:nvPr/>
        </p:nvSpPr>
        <p:spPr>
          <a:xfrm>
            <a:off x="777240" y="2350008"/>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N_PD,LS</a:t>
            </a:r>
          </a:p>
        </p:txBody>
      </p:sp>
      <p:sp>
        <p:nvSpPr>
          <p:cNvPr id="12" name="TextBox 11"/>
          <p:cNvSpPr txBox="1"/>
          <p:nvPr/>
        </p:nvSpPr>
        <p:spPr>
          <a:xfrm>
            <a:off x="2286000" y="2350008"/>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low-side pull-down slices</a:t>
            </a:r>
          </a:p>
        </p:txBody>
      </p:sp>
      <p:sp>
        <p:nvSpPr>
          <p:cNvPr id="13" name="TextBox 12"/>
          <p:cNvSpPr txBox="1"/>
          <p:nvPr/>
        </p:nvSpPr>
        <p:spPr>
          <a:xfrm>
            <a:off x="5120640" y="2350008"/>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1 – 8</a:t>
            </a:r>
          </a:p>
        </p:txBody>
      </p:sp>
      <p:sp>
        <p:nvSpPr>
          <p:cNvPr id="14" name="TextBox 13"/>
          <p:cNvSpPr txBox="1"/>
          <p:nvPr/>
        </p:nvSpPr>
        <p:spPr>
          <a:xfrm>
            <a:off x="7086600" y="2350008"/>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how hard it is turned OFF</a:t>
            </a:r>
          </a:p>
        </p:txBody>
      </p:sp>
      <p:sp>
        <p:nvSpPr>
          <p:cNvPr id="15" name="TextBox 14"/>
          <p:cNvSpPr txBox="1"/>
          <p:nvPr/>
        </p:nvSpPr>
        <p:spPr>
          <a:xfrm>
            <a:off x="777240" y="2825496"/>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N_PD,HS</a:t>
            </a:r>
          </a:p>
        </p:txBody>
      </p:sp>
      <p:sp>
        <p:nvSpPr>
          <p:cNvPr id="16" name="TextBox 15"/>
          <p:cNvSpPr txBox="1"/>
          <p:nvPr/>
        </p:nvSpPr>
        <p:spPr>
          <a:xfrm>
            <a:off x="2286000" y="2825496"/>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high-side pull-down slices</a:t>
            </a:r>
          </a:p>
        </p:txBody>
      </p:sp>
      <p:sp>
        <p:nvSpPr>
          <p:cNvPr id="17" name="TextBox 16"/>
          <p:cNvSpPr txBox="1"/>
          <p:nvPr/>
        </p:nvSpPr>
        <p:spPr>
          <a:xfrm>
            <a:off x="5120640" y="2825496"/>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1, 4, 8</a:t>
            </a:r>
          </a:p>
        </p:txBody>
      </p:sp>
      <p:sp>
        <p:nvSpPr>
          <p:cNvPr id="18" name="TextBox 17"/>
          <p:cNvSpPr txBox="1"/>
          <p:nvPr/>
        </p:nvSpPr>
        <p:spPr>
          <a:xfrm>
            <a:off x="7086600" y="2825496"/>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the off device's grip on its gate</a:t>
            </a:r>
          </a:p>
        </p:txBody>
      </p:sp>
      <p:sp>
        <p:nvSpPr>
          <p:cNvPr id="19" name="TextBox 18"/>
          <p:cNvSpPr txBox="1"/>
          <p:nvPr/>
        </p:nvSpPr>
        <p:spPr>
          <a:xfrm>
            <a:off x="777240" y="3300984"/>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t_dead</a:t>
            </a:r>
          </a:p>
        </p:txBody>
      </p:sp>
      <p:sp>
        <p:nvSpPr>
          <p:cNvPr id="20" name="TextBox 19"/>
          <p:cNvSpPr txBox="1"/>
          <p:nvPr/>
        </p:nvSpPr>
        <p:spPr>
          <a:xfrm>
            <a:off x="2286000" y="3300984"/>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dead time</a:t>
            </a:r>
          </a:p>
        </p:txBody>
      </p:sp>
      <p:sp>
        <p:nvSpPr>
          <p:cNvPr id="21" name="TextBox 20"/>
          <p:cNvSpPr txBox="1"/>
          <p:nvPr/>
        </p:nvSpPr>
        <p:spPr>
          <a:xfrm>
            <a:off x="5120640" y="3300984"/>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5 / 10 / 15 / 25 ns</a:t>
            </a:r>
          </a:p>
        </p:txBody>
      </p:sp>
      <p:sp>
        <p:nvSpPr>
          <p:cNvPr id="22" name="TextBox 21"/>
          <p:cNvSpPr txBox="1"/>
          <p:nvPr/>
        </p:nvSpPr>
        <p:spPr>
          <a:xfrm>
            <a:off x="7086600" y="3300984"/>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gap before the other device turns on</a:t>
            </a:r>
          </a:p>
        </p:txBody>
      </p:sp>
      <p:sp>
        <p:nvSpPr>
          <p:cNvPr id="23" name="TextBox 22"/>
          <p:cNvSpPr txBox="1"/>
          <p:nvPr/>
        </p:nvSpPr>
        <p:spPr>
          <a:xfrm>
            <a:off x="777240" y="3776472"/>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CLK_EN</a:t>
            </a:r>
          </a:p>
        </p:txBody>
      </p:sp>
      <p:sp>
        <p:nvSpPr>
          <p:cNvPr id="24" name="TextBox 23"/>
          <p:cNvSpPr txBox="1"/>
          <p:nvPr/>
        </p:nvSpPr>
        <p:spPr>
          <a:xfrm>
            <a:off x="2286000" y="3776472"/>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active Miller clamp</a:t>
            </a:r>
          </a:p>
        </p:txBody>
      </p:sp>
      <p:sp>
        <p:nvSpPr>
          <p:cNvPr id="25" name="TextBox 24"/>
          <p:cNvSpPr txBox="1"/>
          <p:nvPr/>
        </p:nvSpPr>
        <p:spPr>
          <a:xfrm>
            <a:off x="5120640" y="3776472"/>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off / on</a:t>
            </a:r>
          </a:p>
        </p:txBody>
      </p:sp>
      <p:sp>
        <p:nvSpPr>
          <p:cNvPr id="26" name="TextBox 25"/>
          <p:cNvSpPr txBox="1"/>
          <p:nvPr/>
        </p:nvSpPr>
        <p:spPr>
          <a:xfrm>
            <a:off x="7086600" y="3776472"/>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shorts the gate during the other edge</a:t>
            </a:r>
          </a:p>
        </p:txBody>
      </p:sp>
      <p:sp>
        <p:nvSpPr>
          <p:cNvPr id="27" name="TextBox 26"/>
          <p:cNvSpPr txBox="1"/>
          <p:nvPr/>
        </p:nvSpPr>
        <p:spPr>
          <a:xfrm>
            <a:off x="777240" y="4251960"/>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V_neg</a:t>
            </a:r>
          </a:p>
        </p:txBody>
      </p:sp>
      <p:sp>
        <p:nvSpPr>
          <p:cNvPr id="28" name="TextBox 27"/>
          <p:cNvSpPr txBox="1"/>
          <p:nvPr/>
        </p:nvSpPr>
        <p:spPr>
          <a:xfrm>
            <a:off x="2286000" y="4251960"/>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gate off-bias</a:t>
            </a:r>
          </a:p>
        </p:txBody>
      </p:sp>
      <p:sp>
        <p:nvSpPr>
          <p:cNvPr id="29" name="TextBox 28"/>
          <p:cNvSpPr txBox="1"/>
          <p:nvPr/>
        </p:nvSpPr>
        <p:spPr>
          <a:xfrm>
            <a:off x="5120640" y="4251960"/>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0 V / −2 V</a:t>
            </a:r>
          </a:p>
        </p:txBody>
      </p:sp>
      <p:sp>
        <p:nvSpPr>
          <p:cNvPr id="30" name="TextBox 29"/>
          <p:cNvSpPr txBox="1"/>
          <p:nvPr/>
        </p:nvSpPr>
        <p:spPr>
          <a:xfrm>
            <a:off x="7086600" y="4251960"/>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how far below threshold the gate is held</a:t>
            </a:r>
          </a:p>
        </p:txBody>
      </p:sp>
      <p:sp>
        <p:nvSpPr>
          <p:cNvPr id="31" name="TextBox 30"/>
          <p:cNvSpPr txBox="1"/>
          <p:nvPr/>
        </p:nvSpPr>
        <p:spPr>
          <a:xfrm>
            <a:off x="640080" y="4828032"/>
            <a:ext cx="10972800" cy="1188720"/>
          </a:xfrm>
          <a:prstGeom prst="rect">
            <a:avLst/>
          </a:prstGeom>
          <a:noFill/>
        </p:spPr>
        <p:txBody>
          <a:bodyPr wrap="square" lIns="0" tIns="0" rIns="0" bIns="0">
            <a:spAutoFit/>
          </a:bodyPr>
          <a:lstStyle/>
          <a:p>
            <a:pPr marL="177800" indent="0">
              <a:spcAft>
                <a:spcPts val="140"/>
              </a:spcAft>
              <a:buSzPct val="100000"/>
              <a:buNone/>
            </a:pPr>
            <a:r>
              <a:rPr lang="en-US" sz="1300" dirty="0">
                <a:solidFill>
                  <a:srgbClr val="000000"/>
                </a:solidFill>
                <a:latin typeface="Calibri" pitchFamily="34" charset="0"/>
                <a:ea typeface="Calibri" pitchFamily="34" charset="-122"/>
                <a:cs typeface="Calibri" pitchFamily="34" charset="-120"/>
              </a:rPr>
              <a:t xml:space="preserve">8 × 8 × 3 × 4 × 2 × 2  =  </a:t>
            </a:r>
            <a:r>
              <a:rPr lang="en-US" sz="1300" b="1" dirty="0">
                <a:solidFill>
                  <a:srgbClr val="000000"/>
                </a:solidFill>
                <a:latin typeface="Calibri" pitchFamily="34" charset="0"/>
                <a:ea typeface="Calibri" pitchFamily="34" charset="-122"/>
                <a:cs typeface="Calibri" pitchFamily="34" charset="-120"/>
              </a:rPr>
              <a:t xml:space="preserve">720 control words</a:t>
            </a:r>
            <a:r>
              <a:rPr lang="en-US" sz="1300" dirty="0">
                <a:solidFill>
                  <a:srgbClr val="000000"/>
                </a:solidFill>
                <a:latin typeface="Calibri" pitchFamily="34" charset="0"/>
                <a:ea typeface="Calibri" pitchFamily="34" charset="-122"/>
                <a:cs typeface="Calibri" pitchFamily="34" charset="-120"/>
              </a:rPr>
              <a:t xml:space="preserve">.  We simulate every one of them, at every corner — that is what makes this an exhaustive search rather than a shortlist.</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A FIXED word</a:t>
            </a:r>
            <a:r>
              <a:rPr lang="en-US" sz="1300" dirty="0">
                <a:solidFill>
                  <a:srgbClr val="000000"/>
                </a:solidFill>
                <a:latin typeface="Calibri" pitchFamily="34" charset="0"/>
                <a:ea typeface="Calibri" pitchFamily="34" charset="-122"/>
                <a:cs typeface="Calibri" pitchFamily="34" charset="-120"/>
              </a:rPr>
              <a:t xml:space="preserve"> is one word chosen once and strapped at power-up — no sensing. </a:t>
            </a:r>
            <a:r>
              <a:rPr lang="en-US" sz="1300" b="1" dirty="0">
                <a:solidFill>
                  <a:srgbClr val="000000"/>
                </a:solidFill>
                <a:latin typeface="Calibri" pitchFamily="34" charset="0"/>
                <a:ea typeface="Calibri" pitchFamily="34" charset="-122"/>
                <a:cs typeface="Calibri" pitchFamily="34" charset="-120"/>
              </a:rPr>
              <a:t xml:space="preserve">SCHEDULING</a:t>
            </a:r>
            <a:r>
              <a:rPr lang="en-US" sz="1300" dirty="0">
                <a:solidFill>
                  <a:srgbClr val="000000"/>
                </a:solidFill>
                <a:latin typeface="Calibri" pitchFamily="34" charset="0"/>
                <a:ea typeface="Calibri" pitchFamily="34" charset="-122"/>
                <a:cs typeface="Calibri" pitchFamily="34" charset="-120"/>
              </a:rPr>
              <a:t xml:space="preserve"> means sensing the operating point and switching to a different word for it, which is what needs an ADC and a lookup table. The whole project measures the gap between those two.</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Base paper vs this work — what we improve</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115568"/>
            <a:ext cx="10972800" cy="256032"/>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Base paper [9]: Takayama &amp; Hikihara, Int. J. Circuit Theory Appl., 50(1):183–196, 2022 — a gate waveform chosen by a multibit digital code.</a:t>
            </a:r>
          </a:p>
        </p:txBody>
      </p:sp>
      <p:sp>
        <p:nvSpPr>
          <p:cNvPr id="6" name="TextBox 5"/>
          <p:cNvSpPr txBox="1"/>
          <p:nvPr/>
        </p:nvSpPr>
        <p:spPr>
          <a:xfrm>
            <a:off x="640080" y="1362456"/>
            <a:ext cx="237744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Parameter</a:t>
            </a:r>
          </a:p>
        </p:txBody>
      </p:sp>
      <p:sp>
        <p:nvSpPr>
          <p:cNvPr id="7" name="TextBox 6"/>
          <p:cNvSpPr txBox="1"/>
          <p:nvPr/>
        </p:nvSpPr>
        <p:spPr>
          <a:xfrm>
            <a:off x="3154680" y="1362456"/>
            <a:ext cx="315468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Base paper [9]</a:t>
            </a:r>
          </a:p>
        </p:txBody>
      </p:sp>
      <p:sp>
        <p:nvSpPr>
          <p:cNvPr id="8" name="TextBox 7"/>
          <p:cNvSpPr txBox="1"/>
          <p:nvPr/>
        </p:nvSpPr>
        <p:spPr>
          <a:xfrm>
            <a:off x="6446520" y="1362456"/>
            <a:ext cx="507492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This work</a:t>
            </a:r>
          </a:p>
        </p:txBody>
      </p:sp>
      <p:sp>
        <p:nvSpPr>
          <p:cNvPr id="9" name="TextBox 8"/>
          <p:cNvSpPr txBox="1"/>
          <p:nvPr/>
        </p:nvSpPr>
        <p:spPr>
          <a:xfrm>
            <a:off x="640080" y="178308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Device</a:t>
            </a:r>
          </a:p>
        </p:txBody>
      </p:sp>
      <p:sp>
        <p:nvSpPr>
          <p:cNvPr id="10" name="TextBox 9"/>
          <p:cNvSpPr txBox="1"/>
          <p:nvPr/>
        </p:nvSpPr>
        <p:spPr>
          <a:xfrm>
            <a:off x="3154680" y="178308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SiC MOSFET</a:t>
            </a:r>
          </a:p>
        </p:txBody>
      </p:sp>
      <p:sp>
        <p:nvSpPr>
          <p:cNvPr id="11" name="TextBox 10"/>
          <p:cNvSpPr txBox="1"/>
          <p:nvPr/>
        </p:nvSpPr>
        <p:spPr>
          <a:xfrm>
            <a:off x="6446520" y="178308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GaN HEMT (e-mode)  —  no body diode, so off-bias costs third-quadrant drop</a:t>
            </a:r>
          </a:p>
        </p:txBody>
      </p:sp>
      <p:sp>
        <p:nvSpPr>
          <p:cNvPr id="12" name="TextBox 11"/>
          <p:cNvSpPr txBox="1"/>
          <p:nvPr/>
        </p:nvSpPr>
        <p:spPr>
          <a:xfrm>
            <a:off x="640080" y="233172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Control handle</a:t>
            </a:r>
          </a:p>
        </p:txBody>
      </p:sp>
      <p:sp>
        <p:nvSpPr>
          <p:cNvPr id="13" name="TextBox 12"/>
          <p:cNvSpPr txBox="1"/>
          <p:nvPr/>
        </p:nvSpPr>
        <p:spPr>
          <a:xfrm>
            <a:off x="3154680" y="233172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multibit gate code, one field</a:t>
            </a:r>
          </a:p>
        </p:txBody>
      </p:sp>
      <p:sp>
        <p:nvSpPr>
          <p:cNvPr id="14" name="TextBox 13"/>
          <p:cNvSpPr txBox="1"/>
          <p:nvPr/>
        </p:nvSpPr>
        <p:spPr>
          <a:xfrm>
            <a:off x="6446520" y="233172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6-field, 720-point control word  —  strength, dead time, clamp, off-bias</a:t>
            </a:r>
          </a:p>
        </p:txBody>
      </p:sp>
      <p:sp>
        <p:nvSpPr>
          <p:cNvPr id="15" name="TextBox 14"/>
          <p:cNvSpPr txBox="1"/>
          <p:nvPr/>
        </p:nvSpPr>
        <p:spPr>
          <a:xfrm>
            <a:off x="640080" y="288036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Implementation</a:t>
            </a:r>
          </a:p>
        </p:txBody>
      </p:sp>
      <p:sp>
        <p:nvSpPr>
          <p:cNvPr id="16" name="TextBox 15"/>
          <p:cNvSpPr txBox="1"/>
          <p:nvPr/>
        </p:nvSpPr>
        <p:spPr>
          <a:xfrm>
            <a:off x="3154680" y="288036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digital driver</a:t>
            </a:r>
          </a:p>
        </p:txBody>
      </p:sp>
      <p:sp>
        <p:nvSpPr>
          <p:cNvPr id="17" name="TextBox 16"/>
          <p:cNvSpPr txBox="1"/>
          <p:nvPr/>
        </p:nvSpPr>
        <p:spPr>
          <a:xfrm>
            <a:off x="6446520" y="288036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FPGA RTL in Verilog  ·  8 asserted properties, mutation-tested</a:t>
            </a:r>
          </a:p>
        </p:txBody>
      </p:sp>
      <p:sp>
        <p:nvSpPr>
          <p:cNvPr id="18" name="TextBox 17"/>
          <p:cNvSpPr txBox="1"/>
          <p:nvPr/>
        </p:nvSpPr>
        <p:spPr>
          <a:xfrm>
            <a:off x="640080" y="342900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How codes chosen</a:t>
            </a:r>
          </a:p>
        </p:txBody>
      </p:sp>
      <p:sp>
        <p:nvSpPr>
          <p:cNvPr id="19" name="TextBox 18"/>
          <p:cNvSpPr txBox="1"/>
          <p:nvPr/>
        </p:nvSpPr>
        <p:spPr>
          <a:xfrm>
            <a:off x="3154680" y="342900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selected codes, measured</a:t>
            </a:r>
          </a:p>
        </p:txBody>
      </p:sp>
      <p:sp>
        <p:nvSpPr>
          <p:cNvPr id="20" name="TextBox 19"/>
          <p:cNvSpPr txBox="1"/>
          <p:nvPr/>
        </p:nvSpPr>
        <p:spPr>
          <a:xfrm>
            <a:off x="6446520" y="342900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EXHAUSTIVE  —  all 720 words at every corner, 34,622 transients</a:t>
            </a:r>
          </a:p>
        </p:txBody>
      </p:sp>
      <p:sp>
        <p:nvSpPr>
          <p:cNvPr id="21" name="TextBox 20"/>
          <p:cNvSpPr txBox="1"/>
          <p:nvPr/>
        </p:nvSpPr>
        <p:spPr>
          <a:xfrm>
            <a:off x="640080" y="3977639"/>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Crosstalk</a:t>
            </a:r>
          </a:p>
        </p:txBody>
      </p:sp>
      <p:sp>
        <p:nvSpPr>
          <p:cNvPr id="22" name="TextBox 21"/>
          <p:cNvSpPr txBox="1"/>
          <p:nvPr/>
        </p:nvSpPr>
        <p:spPr>
          <a:xfrm>
            <a:off x="3154680" y="3977639"/>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not addressed</a:t>
            </a:r>
          </a:p>
        </p:txBody>
      </p:sp>
      <p:sp>
        <p:nvSpPr>
          <p:cNvPr id="23" name="TextBox 22"/>
          <p:cNvSpPr txBox="1"/>
          <p:nvPr/>
        </p:nvSpPr>
        <p:spPr>
          <a:xfrm>
            <a:off x="6446520" y="3977639"/>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1.65 V spurious gate  →  −1.18 V  (2.58 V margin), clamp + off-bias</a:t>
            </a:r>
          </a:p>
        </p:txBody>
      </p:sp>
      <p:sp>
        <p:nvSpPr>
          <p:cNvPr id="24" name="TextBox 23"/>
          <p:cNvSpPr txBox="1"/>
          <p:nvPr/>
        </p:nvSpPr>
        <p:spPr>
          <a:xfrm>
            <a:off x="640080" y="452628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What is reported</a:t>
            </a:r>
          </a:p>
        </p:txBody>
      </p:sp>
      <p:sp>
        <p:nvSpPr>
          <p:cNvPr id="25" name="TextBox 24"/>
          <p:cNvSpPr txBox="1"/>
          <p:nvPr/>
        </p:nvSpPr>
        <p:spPr>
          <a:xfrm>
            <a:off x="3154680" y="452628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one number vs a conventional driver</a:t>
            </a:r>
          </a:p>
        </p:txBody>
      </p:sp>
      <p:sp>
        <p:nvSpPr>
          <p:cNvPr id="26" name="TextBox 25"/>
          <p:cNvSpPr txBox="1"/>
          <p:nvPr/>
        </p:nvSpPr>
        <p:spPr>
          <a:xfrm>
            <a:off x="6446520" y="452628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the number SPLIT: fixed word 25.1 %, adapting it 3.9 %, one comparator takes 72 % of that</a:t>
            </a:r>
          </a:p>
        </p:txBody>
      </p:sp>
      <p:sp>
        <p:nvSpPr>
          <p:cNvPr id="27" name="TextBox 26"/>
          <p:cNvSpPr txBox="1"/>
          <p:nvPr/>
        </p:nvSpPr>
        <p:spPr>
          <a:xfrm>
            <a:off x="640080" y="507492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Design rule</a:t>
            </a:r>
          </a:p>
        </p:txBody>
      </p:sp>
      <p:sp>
        <p:nvSpPr>
          <p:cNvPr id="28" name="TextBox 27"/>
          <p:cNvSpPr txBox="1"/>
          <p:nvPr/>
        </p:nvSpPr>
        <p:spPr>
          <a:xfrm>
            <a:off x="3154680" y="507492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none</a:t>
            </a:r>
          </a:p>
        </p:txBody>
      </p:sp>
      <p:sp>
        <p:nvSpPr>
          <p:cNvPr id="29" name="TextBox 28"/>
          <p:cNvSpPr txBox="1"/>
          <p:nvPr/>
        </p:nvSpPr>
        <p:spPr>
          <a:xfrm>
            <a:off x="6446520" y="507492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adaptive control pays only below ~2.5 nH loop inductance</a:t>
            </a:r>
          </a:p>
        </p:txBody>
      </p:sp>
      <p:sp>
        <p:nvSpPr>
          <p:cNvPr id="30" name="TextBox 29"/>
          <p:cNvSpPr txBox="1"/>
          <p:nvPr/>
        </p:nvSpPr>
        <p:spPr>
          <a:xfrm>
            <a:off x="640080" y="5742432"/>
            <a:ext cx="10972800" cy="68580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The parameter we improve is not a volt or a nanosecond — it is </a:t>
            </a:r>
            <a:r>
              <a:rPr lang="en-US" sz="1200" b="1" dirty="0">
                <a:solidFill>
                  <a:srgbClr val="000000"/>
                </a:solidFill>
                <a:latin typeface="Calibri" pitchFamily="34" charset="0"/>
                <a:ea typeface="Calibri" pitchFamily="34" charset="-122"/>
                <a:cs typeface="Calibri" pitchFamily="34" charset="-120"/>
              </a:rPr>
              <a:t xml:space="preserve">what the designer knows before committing silicon</a:t>
            </a:r>
            <a:r>
              <a:rPr lang="en-US" sz="1200" dirty="0">
                <a:solidFill>
                  <a:srgbClr val="000000"/>
                </a:solidFill>
                <a:latin typeface="Calibri" pitchFamily="34" charset="0"/>
                <a:ea typeface="Calibri" pitchFamily="34" charset="-122"/>
                <a:cs typeface="Calibri" pitchFamily="34" charset="-120"/>
              </a:rPr>
              <a:t xml:space="preserve">. [9] shows a digital code works. We measure what the code is worth, and how much of that worth needs sensing at all: 3.7 % of the achievable gain, which is what the sense + ADC + lookup table has to justify.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that is simulated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circuit.png"/>
          <p:cNvPicPr>
            <a:picLocks noChangeAspect="1"/>
          </p:cNvPicPr>
          <p:nvPr/>
        </p:nvPicPr>
        <p:blipFill>
          <a:blip r:embed="rId3"/>
          <a:stretch>
            <a:fillRect/>
          </a:stretch>
        </p:blipFill>
        <p:spPr>
          <a:xfrm>
            <a:off x="2029968" y="1115568"/>
            <a:ext cx="8129016" cy="4434009"/>
          </a:xfrm>
          <a:prstGeom prst="rect">
            <a:avLst/>
          </a:prstGeom>
        </p:spPr>
      </p:pic>
      <p:sp>
        <p:nvSpPr>
          <p:cNvPr id="6" name="TextBox 5"/>
          <p:cNvSpPr txBox="1"/>
          <p:nvPr/>
        </p:nvSpPr>
        <p:spPr>
          <a:xfrm>
            <a:off x="640080" y="5669280"/>
            <a:ext cx="11064240" cy="7772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Every element is in </a:t>
            </a:r>
            <a:r>
              <a:rPr lang="en-US" sz="1200" b="1" dirty="0">
                <a:solidFill>
                  <a:srgbClr val="000000"/>
                </a:solidFill>
                <a:latin typeface="Calibri" pitchFamily="34" charset="0"/>
                <a:ea typeface="Calibri" pitchFamily="34" charset="-122"/>
                <a:cs typeface="Calibri" pitchFamily="34" charset="-120"/>
              </a:rPr>
              <a:t xml:space="preserve">sim/dpt.cir</a:t>
            </a:r>
            <a:r>
              <a:rPr lang="en-US" sz="1200" dirty="0">
                <a:solidFill>
                  <a:srgbClr val="000000"/>
                </a:solidFill>
                <a:latin typeface="Calibri" pitchFamily="34" charset="0"/>
                <a:ea typeface="Calibri" pitchFamily="34" charset="-122"/>
                <a:cs typeface="Calibri" pitchFamily="34" charset="-120"/>
              </a:rPr>
              <a:t xml:space="preserve">, which is the file to open in LTspice — it carries the active Miller clamp (S</a:t>
            </a:r>
            <a:r>
              <a:rPr lang="en-US" sz="1200" dirty="0">
                <a:solidFill>
                  <a:srgbClr val="000000"/>
                </a:solidFill>
                <a:latin typeface="Calibri" pitchFamily="34" charset="0"/>
                <a:ea typeface="Calibri" pitchFamily="34" charset="-122"/>
                <a:cs typeface="Calibri" pitchFamily="34" charset="-120"/>
              </a:rPr>
              <a:t xml:space="preserve">clk</a:t>
            </a:r>
            <a:r>
              <a:rPr lang="en-US" sz="1200" dirty="0">
                <a:solidFill>
                  <a:srgbClr val="000000"/>
                </a:solidFill>
                <a:latin typeface="Calibri" pitchFamily="34" charset="0"/>
                <a:ea typeface="Calibri" pitchFamily="34" charset="-122"/>
                <a:cs typeface="Calibri" pitchFamily="34" charset="-120"/>
              </a:rPr>
              <a:t xml:space="preserve"> through 0.5 Ω). The three </a:t>
            </a:r>
            <a:r>
              <a:rPr lang="en-US" sz="1200" b="1" dirty="0">
                <a:solidFill>
                  <a:srgbClr val="000000"/>
                </a:solidFill>
                <a:latin typeface="Calibri" pitchFamily="34" charset="0"/>
                <a:ea typeface="Calibri" pitchFamily="34" charset="-122"/>
                <a:cs typeface="Calibri" pitchFamily="34" charset="-120"/>
              </a:rPr>
              <a:t xml:space="preserve">ltspice/*.asc</a:t>
            </a:r>
            <a:r>
              <a:rPr lang="en-US" sz="1200" dirty="0">
                <a:solidFill>
                  <a:srgbClr val="000000"/>
                </a:solidFill>
                <a:latin typeface="Calibri" pitchFamily="34" charset="0"/>
                <a:ea typeface="Calibri" pitchFamily="34" charset="-122"/>
                <a:cs typeface="Calibri" pitchFamily="34" charset="-120"/>
              </a:rPr>
              <a:t xml:space="preserve"> sheets illustrate the crosstalk mechanism only and do not draw the clamp</a:t>
            </a:r>
            <a:r>
              <a:rPr lang="en-US" sz="1200" dirty="0">
                <a:solidFill>
                  <a:srgbClr val="000000"/>
                </a:solidFill>
                <a:latin typeface="Calibri" pitchFamily="34" charset="0"/>
                <a:ea typeface="Calibri" pitchFamily="34" charset="-122"/>
                <a:cs typeface="Calibri" pitchFamily="34" charset="-120"/>
              </a:rPr>
              <a:t xml:space="preserve">. C</a:t>
            </a:r>
            <a:r>
              <a:rPr lang="en-US" sz="1200" dirty="0">
                <a:solidFill>
                  <a:srgbClr val="000000"/>
                </a:solidFill>
                <a:latin typeface="Calibri" pitchFamily="34" charset="0"/>
                <a:ea typeface="Calibri" pitchFamily="34" charset="-122"/>
                <a:cs typeface="Calibri" pitchFamily="34" charset="-120"/>
              </a:rPr>
              <a:t xml:space="preserve">GD</a:t>
            </a:r>
            <a:r>
              <a:rPr lang="en-US" sz="1200" dirty="0">
                <a:solidFill>
                  <a:srgbClr val="000000"/>
                </a:solidFill>
                <a:latin typeface="Calibri" pitchFamily="34" charset="0"/>
                <a:ea typeface="Calibri" pitchFamily="34" charset="-122"/>
                <a:cs typeface="Calibri" pitchFamily="34" charset="-120"/>
              </a:rPr>
              <a:t xml:space="preserve"> on Q2 in red is the crosstalk path; GaN has no body diode, so holding the gate below threshold is paid for again across the dead time.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MATLAB — the Pareto front and the model check</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pareto_matlab.png"/>
          <p:cNvPicPr>
            <a:picLocks noChangeAspect="1"/>
          </p:cNvPicPr>
          <p:nvPr/>
        </p:nvPicPr>
        <p:blipFill>
          <a:blip r:embed="rId3"/>
          <a:stretch>
            <a:fillRect/>
          </a:stretch>
        </p:blipFill>
        <p:spPr>
          <a:xfrm>
            <a:off x="548640" y="1188720"/>
            <a:ext cx="4444977" cy="3337560"/>
          </a:xfrm>
          <a:prstGeom prst="rect">
            <a:avLst/>
          </a:prstGeom>
        </p:spPr>
      </p:pic>
      <p:pic>
        <p:nvPicPr>
          <p:cNvPr id="6" name="Picture 5" descr="crosstalk_model_matlab.png"/>
          <p:cNvPicPr>
            <a:picLocks noChangeAspect="1"/>
          </p:cNvPicPr>
          <p:nvPr/>
        </p:nvPicPr>
        <p:blipFill>
          <a:blip r:embed="rId4"/>
          <a:stretch>
            <a:fillRect/>
          </a:stretch>
        </p:blipFill>
        <p:spPr>
          <a:xfrm>
            <a:off x="6355080" y="1188720"/>
            <a:ext cx="4444977" cy="3337560"/>
          </a:xfrm>
          <a:prstGeom prst="rect">
            <a:avLst/>
          </a:prstGeom>
        </p:spPr>
      </p:pic>
      <p:sp>
        <p:nvSpPr>
          <p:cNvPr id="7" name="TextBox 6"/>
          <p:cNvSpPr txBox="1"/>
          <p:nvPr/>
        </p:nvSpPr>
        <p:spPr>
          <a:xfrm>
            <a:off x="548640" y="4663440"/>
            <a:ext cx="5440680" cy="9601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720 words, 504 feasible (70 %).</a:t>
            </a:r>
            <a:r>
              <a:rPr lang="en-US" sz="1150" dirty="0">
                <a:solidFill>
                  <a:srgbClr val="000000"/>
                </a:solidFill>
                <a:latin typeface="Calibri" pitchFamily="34" charset="0"/>
                <a:ea typeface="Calibri" pitchFamily="34" charset="-122"/>
                <a:cs typeface="Calibri" pitchFamily="34" charset="-120"/>
              </a:rPr>
              <a:t xml:space="preserve"> A 7-word Pareto front; buying one point of overshoot back costs 0.039 µJ. The green marker is the word the cost function picks.</a:t>
            </a:r>
          </a:p>
        </p:txBody>
      </p:sp>
      <p:sp>
        <p:nvSpPr>
          <p:cNvPr id="8" name="TextBox 7"/>
          <p:cNvSpPr txBox="1"/>
          <p:nvPr/>
        </p:nvSpPr>
        <p:spPr>
          <a:xfrm>
            <a:off x="6355080" y="4663440"/>
            <a:ext cx="5257800" cy="9601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two hand calculations disagree by 8.7×.</a:t>
            </a:r>
            <a:r>
              <a:rPr lang="en-US" sz="1150" dirty="0">
                <a:solidFill>
                  <a:srgbClr val="000000"/>
                </a:solidFill>
                <a:latin typeface="Calibri" pitchFamily="34" charset="0"/>
                <a:ea typeface="Calibri" pitchFamily="34" charset="-122"/>
                <a:cs typeface="Calibri" pitchFamily="34" charset="-120"/>
              </a:rPr>
              <a:t xml:space="preserve"> The peak-C bound says 7.50 V, charge-averaging says 0.86 V, SPICE measures 1.65 V — inside the bracket. That gap is why this is simulated, not hand-calculated.</a:t>
            </a:r>
          </a:p>
        </p:txBody>
      </p:sp>
      <p:sp>
        <p:nvSpPr>
          <p:cNvPr id="9" name="TextBox 8"/>
          <p:cNvSpPr txBox="1"/>
          <p:nvPr/>
        </p:nvSpPr>
        <p:spPr>
          <a:xfrm>
            <a:off x="548640" y="5742432"/>
            <a:ext cx="11064240" cy="68580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Dead-time margin saturates at about 15 ns</a:t>
            </a:r>
            <a:r>
              <a:rPr lang="en-US" sz="1200" dirty="0">
                <a:solidFill>
                  <a:srgbClr val="000000"/>
                </a:solidFill>
                <a:latin typeface="Calibri" pitchFamily="34" charset="0"/>
                <a:ea typeface="Calibri" pitchFamily="34" charset="-122"/>
                <a:cs typeface="Calibri" pitchFamily="34" charset="-120"/>
              </a:rPr>
              <a:t xml:space="preserve">: the marginal gain runs 269 → 31.5 → 1.8 → 0.0 mV/ns across 10/15/25/35 ns. Past 15 ns dead time costs conduction loss and buys nothing. </a:t>
            </a:r>
            <a:r>
              <a:rPr lang="en-US" sz="1200" b="1" dirty="0">
                <a:solidFill>
                  <a:srgbClr val="000000"/>
                </a:solidFill>
                <a:latin typeface="Calibri" pitchFamily="34" charset="0"/>
                <a:ea typeface="Calibri" pitchFamily="34" charset="-122"/>
                <a:cs typeface="Calibri" pitchFamily="34" charset="-120"/>
              </a:rPr>
              <a:t xml:space="preserve">results/gan_analysis.m</a:t>
            </a:r>
            <a:r>
              <a:rPr lang="en-US" sz="1200" dirty="0">
                <a:solidFill>
                  <a:srgbClr val="000000"/>
                </a:solidFill>
                <a:latin typeface="Calibri" pitchFamily="34" charset="0"/>
                <a:ea typeface="Calibri" pitchFamily="34" charset="-122"/>
                <a:cs typeface="Calibri" pitchFamily="34" charset="-120"/>
              </a:rPr>
              <a:t xml:space="preserve">, </a:t>
            </a:r>
            <a:r>
              <a:rPr lang="en-US" sz="1200" b="1" dirty="0">
                <a:solidFill>
                  <a:srgbClr val="000000"/>
                </a:solidFill>
                <a:latin typeface="Calibri" pitchFamily="34" charset="0"/>
                <a:ea typeface="Calibri" pitchFamily="34" charset="-122"/>
                <a:cs typeface="Calibri" pitchFamily="34" charset="-120"/>
              </a:rPr>
              <a:t xml:space="preserve">results/gan_master.m</a:t>
            </a:r>
            <a:r>
              <a:rPr lang="en-US" sz="1200" dirty="0">
                <a:solidFill>
                  <a:srgbClr val="000000"/>
                </a:solidFill>
                <a:latin typeface="Calibri" pitchFamily="34" charset="0"/>
                <a:ea typeface="Calibri" pitchFamily="34" charset="-122"/>
                <a:cs typeface="Calibri" pitchFamily="34" charset="-120"/>
              </a:rPr>
              <a:t xml:space="preserve"> — both run in MATLAB or Octave.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The gap this project fills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7</a:t>
            </a:r>
          </a:p>
        </p:txBody>
      </p:sp>
      <p:sp>
        <p:nvSpPr>
          <p:cNvPr id="6" name="TextBox 5"/>
          <p:cNvSpPr txBox="1"/>
          <p:nvPr/>
        </p:nvSpPr>
        <p:spPr>
          <a:xfrm>
            <a:off x="640080" y="1234440"/>
            <a:ext cx="11064240" cy="914400"/>
          </a:xfrm>
          <a:prstGeom prst="rect">
            <a:avLst/>
          </a:prstGeom>
          <a:noFill/>
        </p:spPr>
        <p:txBody>
          <a:bodyPr wrap="square" lIns="0" tIns="0" rIns="0" bIns="0">
            <a:spAutoFit/>
          </a:bodyPr>
          <a:lstStyle/>
          <a:p>
            <a:pPr marL="177800" indent="0">
              <a:spcAft>
                <a:spcPts val="120"/>
              </a:spcAft>
              <a:buSzPct val="100000"/>
              <a:buNone/>
            </a:pPr>
            <a:r>
              <a:rPr lang="en-US" sz="1500" b="1" dirty="0">
                <a:solidFill>
                  <a:srgbClr val="000000"/>
                </a:solidFill>
                <a:latin typeface="Calibri" pitchFamily="34" charset="0"/>
                <a:ea typeface="Calibri" pitchFamily="34" charset="-122"/>
                <a:cs typeface="Calibri" pitchFamily="34" charset="-120"/>
              </a:rPr>
              <a:t xml:space="preserve">Every active-gate-driver paper reports ONE number: the improvement over a conventional driver.</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That number bundles two effects that cost completely different hardware.</a:t>
            </a:r>
          </a:p>
        </p:txBody>
      </p:sp>
      <p:sp>
        <p:nvSpPr>
          <p:cNvPr id="7" name="TextBox 6"/>
          <p:cNvSpPr txBox="1"/>
          <p:nvPr/>
        </p:nvSpPr>
        <p:spPr>
          <a:xfrm>
            <a:off x="64008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1  —  a better FIXED setting</a:t>
            </a:r>
          </a:p>
        </p:txBody>
      </p:sp>
      <p:sp>
        <p:nvSpPr>
          <p:cNvPr id="8" name="TextBox 7"/>
          <p:cNvSpPr txBox="1"/>
          <p:nvPr/>
        </p:nvSpPr>
        <p:spPr>
          <a:xfrm>
            <a:off x="64008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Pick a better control word once, at design time. Costs nothing at run time: no sensor, no ADC, no lookup table, no controller.</a:t>
            </a:r>
          </a:p>
        </p:txBody>
      </p:sp>
      <p:sp>
        <p:nvSpPr>
          <p:cNvPr id="9" name="TextBox 8"/>
          <p:cNvSpPr txBox="1"/>
          <p:nvPr/>
        </p:nvSpPr>
        <p:spPr>
          <a:xfrm>
            <a:off x="448056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25.1 %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0" name="TextBox 9"/>
          <p:cNvSpPr txBox="1"/>
          <p:nvPr/>
        </p:nvSpPr>
        <p:spPr>
          <a:xfrm>
            <a:off x="640080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2  —  ADAPTING per operating point</a:t>
            </a:r>
          </a:p>
        </p:txBody>
      </p:sp>
      <p:sp>
        <p:nvSpPr>
          <p:cNvPr id="11" name="TextBox 10"/>
          <p:cNvSpPr txBox="1"/>
          <p:nvPr/>
        </p:nvSpPr>
        <p:spPr>
          <a:xfrm>
            <a:off x="640080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Change the word as load, bus voltage and temperature move. This is what needs the sensing hardware the architecture is sold on.</a:t>
            </a:r>
          </a:p>
        </p:txBody>
      </p:sp>
      <p:sp>
        <p:nvSpPr>
          <p:cNvPr id="12" name="TextBox 11"/>
          <p:cNvSpPr txBox="1"/>
          <p:nvPr/>
        </p:nvSpPr>
        <p:spPr>
          <a:xfrm>
            <a:off x="1024128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3.9 %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3" name="TextBox 12"/>
          <p:cNvSpPr txBox="1"/>
          <p:nvPr/>
        </p:nvSpPr>
        <p:spPr>
          <a:xfrm>
            <a:off x="640080" y="4526280"/>
            <a:ext cx="11064240" cy="1920240"/>
          </a:xfrm>
          <a:prstGeom prst="rect">
            <a:avLst/>
          </a:prstGeom>
          <a:noFill/>
        </p:spPr>
        <p:txBody>
          <a:bodyPr wrap="square" lIns="0" tIns="0" rIns="0" bIns="0">
            <a:spAutoFit/>
          </a:bodyPr>
          <a:lstStyle/>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 xml:space="preserve">THE GAP: </a:t>
            </a:r>
            <a:r>
              <a:rPr lang="en-US" sz="1400" dirty="0">
                <a:solidFill>
                  <a:srgbClr val="000000"/>
                </a:solidFill>
                <a:latin typeface="Calibri" pitchFamily="34" charset="0"/>
                <a:ea typeface="Calibri" pitchFamily="34" charset="-122"/>
                <a:cs typeface="Calibri" pitchFamily="34" charset="-120"/>
              </a:rPr>
              <a:t xml:space="preserve">no published work separates them. Nobody reports how much of an active gate driver's benefit actually requires adaptation, because separating the two needs an exhaustive search of the control word at every corner — and nobody has run one.</a:t>
            </a:r>
          </a:p>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 xml:space="preserve">WHY IT MATTERS: </a:t>
            </a:r>
            <a:r>
              <a:rPr lang="en-US" sz="1400" dirty="0">
                <a:solidFill>
                  <a:srgbClr val="000000"/>
                </a:solidFill>
                <a:latin typeface="Calibri" pitchFamily="34" charset="0"/>
                <a:ea typeface="Calibri" pitchFamily="34" charset="-122"/>
                <a:cs typeface="Calibri" pitchFamily="34" charset="-120"/>
              </a:rPr>
              <a:t xml:space="preserve">only Effect 2 justifies the sense + ADC + lookup table. If it is small, that hardware is mostly paying for something a design-time choice already delivers — a buy-or-not decision nobody has costed.</a:t>
            </a:r>
          </a:p>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WHAT WE DO: </a:t>
            </a:r>
            <a:r>
              <a:rPr lang="en-US" sz="1400" dirty="0">
                <a:solidFill>
                  <a:srgbClr val="000000"/>
                </a:solidFill>
                <a:latin typeface="Calibri" pitchFamily="34" charset="0"/>
                <a:ea typeface="Calibri" pitchFamily="34" charset="-122"/>
                <a:cs typeface="Calibri" pitchFamily="34" charset="-120"/>
              </a:rPr>
              <a:t xml:space="preserve">720 control words × 4 corners, exhaustively, in ngspice — then report the two numbers separately instead of their sum.</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We implemented the base paper, then ours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13</a:t>
            </a:r>
          </a:p>
        </p:txBody>
      </p:sp>
      <p:sp>
        <p:nvSpPr>
          <p:cNvPr id="6" name="TextBox 5"/>
          <p:cNvSpPr txBox="1"/>
          <p:nvPr/>
        </p:nvSpPr>
        <p:spPr>
          <a:xfrm>
            <a:off x="640080" y="1207008"/>
            <a:ext cx="11064240" cy="868680"/>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Citing a base paper is not a comparison. </a:t>
            </a:r>
            <a:r>
              <a:rPr lang="en-US" sz="1250" dirty="0">
                <a:solidFill>
                  <a:srgbClr val="000000"/>
                </a:solidFill>
                <a:latin typeface="Calibri" pitchFamily="34" charset="0"/>
                <a:ea typeface="Calibri" pitchFamily="34" charset="-122"/>
                <a:cs typeface="Calibri" pitchFamily="34" charset="-120"/>
              </a:rPr>
              <a:t xml:space="preserve">models/basedrv.lib implements Takayama, Okuda &amp; Hikihara's DAC-architecture driver — a multibit code that changes DURING the switching edge, with no Miller clamp and no negative off-bias rail, because those are ours. It runs inside sim/dpt.cir, byte-identical otherwise, so only the driver differs.</a:t>
            </a:r>
          </a:p>
        </p:txBody>
      </p:sp>
      <p:sp>
        <p:nvSpPr>
          <p:cNvPr id="7" name="TextBox 6"/>
          <p:cNvSpPr txBox="1"/>
          <p:nvPr/>
        </p:nvSpPr>
        <p:spPr>
          <a:xfrm>
            <a:off x="640080" y="239572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Base paper, as we built it</a:t>
            </a:r>
          </a:p>
        </p:txBody>
      </p:sp>
      <p:sp>
        <p:nvSpPr>
          <p:cNvPr id="8" name="TextBox 7"/>
          <p:cNvSpPr txBox="1"/>
          <p:nvPr/>
        </p:nvSpPr>
        <p:spPr>
          <a:xfrm>
            <a:off x="4343400" y="234086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+0.533 V</a:t>
            </a:r>
          </a:p>
        </p:txBody>
      </p:sp>
      <p:sp>
        <p:nvSpPr>
          <p:cNvPr id="9" name="TextBox 8"/>
          <p:cNvSpPr txBox="1"/>
          <p:nvPr/>
        </p:nvSpPr>
        <p:spPr>
          <a:xfrm>
            <a:off x="5943600" y="239572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time-sequenced multibit code alone already clears the 1.4 V threshold.</a:t>
            </a:r>
          </a:p>
        </p:txBody>
      </p:sp>
      <p:sp>
        <p:nvSpPr>
          <p:cNvPr id="10" name="TextBox 9"/>
          <p:cNvSpPr txBox="1"/>
          <p:nvPr/>
        </p:nvSpPr>
        <p:spPr>
          <a:xfrm>
            <a:off x="640080" y="303580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constant code, no clamp</a:t>
            </a:r>
          </a:p>
        </p:txBody>
      </p:sp>
      <p:sp>
        <p:nvSpPr>
          <p:cNvPr id="11" name="TextBox 10"/>
          <p:cNvSpPr txBox="1"/>
          <p:nvPr/>
        </p:nvSpPr>
        <p:spPr>
          <a:xfrm>
            <a:off x="4343400" y="298094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−0.249 V</a:t>
            </a:r>
          </a:p>
        </p:txBody>
      </p:sp>
      <p:sp>
        <p:nvSpPr>
          <p:cNvPr id="12" name="TextBox 11"/>
          <p:cNvSpPr txBox="1"/>
          <p:nvPr/>
        </p:nvSpPr>
        <p:spPr>
          <a:xfrm>
            <a:off x="5943600" y="303580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FALSE TURN-ON. A fast FIXED code is worse than their sequenced one — their contribution is real, and we reproduce it.</a:t>
            </a:r>
          </a:p>
        </p:txBody>
      </p:sp>
      <p:sp>
        <p:nvSpPr>
          <p:cNvPr id="13" name="TextBox 12"/>
          <p:cNvSpPr txBox="1"/>
          <p:nvPr/>
        </p:nvSpPr>
        <p:spPr>
          <a:xfrm>
            <a:off x="640080" y="3675887"/>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active Miller clamp on</a:t>
            </a:r>
          </a:p>
        </p:txBody>
      </p:sp>
      <p:sp>
        <p:nvSpPr>
          <p:cNvPr id="14" name="TextBox 13"/>
          <p:cNvSpPr txBox="1"/>
          <p:nvPr/>
        </p:nvSpPr>
        <p:spPr>
          <a:xfrm>
            <a:off x="4343400" y="3621023"/>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+0.570 V</a:t>
            </a:r>
          </a:p>
        </p:txBody>
      </p:sp>
      <p:sp>
        <p:nvSpPr>
          <p:cNvPr id="15" name="TextBox 14"/>
          <p:cNvSpPr txBox="1"/>
          <p:nvPr/>
        </p:nvSpPr>
        <p:spPr>
          <a:xfrm>
            <a:off x="5943600" y="3675887"/>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Only marginally past the base paper. The clamp alone is not the story.</a:t>
            </a:r>
          </a:p>
        </p:txBody>
      </p:sp>
      <p:sp>
        <p:nvSpPr>
          <p:cNvPr id="16" name="TextBox 15"/>
          <p:cNvSpPr txBox="1"/>
          <p:nvPr/>
        </p:nvSpPr>
        <p:spPr>
          <a:xfrm>
            <a:off x="640080" y="4315968"/>
            <a:ext cx="3566160" cy="53035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Ours, clamp + −2 V off-bias</a:t>
            </a:r>
          </a:p>
        </p:txBody>
      </p:sp>
      <p:sp>
        <p:nvSpPr>
          <p:cNvPr id="17" name="TextBox 16"/>
          <p:cNvSpPr txBox="1"/>
          <p:nvPr/>
        </p:nvSpPr>
        <p:spPr>
          <a:xfrm>
            <a:off x="4343400" y="426110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+2.576 V</a:t>
            </a:r>
          </a:p>
        </p:txBody>
      </p:sp>
      <p:sp>
        <p:nvSpPr>
          <p:cNvPr id="18" name="TextBox 17"/>
          <p:cNvSpPr txBox="1"/>
          <p:nvPr/>
        </p:nvSpPr>
        <p:spPr>
          <a:xfrm>
            <a:off x="5943600" y="431596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4.8× the base paper's margin. This is the shipped configuration.</a:t>
            </a:r>
          </a:p>
        </p:txBody>
      </p:sp>
      <p:sp>
        <p:nvSpPr>
          <p:cNvPr id="19" name="TextBox 18"/>
          <p:cNvSpPr txBox="1"/>
          <p:nvPr/>
        </p:nvSpPr>
        <p:spPr>
          <a:xfrm>
            <a:off x="640080" y="5138928"/>
            <a:ext cx="11064240" cy="1234440"/>
          </a:xfrm>
          <a:prstGeom prst="rect">
            <a:avLst/>
          </a:prstGeom>
          <a:noFill/>
        </p:spPr>
        <p:txBody>
          <a:bodyPr wrap="square" lIns="0" tIns="0" rIns="0" bIns="0">
            <a:spAutoFit/>
          </a:bodyPr>
          <a:lstStyle/>
          <a:p>
            <a:pPr marL="177800" indent="0">
              <a:spcAft>
                <a:spcPts val="150"/>
              </a:spcAft>
              <a:buSzPct val="100000"/>
              <a:buNone/>
            </a:pPr>
            <a:r>
              <a:rPr lang="en-US" sz="1250" b="1" dirty="0">
                <a:solidFill>
                  <a:srgbClr val="000000"/>
                </a:solidFill>
                <a:latin typeface="Calibri" pitchFamily="34" charset="0"/>
                <a:ea typeface="Calibri" pitchFamily="34" charset="-122"/>
                <a:cs typeface="Calibri" pitchFamily="34" charset="-120"/>
              </a:rPr>
              <a:t xml:space="preserve">What the comparison shows. </a:t>
            </a:r>
            <a:r>
              <a:rPr lang="en-US" sz="1250" dirty="0">
                <a:solidFill>
                  <a:srgbClr val="000000"/>
                </a:solidFill>
                <a:latin typeface="Calibri" pitchFamily="34" charset="0"/>
                <a:ea typeface="Calibri" pitchFamily="34" charset="-122"/>
                <a:cs typeface="Calibri" pitchFamily="34" charset="-120"/>
              </a:rPr>
              <a:t xml:space="preserve">The base paper shapes the gate waveform in TIME; we hold the code constant and add two actuators it does not have. Both clear the threshold — theirs works — but ours clears it by 4.8× more, and ours is the one whose settings can then be searched exhaustively to ask what adaptation is actually worth.</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Reproduce: </a:t>
            </a:r>
            <a:r>
              <a:rPr lang="en-US" sz="1150" b="1" dirty="0">
                <a:solidFill>
                  <a:srgbClr val="000000"/>
                </a:solidFill>
                <a:latin typeface="Calibri" pitchFamily="34" charset="0"/>
                <a:ea typeface="Calibri" pitchFamily="34" charset="-122"/>
                <a:cs typeface="Calibri" pitchFamily="34" charset="-120"/>
              </a:rPr>
              <a:t xml:space="preserve">python3 scripts/basepaper_compare.py</a:t>
            </a:r>
            <a:r>
              <a:rPr lang="en-US" sz="1150" dirty="0">
                <a:solidFill>
                  <a:srgbClr val="000000"/>
                </a:solidFill>
                <a:latin typeface="Calibri" pitchFamily="34" charset="0"/>
                <a:ea typeface="Calibri" pitchFamily="34" charset="-122"/>
                <a:cs typeface="Calibri" pitchFamily="34" charset="-120"/>
              </a:rPr>
              <a:t xml:space="preserve">  — four ngspice runs, prints this table.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(16–30)</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[16]  </a:t>
            </a:r>
            <a:r>
              <a:rPr lang="en-US" sz="900" dirty="0">
                <a:solidFill>
                  <a:srgbClr val="000000"/>
                </a:solidFill>
                <a:latin typeface="Calibri" pitchFamily="34" charset="0"/>
                <a:ea typeface="Calibri" pitchFamily="34" charset="-122"/>
                <a:cs typeface="Calibri" pitchFamily="34" charset="-120"/>
              </a:rPr>
              <a:t xml:space="preserve">Z. Yuan, H. Li, M. Zhang, Z. Yang, S. Zhao, H. Wang, X. Wang and L. Ding, “Influence of Negative Gate Bias on Crosstalk Spike in SiC MOSFETs Half-Bridge Circuit,” IEEE J. Emerg. Sel. Topics Power Electron., vol. 14, no. 3, pp. 3217–3229,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[17]  </a:t>
            </a:r>
            <a:r>
              <a:rPr lang="en-US" sz="900" dirty="0">
                <a:solidFill>
                  <a:srgbClr val="000000"/>
                </a:solidFill>
                <a:latin typeface="Calibri" pitchFamily="34" charset="0"/>
                <a:ea typeface="Calibri" pitchFamily="34" charset="-122"/>
                <a:cs typeface="Calibri" pitchFamily="34" charset="-120"/>
              </a:rPr>
              <a:t xml:space="preserve">L. Zhang, K. Wang, S. Guo and B. Zhu, “A Gate Driver for Crosstalk Suppression of eGaN HEMT Power Devices,” J. Low Power Electron. Appl., vol. 15, no. 3, pp. 38,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[18]  </a:t>
            </a:r>
            <a:r>
              <a:rPr lang="en-US" sz="900" dirty="0">
                <a:solidFill>
                  <a:srgbClr val="000000"/>
                </a:solidFill>
                <a:latin typeface="Calibri" pitchFamily="34" charset="0"/>
                <a:ea typeface="Calibri" pitchFamily="34" charset="-122"/>
                <a:cs typeface="Calibri" pitchFamily="34" charset="-120"/>
              </a:rPr>
              <a:t xml:space="preserve">J. Wu, “Parallel arrangement of MOSFETs, effective suppression of crosstalk: A new gate driver topology,” iEnergy, vol. 2, no. 3, pp. 163–163,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[19]  </a:t>
            </a:r>
            <a:r>
              <a:rPr lang="en-US" sz="900" dirty="0">
                <a:solidFill>
                  <a:srgbClr val="000000"/>
                </a:solidFill>
                <a:latin typeface="Calibri" pitchFamily="34" charset="0"/>
                <a:ea typeface="Calibri" pitchFamily="34" charset="-122"/>
                <a:cs typeface="Calibri" pitchFamily="34" charset="-120"/>
              </a:rPr>
              <a:t xml:space="preserve">Y. Mikhaylov, G. Buticchi and M. Galea, “A gate driver for parallel connected MOSFETs with crosstalk suppression,” iEnergy, vol. 2, no. 3, pp. 240–250,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[20]  </a:t>
            </a:r>
            <a:r>
              <a:rPr lang="en-US" sz="900" dirty="0">
                <a:solidFill>
                  <a:srgbClr val="000000"/>
                </a:solidFill>
                <a:latin typeface="Calibri" pitchFamily="34" charset="0"/>
                <a:ea typeface="Calibri" pitchFamily="34" charset="-122"/>
                <a:cs typeface="Calibri" pitchFamily="34" charset="-120"/>
              </a:rPr>
              <a:t xml:space="preserve">W. Liu and H. Min, “A Load Adaptive Active Gate Driver with Fast-Switching Three-Level Current Source for Overshoot Suppression in GaN-Based Half-Bridge Converters,” IEEE Trans. Power Electron., pp. 1–8,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[21]  </a:t>
            </a:r>
            <a:r>
              <a:rPr lang="en-US" sz="900" dirty="0">
                <a:solidFill>
                  <a:srgbClr val="000000"/>
                </a:solidFill>
                <a:latin typeface="Calibri" pitchFamily="34" charset="0"/>
                <a:ea typeface="Calibri" pitchFamily="34" charset="-122"/>
                <a:cs typeface="Calibri" pitchFamily="34" charset="-120"/>
              </a:rPr>
              <a:t xml:space="preserve">R. Chen, F. Wang, H. Bai and L.M. Tolbert, “A Simple Gate Driver Circuit for Turn-on Overvoltage Suppression of 10 kV SiC MOSFETs With Temporarily Lowering Gate Voltage During dv/dt,” IEEE Trans. Ind. Electron., pp. 1–6,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[22]  </a:t>
            </a:r>
            <a:r>
              <a:rPr lang="en-US" sz="900" dirty="0">
                <a:solidFill>
                  <a:srgbClr val="000000"/>
                </a:solidFill>
                <a:latin typeface="Calibri" pitchFamily="34" charset="0"/>
                <a:ea typeface="Calibri" pitchFamily="34" charset="-122"/>
                <a:cs typeface="Calibri" pitchFamily="34" charset="-120"/>
              </a:rPr>
              <a:t xml:space="preserve">D. Yu, M. Yang, L. Yin, K. Hu, W. Zhang and Q. Fu, “A Dual-Loop Active Gate Driver With Independent Voltage Slew Rate and Overshoot Control for Switching Loss Optimization of SiC MOSFETs,” IEEE Trans. Ind. Electron., pp. 1–12,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[23]  </a:t>
            </a:r>
            <a:r>
              <a:rPr lang="en-US" sz="900" dirty="0">
                <a:solidFill>
                  <a:srgbClr val="000000"/>
                </a:solidFill>
                <a:latin typeface="Calibri" pitchFamily="34" charset="0"/>
                <a:ea typeface="Calibri" pitchFamily="34" charset="-122"/>
                <a:cs typeface="Calibri" pitchFamily="34" charset="-120"/>
              </a:rPr>
              <a:t xml:space="preserve">P. Xiang, R. Hao, J. Cai and X. You, “An Active Gate Driver of SiC MOSFET Module Based on PCB Rogowski Coil for Optimizing Tradeoff Between Overshoot and Switching Loss,” IEEE Trans. Power Electron., vol. 38, no. 1, pp. 245–260,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[24]  </a:t>
            </a:r>
            <a:r>
              <a:rPr lang="en-US" sz="900" dirty="0">
                <a:solidFill>
                  <a:srgbClr val="000000"/>
                </a:solidFill>
                <a:latin typeface="Calibri" pitchFamily="34" charset="0"/>
                <a:ea typeface="Calibri" pitchFamily="34" charset="-122"/>
                <a:cs typeface="Calibri" pitchFamily="34" charset="-120"/>
              </a:rPr>
              <a:t xml:space="preserve">S. Fukunaga, H. Takayama and T. Hikihara, “Slew rate control of switching transient for SiC MOSFET in boost converter using digital active gate driver,” IET Power Electron., vol. 16, no. 3, pp. 472–482,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[25]  </a:t>
            </a:r>
            <a:r>
              <a:rPr lang="en-US" sz="900" dirty="0">
                <a:solidFill>
                  <a:srgbClr val="000000"/>
                </a:solidFill>
                <a:latin typeface="Calibri" pitchFamily="34" charset="0"/>
                <a:ea typeface="Calibri" pitchFamily="34" charset="-122"/>
                <a:cs typeface="Calibri" pitchFamily="34" charset="-120"/>
              </a:rPr>
              <a:t xml:space="preserve">C. Xu, P. Fu, X. Liao, Z. Zhu and L. Liu, “An Integrated Driver With Real-Time Predictive Dead-Time Optimization Technique for GaN-Based Synchronous Buck Converter,” IEEE J. Emerg. Sel. Topics Power Electron., vol. 13, no. 3, pp. 3173–3183,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[26]  </a:t>
            </a:r>
            <a:r>
              <a:rPr lang="en-US" sz="900" dirty="0">
                <a:solidFill>
                  <a:srgbClr val="000000"/>
                </a:solidFill>
                <a:latin typeface="Calibri" pitchFamily="34" charset="0"/>
                <a:ea typeface="Calibri" pitchFamily="34" charset="-122"/>
                <a:cs typeface="Calibri" pitchFamily="34" charset="-120"/>
              </a:rPr>
              <a:t xml:space="preserve">C. Chen, P. Chiu, Y. Chen, P. Wang and Y. Chang, “An Integrated Driver With Adaptive Dead-Time Control for GaN-Based Synchronous Buck Converter,” IEEE Trans. Circuits Syst. II, vol. 69, no. 2, pp. 539–543,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[27]  </a:t>
            </a:r>
            <a:r>
              <a:rPr lang="en-US" sz="900" dirty="0">
                <a:solidFill>
                  <a:srgbClr val="000000"/>
                </a:solidFill>
                <a:latin typeface="Calibri" pitchFamily="34" charset="0"/>
                <a:ea typeface="Calibri" pitchFamily="34" charset="-122"/>
                <a:cs typeface="Calibri" pitchFamily="34" charset="-120"/>
              </a:rPr>
              <a:t xml:space="preserve">J. Tan, Z. Zhou and G. Zou, “A Programmable Gate Driver Module-Based Multistage Voltage Regulation SiC MOSFET Switching Strategy,” Electronics, vol. 13, no. 22, pp. 4379,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[28]  </a:t>
            </a:r>
            <a:r>
              <a:rPr lang="en-US" sz="900" dirty="0">
                <a:solidFill>
                  <a:srgbClr val="000000"/>
                </a:solidFill>
                <a:latin typeface="Calibri" pitchFamily="34" charset="0"/>
                <a:ea typeface="Calibri" pitchFamily="34" charset="-122"/>
                <a:cs typeface="Calibri" pitchFamily="34" charset="-120"/>
              </a:rPr>
              <a:t xml:space="preserve">C. Chen, P. Wang, S. Li, Y. Chen and Y. Chang, “An Integrated Driver With Bang-Bang Dead-Time Control and Charge Sharing Bootstrap Circuit for GaN Synchronous Buck Converter,” IEEE Trans. Power Electron., vol. 37, no. 8, pp. 9503–9514,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[29]  </a:t>
            </a:r>
            <a:r>
              <a:rPr lang="en-US" sz="900" dirty="0">
                <a:solidFill>
                  <a:srgbClr val="000000"/>
                </a:solidFill>
                <a:latin typeface="Calibri" pitchFamily="34" charset="0"/>
                <a:ea typeface="Calibri" pitchFamily="34" charset="-122"/>
                <a:cs typeface="Calibri" pitchFamily="34" charset="-120"/>
              </a:rPr>
              <a:t xml:space="preserve">G.H. Thuc, M. Tsai, C. Chen, J. Fu, W. Wu and W. Lin, “A Current Source Gate Driver with Dual-Edge Adaptive Slew Rate for GaN Devices,” in Proc. 2026 IEEE Applied Power Electronics Conference and Exposition (APEC),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[30]  </a:t>
            </a:r>
            <a:r>
              <a:rPr lang="en-US" sz="900" dirty="0">
                <a:solidFill>
                  <a:srgbClr val="000000"/>
                </a:solidFill>
                <a:latin typeface="Calibri" pitchFamily="34" charset="0"/>
                <a:ea typeface="Calibri" pitchFamily="34" charset="-122"/>
                <a:cs typeface="Calibri" pitchFamily="34" charset="-120"/>
              </a:rPr>
              <a:t xml:space="preserve">G. Wu, Y. Huang, Y. Chen and C. Chen, “Closed-loop Slew Rate Control of Active Current Source Gate Driver with Digital Implementation for SiC MOSFET,” in Proc. 2025 IEEE Energy Conversion Conference Congress and Exposition (ECCE), 2025.</a:t>
            </a:r>
          </a:p>
          <a:p>
            <a:pPr marL="177800" indent="0">
              <a:spcAft>
                <a:spcPts val="160"/>
              </a:spcAft>
              <a:buSzPct val="100000"/>
              <a:buNone/>
            </a:pPr>
            <a:r>
              <a:rPr lang="en-US" sz="850" dirty="0">
                <a:solidFill>
                  <a:srgbClr val="000000"/>
                </a:solidFill>
                <a:latin typeface="Calibri" pitchFamily="34" charset="0"/>
                <a:ea typeface="Calibri" pitchFamily="34" charset="-122"/>
                <a:cs typeface="Calibri" pitchFamily="34" charset="-120"/>
              </a:rPr>
              <a:t xml:space="preserve">All 30 verified against the publisher record — authors, volume, issue and pages resolved through Crossref by DOI and title, not transcribed by hand.</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