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7" r:id="rId18"/>
    <p:sldId id="281" r:id="rId32"/>
    <p:sldId id="261" r:id="rId7"/>
    <p:sldId id="274" r:id="rId25"/>
    <p:sldId id="279" r:id="rId30"/>
    <p:sldId id="277" r:id="rId28"/>
    <p:sldId id="278" r:id="rId29"/>
    <p:sldId id="282" r:id="rId33"/>
    <p:sldId id="262" r:id="rId8"/>
    <p:sldId id="272" r:id="rId23"/>
    <p:sldId id="273" r:id="rId24"/>
    <p:sldId id="263" r:id="rId9"/>
    <p:sldId id="280" r:id="rId31"/>
    <p:sldId id="275" r:id="rId26"/>
    <p:sldId id="276" r:id="rId27"/>
    <p:sldId id="264" r:id="rId10"/>
    <p:sldId id="268" r:id="rId19"/>
    <p:sldId id="269" r:id="rId20"/>
    <p:sldId id="270" r:id="rId21"/>
    <p:sldId id="271" r:id="rId22"/>
    <p:sldId id="265" r:id="rId11"/>
    <p:sldId id="283" r:id="rId34"/>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In a GaN half-bridge the dV/dt of one device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meant to be off. With a threshold near 1.4 V the spurious pulse can exceed it and turn that device partially on — shoot-through, extra loss, and at worst destruction.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switching core of EV and HEV traction inverters, on-board chargers and high-density server supplies, where the whole reason to choose GaN is to switch faster — which is exactly what makes this failure mode worse.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Negative off-bias is uniquely expensive on GaN: with no body diode the reverse drop is V</a:t>
            </a:r>
            <a:r>
              <a:rPr lang="en-US" sz="1500" dirty="0">
                <a:solidFill>
                  <a:srgbClr val="000000"/>
                </a:solidFill>
                <a:latin typeface="Calibri" pitchFamily="34" charset="0"/>
                <a:ea typeface="Calibri" pitchFamily="34" charset="-122"/>
                <a:cs typeface="Calibri" pitchFamily="34" charset="-120"/>
              </a:rPr>
              <a:t xml:space="preserve">th</a:t>
            </a:r>
            <a:r>
              <a:rPr lang="en-US" sz="1500" dirty="0">
                <a:solidFill>
                  <a:srgbClr val="000000"/>
                </a:solidFill>
                <a:latin typeface="Calibri" pitchFamily="34" charset="0"/>
                <a:ea typeface="Calibri" pitchFamily="34" charset="-122"/>
                <a:cs typeface="Calibri" pitchFamily="34" charset="-120"/>
              </a:rPr>
              <a:t xml:space="preserve"> + I·R + |V</a:t>
            </a:r>
            <a:r>
              <a:rPr lang="en-US" sz="1500" dirty="0">
                <a:solidFill>
                  <a:srgbClr val="000000"/>
                </a:solidFill>
                <a:latin typeface="Calibri" pitchFamily="34" charset="0"/>
                <a:ea typeface="Calibri" pitchFamily="34" charset="-122"/>
                <a:cs typeface="Calibri" pitchFamily="34" charset="-120"/>
              </a:rPr>
              <a:t xml:space="preserve">GS,off</a:t>
            </a:r>
            <a:r>
              <a:rPr lang="en-US" sz="1500" dirty="0">
                <a:solidFill>
                  <a:srgbClr val="000000"/>
                </a:solidFill>
                <a:latin typeface="Calibri" pitchFamily="34" charset="0"/>
                <a:ea typeface="Calibri" pitchFamily="34" charset="-122"/>
                <a:cs typeface="Calibri" pitchFamily="34" charset="-120"/>
              </a:rPr>
              <a:t xml:space="preserve">|, so each volt of margin is paid for again across the dead time.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with segmented drive strength, Miller clamps, programmable dead time and negative off-bias [1]–[4]. Closed-loop designs adapt to the operating point and report large gains — 30.5 % less overshoot, 75 % less turn-off loss — against a conventional driver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ever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t>
            </a:r>
            <a:r>
              <a:rPr lang="en-US" sz="1500" b="1" dirty="0">
                <a:solidFill>
                  <a:srgbClr val="000000"/>
                </a:solidFill>
                <a:latin typeface="Calibri" pitchFamily="34" charset="0"/>
                <a:ea typeface="Calibri" pitchFamily="34" charset="-122"/>
                <a:cs typeface="Calibri" pitchFamily="34" charset="-120"/>
              </a:rPr>
              <a:t xml:space="preserve">choosing better fixed settings</a:t>
            </a:r>
            <a:r>
              <a:rPr lang="en-US" sz="1500" dirty="0">
                <a:solidFill>
                  <a:srgbClr val="000000"/>
                </a:solidFill>
                <a:latin typeface="Calibri" pitchFamily="34" charset="0"/>
                <a:ea typeface="Calibri" pitchFamily="34" charset="-122"/>
                <a:cs typeface="Calibri" pitchFamily="34" charset="-120"/>
              </a:rPr>
              <a:t xml:space="preserve"> with </a:t>
            </a:r>
            <a:r>
              <a:rPr lang="en-US" sz="1500" b="1" dirty="0">
                <a:solidFill>
                  <a:srgbClr val="000000"/>
                </a:solidFill>
                <a:latin typeface="Calibri" pitchFamily="34" charset="0"/>
                <a:ea typeface="Calibri" pitchFamily="34" charset="-122"/>
                <a:cs typeface="Calibri" pitchFamily="34" charset="-120"/>
              </a:rPr>
              <a:t xml:space="preserve">adapting settings per operating point</a:t>
            </a:r>
            <a:r>
              <a:rPr lang="en-US" sz="1500" dirty="0">
                <a:solidFill>
                  <a:srgbClr val="000000"/>
                </a:solidFill>
                <a:latin typeface="Calibri" pitchFamily="34" charset="0"/>
                <a:ea typeface="Calibri" pitchFamily="34" charset="-122"/>
                <a:cs typeface="Calibri" pitchFamily="34" charset="-120"/>
              </a:rPr>
              <a:t xml:space="preserve">. Only the second needs sensing, a lookup table and a controller — the cost that justifies the architecture, and the one nobody has priced.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Literature Landscape — four clusters, and where we sit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61188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1050" b="0">
                          <a:solidFill>
                            <a:srgbClr val="000000"/>
                          </a:solidFill>
                          <a:latin typeface="Calibri"/>
                        </a:rPr>
                        <a: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Cluster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1050" b="0">
                          <a:solidFill>
                            <a:srgbClr val="000000"/>
                          </a:solidFill>
                          <a:latin typeface="Calibri"/>
                        </a:rPr>
                        <a:t>Refs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2">
                  <a:txBody>
                    <a:bodyPr wrap="square"/>
                    <a:lstStyle/>
                    <a:p>
                      <a:pPr marL="0" indent="0">
                        <a:buNone/>
                      </a:pPr>
                      <a:r>
                        <a:rPr sz="1050" b="0">
                          <a:solidFill>
                            <a:srgbClr val="000000"/>
                          </a:solidFill>
                          <a:latin typeface="Calibri"/>
                        </a:rPr>
                        <a:t>What the cluster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22960">
                <a:tc>
                  <a:txBody>
                    <a:bodyPr wrap="square"/>
                    <a:lstStyle/>
                    <a:p>
                      <a:pPr marL="0" indent="0">
                        <a:buNone/>
                      </a:pPr>
                      <a:r>
                        <a:rPr sz="1050" b="0">
                          <a:solidFill>
                            <a:srgbClr val="000000"/>
                          </a:solidFill>
                          <a:latin typeface="Calibri"/>
                        </a:rPr>
                        <a:t>A</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A · Passive / analogue crosstalk fixes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[1] [3] [4] [11] [12]</a:t>
                      </a:r>
                      <a:endParaRPr lang="en-US" sz="1300" dirty="0">
                        <a:latin typeface="Calibri" charset="0"/>
                        <a:ea typeface="Calibri" charset="0"/>
                        <a:cs typeface="Calibri" charset="0"/>
                      </a:endParaRPr>
                    </a:p>
                    <a:p>
                      <a:r>
                        <a:rPr sz="1050" b="0">
                          <a:solidFill>
                            <a:srgbClr val="000000"/>
                          </a:solidFill>
                          <a:latin typeface="Calibri"/>
                        </a:rPr>
                        <a:t>[14]–[19]</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Negative off-bias, RC-diode rails, three-level drive, Miller clamps. Cheap and effective, but the setting is chosen once by hand and never revisited.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22960">
                <a:tc>
                  <a:txBody>
                    <a:bodyPr wrap="square"/>
                    <a:lstStyle/>
                    <a:p>
                      <a:pPr marL="0" indent="0">
                        <a:buNone/>
                      </a:pPr>
                      <a:r>
                        <a:rPr sz="1050" b="0">
                          <a:solidFill>
                            <a:srgbClr val="000000"/>
                          </a:solidFill>
                          <a:latin typeface="Calibri"/>
                        </a:rPr>
                        <a:t>B</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B · Closed-loop analogue adaptation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[5] [6] [7]</a:t>
                      </a:r>
                      <a:endParaRPr lang="en-US" sz="1300" dirty="0">
                        <a:latin typeface="Calibri" charset="0"/>
                        <a:ea typeface="Calibri" charset="0"/>
                        <a:cs typeface="Calibri" charset="0"/>
                      </a:endParaRPr>
                    </a:p>
                    <a:p>
                      <a:r>
                        <a:rPr sz="1050" b="0">
                          <a:solidFill>
                            <a:srgbClr val="000000"/>
                          </a:solidFill>
                          <a:latin typeface="Calibri"/>
                        </a:rPr>
                        <a:t>[20]–[24]</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Sense the operating point, regulate drive strength or timing in the loop. Reports large gains — 30.5 % less overshoot, 75 % less turn-off loss — against a conventional driver.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22960">
                <a:tc>
                  <a:txBody>
                    <a:bodyPr wrap="square"/>
                    <a:lstStyle/>
                    <a:p>
                      <a:pPr marL="0" indent="0">
                        <a:buNone/>
                      </a:pPr>
                      <a:r>
                        <a:rPr sz="1050" b="0">
                          <a:solidFill>
                            <a:srgbClr val="000000"/>
                          </a:solidFill>
                          <a:latin typeface="Calibri"/>
                        </a:rPr>
                        <a:t>C</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C · Adaptive dead-time control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[8] [13]</a:t>
                      </a:r>
                      <a:endParaRPr lang="en-US" sz="1300" dirty="0">
                        <a:latin typeface="Calibri" charset="0"/>
                        <a:ea typeface="Calibri" charset="0"/>
                        <a:cs typeface="Calibri" charset="0"/>
                      </a:endParaRPr>
                    </a:p>
                    <a:p>
                      <a:r>
                        <a:rPr sz="1050" b="0">
                          <a:solidFill>
                            <a:srgbClr val="000000"/>
                          </a:solidFill>
                          <a:latin typeface="Calibri"/>
                        </a:rPr>
                        <a:t>[25] [26]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Dead time driven to sub-nanosecond across load. The one field our own freeze test finds actually carries the benefit — and only at light load.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22960">
                <a:tc>
                  <a:txBody>
                    <a:bodyPr wrap="square"/>
                    <a:lstStyle/>
                    <a:p>
                      <a:pPr marL="0" indent="0">
                        <a:buNone/>
                      </a:pPr>
                      <a:r>
                        <a:rPr sz="1050" b="0">
                          <a:solidFill>
                            <a:srgbClr val="000000"/>
                          </a:solidFill>
                          <a:latin typeface="Calibri"/>
                        </a:rPr>
                        <a:t>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D · DIGITAL / segmented drive  — where this project sits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[9] BASE   [10]</a:t>
                      </a:r>
                      <a:endParaRPr lang="en-US" sz="1300" dirty="0">
                        <a:latin typeface="Calibri" charset="0"/>
                        <a:ea typeface="Calibri" charset="0"/>
                        <a:cs typeface="Calibri" charset="0"/>
                      </a:endParaRPr>
                    </a:p>
                    <a:p>
                      <a:r>
                        <a:rPr sz="1050" b="0">
                          <a:solidFill>
                            <a:srgbClr val="000000"/>
                          </a:solidFill>
                          <a:latin typeface="Calibri"/>
                        </a:rPr>
                        <a:t>[27]–[30]</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2">
                  <a:txBody>
                    <a:bodyPr wrap="square"/>
                    <a:lstStyle/>
                    <a:p>
                      <a:pPr marL="0" indent="0">
                        <a:buNone/>
                      </a:pPr>
                      <a:r>
                        <a:rPr sz="1050" b="0">
                          <a:solidFill>
                            <a:srgbClr val="000000"/>
                          </a:solidFill>
                          <a:latin typeface="Calibri"/>
                        </a:rPr>
                        <a:t>The gate waveform selected by a multibit CODE rather than a resistor network. [9] is the BASE PAPER — doi.org/10.1002/cta.3136 — and [10] is the closest GaN implementation. Digital means FPGA-implementable, and the code space can be searched exhaustively.</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30 references, all publisher-verified, grouped by what the driver DOES. Clusters A–C set or regulate in analogue; only cluster D makes the setting a digital CODE — which is what makes an exhaustive search possible at all.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053328"/>
            <a:ext cx="1106424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Titles, venues, years and DOIs are confirmed; author lists and page ranges sit behind IEEE Xplore, which the build environment cannot reach, and are not invented.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069848" y="1207008"/>
            <a:ext cx="10058400" cy="4800600"/>
          </a:xfrm>
          <a:prstGeom prst="rect">
            <a:avLst/>
          </a:prstGeom>
        </p:spPr>
      </p:pic>
      <p:sp>
        <p:nvSpPr>
          <p:cNvPr id="6" name="TextBox 5"/>
          <p:cNvSpPr txBox="1"/>
          <p:nvPr/>
        </p:nvSpPr>
        <p:spPr>
          <a:xfrm>
            <a:off x="640080" y="6089904"/>
            <a:ext cx="10881360" cy="347472"/>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Solid blocks are configured once at power-up. The dashed block — sensing, ADC and lookup table — is the adaptive machinery this project exists to price.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Crosstalk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Fastest drive, no clamp: spurious gate peak </a:t>
            </a:r>
            <a:r>
              <a:rPr lang="en-US" sz="1500" b="1" dirty="0">
                <a:solidFill>
                  <a:srgbClr val="000000"/>
                </a:solidFill>
                <a:latin typeface="Calibri" pitchFamily="34" charset="0"/>
                <a:ea typeface="Calibri" pitchFamily="34" charset="-122"/>
                <a:cs typeface="Calibri" pitchFamily="34" charset="-120"/>
              </a:rPr>
              <a:t xml:space="preserve">1.65 V</a:t>
            </a:r>
            <a:r>
              <a:rPr lang="en-US" sz="1500" dirty="0">
                <a:solidFill>
                  <a:srgbClr val="000000"/>
                </a:solidFill>
                <a:latin typeface="Calibri" pitchFamily="34" charset="0"/>
                <a:ea typeface="Calibri" pitchFamily="34" charset="-122"/>
                <a:cs typeface="Calibri" pitchFamily="34" charset="-120"/>
              </a:rPr>
              <a:t xml:space="preserve"> against a 1.4 V threshold — false turn-on, the failure this project exists to remove. Miller clamp on with −2 V off-bias: </a:t>
            </a:r>
            <a:r>
              <a:rPr lang="en-US" sz="1500" b="1" dirty="0">
                <a:solidFill>
                  <a:srgbClr val="000000"/>
                </a:solidFill>
                <a:latin typeface="Calibri" pitchFamily="34" charset="0"/>
                <a:ea typeface="Calibri" pitchFamily="34" charset="-122"/>
                <a:cs typeface="Calibri" pitchFamily="34" charset="-120"/>
              </a:rPr>
              <a:t xml:space="preserve">−1.18 V</a:t>
            </a:r>
            <a:r>
              <a:rPr lang="en-US" sz="1500" dirty="0">
                <a:solidFill>
                  <a:srgbClr val="000000"/>
                </a:solidFill>
                <a:latin typeface="Calibri" pitchFamily="34" charset="0"/>
                <a:ea typeface="Calibri" pitchFamily="34" charset="-122"/>
                <a:cs typeface="Calibri" pitchFamily="34" charset="-120"/>
              </a:rPr>
              <a:t xml:space="preserve">, a 2.58 V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full exhaustive search is done.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control words at each of four corners (50–200 V, 2–10 A, 25–125 °C) = 2,880 transients, plus 1,511 over a 36-point operating grid.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result has been stress-tested.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perturbing five device-model parameters; the ceiling holds between 4.3 % and 7.7 % against every one of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Both objections to the result have been tested, not argued.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Loop inductance (7,192 transients, eight values): adaptive control pays below ~2.5 nH, peaking at 13.5 %. EMI (1,440 transients): pricing it makes scheduling worth </a:t>
            </a:r>
            <a:r>
              <a:rPr lang="en-US" sz="1500" b="1" dirty="0">
                <a:solidFill>
                  <a:srgbClr val="000000"/>
                </a:solidFill>
                <a:latin typeface="Calibri" pitchFamily="34" charset="0"/>
                <a:ea typeface="Calibri" pitchFamily="34" charset="-122"/>
                <a:cs typeface="Calibri" pitchFamily="34" charset="-120"/>
              </a:rPr>
              <a:t xml:space="preserve">less</a:t>
            </a:r>
            <a:r>
              <a:rPr lang="en-US" sz="1500" dirty="0">
                <a:solidFill>
                  <a:srgbClr val="000000"/>
                </a:solidFill>
                <a:latin typeface="Calibri" pitchFamily="34" charset="0"/>
                <a:ea typeface="Calibri" pitchFamily="34" charset="-122"/>
                <a:cs typeface="Calibri" pitchFamily="34" charset="-120"/>
              </a:rPr>
              <a:t xml:space="preserve">, not more — 5.95 % → 0.15 %.</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LTspice port has been run in LTspice.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three shipped .cir files give 1.6487 / 0.8282 / −1.1768 V in LTspice 24, matching ngspice within 2 mV — the result is not an artefact of one simulator. Spectre remains a port.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 a 34-section written record, and a full manuscript draft with five tables and four figures.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 Cadence Spectre / OCEAN · SKY130 PDK (BSIM4) · Python / NumPy / Matplotlib · MATLAB Online, used as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the study's own result built into the hardware, since dead time is worth 5.45 % to schedule (carried by the light-load corner alone) and pull-up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Reset lands on the safest word, not the fastest.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Synthesised. </a:t>
            </a:r>
            <a:r>
              <a:rPr lang="en-US" sz="1500" dirty="0">
                <a:solidFill>
                  <a:srgbClr val="000000"/>
                </a:solidFill>
                <a:latin typeface="Calibri" pitchFamily="34" charset="0"/>
                <a:ea typeface="Calibri" pitchFamily="34" charset="-122"/>
                <a:cs typeface="Calibri" pitchFamily="34" charset="-120"/>
              </a:rPr>
              <a:t xml:space="preserve">Strapping the word instead of leaving all six fields live takes the controller from </a:t>
            </a:r>
            <a:r>
              <a:rPr lang="en-US" sz="1500" b="1" dirty="0">
                <a:solidFill>
                  <a:srgbClr val="000000"/>
                </a:solidFill>
                <a:latin typeface="Calibri" pitchFamily="34" charset="0"/>
                <a:ea typeface="Calibri" pitchFamily="34" charset="-122"/>
                <a:cs typeface="Calibri" pitchFamily="34" charset="-120"/>
              </a:rPr>
              <a:t xml:space="preserve">371 cells to 129</a:t>
            </a:r>
            <a:r>
              <a:rPr lang="en-US" sz="1500" dirty="0">
                <a:solidFill>
                  <a:srgbClr val="000000"/>
                </a:solidFill>
                <a:latin typeface="Calibri" pitchFamily="34" charset="0"/>
                <a:ea typeface="Calibri" pitchFamily="34" charset="-122"/>
                <a:cs typeface="Calibri" pitchFamily="34" charset="-120"/>
              </a:rPr>
              <a:t xml:space="preserve"> — 65 % less logic for the 3.9 % of baseline that adaptation buys. Generic gates, not Xilinx LUTs. Vivado export written (rtl/vivado/, bench passes); not yet run — Windows/Linux only.</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154680"/>
            <a:ext cx="4526280" cy="3108960"/>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180"/>
              </a:spcAft>
              <a:buSzPct val="100000"/>
              <a:buChar char="•"/>
            </a:pPr>
            <a:r>
              <a:rPr lang="en-US" sz="1450" dirty="0">
                <a:solidFill>
                  <a:srgbClr val="000000"/>
                </a:solidFill>
                <a:latin typeface="Calibri" pitchFamily="34" charset="0"/>
                <a:ea typeface="Calibri" pitchFamily="34" charset="-122"/>
                <a:cs typeface="Calibri" pitchFamily="34" charset="-120"/>
              </a:rPr>
              <a:t xml:space="preserve">Choosing the control word well matters enormously — it spans roughly fivefold in switching energy. </a:t>
            </a:r>
            <a:r>
              <a:rPr lang="en-US" sz="1450" b="1" dirty="0">
                <a:solidFill>
                  <a:srgbClr val="000000"/>
                </a:solidFill>
                <a:latin typeface="Calibri" pitchFamily="34" charset="0"/>
                <a:ea typeface="Calibri" pitchFamily="34" charset="-122"/>
                <a:cs typeface="Calibri" pitchFamily="34" charset="-120"/>
              </a:rPr>
              <a:t xml:space="preserve">Adapting it to the operating point does not: 3.9 %, a seventh of the total gain, and one comparator takes 72 % of even that.</a:t>
            </a:r>
          </a:p>
          <a:p>
            <a:pPr marL="177800" indent="-177800">
              <a:spcAft>
                <a:spcPts val="180"/>
              </a:spcAft>
              <a:buSzPct val="100000"/>
              <a:buChar char="•"/>
            </a:pPr>
            <a:r>
              <a:rPr lang="en-US" sz="1400" dirty="0">
                <a:solidFill>
                  <a:srgbClr val="000000"/>
                </a:solidFill>
                <a:latin typeface="Calibri" pitchFamily="34" charset="0"/>
                <a:ea typeface="Calibri" pitchFamily="34" charset="-122"/>
                <a:cs typeface="Calibri" pitchFamily="34" charset="-120"/>
              </a:rPr>
              <a:t xml:space="preserve">The benefit that exists is carried by the </a:t>
            </a:r>
            <a:r>
              <a:rPr lang="en-US" sz="1400" b="1" dirty="0">
                <a:solidFill>
                  <a:srgbClr val="000000"/>
                </a:solidFill>
                <a:latin typeface="Calibri" pitchFamily="34" charset="0"/>
                <a:ea typeface="Calibri" pitchFamily="34" charset="-122"/>
                <a:cs typeface="Calibri" pitchFamily="34" charset="-120"/>
              </a:rPr>
              <a:t xml:space="preserve">dead time</a:t>
            </a:r>
            <a:r>
              <a:rPr lang="en-US" sz="1400" dirty="0">
                <a:solidFill>
                  <a:srgbClr val="000000"/>
                </a:solidFill>
                <a:latin typeface="Calibri" pitchFamily="34" charset="0"/>
                <a:ea typeface="Calibri" pitchFamily="34" charset="-122"/>
                <a:cs typeface="Calibri" pitchFamily="34" charset="-120"/>
              </a:rPr>
              <a:t xml:space="preserve"> — and the dead time, in turn, by the </a:t>
            </a:r>
            <a:r>
              <a:rPr lang="en-US" sz="1400" b="1" dirty="0">
                <a:solidFill>
                  <a:srgbClr val="000000"/>
                </a:solidFill>
                <a:latin typeface="Calibri" pitchFamily="34" charset="0"/>
                <a:ea typeface="Calibri" pitchFamily="34" charset="-122"/>
                <a:cs typeface="Calibri" pitchFamily="34" charset="-120"/>
              </a:rPr>
              <a:t xml:space="preserve">light-load corner alone</a:t>
            </a:r>
            <a:r>
              <a:rPr lang="en-US" sz="1400" dirty="0">
                <a:solidFill>
                  <a:srgbClr val="000000"/>
                </a:solidFill>
                <a:latin typeface="Calibri" pitchFamily="34" charset="0"/>
                <a:ea typeface="Calibri" pitchFamily="34" charset="-122"/>
                <a:cs typeface="Calibri" pitchFamily="34" charset="-120"/>
              </a:rPr>
              <a:t xml:space="preserve">: leave it out and freezing dead time costs 0.00 %. Not by the drive-strength segmentation that motivates the hardware, which stays at 0.00 % even when the objective prices EMI. Crosstalk safety is nearly free once the clamp is present.</a:t>
            </a:r>
          </a:p>
          <a:p>
            <a:pPr marL="177800" indent="-177800">
              <a:spcAft>
                <a:spcPts val="26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Stated positively — and this is the deliverable, not the percentage: </a:t>
            </a:r>
            <a:r>
              <a:rPr lang="en-US" sz="1450" dirty="0">
                <a:solidFill>
                  <a:srgbClr val="000000"/>
                </a:solidFill>
                <a:latin typeface="Calibri" pitchFamily="34" charset="0"/>
                <a:ea typeface="Calibri" pitchFamily="34" charset="-122"/>
                <a:cs typeface="Calibri" pitchFamily="34" charset="-120"/>
              </a:rPr>
              <a:t xml:space="preserve">use the recommended fixed word with a light-load comparator, and the full sense + ADC + lookup table is left justifying 3.7 % of the achievable gain.</a:t>
            </a:r>
          </a:p>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 xml:space="preserve">What the data now answers, and what is next</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The EMI objection is now tested rather than conceded.</a:t>
            </a:r>
            <a:r>
              <a:rPr lang="en-US" sz="1450" dirty="0">
                <a:solidFill>
                  <a:srgbClr val="000000"/>
                </a:solidFill>
                <a:latin typeface="Calibri" pitchFamily="34" charset="0"/>
                <a:ea typeface="Calibri" pitchFamily="34" charset="-122"/>
                <a:cs typeface="Calibri" pitchFamily="34" charset="-120"/>
              </a:rPr>
              <a:t xml:space="preserve"> Re-running the full search under objectives that price turn-on slew rate, and again under 30–500 MHz band energy, makes scheduling worth </a:t>
            </a:r>
            <a:r>
              <a:rPr lang="en-US" sz="1450" b="1" dirty="0">
                <a:solidFill>
                  <a:srgbClr val="000000"/>
                </a:solidFill>
                <a:latin typeface="Calibri" pitchFamily="34" charset="0"/>
                <a:ea typeface="Calibri" pitchFamily="34" charset="-122"/>
                <a:cs typeface="Calibri" pitchFamily="34" charset="-120"/>
              </a:rPr>
              <a:t xml:space="preserve">less</a:t>
            </a:r>
            <a:r>
              <a:rPr lang="en-US" sz="1450" dirty="0">
                <a:solidFill>
                  <a:srgbClr val="000000"/>
                </a:solidFill>
                <a:latin typeface="Calibri" pitchFamily="34" charset="0"/>
                <a:ea typeface="Calibri" pitchFamily="34" charset="-122"/>
                <a:cs typeface="Calibri" pitchFamily="34" charset="-120"/>
              </a:rPr>
              <a:t xml:space="preserve">, not more: 5.95 % falls to 0.15 %. Pull-up strength still does not need scheduling — it needs a different fixed value.</a:t>
            </a:r>
          </a:p>
          <a:p>
            <a:pPr marL="177800" indent="-177800">
              <a:spcAft>
                <a:spcPts val="18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What it does not support.</a:t>
            </a:r>
            <a:r>
              <a:rPr lang="en-US" sz="1450" dirty="0">
                <a:solidFill>
                  <a:srgbClr val="000000"/>
                </a:solidFill>
                <a:latin typeface="Calibri" pitchFamily="34" charset="0"/>
                <a:ea typeface="Calibri" pitchFamily="34" charset="-122"/>
                <a:cs typeface="Calibri" pitchFamily="34" charset="-120"/>
              </a:rPr>
              <a:t xml:space="preserve"> Which EMI measure a designer should price is unsettled, and the two disagree: under band energy freezing pull-up costs 0.00 % at every weight, under slew rate up to 2.27 % in a narrow transition band. No silicon has been measured, and one device model underlies everything.</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Review-II: </a:t>
            </a:r>
            <a:r>
              <a:rPr lang="en-US" sz="1450" dirty="0">
                <a:solidFill>
                  <a:srgbClr val="000000"/>
                </a:solidFill>
                <a:latin typeface="Calibri" pitchFamily="34" charset="0"/>
                <a:ea typeface="Calibri" pitchFamily="34" charset="-122"/>
                <a:cs typeface="Calibri" pitchFamily="34" charset="-120"/>
              </a:rPr>
              <a:t xml:space="preserve">transistor-level output stage in Cadence on a 5 V-capable PDK; re-run the ceiling on real devices — sub-nanosecond dead-time control needs silicon, not fabric: [13] reaches 0.19 ns where a 200 MHz FPGA grid is 5 ns. </a:t>
            </a:r>
            <a:r>
              <a:rPr lang="en-US" sz="1450" b="1" dirty="0">
                <a:solidFill>
                  <a:srgbClr val="000000"/>
                </a:solidFill>
                <a:latin typeface="Calibri" pitchFamily="34" charset="0"/>
                <a:ea typeface="Calibri" pitchFamily="34" charset="-122"/>
                <a:cs typeface="Calibri" pitchFamily="34" charset="-120"/>
              </a:rPr>
              <a:t xml:space="preserve">Review-III: </a:t>
            </a:r>
            <a:r>
              <a:rPr lang="en-US" sz="1450" dirty="0">
                <a:solidFill>
                  <a:srgbClr val="000000"/>
                </a:solidFill>
                <a:latin typeface="Calibri" pitchFamily="34" charset="0"/>
                <a:ea typeface="Calibri" pitchFamily="34" charset="-122"/>
                <a:cs typeface="Calibri" pitchFamily="34" charset="-120"/>
              </a:rPr>
              <a:t xml:space="preserve">measure a hardware half-bridge at one corner — until then this is a simulation study and is titled as one.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pareto_matlab.png"/>
          <p:cNvPicPr>
            <a:picLocks noChangeAspect="1"/>
          </p:cNvPicPr>
          <p:nvPr/>
        </p:nvPicPr>
        <p:blipFill>
          <a:blip r:embed="rId3"/>
          <a:stretch>
            <a:fillRect/>
          </a:stretch>
        </p:blipFill>
        <p:spPr>
          <a:xfrm>
            <a:off x="548640" y="1188720"/>
            <a:ext cx="4444977" cy="3337560"/>
          </a:xfrm>
          <a:prstGeom prst="rect">
            <a:avLst/>
          </a:prstGeom>
        </p:spPr>
      </p:pic>
      <p:pic>
        <p:nvPicPr>
          <p:cNvPr id="6" name="Picture 5" descr="crosstalk_model_matlab.png"/>
          <p:cNvPicPr>
            <a:picLocks noChangeAspect="1"/>
          </p:cNvPicPr>
          <p:nvPr/>
        </p:nvPicPr>
        <p:blipFill>
          <a:blip r:embed="rId4"/>
          <a:stretch>
            <a:fillRect/>
          </a:stretch>
        </p:blipFill>
        <p:spPr>
          <a:xfrm>
            <a:off x="6355080" y="1188720"/>
            <a:ext cx="4444977" cy="3337560"/>
          </a:xfrm>
          <a:prstGeom prst="rect">
            <a:avLst/>
          </a:prstGeom>
        </p:spPr>
      </p:pic>
      <p:sp>
        <p:nvSpPr>
          <p:cNvPr id="7" name="TextBox 6"/>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8" name="TextBox 7"/>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two hand calculations disagree by 8.7×.</a:t>
            </a:r>
            <a:r>
              <a:rPr lang="en-US" sz="1150" dirty="0">
                <a:solidFill>
                  <a:srgbClr val="000000"/>
                </a:solidFill>
                <a:latin typeface="Calibri" pitchFamily="34" charset="0"/>
                <a:ea typeface="Calibri" pitchFamily="34" charset="-122"/>
                <a:cs typeface="Calibri" pitchFamily="34" charset="-120"/>
              </a:rPr>
              <a:t xml:space="preserve"> The peak-C bound says 7.50 V, charge-averaging says 0.86 V, SPICE measures 1.65 V — inside the bracket. That gap is why this is simulated, not hand-calculated.</a:t>
            </a:r>
          </a:p>
        </p:txBody>
      </p:sp>
      <p:sp>
        <p:nvSpPr>
          <p:cNvPr id="9" name="TextBox 8"/>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7</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&lt;i&gt;dv/dt&lt;/i&gt;,”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Use IEEE format. Every reference listed must be cited in the slides /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