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85" r:id="rId36"/>
    <p:sldId id="259" r:id="rId5"/>
    <p:sldId id="260" r:id="rId6"/>
    <p:sldId id="267" r:id="rId18"/>
    <p:sldId id="286" r:id="rId37"/>
    <p:sldId id="283" r:id="rId34"/>
    <p:sldId id="261" r:id="rId7"/>
    <p:sldId id="281" r:id="rId32"/>
    <p:sldId id="274" r:id="rId25"/>
    <p:sldId id="279" r:id="rId30"/>
    <p:sldId id="277" r:id="rId28"/>
    <p:sldId id="284" r:id="rId35"/>
    <p:sldId id="278" r:id="rId29"/>
    <p:sldId id="262" r:id="rId8"/>
    <p:sldId id="272" r:id="rId23"/>
    <p:sldId id="287" r:id="rId38"/>
    <p:sldId id="282" r:id="rId33"/>
    <p:sldId id="273" r:id="rId24"/>
    <p:sldId id="263" r:id="rId9"/>
    <p:sldId id="280" r:id="rId31"/>
    <p:sldId id="275" r:id="rId26"/>
    <p:sldId id="276" r:id="rId27"/>
    <p:sldId id="264" r:id="rId10"/>
    <p:sldId id="288" r:id="rId39"/>
    <p:sldId id="268" r:id="rId19"/>
    <p:sldId id="289" r:id="rId40"/>
    <p:sldId id="269" r:id="rId20"/>
    <p:sldId id="270" r:id="rId21"/>
    <p:sldId id="271" r:id="rId22"/>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2.xml"/><Relationship Id="rId10" Type="http://schemas.openxmlformats.org/officeDocument/2006/relationships/slide" Target="slides/slide15.xml"/><Relationship Id="rId11" Type="http://schemas.openxmlformats.org/officeDocument/2006/relationships/slide" Target="slides/slide20.xml"/><Relationship Id="rId12" Type="http://schemas.openxmlformats.org/officeDocument/2006/relationships/slide" Target="slides/slide2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8.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robustness table. Best answer to 'is this just your model?': every device parameter leaves the ceiling at 4.3-7.7 %; only loop inductance moves it, and that is board layout, not the transistor.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use if the panel probes rigour. TEN wrong numbers caught by our own checks is a strength; say it that way. The best one to tell: dead time ranked first at 5.45 % on four corners and dead LAST at 0.00 % on two, and we chased it to a single light-load corner rather than quoting the flattering number. The leave-one-out table is in results/FINDINGS.md section 32 if they want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do NOT skip this and do not rush it. Every number after this slide is a comparison between control words, and if the panel has not got the definition, slides 13 to 16 are noise to them. Read the six fields out loud, land 720, then land the one distinction that matters: a FIXED word is strapped at power-up and costs nothing; SCHEDULING needs sensing, an ADC and a lookup table. The whole project measures the gap between those two.</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the comparison the panel will ask for. Land three rows and move on: we go from ONE field to six (720 words); from selected codes to an EXHAUSTIVE search; and from one bundled number to the number SPLIT into fixed versus adaptive. Be honest if pushed: we have NOT re-run [9]'s SiC experiment, so this is a comparison of method and scope, not a claim that we beat their result on their metric. That replication is the next step.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this is the MATLAB evidence, and it answers 'did you only use SPICE?'. Land two things. Left: 720 words searched, 504 feasible, and the Pareto front is only 7 words wide — the choice really is that constrained. Right: two textbook hand calculations for the same spurious voltage disagree by 8.7x, and the SPICE number sits between them. That is the argument for simulating. If you have time, add the dead-time saturation at 15 ns from the caption.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9144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828032"/>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A Segmented Gate Driver for GaN HEMTs: Measuring What Operating-Point Scheduling Is Actually Worth</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One device's dV/dt couples through C</a:t>
            </a:r>
            <a:r>
              <a:rPr lang="en-US" sz="1500" dirty="0">
                <a:solidFill>
                  <a:srgbClr val="000000"/>
                </a:solidFill>
                <a:latin typeface="Calibri" pitchFamily="34" charset="0"/>
                <a:ea typeface="Calibri" pitchFamily="34" charset="-122"/>
                <a:cs typeface="Calibri" pitchFamily="34" charset="-120"/>
              </a:rPr>
              <a:t xml:space="preserve">GD</a:t>
            </a:r>
            <a:r>
              <a:rPr lang="en-US" sz="1500" dirty="0">
                <a:solidFill>
                  <a:srgbClr val="000000"/>
                </a:solidFill>
                <a:latin typeface="Calibri" pitchFamily="34" charset="0"/>
                <a:ea typeface="Calibri" pitchFamily="34" charset="-122"/>
                <a:cs typeface="Calibri" pitchFamily="34" charset="-120"/>
              </a:rPr>
              <a:t xml:space="preserve"> into the gate of the device that is supposed to be OFF. It reaches </a:t>
            </a:r>
            <a:r>
              <a:rPr lang="en-US" sz="1500" b="1" dirty="0">
                <a:solidFill>
                  <a:srgbClr val="000000"/>
                </a:solidFill>
                <a:latin typeface="Calibri" pitchFamily="34" charset="0"/>
                <a:ea typeface="Calibri" pitchFamily="34" charset="-122"/>
                <a:cs typeface="Calibri" pitchFamily="34" charset="-120"/>
              </a:rPr>
              <a:t xml:space="preserve">1.65 V against a 1.4 V threshold</a:t>
            </a:r>
            <a:r>
              <a:rPr lang="en-US" sz="1500" dirty="0">
                <a:solidFill>
                  <a:srgbClr val="000000"/>
                </a:solidFill>
                <a:latin typeface="Calibri" pitchFamily="34" charset="0"/>
                <a:ea typeface="Calibri" pitchFamily="34" charset="-122"/>
                <a:cs typeface="Calibri" pitchFamily="34" charset="-120"/>
              </a:rPr>
              <a:t xml:space="preserve"> — false turn-on, and a shoot-through path.</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are the core of EV traction inverters and battery storage converters. The whole reason to choose GaN is speed — which is exactly what makes this failure worse.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Active gate drivers: segmented drive, Miller clamps, programmable dead time, negative off-bias [1]–[4]. Closed-loop designs report 30.5 % less overshoot and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 published work has measured what the adaptation is worth.</a:t>
            </a:r>
            <a:r>
              <a:rPr lang="en-US" sz="1500" dirty="0">
                <a:solidFill>
                  <a:srgbClr val="000000"/>
                </a:solidFill>
                <a:latin typeface="Calibri" pitchFamily="34" charset="0"/>
                <a:ea typeface="Calibri" pitchFamily="34" charset="-122"/>
                <a:cs typeface="Calibri" pitchFamily="34" charset="-120"/>
              </a:rPr>
              <a:t xml:space="preserve"> Those gains bundle a design-time choice with a runtime capability. Only the second needs sensing, a lookup table and a controller.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Literature Landscape — four clusters, and where we sit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61188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1050" b="0">
                          <a:solidFill>
                            <a:srgbClr val="000000"/>
                          </a:solidFill>
                          <a:latin typeface="Calibri"/>
                        </a:rPr>
                        <a: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Cluster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Refs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2">
                  <a:txBody>
                    <a:bodyPr wrap="square"/>
                    <a:lstStyle/>
                    <a:p>
                      <a:pPr marL="0" indent="0">
                        <a:buNone/>
                      </a:pPr>
                      <a:r>
                        <a:rPr sz="1050" b="0">
                          <a:solidFill>
                            <a:srgbClr val="000000"/>
                          </a:solidFill>
                          <a:latin typeface="Calibri"/>
                        </a:rPr>
                        <a:t>What the cluster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22960">
                <a:tc>
                  <a:txBody>
                    <a:bodyPr wrap="square"/>
                    <a:lstStyle/>
                    <a:p>
                      <a:pPr marL="0" indent="0">
                        <a:buNone/>
                      </a:pPr>
                      <a:r>
                        <a:rPr sz="1050" b="0">
                          <a:solidFill>
                            <a:srgbClr val="000000"/>
                          </a:solidFill>
                          <a:latin typeface="Calibri"/>
                        </a:rPr>
                        <a:t>A</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A · Passive / analogue crosstalk fixes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[1] [2] [3] [4] [11] [12]</a:t>
                      </a:r>
                      <a:endParaRPr lang="en-US" sz="1300" dirty="0">
                        <a:latin typeface="Calibri" charset="0"/>
                        <a:ea typeface="Calibri" charset="0"/>
                        <a:cs typeface="Calibri" charset="0"/>
                      </a:endParaRPr>
                    </a:p>
                    <a:p>
                      <a:r>
                        <a:rPr sz="1050" b="0">
                          <a:solidFill>
                            <a:srgbClr val="000000"/>
                          </a:solidFill>
                          <a:latin typeface="Calibri"/>
                        </a:rPr>
                        <a:t>[14]–[19] [21]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Negative off-bias, RC-diode rails, three-level drive, Miller clamps. Cheap and effective, but the setting is chosen once by hand and never revisited.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22960">
                <a:tc>
                  <a:txBody>
                    <a:bodyPr wrap="square"/>
                    <a:lstStyle/>
                    <a:p>
                      <a:pPr marL="0" indent="0">
                        <a:buNone/>
                      </a:pPr>
                      <a:r>
                        <a:rPr sz="1050" b="0">
                          <a:solidFill>
                            <a:srgbClr val="000000"/>
                          </a:solidFill>
                          <a:latin typeface="Calibri"/>
                        </a:rPr>
                        <a:t>B</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B · Closed-loop analogue adaptation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[5] [6] [7]</a:t>
                      </a:r>
                      <a:endParaRPr lang="en-US" sz="1300" dirty="0">
                        <a:latin typeface="Calibri" charset="0"/>
                        <a:ea typeface="Calibri" charset="0"/>
                        <a:cs typeface="Calibri" charset="0"/>
                      </a:endParaRPr>
                    </a:p>
                    <a:p>
                      <a:r>
                        <a:rPr sz="1050" b="0">
                          <a:solidFill>
                            <a:srgbClr val="000000"/>
                          </a:solidFill>
                          <a:latin typeface="Calibri"/>
                        </a:rPr>
                        <a:t>[20] [22] [23] [29] [30]</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Sense the operating point, regulate drive strength or timing in the loop. Reports large gains — 30.5 % less overshoot, 75 % less turn-off loss — against a conventional driver.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22960">
                <a:tc>
                  <a:txBody>
                    <a:bodyPr wrap="square"/>
                    <a:lstStyle/>
                    <a:p>
                      <a:pPr marL="0" indent="0">
                        <a:buNone/>
                      </a:pPr>
                      <a:r>
                        <a:rPr sz="1050" b="0">
                          <a:solidFill>
                            <a:srgbClr val="000000"/>
                          </a:solidFill>
                          <a:latin typeface="Calibri"/>
                        </a:rPr>
                        <a:t>C</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C · Adaptive dead-time control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[8] [13]</a:t>
                      </a:r>
                      <a:endParaRPr lang="en-US" sz="1300" dirty="0">
                        <a:latin typeface="Calibri" charset="0"/>
                        <a:ea typeface="Calibri" charset="0"/>
                        <a:cs typeface="Calibri" charset="0"/>
                      </a:endParaRPr>
                    </a:p>
                    <a:p>
                      <a:r>
                        <a:rPr sz="1050" b="0">
                          <a:solidFill>
                            <a:srgbClr val="000000"/>
                          </a:solidFill>
                          <a:latin typeface="Calibri"/>
                        </a:rPr>
                        <a:t>[25] [26] [28]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Dead time driven to sub-nanosecond across load. The one field our own freeze test finds actually carries the benefit — and only at light load.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22960">
                <a:tc>
                  <a:txBody>
                    <a:bodyPr wrap="square"/>
                    <a:lstStyle/>
                    <a:p>
                      <a:pPr marL="0" indent="0">
                        <a:buNone/>
                      </a:pPr>
                      <a:r>
                        <a:rPr sz="1050" b="0">
                          <a:solidFill>
                            <a:srgbClr val="000000"/>
                          </a:solidFill>
                          <a:latin typeface="Calibri"/>
                        </a:rPr>
                        <a:t>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D · DIGITAL / segmented drive  — where this project sits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[9] BASE   [10]</a:t>
                      </a:r>
                      <a:endParaRPr lang="en-US" sz="1300" dirty="0">
                        <a:latin typeface="Calibri" charset="0"/>
                        <a:ea typeface="Calibri" charset="0"/>
                        <a:cs typeface="Calibri" charset="0"/>
                      </a:endParaRPr>
                    </a:p>
                    <a:p>
                      <a:r>
                        <a:rPr sz="1050" b="0">
                          <a:solidFill>
                            <a:srgbClr val="000000"/>
                          </a:solidFill>
                          <a:latin typeface="Calibri"/>
                        </a:rPr>
                        <a:t>[24] [27]</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The gate waveform selected by a multibit CODE rather than a resistor network. [9] is the BASE PAPER — doi.org/10.1002/cta.3136 — and [10] is the closest GaN implementation. Digital means FPGA-implementable, and the code space can be searched exhaustively.</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30 references, all publisher-verified, grouped by what the driver DOES. Clusters A–C set or regulate in analogue; only cluster D makes the setting a digital CODE — which is what makes an exhaustive search possible at all.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All five are verified against the publisher record.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Solution &amp; Methodology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measure how much of an active gate driver’s benefit actually requires per-operating-point adaptation, and how much comes from simply choosing a better fixed setting — by searching the control word exhaustively rather than arguing the case.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segmented GaN gate driver with a 720-point control word: 8 pull-up slices, 8 pull-down slices, dead time 5–35 ns, an active Miller clamp, and a selectable off-bias rail (0 / −2 V).</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Method: </a:t>
            </a:r>
            <a:r>
              <a:rPr lang="en-US" sz="1500" dirty="0">
                <a:solidFill>
                  <a:srgbClr val="000000"/>
                </a:solidFill>
                <a:latin typeface="Calibri" pitchFamily="34" charset="0"/>
                <a:ea typeface="Calibri" pitchFamily="34" charset="-122"/>
                <a:cs typeface="Calibri" pitchFamily="34" charset="-120"/>
              </a:rPr>
              <a:t xml:space="preserve">sweep the full word at every corner, so each per-corner optimum is a true optimum, then compare against the best single fixed word. That difference is the value of adaptation, and nothing else.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Methodology / Approach:</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Double-pulse test in ngspice with a behavioural eGaN model from datasheet quantities; its symmetric channel makes the third-quadrant cost of negative bias emerge from device physics.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metrics per run, frozen in one extractor early; every reported quantity must be flat across a 5× timestep range — enforced, not assumed.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Project Scope: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driver architecture, control-word optimisation, transistor-level output stage in SKY130.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GaN device fabrication, sensing hardware, PCB build.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069848" y="1207008"/>
            <a:ext cx="10058400" cy="5108249"/>
          </a:xfrm>
          <a:prstGeom prst="rect">
            <a:avLst/>
          </a:prstGeom>
        </p:spPr>
      </p:pic>
      <p:sp>
        <p:nvSpPr>
          <p:cNvPr id="6" name="TextBox 5"/>
          <p:cNvSpPr txBox="1"/>
          <p:nvPr/>
        </p:nvSpPr>
        <p:spPr>
          <a:xfrm>
            <a:off x="640080" y="6089904"/>
            <a:ext cx="10881360" cy="347472"/>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Solid blocks are configured once at power-up. The dashed block — sensing, ADC and lookup table — is the adaptive machinery this project exists to price.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problem,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1.65 V spurious against a 1.4 V threshold. Clamp on with −2 V off-bias: 2.58 V of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exhaustive search is complete.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720 words at each of four corners — 2,880 transients — so every per-corner optimum is a true optimum, not the best of a shortlist.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Stress-tested, not asserted.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21,600 further transients across five device parameters: the ceiling holds between 4.3 % and 7.7 %. Loop inductance and EMI were tested, not argued.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Cross-checked in four tools.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LTspice matches ngspice within 2 mV. MATLAB and Octave agree exactly. Vivado: 20 LUTs, 200 MHz met.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total: </a:t>
            </a:r>
            <a:r>
              <a:rPr lang="en-US" sz="1500" dirty="0">
                <a:solidFill>
                  <a:srgbClr val="000000"/>
                </a:solidFill>
                <a:latin typeface="Calibri" pitchFamily="34" charset="0"/>
                <a:ea typeface="Calibri" pitchFamily="34" charset="-122"/>
                <a:cs typeface="Calibri" pitchFamily="34" charset="-120"/>
              </a:rPr>
              <a:t xml:space="preserve">nearly 35,000 transient simulations.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Timeline, Milestones &amp; Tools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Timeline &amp; milestones</a:t>
            </a:r>
            <a:r>
              <a:rPr lang="en-US" sz="1600" dirty="0">
                <a:solidFill>
                  <a:srgbClr val="000000"/>
                </a:solidFill>
                <a:latin typeface="Calibri" pitchFamily="34" charset="0"/>
                <a:ea typeface="Calibri" pitchFamily="34" charset="-122"/>
                <a:cs typeface="Calibri" pitchFamily="34" charset="-120"/>
              </a:rPr>
              <a:t xml:space="preserve">  (dates follow the department calendar)</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 complete. </a:t>
            </a:r>
            <a:r>
              <a:rPr lang="en-US" sz="1500" dirty="0">
                <a:solidFill>
                  <a:srgbClr val="000000"/>
                </a:solidFill>
                <a:latin typeface="Calibri" pitchFamily="34" charset="0"/>
                <a:ea typeface="Calibri" pitchFamily="34" charset="-122"/>
                <a:cs typeface="Calibri" pitchFamily="34" charset="-120"/>
              </a:rPr>
              <a:t xml:space="preserve">Problem reproduced, driver and testbench built, exhaustive search finished, ceiling established and stress-tested against the device model.</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a:t>
            </a:r>
            <a:r>
              <a:rPr lang="en-US" sz="1500" dirty="0">
                <a:solidFill>
                  <a:srgbClr val="000000"/>
                </a:solidFill>
                <a:latin typeface="Calibri" pitchFamily="34" charset="0"/>
                <a:ea typeface="Calibri" pitchFamily="34" charset="-122"/>
                <a:cs typeface="Calibri" pitchFamily="34" charset="-120"/>
              </a:rPr>
              <a:t xml:space="preserve">M1 secure a 5 V-capable PDK · M2 draw the segmented output stage at transistor level in Cadence · M3 re-run the ceiling on real devices and compare it against the ideal-switch bound reported here.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a:t>
            </a:r>
            <a:r>
              <a:rPr lang="en-US" sz="1500" dirty="0">
                <a:solidFill>
                  <a:srgbClr val="000000"/>
                </a:solidFill>
                <a:latin typeface="Calibri" pitchFamily="34" charset="0"/>
                <a:ea typeface="Calibri" pitchFamily="34" charset="-122"/>
                <a:cs typeface="Calibri" pitchFamily="34" charset="-120"/>
              </a:rPr>
              <a:t xml:space="preserve">M4 build the half-bridge · M5 measure crosstalk margin at one corner against the simulated 1.65 V · M6 submit the manuscript.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Tools &amp; technologies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ngspice 42 (every sweep) · LTspice 24, in which the port was re-run · Icarus Verilog (RTL, 8 asserted properties) · Xilinx Vivado 2024.1.2, synthesised · Cadence Spectre / OCEAN · SKY130 PDK (BSIM4) · Python / NumPy / Matplotlib · MATLAB Online, an independent cross-check of the Pareto analysis · Git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to check any of it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number on these slides is regenerated by a named script in the repository </a:t>
            </a: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Netlists, raw sweep data and analysis scripts are all committed; no figure is drawn by hand, and no number is typed in twice.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224028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modules emitting exactly the 720-point control word the SPICE model consumes.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gets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strapped</a:t>
            </a:r>
            <a:r>
              <a:rPr lang="en-US" sz="1500" dirty="0">
                <a:solidFill>
                  <a:srgbClr val="000000"/>
                </a:solidFill>
                <a:latin typeface="Calibri" pitchFamily="34" charset="0"/>
                <a:ea typeface="Calibri" pitchFamily="34" charset="-122"/>
                <a:cs typeface="Calibri" pitchFamily="34" charset="-120"/>
              </a:rPr>
              <a:t xml:space="preserve"> — 5.45 % vs 0.00 % to schedule.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asserted properties pass under Icarus, safe reset included; a shoot-through mutant is caught 221×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Implemented in Vivado 2024.1.2</a:t>
            </a:r>
            <a:r>
              <a:rPr lang="en-US" sz="1500" dirty="0">
                <a:solidFill>
                  <a:srgbClr val="000000"/>
                </a:solidFill>
                <a:latin typeface="Calibri" pitchFamily="34" charset="0"/>
                <a:ea typeface="Calibri" pitchFamily="34" charset="-122"/>
                <a:cs typeface="Calibri" pitchFamily="34" charset="-120"/>
              </a:rPr>
              <a:t xml:space="preserve"> on xc7a35t: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part. Register-to-register timing at 200 MHz is </a:t>
            </a:r>
            <a:r>
              <a:rPr lang="en-US" sz="1500" b="1" dirty="0">
                <a:solidFill>
                  <a:srgbClr val="000000"/>
                </a:solidFill>
                <a:latin typeface="Calibri" pitchFamily="34" charset="0"/>
                <a:ea typeface="Calibri" pitchFamily="34" charset="-122"/>
                <a:cs typeface="Calibri" pitchFamily="34" charset="-120"/>
              </a:rPr>
              <a:t xml:space="preserve">MET, 1.996 ns slack</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34 failing paths are all clock-to-pin against a placeholder 4 ns I/O constraint — the output buffer alone is 3.49 ns.</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1  Spurious gate voltage on the off-device: the failure, and the actuator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spurious gate peak vs 1.4 V threshold</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Fastest drive, no clamp — false turn-on</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margin with clamp + −2 V off-bias</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actuator removes it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 xml:space="preserve">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 xml:space="preserve">The energy-optimal control word is already crosstalk-safe at three of four corners. At the fourth, safety costs </a:t>
            </a:r>
            <a:r>
              <a:rPr lang="en-US" sz="1300" b="1" dirty="0">
                <a:solidFill>
                  <a:srgbClr val="000000"/>
                </a:solidFill>
                <a:latin typeface="Calibri" pitchFamily="34" charset="0"/>
                <a:ea typeface="Calibri" pitchFamily="34" charset="-122"/>
                <a:cs typeface="Calibri" pitchFamily="34" charset="-120"/>
              </a:rPr>
              <a:t xml:space="preserve">0.04 % of switching energy</a:t>
            </a:r>
            <a:r>
              <a:rPr lang="en-US" sz="1300" dirty="0">
                <a:solidFill>
                  <a:srgbClr val="000000"/>
                </a:solidFill>
                <a:latin typeface="Calibri" pitchFamily="34" charset="0"/>
                <a:ea typeface="Calibri" pitchFamily="34" charset="-122"/>
                <a:cs typeface="Calibri" pitchFamily="34" charset="-120"/>
              </a:rPr>
              <a:t xml:space="preserve">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The clamp itself is worth 9.7–12.2 % of the blended cost, from a static architecture choice needing no sensing or controller.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scheduling is worth only 5.2 %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2  Cost of one fixed control word vs the true per-corner optimum, four corners.</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Full 720-word search at every corner — 2,880 transients — so each per-corner optimum is a true optimum, not the best of a shortlist.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adaptation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ceiling on operating-point scheduling</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the best single fixed word (= 3.9 % of baseline). A fixed word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benefit is not spread out. </a:t>
            </a:r>
            <a:r>
              <a:rPr lang="en-US" sz="1300" dirty="0">
                <a:solidFill>
                  <a:srgbClr val="000000"/>
                </a:solidFill>
                <a:latin typeface="Calibri" pitchFamily="34" charset="0"/>
                <a:ea typeface="Calibri" pitchFamily="34" charset="-122"/>
                <a:cs typeface="Calibri" pitchFamily="34" charset="-120"/>
              </a:rPr>
              <a:t xml:space="preserve">Three corners lose 1–4 % from a fixed word; one loses 12.7 %.</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5.2 % is the generous figure: </a:t>
            </a:r>
            <a:r>
              <a:rPr lang="en-US" sz="1200" dirty="0">
                <a:solidFill>
                  <a:srgbClr val="000000"/>
                </a:solidFill>
                <a:latin typeface="Calibri" pitchFamily="34" charset="0"/>
                <a:ea typeface="Calibri" pitchFamily="34" charset="-122"/>
                <a:cs typeface="Calibri" pitchFamily="34" charset="-120"/>
              </a:rPr>
              <a:t xml:space="preserve">the denser 36-point grid gives </a:t>
            </a:r>
            <a:r>
              <a:rPr lang="en-US" sz="1200" b="1" dirty="0">
                <a:solidFill>
                  <a:srgbClr val="000000"/>
                </a:solidFill>
                <a:latin typeface="Calibri" pitchFamily="34" charset="0"/>
                <a:ea typeface="Calibri" pitchFamily="34" charset="-122"/>
                <a:cs typeface="Calibri" pitchFamily="34" charset="-120"/>
              </a:rPr>
              <a:t xml:space="preserve">2.0 %</a:t>
            </a:r>
            <a:r>
              <a:rPr lang="en-US" sz="1200" dirty="0">
                <a:solidFill>
                  <a:srgbClr val="000000"/>
                </a:solidFill>
                <a:latin typeface="Calibri" pitchFamily="34" charset="0"/>
                <a:ea typeface="Calibri" pitchFamily="34" charset="-122"/>
                <a:cs typeface="Calibri" pitchFamily="34" charset="-120"/>
              </a:rPr>
              <a:t xml:space="preserve">.</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It is carried by the dead time — and the dead time by one corner. </a:t>
            </a:r>
            <a:r>
              <a:rPr lang="en-US" sz="1200" dirty="0">
                <a:solidFill>
                  <a:srgbClr val="000000"/>
                </a:solidFill>
                <a:latin typeface="Calibri" pitchFamily="34" charset="0"/>
                <a:ea typeface="Calibri" pitchFamily="34" charset="-122"/>
                <a:cs typeface="Calibri" pitchFamily="34" charset="-120"/>
              </a:rPr>
              <a:t xml:space="preserve">Freezing dead time costs 5.45 % across four corners. Drop the light-load 50 V / 2 A corner and it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three corners want 5 ns, only that one wants 15 ns. So the adaptive hardware reduces to a light-load detector picking one of two dead times. Freezing pull-up drive strength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 and drive strength is what the active-gate-driver literature actually schedules.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Robust to the device, conditional on the layout. </a:t>
            </a:r>
            <a:r>
              <a:rPr lang="en-US" sz="1300" dirty="0">
                <a:solidFill>
                  <a:srgbClr val="000000"/>
                </a:solidFill>
                <a:latin typeface="Calibri" pitchFamily="34" charset="0"/>
                <a:ea typeface="Calibri" pitchFamily="34" charset="-122"/>
                <a:cs typeface="Calibri" pitchFamily="34" charset="-120"/>
              </a:rPr>
              <a:t xml:space="preserve">Across 21,600 transients, no device parameter moves the ceiling outside 4.3–7.7 %. Halving the loop inductance takes it to 13.5 %, and loop inductance is board layout, not the transistor [3].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3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base paper [9] </a:t>
            </a:r>
            <a:r>
              <a:rPr lang="en-US" sz="1250" b="1" dirty="0">
                <a:solidFill>
                  <a:srgbClr val="000000"/>
                </a:solidFill>
                <a:latin typeface="Calibri" pitchFamily="34" charset="0"/>
                <a:ea typeface="Calibri" pitchFamily="34" charset="-122"/>
                <a:cs typeface="Calibri" pitchFamily="34" charset="-120"/>
              </a:rPr>
              <a:t xml:space="preserve">(doi.org/10.1002/cta.3136)</a:t>
            </a:r>
            <a:r>
              <a:rPr lang="en-US" sz="1250" dirty="0">
                <a:solidFill>
                  <a:srgbClr val="000000"/>
                </a:solidFill>
                <a:latin typeface="Calibri" pitchFamily="34" charset="0"/>
                <a:ea typeface="Calibri" pitchFamily="34" charset="-122"/>
                <a:cs typeface="Calibri" pitchFamily="34" charset="-120"/>
              </a:rPr>
              <a:t xml:space="preserve"> shows a gate waveform can be chosen by a digital code. It, and every active-gate-driver paper after it, then reports </a:t>
            </a:r>
            <a:r>
              <a:rPr lang="en-US" sz="1250" b="1" dirty="0">
                <a:solidFill>
                  <a:srgbClr val="000000"/>
                </a:solidFill>
                <a:latin typeface="Calibri" pitchFamily="34" charset="0"/>
                <a:ea typeface="Calibri" pitchFamily="34" charset="-122"/>
                <a:cs typeface="Calibri" pitchFamily="34" charset="-120"/>
              </a:rPr>
              <a:t xml:space="preserve">one</a:t>
            </a:r>
            <a:r>
              <a:rPr lang="en-US" sz="1250" dirty="0">
                <a:solidFill>
                  <a:srgbClr val="000000"/>
                </a:solidFill>
                <a:latin typeface="Calibri" pitchFamily="34" charset="0"/>
                <a:ea typeface="Calibri" pitchFamily="34" charset="-122"/>
                <a:cs typeface="Calibri" pitchFamily="34" charset="-120"/>
              </a:rPr>
              <a:t xml:space="preserve"> number — the improvement over a conventional driver. That number bundles two separable effects, and only the second needs sensing, an ADC and a lookup table. Separating them needs the exhaustive search,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(A)   Choose a better FIXED word</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ADAPT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…but ONE comparator captures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 xml:space="preserve">So the full sense + ADC + lookup table is left justifying </a:t>
            </a:r>
            <a:r>
              <a:rPr lang="en-US" sz="1300" b="1" dirty="0">
                <a:solidFill>
                  <a:srgbClr val="000000"/>
                </a:solidFill>
                <a:latin typeface="Calibri" pitchFamily="34" charset="0"/>
                <a:ea typeface="Calibri" pitchFamily="34" charset="-122"/>
                <a:cs typeface="Calibri" pitchFamily="34" charset="-120"/>
              </a:rPr>
              <a:t xml:space="preserve">3.7 % of the total achievable gain</a:t>
            </a:r>
            <a:r>
              <a:rPr lang="en-US" sz="1300" dirty="0">
                <a:solidFill>
                  <a:srgbClr val="000000"/>
                </a:solidFill>
                <a:latin typeface="Calibri" pitchFamily="34" charset="0"/>
                <a:ea typeface="Calibri" pitchFamily="34" charset="-122"/>
                <a:cs typeface="Calibri" pitchFamily="34" charset="-120"/>
              </a:rPr>
              <a:t xml:space="preserve"> over a fixed word plus one comparator. Adaptation is 13.4 % of the gain; a single threshold takes 72 % of that.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figure shares one baseline — the median control word that is safe at all four corners. The split does not rest on the weighting: swept over 106 overshoot weights, (A) stays </a:t>
            </a:r>
            <a:r>
              <a:rPr lang="en-US" sz="1200" b="1" dirty="0">
                <a:solidFill>
                  <a:srgbClr val="000000"/>
                </a:solidFill>
                <a:latin typeface="Calibri" pitchFamily="34" charset="0"/>
                <a:ea typeface="Calibri" pitchFamily="34" charset="-122"/>
                <a:cs typeface="Calibri" pitchFamily="34" charset="-120"/>
              </a:rPr>
              <a:t xml:space="preserve">23.4–29.0 %</a:t>
            </a:r>
            <a:r>
              <a:rPr lang="en-US" sz="1200" dirty="0">
                <a:solidFill>
                  <a:srgbClr val="000000"/>
                </a:solidFill>
                <a:latin typeface="Calibri" pitchFamily="34" charset="0"/>
                <a:ea typeface="Calibri" pitchFamily="34" charset="-122"/>
                <a:cs typeface="Calibri" pitchFamily="34" charset="-120"/>
              </a:rPr>
              <a:t xml:space="preserve"> and (B) </a:t>
            </a:r>
            <a:r>
              <a:rPr lang="en-US" sz="1200" b="1" dirty="0">
                <a:solidFill>
                  <a:srgbClr val="000000"/>
                </a:solidFill>
                <a:latin typeface="Calibri" pitchFamily="34" charset="0"/>
                <a:ea typeface="Calibri" pitchFamily="34" charset="-122"/>
                <a:cs typeface="Calibri" pitchFamily="34" charset="-120"/>
              </a:rPr>
              <a:t xml:space="preserve">1.3–6.4 %</a:t>
            </a:r>
            <a:r>
              <a:rPr lang="en-US" sz="1200" dirty="0">
                <a:solidFill>
                  <a:srgbClr val="000000"/>
                </a:solidFill>
                <a:latin typeface="Calibri" pitchFamily="34" charset="0"/>
                <a:ea typeface="Calibri" pitchFamily="34" charset="-122"/>
                <a:cs typeface="Calibri" pitchFamily="34" charset="-120"/>
              </a:rPr>
              <a:t xml:space="preserve"> — and (A) exceeds (B) at </a:t>
            </a:r>
            <a:r>
              <a:rPr lang="en-US" sz="1200" b="1" dirty="0">
                <a:solidFill>
                  <a:srgbClr val="000000"/>
                </a:solidFill>
                <a:latin typeface="Calibri" pitchFamily="34" charset="0"/>
                <a:ea typeface="Calibri" pitchFamily="34" charset="-122"/>
                <a:cs typeface="Calibri" pitchFamily="34" charset="-120"/>
              </a:rPr>
              <a:t xml:space="preserve">every</a:t>
            </a:r>
            <a:r>
              <a:rPr lang="en-US" sz="1200" dirty="0">
                <a:solidFill>
                  <a:srgbClr val="000000"/>
                </a:solidFill>
                <a:latin typeface="Calibri" pitchFamily="34" charset="0"/>
                <a:ea typeface="Calibri" pitchFamily="34" charset="-122"/>
                <a:cs typeface="Calibri" pitchFamily="34" charset="-120"/>
              </a:rPr>
              <a:t xml:space="preserve"> weight tested, out to 5.0. </a:t>
            </a:r>
            <a:r>
              <a:rPr lang="en-US" sz="1200" b="1" dirty="0">
                <a:solidFill>
                  <a:srgbClr val="000000"/>
                </a:solidFill>
                <a:latin typeface="Calibri" pitchFamily="34" charset="0"/>
                <a:ea typeface="Calibri" pitchFamily="34" charset="-122"/>
                <a:cs typeface="Calibri" pitchFamily="34" charset="-120"/>
              </a:rPr>
              <a:t xml:space="preserve">scripts/novelty.py</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scripts/weight_sensitivity.py</a:t>
            </a:r>
            <a:r>
              <a:rPr lang="en-US" sz="12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adaptive pays below ~2.5 nH</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Eight inductances, 7,200 transients. The answer is a </a:t>
            </a:r>
            <a:r>
              <a:rPr lang="en-US" sz="1200" b="1" dirty="0">
                <a:solidFill>
                  <a:srgbClr val="000000"/>
                </a:solidFill>
                <a:latin typeface="Calibri" pitchFamily="34" charset="0"/>
                <a:ea typeface="Calibri" pitchFamily="34" charset="-122"/>
                <a:cs typeface="Calibri" pitchFamily="34" charset="-120"/>
              </a:rPr>
              <a:t xml:space="preserve">band</a:t>
            </a:r>
            <a:r>
              <a:rPr lang="en-US" sz="1200" dirty="0">
                <a:solidFill>
                  <a:srgbClr val="000000"/>
                </a:solidFill>
                <a:latin typeface="Calibri" pitchFamily="34" charset="0"/>
                <a:ea typeface="Calibri" pitchFamily="34" charset="-122"/>
                <a:cs typeface="Calibri" pitchFamily="34" charset="-120"/>
              </a:rPr>
              <a:t xml:space="preserve">, not a threshold: adaptive control pays only from about 2.5 nH down, peaking at 13.5 % at 1.5 nH, and it falls back to 8.1 % at 1.0 nH because only 165 of 720 words stay safe there — below ~2 nH feasibility binds, not optimisation. </a:t>
            </a:r>
            <a:r>
              <a:rPr lang="en-US" sz="1200" b="1" dirty="0">
                <a:solidFill>
                  <a:srgbClr val="000000"/>
                </a:solidFill>
                <a:latin typeface="Calibri" pitchFamily="34" charset="0"/>
                <a:ea typeface="Calibri" pitchFamily="34" charset="-122"/>
                <a:cs typeface="Calibri" pitchFamily="34" charset="-120"/>
              </a:rPr>
              <a:t xml:space="preserve">A designer measures their loop and reads off the decision</a:t>
            </a:r>
            <a:r>
              <a:rPr lang="en-US" sz="1200" dirty="0">
                <a:solidFill>
                  <a:srgbClr val="000000"/>
                </a:solidFill>
                <a:latin typeface="Calibri" pitchFamily="34" charset="0"/>
                <a:ea typeface="Calibri" pitchFamily="34" charset="-122"/>
                <a:cs typeface="Calibri" pitchFamily="34" charset="-120"/>
              </a:rPr>
              <a:t xml:space="preserve"> — a trade-off the literature does not state.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Backup — the device doesn’t move it; layout does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a:p>
            <a:pPr marL="177800" indent="-177800">
              <a:spcAft>
                <a:spcPts val="0"/>
              </a:spcAft>
              <a:buSzPct val="100000"/>
              <a:buChar char="•"/>
            </a:pPr>
            <a:r>
              <a:rPr lang="en-US" sz="1150" b="1" dirty="0">
                <a:solidFill>
                  <a:srgbClr val="000000"/>
                </a:solidFill>
                <a:latin typeface="Calibri" pitchFamily="34" charset="0"/>
                <a:ea typeface="Calibri" pitchFamily="34" charset="-122"/>
                <a:cs typeface="Calibri" pitchFamily="34" charset="-120"/>
              </a:rPr>
              <a:t xml:space="preserve">Baseline note. </a:t>
            </a:r>
            <a:r>
              <a:rPr lang="en-US" sz="1150" dirty="0">
                <a:solidFill>
                  <a:srgbClr val="000000"/>
                </a:solidFill>
                <a:latin typeface="Calibri" pitchFamily="34" charset="0"/>
                <a:ea typeface="Calibri" pitchFamily="34" charset="-122"/>
                <a:cs typeface="Calibri" pitchFamily="34" charset="-120"/>
              </a:rPr>
              <a:t xml:space="preserve">Nominal here is 5.95 %, not the 5.2 % headline — a two-corner search on its own sweep. Compare the </a:t>
            </a:r>
            <a:r>
              <a:rPr lang="en-US" sz="1150" b="1" dirty="0">
                <a:solidFill>
                  <a:srgbClr val="000000"/>
                </a:solidFill>
                <a:latin typeface="Calibri" pitchFamily="34" charset="0"/>
                <a:ea typeface="Calibri" pitchFamily="34" charset="-122"/>
                <a:cs typeface="Calibri" pitchFamily="34" charset="-120"/>
              </a:rPr>
              <a:t xml:space="preserve">vs nom.</a:t>
            </a:r>
            <a:r>
              <a:rPr lang="en-US" sz="1150" dirty="0">
                <a:solidFill>
                  <a:srgbClr val="000000"/>
                </a:solidFill>
                <a:latin typeface="Calibri" pitchFamily="34" charset="0"/>
                <a:ea typeface="Calibri" pitchFamily="34" charset="-122"/>
                <a:cs typeface="Calibri" pitchFamily="34" charset="-120"/>
              </a:rPr>
              <a:t xml:space="preserve"> column, not the absolute values.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Click to play (22 s). Real ngspice waveforms from sim/dpt.cir, run twice — only the pacing and the captions are presentational.</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it shows</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TOP row: the switch node. The low-side device turns on and V(sw) collapses from 100 V in a few nanoseconds. That slew is the cause.</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BOTTOM row: the OFF device's gate. The dV/dt couples through C</a:t>
            </a:r>
            <a:r>
              <a:rPr lang="en-US" sz="1250" dirty="0">
                <a:solidFill>
                  <a:srgbClr val="000000"/>
                </a:solidFill>
                <a:latin typeface="Calibri" pitchFamily="34" charset="0"/>
                <a:ea typeface="Calibri" pitchFamily="34" charset="-122"/>
                <a:cs typeface="Calibri" pitchFamily="34" charset="-120"/>
              </a:rPr>
              <a:t xml:space="preserve">GD</a:t>
            </a:r>
            <a:r>
              <a:rPr lang="en-US" sz="1250" dirty="0">
                <a:solidFill>
                  <a:srgbClr val="000000"/>
                </a:solidFill>
                <a:latin typeface="Calibri" pitchFamily="34" charset="0"/>
                <a:ea typeface="Calibri" pitchFamily="34" charset="-122"/>
                <a:cs typeface="Calibri" pitchFamily="34" charset="-120"/>
              </a:rPr>
              <a:t xml:space="preserve"> and lifts it.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LEFT, failing: the gate reaches </a:t>
            </a:r>
            <a:r>
              <a:rPr lang="en-US" sz="1250" b="1" dirty="0">
                <a:solidFill>
                  <a:srgbClr val="000000"/>
                </a:solidFill>
                <a:latin typeface="Calibri" pitchFamily="34" charset="0"/>
                <a:ea typeface="Calibri" pitchFamily="34" charset="-122"/>
                <a:cs typeface="Calibri" pitchFamily="34" charset="-120"/>
              </a:rPr>
              <a:t xml:space="preserve">+1.65 V</a:t>
            </a:r>
            <a:r>
              <a:rPr lang="en-US" sz="1250" dirty="0">
                <a:solidFill>
                  <a:srgbClr val="000000"/>
                </a:solidFill>
                <a:latin typeface="Calibri" pitchFamily="34" charset="0"/>
                <a:ea typeface="Calibri" pitchFamily="34" charset="-122"/>
                <a:cs typeface="Calibri" pitchFamily="34" charset="-120"/>
              </a:rPr>
              <a:t xml:space="preserve"> — above the 1.4 V threshold drawn on the plot. The device turns on when it must not.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RIGHT, shipped: same circuit, same word, plus the Miller clamp and −2 V off-bias. Peak </a:t>
            </a:r>
            <a:r>
              <a:rPr lang="en-US" sz="1250" b="1" dirty="0">
                <a:solidFill>
                  <a:srgbClr val="000000"/>
                </a:solidFill>
                <a:latin typeface="Calibri" pitchFamily="34" charset="0"/>
                <a:ea typeface="Calibri" pitchFamily="34" charset="-122"/>
                <a:cs typeface="Calibri" pitchFamily="34" charset="-120"/>
              </a:rPr>
              <a:t xml:space="preserve">−1.18 V</a:t>
            </a:r>
            <a:r>
              <a:rPr lang="en-US" sz="1250" dirty="0">
                <a:solidFill>
                  <a:srgbClr val="000000"/>
                </a:solidFill>
                <a:latin typeface="Calibri" pitchFamily="34" charset="0"/>
                <a:ea typeface="Calibri" pitchFamily="34" charset="-122"/>
                <a:cs typeface="Calibri" pitchFamily="34" charset="-120"/>
              </a:rPr>
              <a:t xml:space="preserve">,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Both panels are the same simulation deck; only CLKEN and VNEG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numbers hold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34,622</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transient simulations</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sweep, corner study, robustness run, loop-inductance and EMI sweep, start to finish.</a:t>
            </a:r>
          </a:p>
        </p:txBody>
      </p:sp>
      <p:sp>
        <p:nvSpPr>
          <p:cNvPr id="6" name="TextBox 5"/>
          <p:cNvSpPr txBox="1"/>
          <p:nvPr/>
        </p:nvSpPr>
        <p:spPr>
          <a:xfrm>
            <a:off x="626364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720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control words, searched in full</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At every corner — so each per-corner optimum is a true optimum, not the best of a shortlist.</a:t>
            </a:r>
          </a:p>
        </p:txBody>
      </p:sp>
      <p:sp>
        <p:nvSpPr>
          <p:cNvPr id="7" name="TextBox 6"/>
          <p:cNvSpPr txBox="1"/>
          <p:nvPr/>
        </p:nvSpPr>
        <p:spPr>
          <a:xfrm>
            <a:off x="64008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25×</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timestep refinement survived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reported quantity must be flat across it. Enforced, not assumed.</a:t>
            </a:r>
          </a:p>
        </p:txBody>
      </p:sp>
      <p:sp>
        <p:nvSpPr>
          <p:cNvPr id="8" name="TextBox 7"/>
          <p:cNvSpPr txBox="1"/>
          <p:nvPr/>
        </p:nvSpPr>
        <p:spPr>
          <a:xfrm>
            <a:off x="626364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10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wrong numbers caught, and corrected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By that discipline, before any of them reached the report. Every one came from resampling or re-deriving a figure of our own — none from a reviewer.</a:t>
            </a:r>
          </a:p>
        </p:txBody>
      </p:sp>
      <p:sp>
        <p:nvSpPr>
          <p:cNvPr id="9" name="TextBox 8"/>
          <p:cNvSpPr txBox="1"/>
          <p:nvPr/>
        </p:nvSpPr>
        <p:spPr>
          <a:xfrm>
            <a:off x="640080" y="5897880"/>
            <a:ext cx="10881360" cy="411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Stated plainly: </a:t>
            </a:r>
            <a:r>
              <a:rPr lang="en-US" sz="1150" dirty="0">
                <a:solidFill>
                  <a:srgbClr val="000000"/>
                </a:solidFill>
                <a:latin typeface="Calibri" pitchFamily="34" charset="0"/>
                <a:ea typeface="Calibri" pitchFamily="34" charset="-122"/>
                <a:cs typeface="Calibri" pitchFamily="34" charset="-120"/>
              </a:rPr>
              <a:t xml:space="preserve">LTspice has now been run: the three shipped .cir files reproduce 1.6487 / 0.8282 / −1.1768 V, matching ngspice to within 2 mV. Spectre is still a port — no installation available.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the data supports</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Choosing the word well: </a:t>
            </a:r>
            <a:r>
              <a:rPr lang="en-US" sz="1600" dirty="0">
                <a:solidFill>
                  <a:srgbClr val="000000"/>
                </a:solidFill>
                <a:latin typeface="Calibri" pitchFamily="34" charset="0"/>
                <a:ea typeface="Calibri" pitchFamily="34" charset="-122"/>
                <a:cs typeface="Calibri" pitchFamily="34" charset="-120"/>
              </a:rPr>
              <a:t xml:space="preserve">25.1 %.   </a:t>
            </a:r>
            <a:r>
              <a:rPr lang="en-US" sz="1600" b="1" dirty="0">
                <a:solidFill>
                  <a:srgbClr val="000000"/>
                </a:solidFill>
                <a:latin typeface="Calibri" pitchFamily="34" charset="0"/>
                <a:ea typeface="Calibri" pitchFamily="34" charset="-122"/>
                <a:cs typeface="Calibri" pitchFamily="34" charset="-120"/>
              </a:rPr>
              <a:t xml:space="preserve">Adapting it per operating point: </a:t>
            </a:r>
            <a:r>
              <a:rPr lang="en-US" sz="1600" dirty="0">
                <a:solidFill>
                  <a:srgbClr val="000000"/>
                </a:solidFill>
                <a:latin typeface="Calibri" pitchFamily="34" charset="0"/>
                <a:ea typeface="Calibri" pitchFamily="34" charset="-122"/>
                <a:cs typeface="Calibri" pitchFamily="34" charset="-120"/>
              </a:rPr>
              <a:t xml:space="preserve">3.9 %.</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One comparator takes 72 % of that 3.9 %.</a:t>
            </a:r>
          </a:p>
          <a:p>
            <a:pPr marL="177800" indent="-177800">
              <a:spcAft>
                <a:spcPts val="34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deliverable: </a:t>
            </a:r>
            <a:r>
              <a:rPr lang="en-US" sz="1600" dirty="0">
                <a:solidFill>
                  <a:srgbClr val="000000"/>
                </a:solidFill>
                <a:latin typeface="Calibri" pitchFamily="34" charset="0"/>
                <a:ea typeface="Calibri" pitchFamily="34" charset="-122"/>
                <a:cs typeface="Calibri" pitchFamily="34" charset="-120"/>
              </a:rPr>
              <a:t xml:space="preserve">a fixed word plus a light-load comparator. The full sense + ADC + lookup table is left justifying </a:t>
            </a:r>
            <a:r>
              <a:rPr lang="en-US" sz="1600" b="1" dirty="0">
                <a:solidFill>
                  <a:srgbClr val="000000"/>
                </a:solidFill>
                <a:latin typeface="Calibri" pitchFamily="34" charset="0"/>
                <a:ea typeface="Calibri" pitchFamily="34" charset="-122"/>
                <a:cs typeface="Calibri" pitchFamily="34" charset="-120"/>
              </a:rPr>
              <a:t xml:space="preserve">3.7 %</a:t>
            </a:r>
            <a:r>
              <a:rPr lang="en-US" sz="1600" dirty="0">
                <a:solidFill>
                  <a:srgbClr val="000000"/>
                </a:solidFill>
                <a:latin typeface="Calibri" pitchFamily="34" charset="0"/>
                <a:ea typeface="Calibri" pitchFamily="34" charset="-122"/>
                <a:cs typeface="Calibri" pitchFamily="34" charset="-120"/>
              </a:rPr>
              <a:t xml:space="preserve">.</a:t>
            </a:r>
          </a:p>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next</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Review-II — </a:t>
            </a:r>
            <a:r>
              <a:rPr lang="en-US" sz="1600" dirty="0">
                <a:solidFill>
                  <a:srgbClr val="000000"/>
                </a:solidFill>
                <a:latin typeface="Calibri" pitchFamily="34" charset="0"/>
                <a:ea typeface="Calibri" pitchFamily="34" charset="-122"/>
                <a:cs typeface="Calibri" pitchFamily="34" charset="-120"/>
              </a:rPr>
              <a:t xml:space="preserve">transistor-level output stage in Cadence; re-run the ceiling on real devices.</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Review-III — </a:t>
            </a:r>
            <a:r>
              <a:rPr lang="en-US" sz="1600" dirty="0">
                <a:solidFill>
                  <a:srgbClr val="000000"/>
                </a:solidFill>
                <a:latin typeface="Calibri" pitchFamily="34" charset="0"/>
                <a:ea typeface="Calibri" pitchFamily="34" charset="-122"/>
                <a:cs typeface="Calibri" pitchFamily="34" charset="-120"/>
              </a:rPr>
              <a:t xml:space="preserve">measure a hardware half-bridge. Until then this is a simulation study, and is titled as one.</a:t>
            </a:r>
          </a:p>
          <a:p>
            <a:pPr marL="177800" indent="-177800">
              <a:spcAft>
                <a:spcPts val="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Limits we state ourselves: </a:t>
            </a:r>
            <a:r>
              <a:rPr lang="en-US" sz="1450" dirty="0">
                <a:solidFill>
                  <a:srgbClr val="000000"/>
                </a:solidFill>
                <a:latin typeface="Calibri" pitchFamily="34" charset="0"/>
                <a:ea typeface="Calibri" pitchFamily="34" charset="-122"/>
                <a:cs typeface="Calibri" pitchFamily="34" charset="-120"/>
              </a:rPr>
              <a:t xml:space="preserve">no silicon measured; one device model underlies everything.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is a “control word”?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43000"/>
            <a:ext cx="10972800" cy="41148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Everything in this deck is measured over control words, so this is the definition the rest of the results rest on.</a:t>
            </a:r>
          </a:p>
        </p:txBody>
      </p:sp>
      <p:sp>
        <p:nvSpPr>
          <p:cNvPr id="6" name="TextBox 5"/>
          <p:cNvSpPr txBox="1"/>
          <p:nvPr/>
        </p:nvSpPr>
        <p:spPr>
          <a:xfrm>
            <a:off x="640080" y="1563623"/>
            <a:ext cx="10972800" cy="27432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ONE control word = one setting of these six fields</a:t>
            </a:r>
          </a:p>
        </p:txBody>
      </p:sp>
      <p:sp>
        <p:nvSpPr>
          <p:cNvPr id="7" name="TextBox 6"/>
          <p:cNvSpPr txBox="1"/>
          <p:nvPr/>
        </p:nvSpPr>
        <p:spPr>
          <a:xfrm>
            <a:off x="777240" y="1874519"/>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N_PU</a:t>
            </a:r>
          </a:p>
        </p:txBody>
      </p:sp>
      <p:sp>
        <p:nvSpPr>
          <p:cNvPr id="8" name="TextBox 7"/>
          <p:cNvSpPr txBox="1"/>
          <p:nvPr/>
        </p:nvSpPr>
        <p:spPr>
          <a:xfrm>
            <a:off x="2286000" y="1874519"/>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pull-up slices ON</a:t>
            </a:r>
          </a:p>
        </p:txBody>
      </p:sp>
      <p:sp>
        <p:nvSpPr>
          <p:cNvPr id="9" name="TextBox 8"/>
          <p:cNvSpPr txBox="1"/>
          <p:nvPr/>
        </p:nvSpPr>
        <p:spPr>
          <a:xfrm>
            <a:off x="5120640" y="1874519"/>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0" name="TextBox 9"/>
          <p:cNvSpPr txBox="1"/>
          <p:nvPr/>
        </p:nvSpPr>
        <p:spPr>
          <a:xfrm>
            <a:off x="7086600" y="1874519"/>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the device is turned ON</a:t>
            </a:r>
          </a:p>
        </p:txBody>
      </p:sp>
      <p:sp>
        <p:nvSpPr>
          <p:cNvPr id="11" name="TextBox 10"/>
          <p:cNvSpPr txBox="1"/>
          <p:nvPr/>
        </p:nvSpPr>
        <p:spPr>
          <a:xfrm>
            <a:off x="777240" y="2350008"/>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N_PD,LS</a:t>
            </a:r>
          </a:p>
        </p:txBody>
      </p:sp>
      <p:sp>
        <p:nvSpPr>
          <p:cNvPr id="12" name="TextBox 11"/>
          <p:cNvSpPr txBox="1"/>
          <p:nvPr/>
        </p:nvSpPr>
        <p:spPr>
          <a:xfrm>
            <a:off x="2286000" y="2350008"/>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low-side pull-down slices</a:t>
            </a:r>
          </a:p>
        </p:txBody>
      </p:sp>
      <p:sp>
        <p:nvSpPr>
          <p:cNvPr id="13" name="TextBox 12"/>
          <p:cNvSpPr txBox="1"/>
          <p:nvPr/>
        </p:nvSpPr>
        <p:spPr>
          <a:xfrm>
            <a:off x="5120640" y="2350008"/>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4" name="TextBox 13"/>
          <p:cNvSpPr txBox="1"/>
          <p:nvPr/>
        </p:nvSpPr>
        <p:spPr>
          <a:xfrm>
            <a:off x="7086600" y="2350008"/>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it is turned OFF</a:t>
            </a:r>
          </a:p>
        </p:txBody>
      </p:sp>
      <p:sp>
        <p:nvSpPr>
          <p:cNvPr id="15" name="TextBox 14"/>
          <p:cNvSpPr txBox="1"/>
          <p:nvPr/>
        </p:nvSpPr>
        <p:spPr>
          <a:xfrm>
            <a:off x="777240" y="2825496"/>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N_PD,HS</a:t>
            </a:r>
          </a:p>
        </p:txBody>
      </p:sp>
      <p:sp>
        <p:nvSpPr>
          <p:cNvPr id="16" name="TextBox 15"/>
          <p:cNvSpPr txBox="1"/>
          <p:nvPr/>
        </p:nvSpPr>
        <p:spPr>
          <a:xfrm>
            <a:off x="2286000" y="2825496"/>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high-side pull-down slices</a:t>
            </a:r>
          </a:p>
        </p:txBody>
      </p:sp>
      <p:sp>
        <p:nvSpPr>
          <p:cNvPr id="17" name="TextBox 16"/>
          <p:cNvSpPr txBox="1"/>
          <p:nvPr/>
        </p:nvSpPr>
        <p:spPr>
          <a:xfrm>
            <a:off x="5120640" y="2825496"/>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1, 4, 8</a:t>
            </a:r>
          </a:p>
        </p:txBody>
      </p:sp>
      <p:sp>
        <p:nvSpPr>
          <p:cNvPr id="18" name="TextBox 17"/>
          <p:cNvSpPr txBox="1"/>
          <p:nvPr/>
        </p:nvSpPr>
        <p:spPr>
          <a:xfrm>
            <a:off x="7086600" y="2825496"/>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off device's grip on its gate</a:t>
            </a:r>
          </a:p>
        </p:txBody>
      </p:sp>
      <p:sp>
        <p:nvSpPr>
          <p:cNvPr id="19" name="TextBox 18"/>
          <p:cNvSpPr txBox="1"/>
          <p:nvPr/>
        </p:nvSpPr>
        <p:spPr>
          <a:xfrm>
            <a:off x="777240" y="3300984"/>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t_dead</a:t>
            </a:r>
          </a:p>
        </p:txBody>
      </p:sp>
      <p:sp>
        <p:nvSpPr>
          <p:cNvPr id="20" name="TextBox 19"/>
          <p:cNvSpPr txBox="1"/>
          <p:nvPr/>
        </p:nvSpPr>
        <p:spPr>
          <a:xfrm>
            <a:off x="2286000" y="3300984"/>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dead time</a:t>
            </a:r>
          </a:p>
        </p:txBody>
      </p:sp>
      <p:sp>
        <p:nvSpPr>
          <p:cNvPr id="21" name="TextBox 20"/>
          <p:cNvSpPr txBox="1"/>
          <p:nvPr/>
        </p:nvSpPr>
        <p:spPr>
          <a:xfrm>
            <a:off x="5120640" y="3300984"/>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5 / 10 / 15 / 25 ns</a:t>
            </a:r>
          </a:p>
        </p:txBody>
      </p:sp>
      <p:sp>
        <p:nvSpPr>
          <p:cNvPr id="22" name="TextBox 21"/>
          <p:cNvSpPr txBox="1"/>
          <p:nvPr/>
        </p:nvSpPr>
        <p:spPr>
          <a:xfrm>
            <a:off x="7086600" y="3300984"/>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gap before the other device turns on</a:t>
            </a:r>
          </a:p>
        </p:txBody>
      </p:sp>
      <p:sp>
        <p:nvSpPr>
          <p:cNvPr id="23" name="TextBox 22"/>
          <p:cNvSpPr txBox="1"/>
          <p:nvPr/>
        </p:nvSpPr>
        <p:spPr>
          <a:xfrm>
            <a:off x="777240" y="3776472"/>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CLK_EN</a:t>
            </a:r>
          </a:p>
        </p:txBody>
      </p:sp>
      <p:sp>
        <p:nvSpPr>
          <p:cNvPr id="24" name="TextBox 23"/>
          <p:cNvSpPr txBox="1"/>
          <p:nvPr/>
        </p:nvSpPr>
        <p:spPr>
          <a:xfrm>
            <a:off x="2286000" y="3776472"/>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active Miller clamp</a:t>
            </a:r>
          </a:p>
        </p:txBody>
      </p:sp>
      <p:sp>
        <p:nvSpPr>
          <p:cNvPr id="25" name="TextBox 24"/>
          <p:cNvSpPr txBox="1"/>
          <p:nvPr/>
        </p:nvSpPr>
        <p:spPr>
          <a:xfrm>
            <a:off x="5120640" y="3776472"/>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off / on</a:t>
            </a:r>
          </a:p>
        </p:txBody>
      </p:sp>
      <p:sp>
        <p:nvSpPr>
          <p:cNvPr id="26" name="TextBox 25"/>
          <p:cNvSpPr txBox="1"/>
          <p:nvPr/>
        </p:nvSpPr>
        <p:spPr>
          <a:xfrm>
            <a:off x="7086600" y="3776472"/>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shorts the gate during the other edge</a:t>
            </a:r>
          </a:p>
        </p:txBody>
      </p:sp>
      <p:sp>
        <p:nvSpPr>
          <p:cNvPr id="27" name="TextBox 26"/>
          <p:cNvSpPr txBox="1"/>
          <p:nvPr/>
        </p:nvSpPr>
        <p:spPr>
          <a:xfrm>
            <a:off x="777240" y="4251960"/>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V_neg</a:t>
            </a:r>
          </a:p>
        </p:txBody>
      </p:sp>
      <p:sp>
        <p:nvSpPr>
          <p:cNvPr id="28" name="TextBox 27"/>
          <p:cNvSpPr txBox="1"/>
          <p:nvPr/>
        </p:nvSpPr>
        <p:spPr>
          <a:xfrm>
            <a:off x="2286000" y="4251960"/>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gate off-bias</a:t>
            </a:r>
          </a:p>
        </p:txBody>
      </p:sp>
      <p:sp>
        <p:nvSpPr>
          <p:cNvPr id="29" name="TextBox 28"/>
          <p:cNvSpPr txBox="1"/>
          <p:nvPr/>
        </p:nvSpPr>
        <p:spPr>
          <a:xfrm>
            <a:off x="5120640" y="4251960"/>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0 V / −2 V</a:t>
            </a:r>
          </a:p>
        </p:txBody>
      </p:sp>
      <p:sp>
        <p:nvSpPr>
          <p:cNvPr id="30" name="TextBox 29"/>
          <p:cNvSpPr txBox="1"/>
          <p:nvPr/>
        </p:nvSpPr>
        <p:spPr>
          <a:xfrm>
            <a:off x="7086600" y="4251960"/>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far below threshold the gate is held</a:t>
            </a:r>
          </a:p>
        </p:txBody>
      </p:sp>
      <p:sp>
        <p:nvSpPr>
          <p:cNvPr id="31" name="TextBox 30"/>
          <p:cNvSpPr txBox="1"/>
          <p:nvPr/>
        </p:nvSpPr>
        <p:spPr>
          <a:xfrm>
            <a:off x="640080" y="4828032"/>
            <a:ext cx="10972800" cy="1188720"/>
          </a:xfrm>
          <a:prstGeom prst="rect">
            <a:avLst/>
          </a:prstGeom>
          <a:noFill/>
        </p:spPr>
        <p:txBody>
          <a:bodyPr wrap="square" lIns="0" tIns="0" rIns="0" bIns="0">
            <a:spAutoFit/>
          </a:bodyPr>
          <a:lstStyle/>
          <a:p>
            <a:pPr marL="177800" indent="0">
              <a:spcAft>
                <a:spcPts val="140"/>
              </a:spcAft>
              <a:buSzPct val="100000"/>
              <a:buNone/>
            </a:pPr>
            <a:r>
              <a:rPr lang="en-US" sz="1300" dirty="0">
                <a:solidFill>
                  <a:srgbClr val="000000"/>
                </a:solidFill>
                <a:latin typeface="Calibri" pitchFamily="34" charset="0"/>
                <a:ea typeface="Calibri" pitchFamily="34" charset="-122"/>
                <a:cs typeface="Calibri" pitchFamily="34" charset="-120"/>
              </a:rPr>
              <a:t xml:space="preserve">8 × 8 × 3 × 4 × 2 × 2  =  </a:t>
            </a:r>
            <a:r>
              <a:rPr lang="en-US" sz="1300" b="1" dirty="0">
                <a:solidFill>
                  <a:srgbClr val="000000"/>
                </a:solidFill>
                <a:latin typeface="Calibri" pitchFamily="34" charset="0"/>
                <a:ea typeface="Calibri" pitchFamily="34" charset="-122"/>
                <a:cs typeface="Calibri" pitchFamily="34" charset="-120"/>
              </a:rPr>
              <a:t xml:space="preserve">720 control words</a:t>
            </a:r>
            <a:r>
              <a:rPr lang="en-US" sz="1300" dirty="0">
                <a:solidFill>
                  <a:srgbClr val="000000"/>
                </a:solidFill>
                <a:latin typeface="Calibri" pitchFamily="34" charset="0"/>
                <a:ea typeface="Calibri" pitchFamily="34" charset="-122"/>
                <a:cs typeface="Calibri" pitchFamily="34" charset="-120"/>
              </a:rPr>
              <a:t xml:space="preserve">.  We simulate every one of them, at every corner — that is what makes this an exhaustive search rather than a shortlist.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A FIXED word</a:t>
            </a:r>
            <a:r>
              <a:rPr lang="en-US" sz="1300" dirty="0">
                <a:solidFill>
                  <a:srgbClr val="000000"/>
                </a:solidFill>
                <a:latin typeface="Calibri" pitchFamily="34" charset="0"/>
                <a:ea typeface="Calibri" pitchFamily="34" charset="-122"/>
                <a:cs typeface="Calibri" pitchFamily="34" charset="-120"/>
              </a:rPr>
              <a:t xml:space="preserve"> is one word chosen once and strapped at power-up — no sensing. </a:t>
            </a:r>
            <a:r>
              <a:rPr lang="en-US" sz="1300" b="1" dirty="0">
                <a:solidFill>
                  <a:srgbClr val="000000"/>
                </a:solidFill>
                <a:latin typeface="Calibri" pitchFamily="34" charset="0"/>
                <a:ea typeface="Calibri" pitchFamily="34" charset="-122"/>
                <a:cs typeface="Calibri" pitchFamily="34" charset="-120"/>
              </a:rPr>
              <a:t xml:space="preserve">SCHEDULING</a:t>
            </a:r>
            <a:r>
              <a:rPr lang="en-US" sz="1300" dirty="0">
                <a:solidFill>
                  <a:srgbClr val="000000"/>
                </a:solidFill>
                <a:latin typeface="Calibri" pitchFamily="34" charset="0"/>
                <a:ea typeface="Calibri" pitchFamily="34" charset="-122"/>
                <a:cs typeface="Calibri" pitchFamily="34" charset="-120"/>
              </a:rPr>
              <a:t xml:space="preserve"> means sensing the operating point and switching to a different word for it, which is what needs an ADC and a lookup table. The whole project measures the gap between those two.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vs this work — what we improve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10972800" cy="256032"/>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Base paper [9]: Takayama &amp; Hikihara, Int. J. Circuit Theory Appl., 50(1):183–196, 2022 — a gate waveform chosen by a multibit digital code.</a:t>
            </a:r>
          </a:p>
        </p:txBody>
      </p:sp>
      <p:sp>
        <p:nvSpPr>
          <p:cNvPr id="6" name="TextBox 5"/>
          <p:cNvSpPr txBox="1"/>
          <p:nvPr/>
        </p:nvSpPr>
        <p:spPr>
          <a:xfrm>
            <a:off x="640080" y="1362456"/>
            <a:ext cx="23774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Parameter</a:t>
            </a:r>
          </a:p>
        </p:txBody>
      </p:sp>
      <p:sp>
        <p:nvSpPr>
          <p:cNvPr id="7" name="TextBox 6"/>
          <p:cNvSpPr txBox="1"/>
          <p:nvPr/>
        </p:nvSpPr>
        <p:spPr>
          <a:xfrm>
            <a:off x="3154680" y="1362456"/>
            <a:ext cx="315468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Base paper [9]</a:t>
            </a:r>
          </a:p>
        </p:txBody>
      </p:sp>
      <p:sp>
        <p:nvSpPr>
          <p:cNvPr id="8" name="TextBox 7"/>
          <p:cNvSpPr txBox="1"/>
          <p:nvPr/>
        </p:nvSpPr>
        <p:spPr>
          <a:xfrm>
            <a:off x="6446520" y="1362456"/>
            <a:ext cx="50749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This work</a:t>
            </a:r>
          </a:p>
        </p:txBody>
      </p:sp>
      <p:sp>
        <p:nvSpPr>
          <p:cNvPr id="9" name="TextBox 8"/>
          <p:cNvSpPr txBox="1"/>
          <p:nvPr/>
        </p:nvSpPr>
        <p:spPr>
          <a:xfrm>
            <a:off x="640080" y="17830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Device</a:t>
            </a:r>
          </a:p>
        </p:txBody>
      </p:sp>
      <p:sp>
        <p:nvSpPr>
          <p:cNvPr id="10" name="TextBox 9"/>
          <p:cNvSpPr txBox="1"/>
          <p:nvPr/>
        </p:nvSpPr>
        <p:spPr>
          <a:xfrm>
            <a:off x="3154680" y="17830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SiC MOSFET</a:t>
            </a:r>
          </a:p>
        </p:txBody>
      </p:sp>
      <p:sp>
        <p:nvSpPr>
          <p:cNvPr id="11" name="TextBox 10"/>
          <p:cNvSpPr txBox="1"/>
          <p:nvPr/>
        </p:nvSpPr>
        <p:spPr>
          <a:xfrm>
            <a:off x="6446520" y="17830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GaN HEMT (e-mode)  —  no body diode, so off-bias costs third-quadrant drop</a:t>
            </a:r>
          </a:p>
        </p:txBody>
      </p:sp>
      <p:sp>
        <p:nvSpPr>
          <p:cNvPr id="12" name="TextBox 11"/>
          <p:cNvSpPr txBox="1"/>
          <p:nvPr/>
        </p:nvSpPr>
        <p:spPr>
          <a:xfrm>
            <a:off x="640080" y="23317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Control handle</a:t>
            </a:r>
          </a:p>
        </p:txBody>
      </p:sp>
      <p:sp>
        <p:nvSpPr>
          <p:cNvPr id="13" name="TextBox 12"/>
          <p:cNvSpPr txBox="1"/>
          <p:nvPr/>
        </p:nvSpPr>
        <p:spPr>
          <a:xfrm>
            <a:off x="3154680" y="23317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multibit gate code, one field</a:t>
            </a:r>
          </a:p>
        </p:txBody>
      </p:sp>
      <p:sp>
        <p:nvSpPr>
          <p:cNvPr id="14" name="TextBox 13"/>
          <p:cNvSpPr txBox="1"/>
          <p:nvPr/>
        </p:nvSpPr>
        <p:spPr>
          <a:xfrm>
            <a:off x="6446520" y="23317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6-field, 720-point control word  —  strength, dead time, clamp, off-bias</a:t>
            </a:r>
          </a:p>
        </p:txBody>
      </p:sp>
      <p:sp>
        <p:nvSpPr>
          <p:cNvPr id="15" name="TextBox 14"/>
          <p:cNvSpPr txBox="1"/>
          <p:nvPr/>
        </p:nvSpPr>
        <p:spPr>
          <a:xfrm>
            <a:off x="640080" y="288036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Implementation</a:t>
            </a:r>
          </a:p>
        </p:txBody>
      </p:sp>
      <p:sp>
        <p:nvSpPr>
          <p:cNvPr id="16" name="TextBox 15"/>
          <p:cNvSpPr txBox="1"/>
          <p:nvPr/>
        </p:nvSpPr>
        <p:spPr>
          <a:xfrm>
            <a:off x="3154680" y="288036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digital driver</a:t>
            </a:r>
          </a:p>
        </p:txBody>
      </p:sp>
      <p:sp>
        <p:nvSpPr>
          <p:cNvPr id="17" name="TextBox 16"/>
          <p:cNvSpPr txBox="1"/>
          <p:nvPr/>
        </p:nvSpPr>
        <p:spPr>
          <a:xfrm>
            <a:off x="6446520" y="288036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FPGA RTL in Verilog  ·  8 asserted properties, mutation-tested</a:t>
            </a:r>
          </a:p>
        </p:txBody>
      </p:sp>
      <p:sp>
        <p:nvSpPr>
          <p:cNvPr id="18" name="TextBox 17"/>
          <p:cNvSpPr txBox="1"/>
          <p:nvPr/>
        </p:nvSpPr>
        <p:spPr>
          <a:xfrm>
            <a:off x="640080" y="342900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How codes chosen</a:t>
            </a:r>
          </a:p>
        </p:txBody>
      </p:sp>
      <p:sp>
        <p:nvSpPr>
          <p:cNvPr id="19" name="TextBox 18"/>
          <p:cNvSpPr txBox="1"/>
          <p:nvPr/>
        </p:nvSpPr>
        <p:spPr>
          <a:xfrm>
            <a:off x="3154680" y="342900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selected codes, measured</a:t>
            </a:r>
          </a:p>
        </p:txBody>
      </p:sp>
      <p:sp>
        <p:nvSpPr>
          <p:cNvPr id="20" name="TextBox 19"/>
          <p:cNvSpPr txBox="1"/>
          <p:nvPr/>
        </p:nvSpPr>
        <p:spPr>
          <a:xfrm>
            <a:off x="6446520" y="342900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EXHAUSTIVE  —  all 720 words at every corner, 34,622 transients</a:t>
            </a:r>
          </a:p>
        </p:txBody>
      </p:sp>
      <p:sp>
        <p:nvSpPr>
          <p:cNvPr id="21" name="TextBox 20"/>
          <p:cNvSpPr txBox="1"/>
          <p:nvPr/>
        </p:nvSpPr>
        <p:spPr>
          <a:xfrm>
            <a:off x="640080" y="3977639"/>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Crosstalk</a:t>
            </a:r>
          </a:p>
        </p:txBody>
      </p:sp>
      <p:sp>
        <p:nvSpPr>
          <p:cNvPr id="22" name="TextBox 21"/>
          <p:cNvSpPr txBox="1"/>
          <p:nvPr/>
        </p:nvSpPr>
        <p:spPr>
          <a:xfrm>
            <a:off x="3154680" y="3977639"/>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not addressed</a:t>
            </a:r>
          </a:p>
        </p:txBody>
      </p:sp>
      <p:sp>
        <p:nvSpPr>
          <p:cNvPr id="23" name="TextBox 22"/>
          <p:cNvSpPr txBox="1"/>
          <p:nvPr/>
        </p:nvSpPr>
        <p:spPr>
          <a:xfrm>
            <a:off x="6446520" y="3977639"/>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1.65 V spurious gate  →  −1.18 V  (2.58 V margin), clamp + off-bias</a:t>
            </a:r>
          </a:p>
        </p:txBody>
      </p:sp>
      <p:sp>
        <p:nvSpPr>
          <p:cNvPr id="24" name="TextBox 23"/>
          <p:cNvSpPr txBox="1"/>
          <p:nvPr/>
        </p:nvSpPr>
        <p:spPr>
          <a:xfrm>
            <a:off x="640080" y="45262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What is reported</a:t>
            </a:r>
          </a:p>
        </p:txBody>
      </p:sp>
      <p:sp>
        <p:nvSpPr>
          <p:cNvPr id="25" name="TextBox 24"/>
          <p:cNvSpPr txBox="1"/>
          <p:nvPr/>
        </p:nvSpPr>
        <p:spPr>
          <a:xfrm>
            <a:off x="3154680" y="45262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one number vs a conventional driver</a:t>
            </a:r>
          </a:p>
        </p:txBody>
      </p:sp>
      <p:sp>
        <p:nvSpPr>
          <p:cNvPr id="26" name="TextBox 25"/>
          <p:cNvSpPr txBox="1"/>
          <p:nvPr/>
        </p:nvSpPr>
        <p:spPr>
          <a:xfrm>
            <a:off x="6446520" y="45262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number SPLIT: fixed word 25.1 %, adapting it 3.9 %, one comparator takes 72 % of that</a:t>
            </a:r>
          </a:p>
        </p:txBody>
      </p:sp>
      <p:sp>
        <p:nvSpPr>
          <p:cNvPr id="27" name="TextBox 26"/>
          <p:cNvSpPr txBox="1"/>
          <p:nvPr/>
        </p:nvSpPr>
        <p:spPr>
          <a:xfrm>
            <a:off x="640080" y="50749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Design rule</a:t>
            </a:r>
          </a:p>
        </p:txBody>
      </p:sp>
      <p:sp>
        <p:nvSpPr>
          <p:cNvPr id="28" name="TextBox 27"/>
          <p:cNvSpPr txBox="1"/>
          <p:nvPr/>
        </p:nvSpPr>
        <p:spPr>
          <a:xfrm>
            <a:off x="3154680" y="50749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none</a:t>
            </a:r>
          </a:p>
        </p:txBody>
      </p:sp>
      <p:sp>
        <p:nvSpPr>
          <p:cNvPr id="29" name="TextBox 28"/>
          <p:cNvSpPr txBox="1"/>
          <p:nvPr/>
        </p:nvSpPr>
        <p:spPr>
          <a:xfrm>
            <a:off x="6446520" y="50749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adaptive control pays only below ~2.5 nH loop inductance</a:t>
            </a:r>
          </a:p>
        </p:txBody>
      </p:sp>
      <p:sp>
        <p:nvSpPr>
          <p:cNvPr id="30" name="TextBox 29"/>
          <p:cNvSpPr txBox="1"/>
          <p:nvPr/>
        </p:nvSpPr>
        <p:spPr>
          <a:xfrm>
            <a:off x="640080" y="5742432"/>
            <a:ext cx="10972800" cy="68580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parameter we improve is not a volt or a nanosecond — it is </a:t>
            </a:r>
            <a:r>
              <a:rPr lang="en-US" sz="1200" b="1" dirty="0">
                <a:solidFill>
                  <a:srgbClr val="000000"/>
                </a:solidFill>
                <a:latin typeface="Calibri" pitchFamily="34" charset="0"/>
                <a:ea typeface="Calibri" pitchFamily="34" charset="-122"/>
                <a:cs typeface="Calibri" pitchFamily="34" charset="-120"/>
              </a:rPr>
              <a:t xml:space="preserve">what the designer knows before committing silicon</a:t>
            </a:r>
            <a:r>
              <a:rPr lang="en-US" sz="1200" dirty="0">
                <a:solidFill>
                  <a:srgbClr val="000000"/>
                </a:solidFill>
                <a:latin typeface="Calibri" pitchFamily="34" charset="0"/>
                <a:ea typeface="Calibri" pitchFamily="34" charset="-122"/>
                <a:cs typeface="Calibri" pitchFamily="34" charset="-120"/>
              </a:rPr>
              <a:t xml:space="preserve">. [9] shows a digital code works. We measure what the code is worth, and how much of that worth needs sensing at all: 3.7 % of the achievable gain, which is what the sense + ADC + lookup table has to justify.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3"/>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element is in </a:t>
            </a:r>
            <a:r>
              <a:rPr lang="en-US" sz="1200" b="1" dirty="0">
                <a:solidFill>
                  <a:srgbClr val="000000"/>
                </a:solidFill>
                <a:latin typeface="Calibri" pitchFamily="34" charset="0"/>
                <a:ea typeface="Calibri" pitchFamily="34" charset="-122"/>
                <a:cs typeface="Calibri" pitchFamily="34" charset="-120"/>
              </a:rPr>
              <a:t xml:space="preserve">sim/dpt.cir</a:t>
            </a:r>
            <a:r>
              <a:rPr lang="en-US" sz="1200" dirty="0">
                <a:solidFill>
                  <a:srgbClr val="000000"/>
                </a:solidFill>
                <a:latin typeface="Calibri" pitchFamily="34" charset="0"/>
                <a:ea typeface="Calibri" pitchFamily="34" charset="-122"/>
                <a:cs typeface="Calibri" pitchFamily="34" charset="-120"/>
              </a:rPr>
              <a:t xml:space="preserve">, which is the file to open in LTspice — it carries the active Miller clamp (S</a:t>
            </a:r>
            <a:r>
              <a:rPr lang="en-US" sz="1200" dirty="0">
                <a:solidFill>
                  <a:srgbClr val="000000"/>
                </a:solidFill>
                <a:latin typeface="Calibri" pitchFamily="34" charset="0"/>
                <a:ea typeface="Calibri" pitchFamily="34" charset="-122"/>
                <a:cs typeface="Calibri" pitchFamily="34" charset="-120"/>
              </a:rPr>
              <a:t xml:space="preserve">clk</a:t>
            </a:r>
            <a:r>
              <a:rPr lang="en-US" sz="1200" dirty="0">
                <a:solidFill>
                  <a:srgbClr val="000000"/>
                </a:solidFill>
                <a:latin typeface="Calibri" pitchFamily="34" charset="0"/>
                <a:ea typeface="Calibri" pitchFamily="34" charset="-122"/>
                <a:cs typeface="Calibri" pitchFamily="34" charset="-120"/>
              </a:rPr>
              <a:t xml:space="preserve"> through 0.5 Ω). The three </a:t>
            </a:r>
            <a:r>
              <a:rPr lang="en-US" sz="1200" b="1" dirty="0">
                <a:solidFill>
                  <a:srgbClr val="000000"/>
                </a:solidFill>
                <a:latin typeface="Calibri" pitchFamily="34" charset="0"/>
                <a:ea typeface="Calibri" pitchFamily="34" charset="-122"/>
                <a:cs typeface="Calibri" pitchFamily="34" charset="-120"/>
              </a:rPr>
              <a:t xml:space="preserve">ltspice/*.asc</a:t>
            </a:r>
            <a:r>
              <a:rPr lang="en-US" sz="1200" dirty="0">
                <a:solidFill>
                  <a:srgbClr val="000000"/>
                </a:solidFill>
                <a:latin typeface="Calibri" pitchFamily="34" charset="0"/>
                <a:ea typeface="Calibri" pitchFamily="34" charset="-122"/>
                <a:cs typeface="Calibri" pitchFamily="34" charset="-120"/>
              </a:rPr>
              <a:t xml:space="preserve"> sheets illustrate the crosstalk mechanism only and do not draw the clamp</a:t>
            </a:r>
            <a:r>
              <a:rPr lang="en-US" sz="1200" dirty="0">
                <a:solidFill>
                  <a:srgbClr val="000000"/>
                </a:solidFill>
                <a:latin typeface="Calibri" pitchFamily="34" charset="0"/>
                <a:ea typeface="Calibri" pitchFamily="34" charset="-122"/>
                <a:cs typeface="Calibri" pitchFamily="34" charset="-120"/>
              </a:rPr>
              <a:t xml:space="preserve">. C</a:t>
            </a:r>
            <a:r>
              <a:rPr lang="en-US" sz="1200" dirty="0">
                <a:solidFill>
                  <a:srgbClr val="000000"/>
                </a:solidFill>
                <a:latin typeface="Calibri" pitchFamily="34" charset="0"/>
                <a:ea typeface="Calibri" pitchFamily="34" charset="-122"/>
                <a:cs typeface="Calibri" pitchFamily="34" charset="-120"/>
              </a:rPr>
              <a:t xml:space="preserve">GD</a:t>
            </a:r>
            <a:r>
              <a:rPr lang="en-US" sz="1200" dirty="0">
                <a:solidFill>
                  <a:srgbClr val="000000"/>
                </a:solidFill>
                <a:latin typeface="Calibri" pitchFamily="34" charset="0"/>
                <a:ea typeface="Calibri" pitchFamily="34" charset="-122"/>
                <a:cs typeface="Calibri" pitchFamily="34" charset="-120"/>
              </a:rPr>
              <a:t xml:space="preserve"> on Q2 in red is the crosstalk path; GaN has no body diode, so holding the gate below threshold is paid for again across the dead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MATLAB — the Pareto front and the model check</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Rectangle 4"/>
          <p:cNvSpPr/>
          <p:nvPr/>
        </p:nvSpPr>
        <p:spPr>
          <a:xfrm>
            <a:off x="548640" y="1097280"/>
            <a:ext cx="4572000" cy="3474720"/>
          </a:xfrm>
          <a:prstGeom prst="rect">
            <a:avLst/>
          </a:prstGeom>
          <a:solidFill>
            <a:srgbClr val="0B0B0B"/>
          </a:solidFill>
          <a:ln>
            <a:solidFill>
              <a:srgbClr val="0B0B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areto_matlab.png"/>
          <p:cNvPicPr>
            <a:picLocks noChangeAspect="1"/>
          </p:cNvPicPr>
          <p:nvPr/>
        </p:nvPicPr>
        <p:blipFill>
          <a:blip r:embed="rId3"/>
          <a:stretch>
            <a:fillRect/>
          </a:stretch>
        </p:blipFill>
        <p:spPr>
          <a:xfrm>
            <a:off x="640080" y="1188720"/>
            <a:ext cx="4389120" cy="3291840"/>
          </a:xfrm>
          <a:prstGeom prst="rect">
            <a:avLst/>
          </a:prstGeom>
        </p:spPr>
      </p:pic>
      <p:sp>
        <p:nvSpPr>
          <p:cNvPr id="7" name="Rectangle 6"/>
          <p:cNvSpPr/>
          <p:nvPr/>
        </p:nvSpPr>
        <p:spPr>
          <a:xfrm>
            <a:off x="6355080" y="1097280"/>
            <a:ext cx="4572000" cy="3474720"/>
          </a:xfrm>
          <a:prstGeom prst="rect">
            <a:avLst/>
          </a:prstGeom>
          <a:solidFill>
            <a:srgbClr val="0B0B0B"/>
          </a:solidFill>
          <a:ln>
            <a:solidFill>
              <a:srgbClr val="0B0B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fig_master_weight.png"/>
          <p:cNvPicPr>
            <a:picLocks noChangeAspect="1"/>
          </p:cNvPicPr>
          <p:nvPr/>
        </p:nvPicPr>
        <p:blipFill>
          <a:blip r:embed="rId4"/>
          <a:stretch>
            <a:fillRect/>
          </a:stretch>
        </p:blipFill>
        <p:spPr>
          <a:xfrm>
            <a:off x="6446520" y="1188720"/>
            <a:ext cx="4389120" cy="3291840"/>
          </a:xfrm>
          <a:prstGeom prst="rect">
            <a:avLst/>
          </a:prstGeom>
        </p:spPr>
      </p:pic>
      <p:sp>
        <p:nvSpPr>
          <p:cNvPr id="9" name="TextBox 8"/>
          <p:cNvSpPr txBox="1"/>
          <p:nvPr/>
        </p:nvSpPr>
        <p:spPr>
          <a:xfrm>
            <a:off x="548640" y="4663440"/>
            <a:ext cx="544068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720 words, 504 feasible (70 %).</a:t>
            </a:r>
            <a:r>
              <a:rPr lang="en-US" sz="1150" dirty="0">
                <a:solidFill>
                  <a:srgbClr val="000000"/>
                </a:solidFill>
                <a:latin typeface="Calibri" pitchFamily="34" charset="0"/>
                <a:ea typeface="Calibri" pitchFamily="34" charset="-122"/>
                <a:cs typeface="Calibri" pitchFamily="34" charset="-120"/>
              </a:rPr>
              <a:t xml:space="preserve"> A 7-word Pareto front; buying one point of overshoot back costs 0.039 µJ. The green marker is the word the cost function picks.</a:t>
            </a:r>
          </a:p>
        </p:txBody>
      </p:sp>
      <p:sp>
        <p:nvSpPr>
          <p:cNvPr id="10" name="TextBox 9"/>
          <p:cNvSpPr txBox="1"/>
          <p:nvPr/>
        </p:nvSpPr>
        <p:spPr>
          <a:xfrm>
            <a:off x="6355080" y="4663440"/>
            <a:ext cx="525780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(A) stays above (B) at every weight tested.</a:t>
            </a:r>
            <a:r>
              <a:rPr lang="en-US" sz="1150" dirty="0">
                <a:solidFill>
                  <a:srgbClr val="000000"/>
                </a:solidFill>
                <a:latin typeface="Calibri" pitchFamily="34" charset="0"/>
                <a:ea typeface="Calibri" pitchFamily="34" charset="-122"/>
                <a:cs typeface="Calibri" pitchFamily="34" charset="-120"/>
              </a:rPr>
              <a:t xml:space="preserve"> Choosing the word well is worth 22.5–29.0 % of baseline across the whole range; adapting it per operating point 1.4–12.7 %. The ordering never flips.</a:t>
            </a:r>
          </a:p>
        </p:txBody>
      </p:sp>
      <p:sp>
        <p:nvSpPr>
          <p:cNvPr id="11" name="TextBox 10"/>
          <p:cNvSpPr txBox="1"/>
          <p:nvPr/>
        </p:nvSpPr>
        <p:spPr>
          <a:xfrm>
            <a:off x="548640" y="5742432"/>
            <a:ext cx="11064240" cy="6858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Dead-time margin saturates at about 15 ns</a:t>
            </a:r>
            <a:r>
              <a:rPr lang="en-US" sz="1200" dirty="0">
                <a:solidFill>
                  <a:srgbClr val="000000"/>
                </a:solidFill>
                <a:latin typeface="Calibri" pitchFamily="34" charset="0"/>
                <a:ea typeface="Calibri" pitchFamily="34" charset="-122"/>
                <a:cs typeface="Calibri" pitchFamily="34" charset="-120"/>
              </a:rPr>
              <a:t xml:space="preserve">: the marginal gain runs 269 → 31.5 → 1.8 → 0.0 mV/ns across 10/15/25/35 ns. Past 15 ns dead time costs conduction loss and buys nothing. </a:t>
            </a:r>
            <a:r>
              <a:rPr lang="en-US" sz="1200" b="1" dirty="0">
                <a:solidFill>
                  <a:srgbClr val="000000"/>
                </a:solidFill>
                <a:latin typeface="Calibri" pitchFamily="34" charset="0"/>
                <a:ea typeface="Calibri" pitchFamily="34" charset="-122"/>
                <a:cs typeface="Calibri" pitchFamily="34" charset="-120"/>
              </a:rPr>
              <a:t xml:space="preserve">results/gan_analysis.m</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results/gan_master.m</a:t>
            </a:r>
            <a:r>
              <a:rPr lang="en-US" sz="1200" dirty="0">
                <a:solidFill>
                  <a:srgbClr val="000000"/>
                </a:solidFill>
                <a:latin typeface="Calibri" pitchFamily="34" charset="0"/>
                <a:ea typeface="Calibri" pitchFamily="34" charset="-122"/>
                <a:cs typeface="Calibri" pitchFamily="34" charset="-120"/>
              </a:rPr>
              <a:t xml:space="preserve"> — both run in MATLAB or Octave.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top row as the controller and the bottom row as the circuit. </a:t>
            </a:r>
            <a:r>
              <a:rPr lang="en-US" sz="1200" dirty="0">
                <a:solidFill>
                  <a:srgbClr val="000000"/>
                </a:solidFill>
                <a:latin typeface="Calibri" pitchFamily="34" charset="0"/>
                <a:ea typeface="Calibri" pitchFamily="34" charset="-122"/>
                <a:cs typeface="Calibri" pitchFamily="34" charset="-120"/>
              </a:rPr>
              <a:t xml:space="preserve">The one shaded diamond is the entire adaptive machinery.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Tools — and what each one produced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417320"/>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ngspice 42</a:t>
            </a:r>
          </a:p>
        </p:txBody>
      </p:sp>
      <p:sp>
        <p:nvSpPr>
          <p:cNvPr id="6" name="TextBox 5"/>
          <p:cNvSpPr txBox="1"/>
          <p:nvPr/>
        </p:nvSpPr>
        <p:spPr>
          <a:xfrm>
            <a:off x="3520440" y="1417320"/>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transient in the study</a:t>
            </a:r>
          </a:p>
        </p:txBody>
      </p:sp>
      <p:sp>
        <p:nvSpPr>
          <p:cNvPr id="7" name="TextBox 6"/>
          <p:cNvSpPr txBox="1"/>
          <p:nvPr/>
        </p:nvSpPr>
        <p:spPr>
          <a:xfrm>
            <a:off x="6858000" y="1417320"/>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34,622 simulations · 1.65 V spurious · 2.58 V margin · 5.2 % ceiling</a:t>
            </a:r>
          </a:p>
        </p:txBody>
      </p:sp>
      <p:sp>
        <p:nvSpPr>
          <p:cNvPr id="8" name="TextBox 7"/>
          <p:cNvSpPr txBox="1"/>
          <p:nvPr/>
        </p:nvSpPr>
        <p:spPr>
          <a:xfrm>
            <a:off x="640080" y="1984248"/>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LTspice 24</a:t>
            </a:r>
          </a:p>
        </p:txBody>
      </p:sp>
      <p:sp>
        <p:nvSpPr>
          <p:cNvPr id="9" name="TextBox 8"/>
          <p:cNvSpPr txBox="1"/>
          <p:nvPr/>
        </p:nvSpPr>
        <p:spPr>
          <a:xfrm>
            <a:off x="3520440" y="1984248"/>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independent re-run of the shipped netlists</a:t>
            </a:r>
          </a:p>
        </p:txBody>
      </p:sp>
      <p:sp>
        <p:nvSpPr>
          <p:cNvPr id="10" name="TextBox 9"/>
          <p:cNvSpPr txBox="1"/>
          <p:nvPr/>
        </p:nvSpPr>
        <p:spPr>
          <a:xfrm>
            <a:off x="6858000" y="1984248"/>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1.6487 / 0.8282 / −1.1768 V — matches ngspice within 2 mV</a:t>
            </a:r>
          </a:p>
        </p:txBody>
      </p:sp>
      <p:sp>
        <p:nvSpPr>
          <p:cNvPr id="11" name="TextBox 10"/>
          <p:cNvSpPr txBox="1"/>
          <p:nvPr/>
        </p:nvSpPr>
        <p:spPr>
          <a:xfrm>
            <a:off x="640080" y="2551176"/>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MATLAB Online</a:t>
            </a:r>
          </a:p>
        </p:txBody>
      </p:sp>
      <p:sp>
        <p:nvSpPr>
          <p:cNvPr id="12" name="TextBox 11"/>
          <p:cNvSpPr txBox="1"/>
          <p:nvPr/>
        </p:nvSpPr>
        <p:spPr>
          <a:xfrm>
            <a:off x="3520440" y="2551176"/>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independent re-analysis of the same CSVs</a:t>
            </a:r>
          </a:p>
        </p:txBody>
      </p:sp>
      <p:sp>
        <p:nvSpPr>
          <p:cNvPr id="13" name="TextBox 12"/>
          <p:cNvSpPr txBox="1"/>
          <p:nvPr/>
        </p:nvSpPr>
        <p:spPr>
          <a:xfrm>
            <a:off x="6858000" y="2551176"/>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504 of 720 feasible · 7-word Pareto front · 0.039 µJ per point</a:t>
            </a:r>
          </a:p>
        </p:txBody>
      </p:sp>
      <p:sp>
        <p:nvSpPr>
          <p:cNvPr id="14" name="TextBox 13"/>
          <p:cNvSpPr txBox="1"/>
          <p:nvPr/>
        </p:nvSpPr>
        <p:spPr>
          <a:xfrm>
            <a:off x="640080" y="3118104"/>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GNU Octave 11.3</a:t>
            </a:r>
          </a:p>
        </p:txBody>
      </p:sp>
      <p:sp>
        <p:nvSpPr>
          <p:cNvPr id="15" name="TextBox 14"/>
          <p:cNvSpPr txBox="1"/>
          <p:nvPr/>
        </p:nvSpPr>
        <p:spPr>
          <a:xfrm>
            <a:off x="3520440" y="3118104"/>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second run of the same MATLAB scripts</a:t>
            </a:r>
          </a:p>
        </p:txBody>
      </p:sp>
      <p:sp>
        <p:nvSpPr>
          <p:cNvPr id="16" name="TextBox 15"/>
          <p:cNvSpPr txBox="1"/>
          <p:nvPr/>
        </p:nvSpPr>
        <p:spPr>
          <a:xfrm>
            <a:off x="6858000" y="3118104"/>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agrees with MATLAB to the last printed digit</a:t>
            </a:r>
          </a:p>
        </p:txBody>
      </p:sp>
      <p:sp>
        <p:nvSpPr>
          <p:cNvPr id="17" name="TextBox 16"/>
          <p:cNvSpPr txBox="1"/>
          <p:nvPr/>
        </p:nvSpPr>
        <p:spPr>
          <a:xfrm>
            <a:off x="640080" y="3685032"/>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Icarus Verilog</a:t>
            </a:r>
          </a:p>
        </p:txBody>
      </p:sp>
      <p:sp>
        <p:nvSpPr>
          <p:cNvPr id="18" name="TextBox 17"/>
          <p:cNvSpPr txBox="1"/>
          <p:nvPr/>
        </p:nvSpPr>
        <p:spPr>
          <a:xfrm>
            <a:off x="3520440" y="3685032"/>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RTL verification and mutation testing</a:t>
            </a:r>
          </a:p>
        </p:txBody>
      </p:sp>
      <p:sp>
        <p:nvSpPr>
          <p:cNvPr id="19" name="TextBox 18"/>
          <p:cNvSpPr txBox="1"/>
          <p:nvPr/>
        </p:nvSpPr>
        <p:spPr>
          <a:xfrm>
            <a:off x="6858000" y="3685032"/>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8 asserted properties pass · injected shoot-through caught 221×</a:t>
            </a:r>
          </a:p>
        </p:txBody>
      </p:sp>
      <p:sp>
        <p:nvSpPr>
          <p:cNvPr id="20" name="TextBox 19"/>
          <p:cNvSpPr txBox="1"/>
          <p:nvPr/>
        </p:nvSpPr>
        <p:spPr>
          <a:xfrm>
            <a:off x="640080" y="4251960"/>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Xilinx Vivado 2024.1.2</a:t>
            </a:r>
          </a:p>
        </p:txBody>
      </p:sp>
      <p:sp>
        <p:nvSpPr>
          <p:cNvPr id="21" name="TextBox 20"/>
          <p:cNvSpPr txBox="1"/>
          <p:nvPr/>
        </p:nvSpPr>
        <p:spPr>
          <a:xfrm>
            <a:off x="3520440" y="4251960"/>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FPGA synthesis and timing on xc7a35t</a:t>
            </a:r>
          </a:p>
        </p:txBody>
      </p:sp>
      <p:sp>
        <p:nvSpPr>
          <p:cNvPr id="22" name="TextBox 21"/>
          <p:cNvSpPr txBox="1"/>
          <p:nvPr/>
        </p:nvSpPr>
        <p:spPr>
          <a:xfrm>
            <a:off x="6858000" y="4251960"/>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20 LUTs, 20 flip-flops · 200 MHz met, 1.996 ns slack</a:t>
            </a:r>
          </a:p>
        </p:txBody>
      </p:sp>
      <p:sp>
        <p:nvSpPr>
          <p:cNvPr id="23" name="TextBox 22"/>
          <p:cNvSpPr txBox="1"/>
          <p:nvPr/>
        </p:nvSpPr>
        <p:spPr>
          <a:xfrm>
            <a:off x="640080" y="4818888"/>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Python · NumPy</a:t>
            </a:r>
          </a:p>
        </p:txBody>
      </p:sp>
      <p:sp>
        <p:nvSpPr>
          <p:cNvPr id="24" name="TextBox 23"/>
          <p:cNvSpPr txBox="1"/>
          <p:nvPr/>
        </p:nvSpPr>
        <p:spPr>
          <a:xfrm>
            <a:off x="3520440" y="4818888"/>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sweep orchestration and the decomposition</a:t>
            </a:r>
          </a:p>
        </p:txBody>
      </p:sp>
      <p:sp>
        <p:nvSpPr>
          <p:cNvPr id="25" name="TextBox 24"/>
          <p:cNvSpPr txBox="1"/>
          <p:nvPr/>
        </p:nvSpPr>
        <p:spPr>
          <a:xfrm>
            <a:off x="6858000" y="4818888"/>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720-word search · (A) 25.1 % vs (B) 3.9 %</a:t>
            </a:r>
          </a:p>
        </p:txBody>
      </p:sp>
      <p:sp>
        <p:nvSpPr>
          <p:cNvPr id="26" name="TextBox 25"/>
          <p:cNvSpPr txBox="1"/>
          <p:nvPr/>
        </p:nvSpPr>
        <p:spPr>
          <a:xfrm>
            <a:off x="640080" y="5550408"/>
            <a:ext cx="10972800" cy="54864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 number rests on one tool. </a:t>
            </a:r>
            <a:r>
              <a:rPr lang="en-US" sz="1250" dirty="0">
                <a:solidFill>
                  <a:srgbClr val="000000"/>
                </a:solidFill>
                <a:latin typeface="Calibri" pitchFamily="34" charset="0"/>
                <a:ea typeface="Calibri" pitchFamily="34" charset="-122"/>
                <a:cs typeface="Calibri" pitchFamily="34" charset="-120"/>
              </a:rPr>
              <a:t xml:space="preserve">Every headline figure was produced in one program and checked in another — SPICE against SPICE, MATLAB against Octave, yosys against Vivado.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9</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b="1" dirty="0">
                <a:solidFill>
                  <a:srgbClr val="000000"/>
                </a:solidFill>
                <a:latin typeface="Calibri" pitchFamily="34" charset="0"/>
                <a:ea typeface="Calibri" pitchFamily="34" charset="-122"/>
                <a:cs typeface="Calibri" pitchFamily="34" charset="-120"/>
              </a:rPr>
              <a:t xml:space="preserve">Every active-gate-driver paper reports ONE number: the improvement over a conventional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That number bundles two effects that cost completely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Pick a better control word once, at design time. Costs nothing at run time: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Change the word as load, bus voltage and temperature move. This is what needs the sensing hardware the architecture is sold on.</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THE GAP: </a:t>
            </a:r>
            <a:r>
              <a:rPr lang="en-US" sz="1400" dirty="0">
                <a:solidFill>
                  <a:srgbClr val="000000"/>
                </a:solidFill>
                <a:latin typeface="Calibri" pitchFamily="34" charset="0"/>
                <a:ea typeface="Calibri" pitchFamily="34" charset="-122"/>
                <a:cs typeface="Calibri" pitchFamily="34" charset="-120"/>
              </a:rPr>
              <a:t xml:space="preserve">no published work separates them. Nobody reports how much of an active gate driver's benefit actually requires adaptation, because separating the two needs an exhaustive search of the control word at every corner — and nobody has run one.</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WHY IT MATTERS: </a:t>
            </a:r>
            <a:r>
              <a:rPr lang="en-US" sz="1400" dirty="0">
                <a:solidFill>
                  <a:srgbClr val="000000"/>
                </a:solidFill>
                <a:latin typeface="Calibri" pitchFamily="34" charset="0"/>
                <a:ea typeface="Calibri" pitchFamily="34" charset="-122"/>
                <a:cs typeface="Calibri" pitchFamily="34" charset="-120"/>
              </a:rPr>
              <a:t xml:space="preserve">only Effect 2 justifies the sense + ADC + lookup table. If it is small, that hardware is mostly paying for something a design-time choice already delivers — a buy-or-not decision nobody has costed.</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WHAT WE DO: </a:t>
            </a:r>
            <a:r>
              <a:rPr lang="en-US" sz="1400" dirty="0">
                <a:solidFill>
                  <a:srgbClr val="000000"/>
                </a:solidFill>
                <a:latin typeface="Calibri" pitchFamily="34" charset="0"/>
                <a:ea typeface="Calibri" pitchFamily="34" charset="-122"/>
                <a:cs typeface="Calibri" pitchFamily="34" charset="-120"/>
              </a:rPr>
              <a:t xml:space="preserve">720 control words × 4 corners, exhaustively, in ngspice — then report the two numbers separately instead of their sum.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15</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Citing a base paper is not a comparison. </a:t>
            </a:r>
            <a:r>
              <a:rPr lang="en-US" sz="1250" dirty="0">
                <a:solidFill>
                  <a:srgbClr val="000000"/>
                </a:solidFill>
                <a:latin typeface="Calibri" pitchFamily="34" charset="0"/>
                <a:ea typeface="Calibri" pitchFamily="34" charset="-122"/>
                <a:cs typeface="Calibri" pitchFamily="34" charset="-120"/>
              </a:rPr>
              <a:t xml:space="preserve">models/basedrv.lib implements Takayama, Okuda &amp; Hikihara's DAC-architecture driver — a multibit code that changes DURING the switching edge, with no Miller clamp and no negative off-bias rail, because those are ours. It runs inside sim/dpt.cir, byte-identical otherwise,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+0.533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time-sequenced multibit code alone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FALSE TURN-ON. A fast FIXED code is worse than their sequenced one — their contribution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Only marginally past the base paper. The clamp alone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4.8× the base paper's margin. This is the shipped configuration.</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comparison shows. </a:t>
            </a:r>
            <a:r>
              <a:rPr lang="en-US" sz="1250" dirty="0">
                <a:solidFill>
                  <a:srgbClr val="000000"/>
                </a:solidFill>
                <a:latin typeface="Calibri" pitchFamily="34" charset="0"/>
                <a:ea typeface="Calibri" pitchFamily="34" charset="-122"/>
                <a:cs typeface="Calibri" pitchFamily="34" charset="-120"/>
              </a:rPr>
              <a:t xml:space="preserve">The base paper shapes the gate waveform in TIME; we hold the code constant and add two actuators it does not have. Both clear the threshold — theirs works — but ours clears it by 4.8× more, and ours is the one whose settings can then be searched exhaustively to ask what adaptation is actually worth.</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Reproduce: </a:t>
            </a:r>
            <a:r>
              <a:rPr lang="en-US" sz="1150" b="1" dirty="0">
                <a:solidFill>
                  <a:srgbClr val="000000"/>
                </a:solidFill>
                <a:latin typeface="Calibri" pitchFamily="34" charset="0"/>
                <a:ea typeface="Calibri" pitchFamily="34" charset="-122"/>
                <a:cs typeface="Calibri" pitchFamily="34" charset="-120"/>
              </a:rPr>
              <a:t xml:space="preserve">python3 scripts/basepaper_compare.py</a:t>
            </a:r>
            <a:r>
              <a:rPr lang="en-US" sz="1150" dirty="0">
                <a:solidFill>
                  <a:srgbClr val="000000"/>
                </a:solidFill>
                <a:latin typeface="Calibri" pitchFamily="34" charset="0"/>
                <a:ea typeface="Calibri" pitchFamily="34" charset="-122"/>
                <a:cs typeface="Calibri" pitchFamily="34" charset="-120"/>
              </a:rPr>
              <a:t xml:space="preserve">  — four ngspice runs, prints this table.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720-point control word, and an exhaustive search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well beats adapting — and by how much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04</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Where this goes</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The deliverable, the limits, and Review-II</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a:p>
            <a:pPr marL="177800" indent="-177800">
              <a:spcAft>
                <a:spcPts val="0"/>
              </a:spcAft>
              <a:buSzPct val="100000"/>
              <a:buChar char="•"/>
            </a:pPr>
            <a:r>
              <a:rPr lang="en-US" sz="1150" b="1" dirty="0">
                <a:solidFill>
                  <a:srgbClr val="000000"/>
                </a:solidFill>
                <a:latin typeface="Calibri" pitchFamily="34" charset="0"/>
                <a:ea typeface="Calibri" pitchFamily="34" charset="-122"/>
                <a:cs typeface="Calibri" pitchFamily="34" charset="-120"/>
              </a:rPr>
              <a:t xml:space="preserve">Baseline note. </a:t>
            </a:r>
            <a:r>
              <a:rPr lang="en-US" sz="1150" dirty="0">
                <a:solidFill>
                  <a:srgbClr val="000000"/>
                </a:solidFill>
                <a:latin typeface="Calibri" pitchFamily="34" charset="0"/>
                <a:ea typeface="Calibri" pitchFamily="34" charset="-122"/>
                <a:cs typeface="Calibri" pitchFamily="34" charset="-120"/>
              </a:rPr>
              <a:t xml:space="preserve">Nominal here is 5.95 %, not the 5.2 % headline — a two-corner search on its own sweep. Compare the </a:t>
            </a:r>
            <a:r>
              <a:rPr lang="en-US" sz="1150" b="1" dirty="0">
                <a:solidFill>
                  <a:srgbClr val="000000"/>
                </a:solidFill>
                <a:latin typeface="Calibri" pitchFamily="34" charset="0"/>
                <a:ea typeface="Calibri" pitchFamily="34" charset="-122"/>
                <a:cs typeface="Calibri" pitchFamily="34" charset="-120"/>
              </a:rPr>
              <a:t xml:space="preserve">vs nom.</a:t>
            </a:r>
            <a:r>
              <a:rPr lang="en-US" sz="1150" dirty="0">
                <a:solidFill>
                  <a:srgbClr val="000000"/>
                </a:solidFill>
                <a:latin typeface="Calibri" pitchFamily="34" charset="0"/>
                <a:ea typeface="Calibri" pitchFamily="34" charset="-122"/>
                <a:cs typeface="Calibri" pitchFamily="34" charset="-120"/>
              </a:rPr>
              <a:t xml:space="preserve"> column, not the absolute values.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