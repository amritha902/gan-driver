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81" r:id="rId32"/>
    <p:sldId id="261" r:id="rId7"/>
    <p:sldId id="274" r:id="rId25"/>
    <p:sldId id="279" r:id="rId30"/>
    <p:sldId id="277" r:id="rId28"/>
    <p:sldId id="278" r:id="rId29"/>
    <p:sldId id="282" r:id="rId33"/>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Amritha S  —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ever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cost that justifies the architecture, and the one nobody has priced.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13 references. Grouped by what the driver DOES, not by date. Clusters A–C choose a setting or regulate it in analogue; only cluster D makes the setting a digital code — which is what makes an exhaustive search, and this project’s question,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2020</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IEEE conference</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2024</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7A7A7A"/>
                          </a:solidFill>
                          <a:latin typeface="Calibri"/>
                        </a:rPr>
                        <a:t>2025</a:t>
                      </a:r>
                      <a:endParaRPr lang="en-US" sz="1300" dirty="0">
                        <a:latin typeface="Calibri" charset="0"/>
                        <a:ea typeface="Calibri" charset="0"/>
                        <a:cs typeface="Calibri" charset="0"/>
                      </a:endParaRPr>
                    </a:p>
                    <a:p>
                      <a:r>
                        <a:rPr sz="1050" b="0">
                          <a:solidFill>
                            <a:srgbClr val="7A7A7A"/>
                          </a:solidFill>
                          <a:latin typeface="Calibri"/>
                        </a:rPr>
                        <a:t>authors: Xplore “Cite This”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journal</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053328"/>
            <a:ext cx="1106424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Titles, venues, years and DOIs are confirmed; author lists and page ranges sit behind IEEE Xplore, which the build environment cannot reach, and are not invented.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LTspice port has been run in LTspice.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three shipped .cir files give 1.6487 / 0.8282 / −1.1768 V in LTspice 24, matching ngspice within 2 mV — the result is not an artefact of one simulator. Spectre remains a port.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 Cadence Spectre / OCEAN · SKY130 PDK (BSIM4) · Python / NumPy / Matplotlib · MATLAB Online, used as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pass under Icarus; a shoot-through mutant is caught 221×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Synthesised. </a:t>
            </a:r>
            <a:r>
              <a:rPr lang="en-US" sz="1500" dirty="0">
                <a:solidFill>
                  <a:srgbClr val="000000"/>
                </a:solidFill>
                <a:latin typeface="Calibri" pitchFamily="34" charset="0"/>
                <a:ea typeface="Calibri" pitchFamily="34" charset="-122"/>
                <a:cs typeface="Calibri" pitchFamily="34" charset="-120"/>
              </a:rPr>
              <a:t xml:space="preserve">Strapping the word instead of leaving all six fields live takes the controller from </a:t>
            </a:r>
            <a:r>
              <a:rPr lang="en-US" sz="1500" b="1" dirty="0">
                <a:solidFill>
                  <a:srgbClr val="000000"/>
                </a:solidFill>
                <a:latin typeface="Calibri" pitchFamily="34" charset="0"/>
                <a:ea typeface="Calibri" pitchFamily="34" charset="-122"/>
                <a:cs typeface="Calibri" pitchFamily="34" charset="-120"/>
              </a:rPr>
              <a:t xml:space="preserve">371 cells to 129</a:t>
            </a:r>
            <a:r>
              <a:rPr lang="en-US" sz="1500" dirty="0">
                <a:solidFill>
                  <a:srgbClr val="000000"/>
                </a:solidFill>
                <a:latin typeface="Calibri" pitchFamily="34" charset="0"/>
                <a:ea typeface="Calibri" pitchFamily="34" charset="-122"/>
                <a:cs typeface="Calibri" pitchFamily="34" charset="-120"/>
              </a:rPr>
              <a:t xml:space="preserve"> — 65 % less logic for the 3.9 % of baseline that adaptation buys. Generic gates, not Xilinx LUTs. Vivado export written (rtl/vivado/, bench passes); not yet run — Windows/Linux only.</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has now been run: the three shipped .cir files reproduce 1.6487 / 0.8282 / −1.1768 V, matching ngspice to within 2 mV. Spectre is still a port — no installation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 sub-nanosecond dead-time control needs silicon, not fabric: [13] reaches 0.19 ns where a 200 MHz FPGA grid is 5 ns.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ieeexplore.ieee.org/document/6531666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r>
              <a:rPr lang="en-US" sz="900" b="1" dirty="0">
                <a:solidFill>
                  <a:srgbClr val="000000"/>
                </a:solidFill>
                <a:latin typeface="Calibri" pitchFamily="34" charset="0"/>
                <a:ea typeface="Calibri" pitchFamily="34" charset="-122"/>
                <a:cs typeface="Calibri" pitchFamily="34" charset="-120"/>
              </a:rPr>
              <a:t xml:space="preserve">   ieeexplore.ieee.org/document/7854840</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“Crosstalk Suppression Method for GaN-Based Bridge Configuration Using Negative Voltage Self-Recovery Gate Drive,” IEEE Trans. Power Electron., 2021,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ieeexplore.ieee.org/document/9573371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“A Novel Control Strategy for Optimal Tradeoff between Overshoot and Switching Loss Based on Double Closed-Loop Self-Regulating Active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ieeexplore.ieee.org/document/10553383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“A Self-Regulating Active Gate Driver of Voltage Overshoot Suppression for SiC MOSFETs Under Variable Load Current Conditions,”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ieeexplore.ieee.org/document/10964227</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“Universal Active Gate Driver IC With Closed-Loop Timing Control and Gate-Sensing Technique for Silicon Carbide Power Devices,”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ieeexplore.ieee.org/document/10813402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“An Integrated Driver With Dual-Edge Adaptive Dead-Time Control for GaN-Based Synchronous Buck Converter,” IEEE Trans. Ind. Appl., vol. 60, 2024, doi: 10.1109/TIA.2024.3454198.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doi.org/10.1109/TIA.2024.3454198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&amp; T. Hikihara, “Digital Active Gate Drive of SiC MOSFETs for Controlling Switching Behavior — Preparation Toward Universal Digitization of Power Switching,” Int. J. Circuit Theory Appl., vol. 50, no. 1, pp. 183–196, 2022, doi: 10.1002/cta.3136.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doi.org/10.1002/cta.3136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 IEEE conference, 2020,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ieeexplore.ieee.org/document/9170108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“High-Frequency Three-Level Gate Driver for GaN HEMT Bridge Crosstalk Suppression,”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ieeexplore.ieee.org/document/10286072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“An Integrated Suppression Method of Both Gate-Source Voltage Oscillation and Crosstalk for GaN HEMT Gate Driver,” IEEE journal, 2024,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ieeexplore.ieee.org/document/10591431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“A High-Efficient GaN Driver With Hybrid Adaptive Dead-Time Control and Peak Delay Control for Synchronous Buck Converter,” IEEE journal, 2025,  [author list and page range: Xplore “Cite This”]</a:t>
            </a:r>
            <a:r>
              <a:rPr lang="en-US" sz="900" b="1" dirty="0">
                <a:solidFill>
                  <a:srgbClr val="000000"/>
                </a:solidFill>
                <a:latin typeface="Calibri" pitchFamily="34" charset="0"/>
                <a:ea typeface="Calibri" pitchFamily="34" charset="-122"/>
                <a:cs typeface="Calibri" pitchFamily="34" charset="-120"/>
              </a:rPr>
              <a:t xml:space="preserve">   ieeexplore.ieee.org/document/11146698</a:t>
            </a:r>
          </a:p>
          <a:p>
            <a:pPr marL="177800" indent="0">
              <a:spcAft>
                <a:spcPts val="0"/>
              </a:spcAft>
              <a:buSzPct val="100000"/>
              <a:buNone/>
            </a:pPr>
            <a:r>
              <a:rPr lang="en-US" sz="850" dirty="0">
                <a:solidFill>
                  <a:srgbClr val="000000"/>
                </a:solidFill>
                <a:latin typeface="Calibri" pitchFamily="34" charset="0"/>
                <a:ea typeface="Calibri" pitchFamily="34" charset="-122"/>
                <a:cs typeface="Calibri" pitchFamily="34" charset="-120"/>
              </a:rPr>
              <a:t xml:space="preserve">3 of 13 verified against the publisher record. </a:t>
            </a:r>
            <a:r>
              <a:rPr lang="en-US" sz="850" dirty="0">
                <a:solidFill>
                  <a:srgbClr val="000000"/>
                </a:solidFill>
                <a:latin typeface="Calibri" pitchFamily="34" charset="0"/>
                <a:ea typeface="Calibri" pitchFamily="34" charset="-122"/>
                <a:cs typeface="Calibri" pitchFamily="34" charset="-120"/>
              </a:rPr>
              <a:t xml:space="preserve">The remaining 10 carry title, journal status and Xplore document ID; </a:t>
            </a:r>
            <a:r>
              <a:rPr lang="en-US" sz="850" dirty="0">
                <a:solidFill>
                  <a:srgbClr val="000000"/>
                </a:solidFill>
                <a:latin typeface="Calibri" pitchFamily="34" charset="0"/>
                <a:ea typeface="Calibri" pitchFamily="34" charset="-122"/>
                <a:cs typeface="Calibri" pitchFamily="34" charset="-120"/>
              </a:rPr>
              <a:t xml:space="preserve">volume, issue, pages and authors were not reachable from the build environment and are left blank rather than guessed.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256032"/>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7</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