
<file path=[Content_Types].xml><?xml version="1.0" encoding="utf-8"?>
<Types xmlns="http://schemas.openxmlformats.org/package/2006/content-types"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7" r:id="rId18"/>
    <p:sldId id="261" r:id="rId7"/>
    <p:sldId id="274" r:id="rId25"/>
    <p:sldId id="262" r:id="rId8"/>
    <p:sldId id="272" r:id="rId23"/>
    <p:sldId id="273" r:id="rId24"/>
    <p:sldId id="263" r:id="rId9"/>
    <p:sldId id="275" r:id="rId26"/>
    <p:sldId id="276" r:id="rId27"/>
    <p:sldId id="264" r:id="rId10"/>
    <p:sldId id="268" r:id="rId19"/>
    <p:sldId id="269" r:id="rId20"/>
    <p:sldId id="270" r:id="rId21"/>
    <p:sldId id="271" r:id="rId22"/>
    <p:sldId id="265" r:id="rId11"/>
    <p:sldId id="266" r:id="rId1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711"/>
    <p:restoredTop sz="94610"/>
  </p:normalViewPr>
  <p:slideViewPr>
    <p:cSldViewPr snapToGrid="0" snapToObjects="1">
      <p:cViewPr varScale="1">
        <p:scale>
          <a:sx n="114" d="100"/>
          <a:sy n="114" d="100"/>
        </p:scale>
        <p:origin x="50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7.xml"/><Relationship Id="rId8" Type="http://schemas.openxmlformats.org/officeDocument/2006/relationships/slide" Target="slides/slide9.xml"/><Relationship Id="rId9" Type="http://schemas.openxmlformats.org/officeDocument/2006/relationships/slide" Target="slides/slide12.xml"/><Relationship Id="rId10" Type="http://schemas.openxmlformats.org/officeDocument/2006/relationships/slide" Target="slides/slide15.xml"/><Relationship Id="rId11" Type="http://schemas.openxmlformats.org/officeDocument/2006/relationships/slide" Target="slides/slide20.xml"/><Relationship Id="rId12" Type="http://schemas.openxmlformats.org/officeDocument/2006/relationships/slide" Target="slides/slide2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openxmlformats.org/officeDocument/2006/relationships/slide" Target="slides/slide6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10.xml"/><Relationship Id="rId24" Type="http://schemas.openxmlformats.org/officeDocument/2006/relationships/slide" Target="slides/slide11.xml"/><Relationship Id="rId25" Type="http://schemas.openxmlformats.org/officeDocument/2006/relationships/slide" Target="slides/slide8.xml"/><Relationship Id="rId26" Type="http://schemas.openxmlformats.org/officeDocument/2006/relationships/slide" Target="slides/slide13.xml"/><Relationship Id="rId27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145892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[20 s]  CORE. Project name and the one-line claim: a segmented GaN gate driver, and a measurement of what per-operating-point adaptation is actually worth.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[skip]  SKIP. Template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[90 s]  CORE — the 2-mark slide, the biggest block in the review. Land two things: the failure is real and specific (1.65 V on a 1.40 V threshold), and the gap is that prior work conflates 'better fixed settings' with 'settings that adapt'.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[35 s]  CORE — literature mark. Do not read the table. Eight references, three verified to page level; point at [3], layout sets loop inductance, which decides our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[35 s]  CORE — proposed-solution mark. The 720-point control word and the method: exhaustive search at every corner, so each per-corner optimum is a TRUE optimum and not the best of a shortlist.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[55 s]  CORE — the 50 %-completion requirement. Five claims, each with a number. If asked 'is this really 50 %?': the search is complete, stress-tested, and both objections to it - layout and EMI - have been tested rather than argued. What remains is silicon and hardware.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[40 s]  CORE. The problem reproduced and fixed. Point at the red X below the threshold line. Then: safety costs 0.04 % — nearly free once the clamp is present.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[40 s]  CORE — the design chart, and the most USEFUL thing in the deck. Do NOT call it a single crossover: eight points show a BAND. Adaptive control pays from about 2.5 nH down, peaks at 13.5 % at 1.5 nH, then FALLS BACK to 8.1 % at 1.0 nH. Say why, because it is the interesting part: at 1.0 nH only 165 of 720 words are still safe, so the fixed word and the per-corner optima are squeezed into the same narrow region and the gap scheduling exploits shrinks. Below ~2 nH feasibility binds, not optimisation. We checked it is not the clamp-chatter artefact — excluding every chatter point leaves all eight ceilings unchanged to the digit. The literature does not state this trade-off because it never separates the fixed and adaptive halves.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[skip]  Reference list. Leave up during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[—]  Thank you. Expect: 'why is the clamp worth more than scheduling?', 'have you run real silicon?' (no — Review-II), 'did Cadence actually run?' (no, and the deck says so), 'is 8 references enough?' (it is the stated minimum). Newer ones: 'your dead-time number depends on which corners you pick' — yes, and we found that ourselves; it is one light-load corner - leave-one-out table in FINDINGS.md section 32. 'Doesn't EMI change your answer?' — we ran it; it makes scheduling worth less, not more.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[25 s]  CORE — literature mark. Closest prior work. [8] adapts dead time, the one field we find worth scheduling — and it does so across a 0.2-2 A range, which is exactly the light-load corner our leave-one-out test shows carries all of that benefit. Independent support, not competition.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[40 s]  CORE. Walk the diagram left to right in one sentence, then stop on the dashed block: that is the sensing and lookup-table machinery the adaptive premise needs. The whole project is a measurement of what it buys. Let the picture do the work — do not narrate every box.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[35 s]  CORE — the timeline and tools requirement. M1-M6. If asked what could go wrong: M1, the PDK — a 1.8 V / 3.3 V teaching PDK cannot take a 5 V rail.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[BACKUP]  BACKUP — the FPGA. If asked: written AND verified, seven asserted properties, then mutation-tested. Dead time gets a live register and drive strength is strapped, because that is what the study found.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[30 s]  CORE. 5.2 %. Say plainly this is a NEGATIVE result about the adaptive premise and you are reporting it rather than hiding it. Keep it short — slides 14 and 15 do the real work.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[50 s]  CORE — the novelty slide, and the one sentence the panel should leave with: 'a full sense-plus-ADC-plus-lookup-table is left justifying 3.7 % of the gain over a fixed word and one comparator.' Build it in three steps. (1) Choosing the fixed word well is worth 25.1 %. (2) Adapting per corner adds only 3.9 % — a seventh of the total. (3) And 72 % of even THAT is capturable with a single light-load comparator, not a lookup table. No published work separates these, because separating them needs the exhaustive search rather than a shortlist. If asked why nobody found this: they report one number.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[BACKUP]  BACKUP — the robustness table. Best answer to 'is this just your model?': every device parameter leaves the ceiling at 4.3-7.7 %; only loop inductance moves it, and that is board layout, not the transistor.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[40 s]  CORE. Play the video. Real captured ngspice output — the failure, the fix, the search. Let it run; do not talk over it.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[BACKUP]  BACKUP — use if the panel probes rigour. TEN wrong numbers caught by our own checks is a strength; say it that way. The best one to tell: dead time ranked first at 5.45 % on four corners and dead LAST at 0.00 % on two, and we chased it to a single light-load corner rather than quoting the flattering number. The leave-one-out table is in results/FINDINGS.md section 32 if they want it.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[40 s]  CORE. Close on what the data supports and what it now answers. Do NOT concede EMI as a limitation any more - it was tested: pricing it makes scheduling worth LESS, 5.95 % down to 0.15 %. State the remaining limits yourself instead: the two EMI measures disagree about drive strength, no silicon has been measured, and one device model underlies everything.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.png"/><Relationship Id="rId4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1.png"/><Relationship Id="rId4" Type="http://schemas.openxmlformats.org/officeDocument/2006/relationships/notesSlide" Target="../notesSlides/notesSlide1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Relationship Id="rId4" Type="http://schemas.openxmlformats.org/officeDocument/2006/relationships/image" Target="../media/image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microsoft.com/office/2007/relationships/media" Target="../media/media1.mp4"/><Relationship Id="rId3" Type="http://schemas.openxmlformats.org/officeDocument/2006/relationships/image" Target="../media/image1.png"/><Relationship Id="rId4" Type="http://schemas.openxmlformats.org/officeDocument/2006/relationships/video" Target="../media/media1.mp4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19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 — Scanned, Guide-Signed Title Slide (Mandatory)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1554480"/>
            <a:ext cx="1088136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the Review-I, obtain the guide's signature with date on the title slide (next slide).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or photograph the signed title slide clearly.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this slide with the scanned copy, so that it remains Slide 1 of the presentation.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requirement applies to every review of Project-I (2026).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pic>
        <p:nvPicPr>
          <p:cNvPr id="3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65760"/>
            <a:ext cx="2011680" cy="76082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0" y="411480"/>
            <a:ext cx="6217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School of Electronics Engineering (SENSE)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5486400" y="749808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Project-I (2026)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737360"/>
            <a:ext cx="110916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Segmented Gate Driver for GaN HEMTs: Measuring What Operating-Point Scheduling Is Actually Worth</a:t>
            </a:r>
            <a:endParaRPr lang="en-US" sz="3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06324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Name(s):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3474720" y="306324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Amritha  —  Reg. No. ________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3474720" y="3465576"/>
            <a:ext cx="4023360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 txBox="1"/>
          <p:nvPr/>
        </p:nvSpPr>
        <p:spPr>
          <a:xfrm>
            <a:off x="822960" y="365760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Guide: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3474720" y="365760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Bindu  —  SENSE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3474720" y="4059936"/>
            <a:ext cx="4023360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 txBox="1"/>
          <p:nvPr/>
        </p:nvSpPr>
        <p:spPr>
          <a:xfrm>
            <a:off x="822960" y="425196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Programme / School: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3474720" y="425196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B.Tech — SENSE, VIT Chennai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3474720" y="4654296"/>
            <a:ext cx="4023360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 txBox="1"/>
          <p:nvPr/>
        </p:nvSpPr>
        <p:spPr>
          <a:xfrm>
            <a:off x="822960" y="484632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&amp; Date: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3474720" y="484632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Review-I  ·  02.09.2026 (Wednesday)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3474720" y="5248656"/>
            <a:ext cx="4023360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6"/>
          <p:cNvSpPr/>
          <p:nvPr/>
        </p:nvSpPr>
        <p:spPr>
          <a:xfrm>
            <a:off x="8046720" y="3063240"/>
            <a:ext cx="3657600" cy="2194560"/>
          </a:xfrm>
          <a:prstGeom prst="rect">
            <a:avLst/>
          </a:prstGeom>
          <a:solidFill>
            <a:srgbClr val="FFFFFF"/>
          </a:solidFill>
          <a:ln w="15875">
            <a:solidFill>
              <a:srgbClr val="1D2F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7"/>
          <p:cNvSpPr txBox="1"/>
          <p:nvPr/>
        </p:nvSpPr>
        <p:spPr>
          <a:xfrm>
            <a:off x="8229600" y="324612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Guide's Signature with Date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8229600" y="38862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Signature: _____________________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8229600" y="443484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Date: _________________________</a:t>
            </a:r>
            <a:endParaRPr lang="en-US" sz="1300" dirty="0"/>
          </a:p>
        </p:txBody>
      </p:sp>
      <p:sp>
        <p:nvSpPr>
          <p:cNvPr id="23" name="Text 20"/>
          <p:cNvSpPr txBox="1"/>
          <p:nvPr/>
        </p:nvSpPr>
        <p:spPr>
          <a:xfrm>
            <a:off x="822960" y="576072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 is mandatory before every review. After signing, scan this slide and keep the scanned copy as Slide 1 of the presentation.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Review-I — 02.09.2026 (5 Marks, 5%)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1325880"/>
            <a:ext cx="1088136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Focus: Proposed Solution &amp; 50% Work Completion.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Duration: 10 minutes.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 contents: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Signed &amp; scanned title slide (Slide 1)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 and background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survey — minimum 8–10 recent references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solutions and their limitations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solution, scope and methodology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50% work completed, timeline, tools &amp; technologies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 split-up: Problem clarity &amp; relevance (2), Literature survey quality (1), Proposed solution feasibility (1), Presentation quality (1).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 &amp; Background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1325880"/>
            <a:ext cx="1088136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Problem Statement:</a:t>
            </a:r>
          </a:p>
          <a:p>
            <a:pPr marL="520700" indent="-177800">
              <a:spcAft>
                <a:spcPts val="600"/>
              </a:spcAft>
              <a:buSzPct val="100000"/>
              <a:buChar char="–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In a GaN half-bridge the dV/dt of one device couples through C</a:t>
            </a: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GD</a:t>
            </a: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into the gate of the device meant to be off. With a threshold near 1.4 V the spurious pulse can exceed it and turn that device partially on — shoot-through, extra loss, and at worst destruction.</a:t>
            </a:r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Background &amp; Significance:</a:t>
            </a:r>
          </a:p>
          <a:p>
            <a:pPr marL="520700" indent="-177800">
              <a:spcAft>
                <a:spcPts val="600"/>
              </a:spcAft>
              <a:buSzPct val="100000"/>
              <a:buChar char="–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GaN half-bridges are the switching core of EV and HEV traction inverters, on-board chargers and high-density server supplies, where the whole reason to choose GaN is to switch faster — which is exactly what makes this failure mode worse.</a:t>
            </a:r>
          </a:p>
          <a:p>
            <a:pPr marL="520700" indent="-177800">
              <a:spcAft>
                <a:spcPts val="600"/>
              </a:spcAft>
              <a:buSzPct val="100000"/>
              <a:buChar char="–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Negative off-bias is uniquely expensive on GaN: with no body diode the reverse drop is V</a:t>
            </a: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th</a:t>
            </a: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+ I·R + |V</a:t>
            </a: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GS,off</a:t>
            </a: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|, so each volt of margin is paid for again across the dead time.</a:t>
            </a:r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Existing Solutions:</a:t>
            </a:r>
          </a:p>
          <a:p>
            <a:pPr marL="520700" indent="-177800">
              <a:spcAft>
                <a:spcPts val="600"/>
              </a:spcAft>
              <a:buSzPct val="100000"/>
              <a:buChar char="–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Active gate drivers with segmented drive strength, Miller clamps, programmable dead time and negative off-bias [1]–[4]. Closed-loop designs adapt to the operating point and report large gains — 30.5 % less overshoot, 75 % less turn-off loss — against a conventional driver [5]–[7].</a:t>
            </a:r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Limitations / Research Gap:</a:t>
            </a:r>
          </a:p>
          <a:p>
            <a:pPr marL="520700" indent="-177800">
              <a:spcAft>
                <a:spcPts val="600"/>
              </a:spcAft>
              <a:buSzPct val="100000"/>
              <a:buChar char="–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That comparison conflates </a:t>
            </a:r>
            <a:r>
              <a:rPr lang="en-US" sz="15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choosing better fixed settings</a:t>
            </a: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with </a:t>
            </a:r>
            <a:r>
              <a:rPr lang="en-US" sz="15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adapting settings per operating point</a:t>
            </a: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. Only the second needs sensing, a lookup table and a controller — the hardware cost that justifies the architecture. No published work isolates them, so the value of adaptation has never been measured.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Survey  (1 – 4)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3840480"/>
        </p:xfrm>
        <a:graphic>
          <a:graphicData uri="http://schemas.openxmlformats.org/drawingml/2006/table">
            <a:tbl>
              <a:tblPr/>
              <a:tblGrid>
                <a:gridCol w="548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13639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Author(s) &amp; Year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Title / Source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Method / Approach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Findings &amp; Research Gap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68680"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Zhang, Wang, Tolbert &amp; Blalock (2014)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Active Gate Driver for Crosstalk Suppression of SiC Devices in a Phase-Leg Configuration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r>
                        <a:rPr sz="1050" b="1">
                          <a:solidFill>
                            <a:srgbClr val="000000"/>
                          </a:solidFill>
                          <a:latin typeface="Calibri"/>
                        </a:rPr>
                        <a:t>IEEE Trans. Power Electron., 29(4), 1986–1997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Two gate-assist circuits on a SiC MOSFET phase leg; suppresses the spurious gate pulse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Up to 17 % less turn-on loss. SiC has a body diode, so the third-quadrant cost of negative off-bias — the GaN-specific trade — never arises.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68680"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Xie, Wang, Tang, Yang &amp; Chen (2017)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An Analytical Model for False Turn-On Evaluation of High-Voltage Enhancement-Mode GaN Transistor in Bridge-Leg Configuration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r>
                        <a:rPr sz="1050" b="1">
                          <a:solidFill>
                            <a:srgbClr val="000000"/>
                          </a:solidFill>
                          <a:latin typeface="Calibri"/>
                        </a:rPr>
                        <a:t>IEEE Trans. Power Electron., 32(8), 6416–6433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Closed-form model of the crosstalk loop for e-mode GaN; predicts the spurious gate peak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Models the mechanism accurately but does not optimise a driver against it, and never asks whether settings must adapt per operating point.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68680"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Reusch &amp; Strydom (2014)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Understanding the Effect of PCB Layout on Circuit Performance in a High-Frequency Gallium-Nitride-Based Point of Load Converter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r>
                        <a:rPr sz="1050" b="1">
                          <a:solidFill>
                            <a:srgbClr val="000000"/>
                          </a:solidFill>
                          <a:latin typeface="Calibri"/>
                        </a:rPr>
                        <a:t>IEEE Trans. Power Electron., 29(4), 2008–2015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Measures a GaN converter across deliberately varied board layouts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Loop inductance is set by layout, not by the device. Our robustness study finds the scheduling ceiling depends on exactly this parameter: 13.5 % at 1.5 nH against 0.6 % at 4.5 nH.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68680"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050" b="0">
                          <a:solidFill>
                            <a:srgbClr val="7A7A7A"/>
                          </a:solidFill>
                          <a:latin typeface="Calibri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r>
                        <a:rPr sz="1050" b="0">
                          <a:solidFill>
                            <a:srgbClr val="7A7A7A"/>
                          </a:solidFill>
                          <a:latin typeface="Calibri"/>
                        </a:rPr>
                        <a:t>[complete from Xplore]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Crosstalk Suppression Method for GaN-Based Bridge Configuration Using Negative Voltage Self-Recovery Gate Drive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r>
                        <a:rPr sz="1050" b="1">
                          <a:solidFill>
                            <a:srgbClr val="000000"/>
                          </a:solidFill>
                          <a:latin typeface="Calibri"/>
                        </a:rPr>
                        <a:t>IEEE journal · Xplore doc. 9573371 · vol./pp. XX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RC-diode divider generates negative V_GS; antiparallel diode gives a low-impedance Miller path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Suppresses positive and negative crosstalk together. Treats the negative rail as always beneficial; our freeze test finds off-bias worth 2.55 % to schedule, and nothing at a 1 V guard band.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5778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0">
              <a:spcAft>
                <a:spcPts val="0"/>
              </a:spcAft>
              <a:buSzPct val="100000"/>
              <a:buNone/>
            </a:pPr>
            <a:r>
              <a:rPr lang="en-US" sz="11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References [1]–[3] are verified against the publisher record — author list, volume, issue and pages all confirmed.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Survey  (5 – 8)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3840480"/>
        </p:xfrm>
        <a:graphic>
          <a:graphicData uri="http://schemas.openxmlformats.org/drawingml/2006/table">
            <a:tbl>
              <a:tblPr/>
              <a:tblGrid>
                <a:gridCol w="548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13639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Author(s) &amp; Year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Title / Source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Method / Approach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Findings &amp; Research Gap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68680"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050" b="0">
                          <a:solidFill>
                            <a:srgbClr val="7A7A7A"/>
                          </a:solidFill>
                          <a:latin typeface="Calibri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r>
                        <a:rPr sz="1050" b="0">
                          <a:solidFill>
                            <a:srgbClr val="7A7A7A"/>
                          </a:solidFill>
                          <a:latin typeface="Calibri"/>
                        </a:rPr>
                        <a:t>[complete from Xplore]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A Novel Control Strategy for Optimal Tradeoff between Overshoot and Switching Loss Based on Double Closed-Loop Self-Regulating Active Gate Driver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r>
                        <a:rPr sz="1050" b="1">
                          <a:solidFill>
                            <a:srgbClr val="000000"/>
                          </a:solidFill>
                          <a:latin typeface="Calibri"/>
                        </a:rPr>
                        <a:t>IEEE journal · Xplore doc. 10553383 · vol./pp. XX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Weight-based closed-loop control balancing overshoot against turn-off loss per operating condition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Reports 30.5 % less overshoot and 75 % less turn-off loss. Optimises the same two objectives as our cost function, but never bounds what the adaptation itself is worth against a fixed setting.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68680"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050" b="0">
                          <a:solidFill>
                            <a:srgbClr val="7A7A7A"/>
                          </a:solidFill>
                          <a:latin typeface="Calibri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r>
                        <a:rPr sz="1050" b="0">
                          <a:solidFill>
                            <a:srgbClr val="7A7A7A"/>
                          </a:solidFill>
                          <a:latin typeface="Calibri"/>
                        </a:rPr>
                        <a:t>[complete from Xplore]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A Self-Regulating Active Gate Driver of Voltage Overshoot Suppression for SiC MOSFETs Under Variable Load Current Conditions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r>
                        <a:rPr sz="1050" b="1">
                          <a:solidFill>
                            <a:srgbClr val="000000"/>
                          </a:solidFill>
                          <a:latin typeface="Calibri"/>
                        </a:rPr>
                        <a:t>IEEE journal · Xplore doc. 10964227 · vol./pp. XX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Gate drive self-regulates as load current varies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Adaptation to the operating point is the premise, not a tested hypothesis. This is precisely the claim our exhaustive search isolates and measures at 5.2 %.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68680"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050" b="0">
                          <a:solidFill>
                            <a:srgbClr val="7A7A7A"/>
                          </a:solidFill>
                          <a:latin typeface="Calibri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r>
                        <a:rPr sz="1050" b="0">
                          <a:solidFill>
                            <a:srgbClr val="7A7A7A"/>
                          </a:solidFill>
                          <a:latin typeface="Calibri"/>
                        </a:rPr>
                        <a:t>[complete from Xplore]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Universal Active Gate Driver IC With Closed-Loop Timing Control and Gate-Sensing Technique for Silicon Carbide Power Devices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r>
                        <a:rPr sz="1050" b="1">
                          <a:solidFill>
                            <a:srgbClr val="000000"/>
                          </a:solidFill>
                          <a:latin typeface="Calibri"/>
                        </a:rPr>
                        <a:t>IEEE journal · Xplore doc. 10813402 · vol./pp. XX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Integrated driver with closed-loop timing and on-chip gate sensing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The sensing and control hardware that per-operating-point scheduling requires. Our result bounds the benefit that hardware can deliver on this architecture at a few per cent.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68680"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050" b="0">
                          <a:solidFill>
                            <a:srgbClr val="7A7A7A"/>
                          </a:solidFill>
                          <a:latin typeface="Calibri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r>
                        <a:rPr sz="1050" b="0">
                          <a:solidFill>
                            <a:srgbClr val="7A7A7A"/>
                          </a:solidFill>
                          <a:latin typeface="Calibri"/>
                        </a:rPr>
                        <a:t>[complete from Xplore]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An Integrated Driver With Dual-Edge Adaptive Dead-Time Control for GaN-Based Synchronous Buck Converter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r>
                        <a:rPr sz="1050" b="1">
                          <a:solidFill>
                            <a:srgbClr val="000000"/>
                          </a:solidFill>
                          <a:latin typeface="Calibri"/>
                        </a:rPr>
                        <a:t>IEEE journal · Xplore doc. 10664041 · vol./pp. XX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Dual-edge adaptive dead-time control; sub-1 ns dead times across a 0.2–2 A range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wrap="square"/>
                    <a:lstStyle/>
                    <a:p>
                      <a:pPr marL="0" indent="0">
                        <a:buNone/>
                      </a:pPr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Adapts the one field our freeze test says actually carries the benefit — dead time, 5.45 % of the cost, 2.1× the next field — and does it across a 0.2–2 A range, which is exactly the light-load corner our leave-one-out test shows carries all of it.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5778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0">
              <a:spcAft>
                <a:spcPts val="0"/>
              </a:spcAft>
              <a:buSzPct val="100000"/>
              <a:buNone/>
            </a:pPr>
            <a:r>
              <a:rPr lang="en-US" sz="11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References [4]–[8]: title, journal status and IEEE Xplore document ID confirmed. Volume, issue, pages and authors are marked XX — every publisher and metadata service was unreachable from the build environment, and they are not invented. One click on Xplore’s “Cite This” completes each.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Solution &amp; Methodology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1325880"/>
            <a:ext cx="1088136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Proposed Solution:</a:t>
            </a:r>
          </a:p>
          <a:p>
            <a:pPr marL="520700" indent="-177800">
              <a:spcAft>
                <a:spcPts val="600"/>
              </a:spcAft>
              <a:buSzPct val="100000"/>
              <a:buChar char="–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A segmented GaN gate driver with a 720-point control word: 8 pull-up slices, 8 pull-down slices, dead time 5–35 ns, an active Miller clamp, and a selectable off-bias rail (0 / −2 V).</a:t>
            </a:r>
          </a:p>
          <a:p>
            <a:pPr marL="520700" indent="-177800">
              <a:spcAft>
                <a:spcPts val="600"/>
              </a:spcAft>
              <a:buSzPct val="100000"/>
              <a:buChar char="–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The contribution is to </a:t>
            </a:r>
            <a:r>
              <a:rPr lang="en-US" sz="15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separate the two claims by exhaustive search</a:t>
            </a: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: sweep the full word at every corner, so each per-corner optimum is a true optimum and not the best of a shortlist, then compare against the best single fixed word. That difference is the value of adaptation, and nothing else.</a:t>
            </a:r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Methodology / Approach:</a:t>
            </a:r>
          </a:p>
          <a:p>
            <a:pPr marL="520700" indent="-177800">
              <a:spcAft>
                <a:spcPts val="600"/>
              </a:spcAft>
              <a:buSzPct val="100000"/>
              <a:buChar char="–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Double-pulse test in ngspice with a behavioural eGaN model from datasheet quantities. Its channel is symmetric by design, so the third-quadrant penalty of negative bias emerges from device physics rather than being added by hand.</a:t>
            </a:r>
          </a:p>
          <a:p>
            <a:pPr marL="520700" indent="-177800">
              <a:spcAft>
                <a:spcPts val="600"/>
              </a:spcAft>
              <a:buSzPct val="100000"/>
              <a:buChar char="–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Eight metrics per run — three energies, overshoot, settling, oscillation energy, spurious gate voltage, crosstalk margin — frozen in one extractor early, so no later sweep becomes incomparable.</a:t>
            </a:r>
          </a:p>
          <a:p>
            <a:pPr marL="520700" indent="-177800">
              <a:spcAft>
                <a:spcPts val="600"/>
              </a:spcAft>
              <a:buSzPct val="100000"/>
              <a:buChar char="–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Every reported quantity must be flat across a 5× timestep range. Enforced, not assumed: it has twice rejected a number that had already reached a draft.</a:t>
            </a:r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Project Scope:</a:t>
            </a:r>
          </a:p>
          <a:p>
            <a:pPr marL="520700" indent="-177800">
              <a:spcAft>
                <a:spcPts val="600"/>
              </a:spcAft>
              <a:buSzPct val="100000"/>
              <a:buChar char="–"/>
            </a:pPr>
            <a:r>
              <a:rPr lang="en-US" sz="15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In scope: </a:t>
            </a: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driver architecture, control-word optimisation, transistor-level output stage in SKY130. </a:t>
            </a:r>
            <a:r>
              <a:rPr lang="en-US" sz="15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Out of scope: </a:t>
            </a: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GaN device fabrication, closed-loop sensing hardware, PCB build.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Architecture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pic>
        <p:nvPicPr>
          <p:cNvPr id="5" name="Picture 4" descr="fig_architectur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9848" y="1207008"/>
            <a:ext cx="10058400" cy="48006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6089904"/>
            <a:ext cx="1088136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177800" indent="0">
              <a:spcAft>
                <a:spcPts val="0"/>
              </a:spcAft>
              <a:buSzPct val="100000"/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Solid blocks are configured once at power-up. The dashed block — sensing, ADC and lookup table — is the adaptive machinery this project exists to price.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Completed — 50 %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1325880"/>
            <a:ext cx="1088136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Crosstalk reproduced, and fixed.</a:t>
            </a:r>
          </a:p>
          <a:p>
            <a:pPr marL="520700" indent="-177800">
              <a:spcAft>
                <a:spcPts val="600"/>
              </a:spcAft>
              <a:buSzPct val="100000"/>
              <a:buChar char="–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Fastest drive, no clamp: spurious gate peak </a:t>
            </a:r>
            <a:r>
              <a:rPr lang="en-US" sz="15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1.65 V</a:t>
            </a: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against a 1.4 V threshold — false turn-on, the failure this project exists to remove. Miller clamp on with −2 V off-bias: </a:t>
            </a:r>
            <a:r>
              <a:rPr lang="en-US" sz="15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−1.18 V</a:t>
            </a: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, a 2.58 V margin.</a:t>
            </a:r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The full exhaustive search is done.</a:t>
            </a:r>
          </a:p>
          <a:p>
            <a:pPr marL="520700" indent="-177800">
              <a:spcAft>
                <a:spcPts val="600"/>
              </a:spcAft>
              <a:buSzPct val="100000"/>
              <a:buChar char="–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720 control words at each of four corners (50–200 V, 2–10 A, 25–125 °C) = 2,880 transients, plus 1,511 over a 36-point operating grid. Every per-corner optimum is a true optimum, not the best of a shortlist.</a:t>
            </a:r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The result has been stress-tested.</a:t>
            </a:r>
          </a:p>
          <a:p>
            <a:pPr marL="520700" indent="-177800">
              <a:spcAft>
                <a:spcPts val="600"/>
              </a:spcAft>
              <a:buSzPct val="100000"/>
              <a:buChar char="–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21,600 further transients perturbing five device-model parameters; the ceiling holds between 4.3 % and 7.7 % against every one of them.</a:t>
            </a:r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Both objections to the result have been tested, not argued.</a:t>
            </a:r>
          </a:p>
          <a:p>
            <a:pPr marL="520700" indent="-177800">
              <a:spcAft>
                <a:spcPts val="600"/>
              </a:spcAft>
              <a:buSzPct val="100000"/>
              <a:buChar char="–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Loop inductance (7,192 transients, eight values): adaptive control pays below ~2.5 nH, peaking at 13.5 %. EMI (1,440 transients): pricing it makes scheduling worth </a:t>
            </a:r>
            <a:r>
              <a:rPr lang="en-US" sz="15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less</a:t>
            </a: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, not more — 5.95 % → 0.15 %.</a:t>
            </a:r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The port to other simulators is written and re-simulated.</a:t>
            </a:r>
          </a:p>
          <a:p>
            <a:pPr marL="520700" indent="-177800">
              <a:spcAft>
                <a:spcPts val="600"/>
              </a:spcAft>
              <a:buSzPct val="100000"/>
              <a:buChar char="–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LTspice-dialect, Spectre and browser-WASM decks all reproduce 122.4 V / 5.00 V / 1.65 V. Neither has itself been run — no installation was available — so these are faithful ports.</a:t>
            </a:r>
          </a:p>
          <a:p>
            <a:pPr marL="520700" indent="-177800">
              <a:spcAft>
                <a:spcPts val="600"/>
              </a:spcAft>
              <a:buSzPct val="100000"/>
              <a:buChar char="–"/>
            </a:pPr>
            <a:r>
              <a:rPr lang="en-US" sz="15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In total: </a:t>
            </a: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nearly 35,000 transient simulations, a 34-section written record, and a full manuscript draft with five tables and four figures.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Timeline, Milestones &amp; Tools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1325880"/>
            <a:ext cx="1088136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Timeline &amp; milestones</a:t>
            </a: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 (dates follow the department calendar)</a:t>
            </a:r>
          </a:p>
          <a:p>
            <a:pPr marL="520700" indent="-177800">
              <a:spcAft>
                <a:spcPts val="600"/>
              </a:spcAft>
              <a:buSzPct val="100000"/>
              <a:buChar char="–"/>
            </a:pPr>
            <a:r>
              <a:rPr lang="en-US" sz="15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Review-I — complete. </a:t>
            </a: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Problem reproduced, driver and testbench built, exhaustive search finished, ceiling established and stress-tested against the device model.</a:t>
            </a:r>
          </a:p>
          <a:p>
            <a:pPr marL="520700" indent="-177800">
              <a:spcAft>
                <a:spcPts val="600"/>
              </a:spcAft>
              <a:buSzPct val="100000"/>
              <a:buChar char="–"/>
            </a:pPr>
            <a:r>
              <a:rPr lang="en-US" sz="15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Review-II. </a:t>
            </a: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M1 secure a 5 V-capable PDK · M2 draw the segmented output stage at transistor level in Cadence · M3 re-run the ceiling on real devices and compare it against the ideal-switch bound reported here.</a:t>
            </a:r>
          </a:p>
          <a:p>
            <a:pPr marL="520700" indent="-177800">
              <a:spcAft>
                <a:spcPts val="600"/>
              </a:spcAft>
              <a:buSzPct val="100000"/>
              <a:buChar char="–"/>
            </a:pPr>
            <a:r>
              <a:rPr lang="en-US" sz="15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Review-III. </a:t>
            </a: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M4 build the half-bridge · M5 measure crosstalk margin at one corner against the simulated 1.65 V · M6 submit the manuscript.</a:t>
            </a:r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Tools &amp; technologies</a:t>
            </a:r>
          </a:p>
          <a:p>
            <a:pPr marL="520700" indent="-177800">
              <a:spcAft>
                <a:spcPts val="600"/>
              </a:spcAft>
              <a:buSzPct val="100000"/>
              <a:buChar char="–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ngspice 42 (every sweep) · LTspice · Cadence Spectre / OCEAN · SKY130 PDK (BSIM4) · Python / NumPy / Matplotlib · MATLAB Online, used as an independent cross-check of the Pareto analysis · Git</a:t>
            </a:r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How to check any of it</a:t>
            </a:r>
          </a:p>
          <a:p>
            <a:pPr marL="520700" indent="-177800">
              <a:spcAft>
                <a:spcPts val="600"/>
              </a:spcAft>
              <a:buSzPct val="100000"/>
              <a:buChar char="–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Every number on these slides is regenerated by a named script in the repository </a:t>
            </a:r>
            <a:r>
              <a:rPr lang="en-US" sz="15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github.com/Amritha902/vero</a:t>
            </a: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, under </a:t>
            </a:r>
            <a:r>
              <a:rPr lang="en-US" sz="15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gan-driver/</a:t>
            </a: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. Netlists, raw sweep data and analysis scripts are all committed; no figure is drawn by hand, and no number is typed in twice.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FPGA Controller — verified RTL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1325880"/>
            <a:ext cx="1088136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520700" indent="-177800">
              <a:spcAft>
                <a:spcPts val="600"/>
              </a:spcAft>
              <a:buSzPct val="100000"/>
              <a:buChar char="–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Three modules emitting exactly the 720-point control word the SPICE model consumes.</a:t>
            </a:r>
          </a:p>
          <a:p>
            <a:pPr marL="520700" indent="-177800">
              <a:spcAft>
                <a:spcPts val="600"/>
              </a:spcAft>
              <a:buSzPct val="100000"/>
              <a:buChar char="–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Dead time gets a </a:t>
            </a:r>
            <a:r>
              <a:rPr lang="en-US" sz="15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live register</a:t>
            </a: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; drive strength is </a:t>
            </a:r>
            <a:r>
              <a:rPr lang="en-US" sz="15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strapped</a:t>
            </a: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— the study's own result built into the hardware, since dead time is worth 5.45 % to schedule (carried by the light-load corner alone) and pull-up 0.00 %.</a:t>
            </a:r>
          </a:p>
          <a:p>
            <a:pPr marL="520700" indent="-177800">
              <a:spcAft>
                <a:spcPts val="600"/>
              </a:spcAft>
              <a:buSzPct val="100000"/>
              <a:buChar char="–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Reset lands on the safest word, not the fastest.</a:t>
            </a:r>
          </a:p>
          <a:p>
            <a:pPr marL="520700" indent="-177800">
              <a:spcAft>
                <a:spcPts val="600"/>
              </a:spcAft>
              <a:buSzPct val="100000"/>
              <a:buChar char="–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Seven asserted properties, all passing under Icarus Verilog; then mutation-tested — a deliberate shoot-through bug draws 70 failures.</a:t>
            </a:r>
          </a:p>
        </p:txBody>
      </p:sp>
      <p:pic>
        <p:nvPicPr>
          <p:cNvPr id="6" name="Picture 5" descr="fig_rtl_wavefor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3200" y="3703320"/>
            <a:ext cx="6675120" cy="242242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743200" y="6217920"/>
            <a:ext cx="667512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177800" indent="0">
              <a:spcAft>
                <a:spcPts val="0"/>
              </a:spcAft>
              <a:buSzPct val="100000"/>
              <a:buNone/>
            </a:pPr>
            <a:r>
              <a:rPr lang="en-US" sz="1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Icarus Verilog VCD. ls_pu falls to 0 before hs_pu rises — the shaded dead time is the gap, and no shoot-through window exists.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— the problem, and the fix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pic>
        <p:nvPicPr>
          <p:cNvPr id="5" name="Picture 4" descr="fig1_crosstal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1325880"/>
            <a:ext cx="6675120" cy="423831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5760720"/>
            <a:ext cx="667512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177800" indent="0">
              <a:spcAft>
                <a:spcPts val="0"/>
              </a:spcAft>
              <a:buSzPct val="100000"/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Fig. 1  Spurious gate voltage on the off-device: the failure, and the actuator that removes 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35240" y="1325880"/>
            <a:ext cx="388620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177800" indent="0">
              <a:spcAft>
                <a:spcPts val="0"/>
              </a:spcAft>
              <a:buSzPct val="100000"/>
              <a:buNone/>
            </a:pPr>
            <a:r>
              <a:rPr lang="en-US" sz="15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The problem is real, and reproduced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828800"/>
            <a:ext cx="388620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177800" indent="0">
              <a:spcAft>
                <a:spcPts val="100"/>
              </a:spcAft>
              <a:buSzPct val="100000"/>
              <a:buNone/>
            </a:pPr>
            <a:r>
              <a:rPr lang="en-US" sz="32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1.65 V</a:t>
            </a:r>
          </a:p>
          <a:p>
            <a:pPr marL="177800" indent="0">
              <a:spcAft>
                <a:spcPts val="60"/>
              </a:spcAft>
              <a:buSzPct val="100000"/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spurious gate peak vs 1.4 V threshold</a:t>
            </a:r>
          </a:p>
          <a:p>
            <a:pPr marL="177800" indent="0">
              <a:spcAft>
                <a:spcPts val="0"/>
              </a:spcAft>
              <a:buSzPct val="100000"/>
              <a:buNone/>
            </a:pPr>
            <a:r>
              <a:rPr lang="en-US" sz="11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Fastest drive, no clamp — false turn-on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3063240"/>
            <a:ext cx="388620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177800" indent="0">
              <a:spcAft>
                <a:spcPts val="100"/>
              </a:spcAft>
              <a:buSzPct val="100000"/>
              <a:buNone/>
            </a:pPr>
            <a:r>
              <a:rPr lang="en-US" sz="32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2.58 V</a:t>
            </a:r>
          </a:p>
          <a:p>
            <a:pPr marL="177800" indent="0">
              <a:spcAft>
                <a:spcPts val="60"/>
              </a:spcAft>
              <a:buSzPct val="100000"/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margin with clamp + −2 V off-bias</a:t>
            </a:r>
          </a:p>
          <a:p>
            <a:pPr marL="177800" indent="0">
              <a:spcAft>
                <a:spcPts val="0"/>
              </a:spcAft>
              <a:buSzPct val="100000"/>
              <a:buNone/>
            </a:pPr>
            <a:r>
              <a:rPr lang="en-US" sz="11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The actuator removes it completely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4343400"/>
            <a:ext cx="388620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177800" indent="0">
              <a:spcAft>
                <a:spcPts val="200"/>
              </a:spcAft>
              <a:buSzPct val="100000"/>
              <a:buNone/>
            </a:pPr>
            <a:r>
              <a:rPr lang="en-US" sz="15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And safety is nearly free</a:t>
            </a:r>
          </a:p>
          <a:p>
            <a:pPr marL="177800" indent="0">
              <a:spcAft>
                <a:spcPts val="200"/>
              </a:spcAft>
              <a:buSzPct val="100000"/>
              <a:buNone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The energy-optimal control word is already crosstalk-safe at three of four corners. At the fourth, safety costs </a:t>
            </a: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0.04 % of switching energy</a:t>
            </a: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— 3.335 µJ against 3.334 µJ.</a:t>
            </a:r>
          </a:p>
          <a:p>
            <a:pPr marL="177800" indent="0">
              <a:spcAft>
                <a:spcPts val="0"/>
              </a:spcAft>
              <a:buSzPct val="100000"/>
              <a:buNone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The clamp itself is worth 9.7–12.2 % of the blended cost, from a static architecture choice needing no sensing or controller.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— what scheduling is actually worth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pic>
        <p:nvPicPr>
          <p:cNvPr id="5" name="Picture 4" descr="paper_fig2_ceil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417320"/>
            <a:ext cx="6035040" cy="321229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4892040"/>
            <a:ext cx="603504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177800" indent="0">
              <a:spcAft>
                <a:spcPts val="0"/>
              </a:spcAft>
              <a:buSzPct val="100000"/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Fig. 2  Cost of one fixed control word vs the true per-corner optimum, four corners.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440680"/>
            <a:ext cx="603504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177800" indent="0">
              <a:spcAft>
                <a:spcPts val="0"/>
              </a:spcAft>
              <a:buSzPct val="100000"/>
              <a:buNone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Full 720-word search at every corner — 2,880 transients — so each per-corner optimum is a true optimum, not the best of a shortlist.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95160" y="1325880"/>
            <a:ext cx="452628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177800" indent="0">
              <a:spcAft>
                <a:spcPts val="0"/>
              </a:spcAft>
              <a:buSzPct val="100000"/>
              <a:buNone/>
            </a:pPr>
            <a:r>
              <a:rPr lang="en-US" sz="15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What adaptation is actually worth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95160" y="1828800"/>
            <a:ext cx="452628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177800" indent="0">
              <a:spcAft>
                <a:spcPts val="100"/>
              </a:spcAft>
              <a:buSzPct val="100000"/>
              <a:buNone/>
            </a:pPr>
            <a:r>
              <a:rPr lang="en-US" sz="32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5.2 %</a:t>
            </a:r>
          </a:p>
          <a:p>
            <a:pPr marL="177800" indent="0">
              <a:spcAft>
                <a:spcPts val="60"/>
              </a:spcAft>
              <a:buSzPct val="100000"/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ceiling on operating-point scheduling</a:t>
            </a:r>
          </a:p>
          <a:p>
            <a:pPr marL="177800" indent="0">
              <a:spcAft>
                <a:spcPts val="0"/>
              </a:spcAft>
              <a:buSzPct val="100000"/>
              <a:buNone/>
            </a:pPr>
            <a:r>
              <a:rPr lang="en-US" sz="11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vs the best single fixed word. A fixed word is nearly as good.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95160" y="3154680"/>
            <a:ext cx="4526280" cy="3108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177800" indent="0">
              <a:spcAft>
                <a:spcPts val="180"/>
              </a:spcAft>
              <a:buSzPct val="100000"/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The benefit is not spread out. </a:t>
            </a: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Three corners lose 1–4 % from a fixed word; one loses 12.7 %.</a:t>
            </a:r>
          </a:p>
          <a:p>
            <a:pPr marL="177800" indent="0">
              <a:spcAft>
                <a:spcPts val="180"/>
              </a:spcAft>
              <a:buSzPct val="100000"/>
              <a:buNone/>
            </a:pPr>
            <a:r>
              <a:rPr lang="en-US" sz="12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It is carried by the dead time — and the dead time by one corner. </a:t>
            </a: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Freezing dead time costs 5.45 % across four corners. Drop the light-load 50 V / 2 A corner and it costs </a:t>
            </a:r>
            <a:r>
              <a:rPr lang="en-US" sz="12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0.00 %</a:t>
            </a: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: three corners want 5 ns, only that one wants 15 ns. So the adaptive hardware reduces to a light-load detector picking one of two dead times. Freezing pull-up drive strength costs </a:t>
            </a:r>
            <a:r>
              <a:rPr lang="en-US" sz="12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0.00 %</a:t>
            </a: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— and drive strength is what the active-gate-driver literature actually schedules.</a:t>
            </a:r>
          </a:p>
          <a:p>
            <a:pPr marL="177800" indent="0">
              <a:spcAft>
                <a:spcPts val="0"/>
              </a:spcAft>
              <a:buSzPct val="100000"/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Robust to the device, conditional on the layout. </a:t>
            </a: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Across 21,600 transients, no device parameter moves the ceiling outside 4.3–7.7 %. Halving the loop inductance takes it to 13.5 %, and loop inductance is board layout, not the transistor [3].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novel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261872"/>
            <a:ext cx="1106424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177800" indent="0">
              <a:spcAft>
                <a:spcPts val="0"/>
              </a:spcAft>
              <a:buSzPct val="100000"/>
              <a:buNone/>
            </a:pPr>
            <a:r>
              <a:rPr lang="en-US" sz="13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Every active-gate-driver paper reports </a:t>
            </a:r>
            <a:r>
              <a:rPr lang="en-US" sz="13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one</a:t>
            </a:r>
            <a:r>
              <a:rPr lang="en-US" sz="13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number — the improvement over a conventional driver. It bundles two separable effects, and only the second needs sensing, an ADC and a lookup table.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212848"/>
            <a:ext cx="59893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177800" indent="0">
              <a:spcAft>
                <a:spcPts val="0"/>
              </a:spcAft>
              <a:buSzPct val="100000"/>
              <a:buNone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(A)   Choose a better FIXED word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12280" y="2029967"/>
            <a:ext cx="1965960" cy="658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177800" indent="0">
              <a:spcAft>
                <a:spcPts val="0"/>
              </a:spcAft>
              <a:buSzPct val="100000"/>
              <a:buNone/>
            </a:pPr>
            <a:r>
              <a:rPr lang="en-US" sz="2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25.1 %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06840" y="2249424"/>
            <a:ext cx="2697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177800" indent="0">
              <a:spcAft>
                <a:spcPts val="0"/>
              </a:spcAft>
              <a:buSzPct val="100000"/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no sensing · no LUT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236976"/>
            <a:ext cx="59893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177800" indent="0">
              <a:spcAft>
                <a:spcPts val="0"/>
              </a:spcAft>
              <a:buSzPct val="100000"/>
              <a:buNone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(B)   ADAPT it per operating point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12280" y="3054096"/>
            <a:ext cx="1965960" cy="658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177800" indent="0">
              <a:spcAft>
                <a:spcPts val="0"/>
              </a:spcAft>
              <a:buSzPct val="100000"/>
              <a:buNone/>
            </a:pPr>
            <a:r>
              <a:rPr lang="en-US" sz="2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3.9 %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06840" y="3273552"/>
            <a:ext cx="2697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177800" indent="0">
              <a:spcAft>
                <a:spcPts val="0"/>
              </a:spcAft>
              <a:buSzPct val="100000"/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needs all of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261104"/>
            <a:ext cx="59893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177800" indent="0">
              <a:spcAft>
                <a:spcPts val="0"/>
              </a:spcAft>
              <a:buSzPct val="100000"/>
              <a:buNone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(B′)  …but ONE comparator captures 72 % of (B)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12280" y="4078224"/>
            <a:ext cx="1965960" cy="658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177800" indent="0">
              <a:spcAft>
                <a:spcPts val="0"/>
              </a:spcAft>
              <a:buSzPct val="100000"/>
              <a:buNone/>
            </a:pPr>
            <a:r>
              <a:rPr lang="en-US" sz="2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2.8 %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06840" y="4297680"/>
            <a:ext cx="2697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177800" indent="0">
              <a:spcAft>
                <a:spcPts val="0"/>
              </a:spcAft>
              <a:buSzPct val="100000"/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a threshold, not a LUT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413248"/>
            <a:ext cx="1106424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177800" indent="0">
              <a:spcAft>
                <a:spcPts val="130"/>
              </a:spcAft>
              <a:buSzPct val="100000"/>
              <a:buNone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So the full sense + ADC + lookup table is left justifying </a:t>
            </a: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3.7 % of the total achievable gain</a:t>
            </a: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over a fixed word plus one comparator. Adaptation is 13.4 % of the gain; a single threshold takes 72 % of that.</a:t>
            </a:r>
          </a:p>
          <a:p>
            <a:pPr marL="177800" indent="0">
              <a:spcAft>
                <a:spcPts val="0"/>
              </a:spcAft>
              <a:buSzPct val="100000"/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Every figure shares one baseline — the median control word that is safe at all four corners. Robust across cost weightings: adaptation is 5.5–20.1 % of the gain for overshoot weights 0 to 1.0. </a:t>
            </a:r>
            <a:r>
              <a:rPr lang="en-US" sz="12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scripts/novelty.py</a:t>
            </a: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, </a:t>
            </a:r>
            <a:r>
              <a:rPr lang="en-US" sz="12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scripts/howmanywords.py</a:t>
            </a: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is adaptive control worth building?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pic>
        <p:nvPicPr>
          <p:cNvPr id="5" name="Picture 4" descr="fig_llo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38528" y="1234440"/>
            <a:ext cx="8311896" cy="44783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5815584"/>
            <a:ext cx="1088136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177800" indent="0">
              <a:spcAft>
                <a:spcPts val="0"/>
              </a:spcAft>
              <a:buSzPct val="100000"/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Eight inductances, 7,200 transients. The answer is a </a:t>
            </a:r>
            <a:r>
              <a:rPr lang="en-US" sz="12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band</a:t>
            </a: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, not a threshold: adaptive control pays only from about 2.5 nH down, peaking at 13.5 % at 1.5 nH, and it falls back to 8.1 % at 1.0 nH because only 165 of 720 words stay safe there — below ~2 nH feasibility binds, not optimisation. </a:t>
            </a:r>
            <a:r>
              <a:rPr lang="en-US" sz="12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A designer measures their loop and reads off the decision</a:t>
            </a: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— a trade-off the literature does not state.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— robustness of the ceiling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325880"/>
            <a:ext cx="34747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177800" indent="0">
              <a:spcAft>
                <a:spcPts val="0"/>
              </a:spcAft>
              <a:buSzPct val="100000"/>
              <a:buNone/>
            </a:pPr>
            <a:r>
              <a:rPr lang="en-US" sz="11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Perturbation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60520" y="1325880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177800" indent="0">
              <a:spcAft>
                <a:spcPts val="0"/>
              </a:spcAft>
              <a:buSzPct val="100000"/>
              <a:buNone/>
            </a:pPr>
            <a:r>
              <a:rPr lang="en-US" sz="11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Ceiling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57800" y="1325880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177800" indent="0">
              <a:spcAft>
                <a:spcPts val="0"/>
              </a:spcAft>
              <a:buSzPct val="100000"/>
              <a:buNone/>
            </a:pPr>
            <a:r>
              <a:rPr lang="en-US" sz="11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vs nom.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719072"/>
            <a:ext cx="34747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177800" indent="0">
              <a:spcAft>
                <a:spcPts val="0"/>
              </a:spcAft>
              <a:buSzPct val="100000"/>
              <a:buNone/>
            </a:pPr>
            <a:r>
              <a:rPr lang="en-US" sz="12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Loop inductance −50 %  (1.5 nH)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60520" y="1719072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177800" indent="0">
              <a:spcAft>
                <a:spcPts val="0"/>
              </a:spcAft>
              <a:buSzPct val="100000"/>
              <a:buNone/>
            </a:pPr>
            <a:r>
              <a:rPr lang="en-US" sz="12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13.54 %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57800" y="171907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177800" indent="0">
              <a:spcAft>
                <a:spcPts val="0"/>
              </a:spcAft>
              <a:buSzPct val="100000"/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+7.59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025395"/>
            <a:ext cx="34747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177800" indent="0">
              <a:spcAft>
                <a:spcPts val="0"/>
              </a:spcAft>
              <a:buSzPct val="100000"/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Input capacitance +30 %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60520" y="2025395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177800" indent="0">
              <a:spcAft>
                <a:spcPts val="0"/>
              </a:spcAft>
              <a:buSzPct val="100000"/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7.71 %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57800" y="2025395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177800" indent="0">
              <a:spcAft>
                <a:spcPts val="0"/>
              </a:spcAft>
              <a:buSzPct val="100000"/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+1.76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331720"/>
            <a:ext cx="34747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177800" indent="0">
              <a:spcAft>
                <a:spcPts val="0"/>
              </a:spcAft>
              <a:buSzPct val="100000"/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Miller capacitance −50 %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60520" y="2331720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177800" indent="0">
              <a:spcAft>
                <a:spcPts val="0"/>
              </a:spcAft>
              <a:buSzPct val="100000"/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6.93 %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57800" y="2331720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177800" indent="0">
              <a:spcAft>
                <a:spcPts val="0"/>
              </a:spcAft>
              <a:buSzPct val="100000"/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+0.99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2638044"/>
            <a:ext cx="34747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177800" indent="0">
              <a:spcAft>
                <a:spcPts val="0"/>
              </a:spcAft>
              <a:buSzPct val="100000"/>
              <a:buNone/>
            </a:pPr>
            <a:r>
              <a:rPr lang="en-US" sz="12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nominal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60520" y="2638044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177800" indent="0">
              <a:spcAft>
                <a:spcPts val="0"/>
              </a:spcAft>
              <a:buSzPct val="100000"/>
              <a:buNone/>
            </a:pPr>
            <a:r>
              <a:rPr lang="en-US" sz="12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5.95 %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57800" y="2638044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177800" indent="0">
              <a:spcAft>
                <a:spcPts val="0"/>
              </a:spcAft>
              <a:buSzPct val="100000"/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2944368"/>
            <a:ext cx="34747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177800" indent="0">
              <a:spcAft>
                <a:spcPts val="0"/>
              </a:spcAft>
              <a:buSzPct val="100000"/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Threshold −20 %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60520" y="2944368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177800" indent="0">
              <a:spcAft>
                <a:spcPts val="0"/>
              </a:spcAft>
              <a:buSzPct val="100000"/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5.64 %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57800" y="2944368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177800" indent="0">
              <a:spcAft>
                <a:spcPts val="0"/>
              </a:spcAft>
              <a:buSzPct val="100000"/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−0.31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3250691"/>
            <a:ext cx="34747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177800" indent="0">
              <a:spcAft>
                <a:spcPts val="0"/>
              </a:spcAft>
              <a:buSzPct val="100000"/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Transconductance +30 %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60520" y="3250691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177800" indent="0">
              <a:spcAft>
                <a:spcPts val="0"/>
              </a:spcAft>
              <a:buSzPct val="100000"/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5.08 %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57800" y="3250691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177800" indent="0">
              <a:spcAft>
                <a:spcPts val="0"/>
              </a:spcAft>
              <a:buSzPct val="100000"/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−0.87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3557015"/>
            <a:ext cx="34747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177800" indent="0">
              <a:spcAft>
                <a:spcPts val="0"/>
              </a:spcAft>
              <a:buSzPct val="100000"/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Threshold +20 %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60520" y="3557015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177800" indent="0">
              <a:spcAft>
                <a:spcPts val="0"/>
              </a:spcAft>
              <a:buSzPct val="100000"/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4.90 %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57800" y="3557015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177800" indent="0">
              <a:spcAft>
                <a:spcPts val="0"/>
              </a:spcAft>
              <a:buSzPct val="100000"/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−1.05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3863339"/>
            <a:ext cx="34747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177800" indent="0">
              <a:spcAft>
                <a:spcPts val="0"/>
              </a:spcAft>
              <a:buSzPct val="100000"/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Input capacitance −30 %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60520" y="3863339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177800" indent="0">
              <a:spcAft>
                <a:spcPts val="0"/>
              </a:spcAft>
              <a:buSzPct val="100000"/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4.76 %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257800" y="3863339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177800" indent="0">
              <a:spcAft>
                <a:spcPts val="0"/>
              </a:spcAft>
              <a:buSzPct val="100000"/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−1.19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4169663"/>
            <a:ext cx="34747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177800" indent="0">
              <a:spcAft>
                <a:spcPts val="0"/>
              </a:spcAft>
              <a:buSzPct val="100000"/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Transconductance −30 %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60520" y="4169663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177800" indent="0">
              <a:spcAft>
                <a:spcPts val="0"/>
              </a:spcAft>
              <a:buSzPct val="100000"/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4.45 %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57800" y="4169663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177800" indent="0">
              <a:spcAft>
                <a:spcPts val="0"/>
              </a:spcAft>
              <a:buSzPct val="100000"/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−1.49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" y="4475988"/>
            <a:ext cx="34747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177800" indent="0">
              <a:spcAft>
                <a:spcPts val="0"/>
              </a:spcAft>
              <a:buSzPct val="100000"/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Miller capacitance +50 %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60520" y="4475988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177800" indent="0">
              <a:spcAft>
                <a:spcPts val="0"/>
              </a:spcAft>
              <a:buSzPct val="100000"/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4.32 %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257800" y="4475988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177800" indent="0">
              <a:spcAft>
                <a:spcPts val="0"/>
              </a:spcAft>
              <a:buSzPct val="100000"/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−1.63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" y="4782312"/>
            <a:ext cx="34747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177800" indent="0">
              <a:spcAft>
                <a:spcPts val="0"/>
              </a:spcAft>
              <a:buSzPct val="100000"/>
              <a:buNone/>
            </a:pPr>
            <a:r>
              <a:rPr lang="en-US" sz="12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Loop inductance +50 %  (4.5 nH)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160520" y="4782312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177800" indent="0">
              <a:spcAft>
                <a:spcPts val="0"/>
              </a:spcAft>
              <a:buSzPct val="100000"/>
              <a:buNone/>
            </a:pPr>
            <a:r>
              <a:rPr lang="en-US" sz="12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0.55 %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257800" y="47823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177800" indent="0">
              <a:spcAft>
                <a:spcPts val="0"/>
              </a:spcAft>
              <a:buSzPct val="100000"/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−5.39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03720" y="1325880"/>
            <a:ext cx="46177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177800" indent="0">
              <a:spcAft>
                <a:spcPts val="0"/>
              </a:spcAft>
              <a:buSzPct val="100000"/>
              <a:buNone/>
            </a:pPr>
            <a:r>
              <a:rPr lang="en-US" sz="15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Robust to the device,</a:t>
            </a:r>
          </a:p>
          <a:p>
            <a:pPr marL="177800" indent="0">
              <a:spcAft>
                <a:spcPts val="0"/>
              </a:spcAft>
              <a:buSzPct val="100000"/>
              <a:buNone/>
            </a:pPr>
            <a:r>
              <a:rPr lang="en-US" sz="15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conditional on the layout.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03720" y="2057400"/>
            <a:ext cx="4617720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21,600 transients</a:t>
            </a: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— a full 720-word search at two corners under each of eleven single-parameter perturbations. One failure.</a:t>
            </a:r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Every </a:t>
            </a: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device</a:t>
            </a: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parameter leaves the ceiling between 4.3 % and 7.7 % — at most 1.76 points from nominal. The objection this study was built to answer is not supported.</a:t>
            </a:r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The one thing that moves it is </a:t>
            </a: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loop inductance</a:t>
            </a: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, which is board layout, not the transistor. A tighter loop commutates faster, so more charge couples through C</a:t>
            </a: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GD</a:t>
            </a: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: the median spurious gate voltage goes 0.640 V to 3.522 V and the feasible set collapses 474 → 158.</a:t>
            </a:r>
          </a:p>
          <a:p>
            <a:pPr marL="177800" indent="-177800">
              <a:spcAft>
                <a:spcPts val="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So the claim is narrower and more useful than “robust”: from about 2.5 nH upward a fixed word is nearly as good; on a tighter loop the question has to be re-asked, and the answer there is not even monotonic — see slide 15.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pic>
        <p:nvPicPr>
          <p:cNvPr id="5" name="pipeline_demo_review1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640080" y="1417320"/>
            <a:ext cx="6949440" cy="405079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5623560"/>
            <a:ext cx="69494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177800" indent="0">
              <a:spcAft>
                <a:spcPts val="0"/>
              </a:spcAft>
              <a:buSzPct val="100000"/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Click to play (17 s). Real captured output — only the pacing is presentational.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09560" y="1417320"/>
            <a:ext cx="3611880" cy="4206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177800" indent="0">
              <a:spcAft>
                <a:spcPts val="240"/>
              </a:spcAft>
              <a:buSzPct val="100000"/>
              <a:buNone/>
            </a:pPr>
            <a:r>
              <a:rPr lang="en-US" sz="15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What it shows</a:t>
            </a:r>
          </a:p>
          <a:p>
            <a:pPr marL="177800" indent="-177800">
              <a:spcAft>
                <a:spcPts val="18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ngspice 42 running the real double-pulse test.</a:t>
            </a:r>
          </a:p>
          <a:p>
            <a:pPr marL="177800" indent="-177800">
              <a:spcAft>
                <a:spcPts val="18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Fastest drive, no clamp: spurious gate 1.649 V, margin </a:t>
            </a: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−0.249 V</a:t>
            </a: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— false turn-on.</a:t>
            </a:r>
          </a:p>
          <a:p>
            <a:pPr marL="177800" indent="-177800">
              <a:spcAft>
                <a:spcPts val="18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Miller clamp on: 0.830 V, margin </a:t>
            </a: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+0.570 V</a:t>
            </a: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— safe.</a:t>
            </a:r>
          </a:p>
          <a:p>
            <a:pPr marL="177800" indent="-177800">
              <a:spcAft>
                <a:spcPts val="24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The full 720-word search at four corners: 474 feasible, ceiling </a:t>
            </a: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5.2 %</a:t>
            </a: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.</a:t>
            </a:r>
          </a:p>
          <a:p>
            <a:pPr marL="177800" indent="0">
              <a:spcAft>
                <a:spcPts val="0"/>
              </a:spcAft>
              <a:buSzPct val="100000"/>
              <a:buNone/>
            </a:pPr>
            <a:r>
              <a:rPr lang="en-US" sz="11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A second video ships in the project folder: a 20 s interactive waveform viewer over the same simulation data.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the numbers hold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554480"/>
            <a:ext cx="525780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177800" indent="0">
              <a:spcAft>
                <a:spcPts val="120"/>
              </a:spcAft>
              <a:buSzPct val="100000"/>
              <a:buNone/>
            </a:pPr>
            <a:r>
              <a:rPr lang="en-US" sz="40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34,622</a:t>
            </a:r>
          </a:p>
          <a:p>
            <a:pPr marL="177800" indent="0">
              <a:spcAft>
                <a:spcPts val="100"/>
              </a:spcAft>
              <a:buSzPct val="100000"/>
              <a:buNone/>
            </a:pPr>
            <a:r>
              <a:rPr lang="en-US" sz="15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transient simulations</a:t>
            </a:r>
          </a:p>
          <a:p>
            <a:pPr marL="177800" indent="0">
              <a:spcAft>
                <a:spcPts val="0"/>
              </a:spcAft>
              <a:buSzPct val="100000"/>
              <a:buNone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Every sweep, corner study, robustness run, loop-inductance and EMI sweep, start to finish.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63640" y="1554480"/>
            <a:ext cx="525780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177800" indent="0">
              <a:spcAft>
                <a:spcPts val="120"/>
              </a:spcAft>
              <a:buSzPct val="100000"/>
              <a:buNone/>
            </a:pPr>
            <a:r>
              <a:rPr lang="en-US" sz="40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720</a:t>
            </a:r>
          </a:p>
          <a:p>
            <a:pPr marL="177800" indent="0">
              <a:spcAft>
                <a:spcPts val="100"/>
              </a:spcAft>
              <a:buSzPct val="100000"/>
              <a:buNone/>
            </a:pPr>
            <a:r>
              <a:rPr lang="en-US" sz="15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control words, searched in full</a:t>
            </a:r>
          </a:p>
          <a:p>
            <a:pPr marL="177800" indent="0">
              <a:spcAft>
                <a:spcPts val="0"/>
              </a:spcAft>
              <a:buSzPct val="100000"/>
              <a:buNone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At every corner — so each per-corner optimum is a true optimum, not the best of a shortlist.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703320"/>
            <a:ext cx="525780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177800" indent="0">
              <a:spcAft>
                <a:spcPts val="120"/>
              </a:spcAft>
              <a:buSzPct val="100000"/>
              <a:buNone/>
            </a:pPr>
            <a:r>
              <a:rPr lang="en-US" sz="40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25×</a:t>
            </a:r>
          </a:p>
          <a:p>
            <a:pPr marL="177800" indent="0">
              <a:spcAft>
                <a:spcPts val="100"/>
              </a:spcAft>
              <a:buSzPct val="100000"/>
              <a:buNone/>
            </a:pPr>
            <a:r>
              <a:rPr lang="en-US" sz="15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timestep refinement survived</a:t>
            </a:r>
          </a:p>
          <a:p>
            <a:pPr marL="177800" indent="0">
              <a:spcAft>
                <a:spcPts val="0"/>
              </a:spcAft>
              <a:buSzPct val="100000"/>
              <a:buNone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Every reported quantity must be flat across it. Enforced, not assumed.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63640" y="3703320"/>
            <a:ext cx="525780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177800" indent="0">
              <a:spcAft>
                <a:spcPts val="120"/>
              </a:spcAft>
              <a:buSzPct val="100000"/>
              <a:buNone/>
            </a:pPr>
            <a:r>
              <a:rPr lang="en-US" sz="40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10</a:t>
            </a:r>
          </a:p>
          <a:p>
            <a:pPr marL="177800" indent="0">
              <a:spcAft>
                <a:spcPts val="100"/>
              </a:spcAft>
              <a:buSzPct val="100000"/>
              <a:buNone/>
            </a:pPr>
            <a:r>
              <a:rPr lang="en-US" sz="15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wrong numbers caught, and corrected</a:t>
            </a:r>
          </a:p>
          <a:p>
            <a:pPr marL="177800" indent="0">
              <a:spcAft>
                <a:spcPts val="0"/>
              </a:spcAft>
              <a:buSzPct val="100000"/>
              <a:buNone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By that discipline, before any of them reached the report. Every one came from resampling or re-deriving a figure of our own — none from a reviewer.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177800" indent="0">
              <a:spcAft>
                <a:spcPts val="0"/>
              </a:spcAft>
              <a:buSzPct val="100000"/>
              <a:buNone/>
            </a:pPr>
            <a:r>
              <a:rPr lang="en-US" sz="11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Stated plainly: </a:t>
            </a:r>
            <a:r>
              <a:rPr lang="en-US" sz="11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LTspice and Spectre decks are faithful ports re-simulated to the same numbers, but neither simulator has itself been run — no installation was available.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 &amp; next steps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1325880"/>
            <a:ext cx="1088136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0">
              <a:spcAft>
                <a:spcPts val="200"/>
              </a:spcAft>
              <a:buSzPct val="100000"/>
              <a:buNone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What the data supports</a:t>
            </a:r>
          </a:p>
          <a:p>
            <a:pPr marL="177800" indent="-177800">
              <a:spcAft>
                <a:spcPts val="180"/>
              </a:spcAft>
              <a:buSzPct val="100000"/>
              <a:buChar char="•"/>
            </a:pPr>
            <a:r>
              <a:rPr lang="en-US" sz="14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Choosing the control word well matters enormously — it spans roughly fivefold in switching energy. </a:t>
            </a:r>
            <a:r>
              <a:rPr lang="en-US" sz="14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Adapting it to the operating point does not: 3.9 %, a seventh of the total gain, and one comparator takes 72 % of even that.</a:t>
            </a:r>
          </a:p>
          <a:p>
            <a:pPr marL="177800" indent="-177800">
              <a:spcAft>
                <a:spcPts val="18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The benefit that exists is carried by the </a:t>
            </a: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dead time</a:t>
            </a: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— and the dead time, in turn, by the </a:t>
            </a: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light-load corner alone</a:t>
            </a: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: leave it out and freezing dead time costs 0.00 %. Not by the drive-strength segmentation that motivates the hardware, which stays at 0.00 % even when the objective prices EMI. Crosstalk safety is nearly free once the clamp is present.</a:t>
            </a:r>
          </a:p>
          <a:p>
            <a:pPr marL="177800" indent="-177800">
              <a:spcAft>
                <a:spcPts val="260"/>
              </a:spcAft>
              <a:buSzPct val="100000"/>
              <a:buChar char="•"/>
            </a:pPr>
            <a:r>
              <a:rPr lang="en-US" sz="14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Stated positively — and this is the deliverable, not the percentage: </a:t>
            </a:r>
            <a:r>
              <a:rPr lang="en-US" sz="14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use the recommended fixed word with a light-load comparator, and the full sense + ADC + lookup table is left justifying 3.7 % of the achievable gain.</a:t>
            </a:r>
          </a:p>
          <a:p>
            <a:pPr marL="177800" indent="0">
              <a:spcAft>
                <a:spcPts val="200"/>
              </a:spcAft>
              <a:buSzPct val="100000"/>
              <a:buNone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What the data now answers, and what is next</a:t>
            </a:r>
          </a:p>
          <a:p>
            <a:pPr marL="177800" indent="-177800">
              <a:spcAft>
                <a:spcPts val="180"/>
              </a:spcAft>
              <a:buSzPct val="100000"/>
              <a:buChar char="•"/>
            </a:pPr>
            <a:r>
              <a:rPr lang="en-US" sz="14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The EMI objection is now tested rather than conceded.</a:t>
            </a:r>
            <a:r>
              <a:rPr lang="en-US" sz="14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Re-running the full search under objectives that price turn-on slew rate, and again under 30–500 MHz band energy, makes scheduling worth </a:t>
            </a:r>
            <a:r>
              <a:rPr lang="en-US" sz="14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less</a:t>
            </a:r>
            <a:r>
              <a:rPr lang="en-US" sz="14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, not more: 5.95 % falls to 0.15 %. Pull-up strength still does not need scheduling — it needs a different fixed value.</a:t>
            </a:r>
          </a:p>
          <a:p>
            <a:pPr marL="177800" indent="-177800">
              <a:spcAft>
                <a:spcPts val="180"/>
              </a:spcAft>
              <a:buSzPct val="100000"/>
              <a:buChar char="•"/>
            </a:pPr>
            <a:r>
              <a:rPr lang="en-US" sz="14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What it does not support.</a:t>
            </a:r>
            <a:r>
              <a:rPr lang="en-US" sz="14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Which EMI measure a designer should price is unsettled, and the two disagree: under band energy freezing pull-up costs 0.00 % at every weight, under slew rate up to 2.27 % in a narrow transition band. No silicon has been measured, and one device model underlies everything.</a:t>
            </a:r>
          </a:p>
          <a:p>
            <a:pPr marL="177800" indent="-177800">
              <a:spcAft>
                <a:spcPts val="0"/>
              </a:spcAft>
              <a:buSzPct val="100000"/>
              <a:buChar char="•"/>
            </a:pPr>
            <a:r>
              <a:rPr lang="en-US" sz="14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Review-II: </a:t>
            </a:r>
            <a:r>
              <a:rPr lang="en-US" sz="14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transistor-level output stage in Cadence on a 5 V-capable PDK; re-run the ceiling on real devices. </a:t>
            </a:r>
            <a:r>
              <a:rPr lang="en-US" sz="14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Review-III: </a:t>
            </a:r>
            <a:r>
              <a:rPr lang="en-US" sz="14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measure a hardware half-bridge at one corner — until then this is a simulation study and is titled as one.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1325880"/>
            <a:ext cx="10881360" cy="434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0">
              <a:spcAft>
                <a:spcPts val="300"/>
              </a:spcAft>
              <a:buSzPct val="100000"/>
              <a:buNone/>
            </a:pPr>
            <a:r>
              <a:rPr lang="en-US" sz="11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[1]  </a:t>
            </a:r>
            <a:r>
              <a:rPr lang="en-US" sz="11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Z. Zhang, F. Wang, L. M. Tolbert and B. J. Blalock, “Active Gate Driver for Crosstalk Suppression of SiC Devices in a Phase-Leg Configuration,” IEEE Trans. Power Electron., vol. 29, no. 4, pp. 1986–1997, Apr. 2014.</a:t>
            </a:r>
          </a:p>
          <a:p>
            <a:pPr marL="177800" indent="0">
              <a:spcAft>
                <a:spcPts val="300"/>
              </a:spcAft>
              <a:buSzPct val="100000"/>
              <a:buNone/>
            </a:pPr>
            <a:r>
              <a:rPr lang="en-US" sz="11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[2]  </a:t>
            </a:r>
            <a:r>
              <a:rPr lang="en-US" sz="11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R. Xie, H. Wang, G. Tang, X. Yang and K. J. Chen, “An Analytical Model for False Turn-On Evaluation of High-Voltage Enhancement-Mode GaN Transistor in Bridge-Leg Configuration,” IEEE Trans. Power Electron., vol. 32, no. 8, pp. 6416–6433, Aug. 2017.</a:t>
            </a:r>
          </a:p>
          <a:p>
            <a:pPr marL="177800" indent="0">
              <a:spcAft>
                <a:spcPts val="300"/>
              </a:spcAft>
              <a:buSzPct val="100000"/>
              <a:buNone/>
            </a:pPr>
            <a:r>
              <a:rPr lang="en-US" sz="11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[3]  </a:t>
            </a:r>
            <a:r>
              <a:rPr lang="en-US" sz="11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D. Reusch and J. Strydom, “Understanding the Effect of PCB Layout on Circuit Performance in a High-Frequency Gallium-Nitride-Based Point of Load Converter,” IEEE Trans. Power Electron., vol. 29, no. 4, pp. 2008–2015, Apr. 2014.</a:t>
            </a:r>
          </a:p>
          <a:p>
            <a:pPr marL="177800" indent="0">
              <a:spcAft>
                <a:spcPts val="300"/>
              </a:spcAft>
              <a:buSzPct val="100000"/>
              <a:buNone/>
            </a:pPr>
            <a:r>
              <a:rPr lang="en-US" sz="11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[4]  </a:t>
            </a:r>
            <a:r>
              <a:rPr lang="en-US" sz="11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“Crosstalk Suppression Method for GaN-Based Bridge Configuration Using Negative Voltage Self-Recovery Gate Drive,” IEEE journal; Xplore document 9573371. [Authors, vol., no., pp., year to be completed from Xplore.]</a:t>
            </a:r>
          </a:p>
          <a:p>
            <a:pPr marL="177800" indent="0">
              <a:spcAft>
                <a:spcPts val="300"/>
              </a:spcAft>
              <a:buSzPct val="100000"/>
              <a:buNone/>
            </a:pPr>
            <a:r>
              <a:rPr lang="en-US" sz="11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[5]  </a:t>
            </a:r>
            <a:r>
              <a:rPr lang="en-US" sz="11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“A Novel Control Strategy for Optimal Tradeoff between Overshoot and Switching Loss Based on Double Closed-Loop Self-Regulating Active Gate Driver,” IEEE journal; Xplore document 10553383. [Authors, vol., no., pp., year to be completed from Xplore.]</a:t>
            </a:r>
          </a:p>
          <a:p>
            <a:pPr marL="177800" indent="0">
              <a:spcAft>
                <a:spcPts val="300"/>
              </a:spcAft>
              <a:buSzPct val="100000"/>
              <a:buNone/>
            </a:pPr>
            <a:r>
              <a:rPr lang="en-US" sz="11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[6]  </a:t>
            </a:r>
            <a:r>
              <a:rPr lang="en-US" sz="11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“A Self-Regulating Active Gate Driver of Voltage Overshoot Suppression for SiC MOSFETs Under Variable Load Current Conditions,” IEEE journal; Xplore document 10964227. [Authors, vol., no., pp., year to be completed from Xplore.]</a:t>
            </a:r>
          </a:p>
          <a:p>
            <a:pPr marL="177800" indent="0">
              <a:spcAft>
                <a:spcPts val="300"/>
              </a:spcAft>
              <a:buSzPct val="100000"/>
              <a:buNone/>
            </a:pPr>
            <a:r>
              <a:rPr lang="en-US" sz="11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[7]  </a:t>
            </a:r>
            <a:r>
              <a:rPr lang="en-US" sz="11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“Universal Active Gate Driver IC With Closed-Loop Timing Control and Gate-Sensing Technique for Silicon Carbide Power Devices,” IEEE journal; Xplore document 10813402. [Authors, vol., no., pp., year to be completed from Xplore.]</a:t>
            </a:r>
          </a:p>
          <a:p>
            <a:pPr marL="177800" indent="0">
              <a:spcAft>
                <a:spcPts val="300"/>
              </a:spcAft>
              <a:buSzPct val="100000"/>
              <a:buNone/>
            </a:pPr>
            <a:r>
              <a:rPr lang="en-US" sz="11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[8]  </a:t>
            </a:r>
            <a:r>
              <a:rPr lang="en-US" sz="11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“An Integrated Driver With Dual-Edge Adaptive Dead-Time Control for GaN-Based Synchronous Buck Converter,” IEEE journal; Xplore document 10664041. [Authors, vol., no., pp., year to be completed from Xplore.]</a:t>
            </a:r>
          </a:p>
          <a:p>
            <a:pPr marL="177800" indent="0">
              <a:spcAft>
                <a:spcPts val="0"/>
              </a:spcAft>
              <a:buSzPct val="100000"/>
              <a:buNone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3 of 8 verified against the publisher record. </a:t>
            </a: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The remaining 5 carry title, journal status and Xplore document ID; </a:t>
            </a: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volume, issue, pages and authors were not reachable from the build environment and are left blank rather than guessed.</a:t>
            </a:r>
          </a:p>
        </p:txBody>
      </p:sp>
      <p:sp>
        <p:nvSpPr>
          <p:cNvPr id="6" name="Text 3"/>
          <p:cNvSpPr txBox="1"/>
          <p:nvPr/>
        </p:nvSpPr>
        <p:spPr>
          <a:xfrm>
            <a:off x="640080" y="580644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0">
              <a:spcAft>
                <a:spcPts val="0"/>
              </a:spcAft>
              <a:buSzPct val="100000"/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Use IEEE format. Every reference listed must be cited in the slides / report.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00" dirty="0"/>
          </a:p>
        </p:txBody>
      </p:sp>
      <p:pic>
        <p:nvPicPr>
          <p:cNvPr id="3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274320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4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496</Words>
  <Application>Microsoft Macintosh PowerPoint</Application>
  <PresentationFormat>Widescreen</PresentationFormat>
  <Paragraphs>89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mark kandan</cp:lastModifiedBy>
  <cp:revision>2</cp:revision>
  <dcterms:created xsi:type="dcterms:W3CDTF">2026-08-27T09:57:11Z</dcterms:created>
  <dcterms:modified xsi:type="dcterms:W3CDTF">2026-08-27T10:07:08Z</dcterms:modified>
</cp:coreProperties>
</file>