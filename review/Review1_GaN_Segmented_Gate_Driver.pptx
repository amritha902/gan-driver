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91" r:id="rId35"/>
    <p:sldId id="286" r:id="rId37"/>
    <p:sldId id="259" r:id="rId5"/>
    <p:sldId id="260" r:id="rId6"/>
    <p:sldId id="267" r:id="rId18"/>
    <p:sldId id="282" r:id="rId33"/>
    <p:sldId id="287" r:id="rId38"/>
    <p:sldId id="261" r:id="rId7"/>
    <p:sldId id="280" r:id="rId31"/>
    <p:sldId id="274" r:id="rId25"/>
    <p:sldId id="278" r:id="rId29"/>
    <p:sldId id="283" r:id="rId34"/>
    <p:sldId id="262" r:id="rId8"/>
    <p:sldId id="272" r:id="rId23"/>
    <p:sldId id="273" r:id="rId24"/>
    <p:sldId id="285" r:id="rId36"/>
    <p:sldId id="288" r:id="rId39"/>
    <p:sldId id="293" r:id="rId30"/>
    <p:sldId id="295" r:id="rId21"/>
    <p:sldId id="263" r:id="rId9"/>
    <p:sldId id="294" r:id="rId28"/>
    <p:sldId id="292" r:id="rId32"/>
    <p:sldId id="275" r:id="rId26"/>
    <p:sldId id="276" r:id="rId27"/>
    <p:sldId id="264" r:id="rId10"/>
    <p:sldId id="269" r:id="rId20"/>
    <p:sldId id="271" r:id="rId22"/>
    <p:sldId id="265" r:id="rId11"/>
    <p:sldId id="290" r:id="rId4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11.xml"/><Relationship Id="rId8" Type="http://schemas.openxmlformats.org/officeDocument/2006/relationships/slide" Target="slides/slide16.xml"/><Relationship Id="rId9" Type="http://schemas.openxmlformats.org/officeDocument/2006/relationships/slide" Target="slides/slide22.xml"/><Relationship Id="rId10" Type="http://schemas.openxmlformats.org/officeDocument/2006/relationships/slide" Target="slides/slide26.xml"/><Relationship Id="rId11" Type="http://schemas.openxmlformats.org/officeDocument/2006/relationships/slide" Target="slides/slide29.xml"/><Relationship Id="rId12" Type="http://schemas.openxmlformats.org/officeDocument/2006/relationships/slide" Target="slides/slide3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8.xml"/><Relationship Id="rId20" Type="http://schemas.openxmlformats.org/officeDocument/2006/relationships/slide" Target="slides/slide27.xml"/><Relationship Id="rId21" Type="http://schemas.openxmlformats.org/officeDocument/2006/relationships/slide" Target="slides/slide32.xml"/><Relationship Id="rId22" Type="http://schemas.openxmlformats.org/officeDocument/2006/relationships/slide" Target="slides/slide28.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31.xml"/><Relationship Id="rId29" Type="http://schemas.openxmlformats.org/officeDocument/2006/relationships/slide" Target="slides/slide14.xml"/><Relationship Id="rId30" Type="http://schemas.openxmlformats.org/officeDocument/2006/relationships/slide" Target="slides/slide21.xml"/><Relationship Id="rId31" Type="http://schemas.openxmlformats.org/officeDocument/2006/relationships/slide" Target="slides/slide12.xml"/><Relationship Id="rId32" Type="http://schemas.openxmlformats.org/officeDocument/2006/relationships/slide" Target="slides/slide23.xml"/><Relationship Id="rId33" Type="http://schemas.openxmlformats.org/officeDocument/2006/relationships/slide" Target="slides/slide9.xml"/><Relationship Id="rId34" Type="http://schemas.openxmlformats.org/officeDocument/2006/relationships/slide" Target="slides/slide15.xml"/><Relationship Id="rId35" Type="http://schemas.openxmlformats.org/officeDocument/2006/relationships/slide" Target="slides/slide4.xml"/><Relationship Id="rId36" Type="http://schemas.openxmlformats.org/officeDocument/2006/relationships/slide" Target="slides/slide19.xml"/><Relationship Id="rId37" Type="http://schemas.openxmlformats.org/officeDocument/2006/relationships/slide" Target="slides/slide5.xml"/><Relationship Id="rId38" Type="http://schemas.openxmlformats.org/officeDocument/2006/relationships/slide" Target="slides/slide10.xml"/><Relationship Id="rId39" Type="http://schemas.openxmlformats.org/officeDocument/2006/relationships/slide" Target="slides/slide20.xml"/><Relationship Id="rId41"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(a) the output charging from zero and settling; (b) three switching cycles of the half-bridge; (c) power in against power out.</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 converter works. 100 V DC becomes 48.6 V DC at 4.88 A, and 97.6 % of the power gets through.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Reproduce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The figure. </a:t>
            </a:r>
            <a:r>
              <a:rPr lang="en-US" sz="1200" dirty="0">
                <a:solidFill>
                  <a:srgbClr val="000000"/>
                </a:solidFill>
                <a:latin typeface="Calibri" pitchFamily="34" charset="0"/>
                <a:ea typeface="Calibri" pitchFamily="34" charset="-122"/>
                <a:cs typeface="Calibri" pitchFamily="34" charset="-120"/>
              </a:rPr>
              <a:t>One switching edge followed through. Top row: what the controller decides. Bottom row: what the circuit then does.</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What it means. </a:t>
            </a:r>
            <a:r>
              <a:rPr lang="en-US" sz="1200" dirty="0">
                <a:solidFill>
                  <a:srgbClr val="000000"/>
                </a:solidFill>
                <a:latin typeface="Calibri" pitchFamily="34" charset="0"/>
                <a:ea typeface="Calibri" pitchFamily="34" charset="-122"/>
                <a:cs typeface="Calibri" pitchFamily="34" charset="-120"/>
              </a:rPr>
              <a:t>The one shaded diamond is the only live decision. Everything else is set once at power-up.</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What talks to what, left to right: the PWM command, the FPGA, the segmented driver, the power stage.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Only the dashed block needs sensing, and 72 % of what it buys needs one comparator.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4"/>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The figure. </a:t>
            </a:r>
            <a:r>
              <a:rPr lang="en-US" sz="1200" dirty="0">
                <a:solidFill>
                  <a:srgbClr val="000000"/>
                </a:solidFill>
                <a:latin typeface="Calibri" pitchFamily="34" charset="0"/>
                <a:ea typeface="Calibri" pitchFamily="34" charset="-122"/>
                <a:cs typeface="Calibri" pitchFamily="34" charset="-120"/>
              </a:rPr>
              <a:t>The half-bridge as ngspice runs it, from sim/dpt.cir. The red path is Cᴳᴰ on Q2.</a:t>
            </a:r>
          </a:p>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What it means. </a:t>
            </a:r>
            <a:r>
              <a:rPr lang="en-US" sz="1200" dirty="0">
                <a:solidFill>
                  <a:srgbClr val="000000"/>
                </a:solidFill>
                <a:latin typeface="Calibri" pitchFamily="34" charset="0"/>
                <a:ea typeface="Calibri" pitchFamily="34" charset="-122"/>
                <a:cs typeface="Calibri" pitchFamily="34" charset="-120"/>
              </a:rPr>
              <a:t>Charge crosses that red path into the gate that should be OFF. The clamp and the −2 V rail are what stop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Reproduce: python3 scripts/basepaper_compare.py — four ngspice runs, prints this table.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Everything is reproducible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in this deck is regenerated by a named script in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The figure. </a:t>
            </a:r>
            <a:r>
              <a:rPr lang="en-US" sz="1000" dirty="0">
                <a:solidFill>
                  <a:srgbClr val="000000"/>
                </a:solidFill>
                <a:latin typeface="Calibri" pitchFamily="34" charset="0"/>
                <a:ea typeface="Calibri" pitchFamily="34" charset="-122"/>
                <a:cs typeface="Calibri" pitchFamily="34" charset="-120"/>
              </a:rPr>
              <a:t>The controller's own output, captured by Icarus Verilog.</a:t>
            </a:r>
          </a:p>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What it means. </a:t>
            </a:r>
            <a:r>
              <a:rPr lang="en-US" sz="1000" dirty="0">
                <a:solidFill>
                  <a:srgbClr val="000000"/>
                </a:solidFill>
                <a:latin typeface="Calibri" pitchFamily="34" charset="0"/>
                <a:ea typeface="Calibri" pitchFamily="34" charset="-122"/>
                <a:cs typeface="Calibri" pitchFamily="34" charset="-120"/>
              </a:rPr>
              <a:t>The two pull-up banks never overlap. The shaded gap is the dead time, so no shoot-through window exists.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(a) five settings at full load, each its own ngspice run; (b) the same driver swept at two operating points.</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 clamp removes the fault. The cheapest dead time is 15 ns at full load and 5 ns at light load — two different numbers, and that gap is the only thing worth adapting.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The figure. </a:t>
            </a:r>
            <a:r>
              <a:rPr lang="en-US" sz="1100" dirty="0">
                <a:solidFill>
                  <a:srgbClr val="000000"/>
                </a:solidFill>
                <a:latin typeface="Calibri" pitchFamily="34" charset="0"/>
                <a:ea typeface="Calibri" pitchFamily="34" charset="-122"/>
                <a:cs typeface="Calibri" pitchFamily="34" charset="-120"/>
              </a:rPr>
              <a:t>Voltage on the gate that is supposed to be OFF, with the fix and without.</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1.65 V against a 1.4 V threshold turns the device on. The clamp and the −2 V rail leave 2.58 V of margin.</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The figure. </a:t>
            </a:r>
            <a:r>
              <a:rPr lang="en-US" sz="1250" dirty="0">
                <a:solidFill>
                  <a:srgbClr val="000000"/>
                </a:solidFill>
                <a:latin typeface="Calibri" pitchFamily="34" charset="0"/>
                <a:ea typeface="Calibri" pitchFamily="34" charset="-122"/>
                <a:cs typeface="Calibri" pitchFamily="34" charset="-120"/>
              </a:rPr>
              <a:t>Power lost and peak device voltage against drive strength, measured on the running converter.</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They move in opposite directions, so no setting is best at both. Lowest loss is 4 slices, not the fastest.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2  What it costs to use one fixed setting instead of the best setting at each operating point.</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b="1">
                <a:solidFill>
                  <a:srgbClr val="000000"/>
                </a:solidFill>
                <a:latin typeface="Calibri" pitchFamily="34" charset="0"/>
                <a:ea typeface="Calibri" pitchFamily="34" charset="-122"/>
                <a:cs typeface="Calibri" pitchFamily="34" charset="-120"/>
              </a:rPr>
              <a:t>The figure. </a:t>
            </a:r>
            <a:r>
              <a:rPr lang="en-US" sz="1300" dirty="0">
                <a:solidFill>
                  <a:srgbClr val="000000"/>
                </a:solidFill>
                <a:latin typeface="Calibri" pitchFamily="34" charset="0"/>
                <a:ea typeface="Calibri" pitchFamily="34" charset="-122"/>
                <a:cs typeface="Calibri" pitchFamily="34" charset="-120"/>
              </a:rPr>
              <a:t>What one fixed setting costs at each of the four operating points.</a:t>
            </a:r>
          </a:p>
          <a:p>
            <a:pPr marL="177800" indent="0">
              <a:spcAft>
                <a:spcPts val="0"/>
              </a:spcAft>
              <a:buSzPct val="100000"/>
              <a:buNone/>
            </a:pPr>
            <a:r>
              <a:rPr lang="en-US" sz="1300" dirty="0" b="1">
                <a:solidFill>
                  <a:srgbClr val="000000"/>
                </a:solidFill>
                <a:latin typeface="Calibri" pitchFamily="34" charset="0"/>
                <a:ea typeface="Calibri" pitchFamily="34" charset="-122"/>
                <a:cs typeface="Calibri" pitchFamily="34" charset="-120"/>
              </a:rPr>
              <a:t>What it means. </a:t>
            </a:r>
            <a:r>
              <a:rPr lang="en-US" sz="1300" dirty="0">
                <a:solidFill>
                  <a:srgbClr val="000000"/>
                </a:solidFill>
                <a:latin typeface="Calibri" pitchFamily="34" charset="0"/>
                <a:ea typeface="Calibri" pitchFamily="34" charset="-122"/>
                <a:cs typeface="Calibri" pitchFamily="34" charset="-120"/>
              </a:rPr>
              <a:t>Three points lose 1–4 %. One loses 12.7 %. So re-tuning is worth 5.2 % at the very most.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What it means. </a:t>
            </a:r>
            <a:r>
              <a:rPr lang="en-US" sz="1300" dirty="0">
                <a:solidFill>
                  <a:srgbClr val="000000"/>
                </a:solidFill>
                <a:latin typeface="Calibri" pitchFamily="34" charset="0"/>
                <a:ea typeface="Calibri" pitchFamily="34" charset="-122"/>
                <a:cs typeface="Calibri" pitchFamily="34" charset="-120"/>
              </a:rPr>
              <a:t>The full sensor + ADC + lookup table is left justifying 3.7 % of the gain, over one fixed setting plus a single comparator.</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The split does not depend on how the two goals are weighted: across 106 weightings, (A) stays 23.4–29.0 % and (B) 1.3–6.4 %, and (A) wins every time.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The figure. </a:t>
            </a:r>
            <a:r>
              <a:rPr lang="en-US" sz="1200" dirty="0">
                <a:solidFill>
                  <a:srgbClr val="000000"/>
                </a:solidFill>
                <a:latin typeface="Calibri" pitchFamily="34" charset="0"/>
                <a:ea typeface="Calibri" pitchFamily="34" charset="-122"/>
                <a:cs typeface="Calibri" pitchFamily="34" charset="-120"/>
              </a:rPr>
              <a:t>What re-tuning is worth, against the inductance of the power loop. Eight values, 7,200 runs.</a:t>
            </a:r>
          </a:p>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What it means. </a:t>
            </a:r>
            <a:r>
              <a:rPr lang="en-US" sz="1200" dirty="0">
                <a:solidFill>
                  <a:srgbClr val="000000"/>
                </a:solidFill>
                <a:latin typeface="Calibri" pitchFamily="34" charset="0"/>
                <a:ea typeface="Calibri" pitchFamily="34" charset="-122"/>
                <a:cs typeface="Calibri" pitchFamily="34" charset="-120"/>
              </a:rPr>
              <a:t>It only pays below about 2.5 nH. Loop inductance is board layout, so this is a layout decision, not a device one.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The figure. </a:t>
            </a:r>
            <a:r>
              <a:rPr lang="en-US" sz="1100" dirty="0">
                <a:solidFill>
                  <a:srgbClr val="000000"/>
                </a:solidFill>
                <a:latin typeface="Calibri" pitchFamily="34" charset="0"/>
                <a:ea typeface="Calibri" pitchFamily="34" charset="-122"/>
                <a:cs typeface="Calibri" pitchFamily="34" charset="-120"/>
              </a:rPr>
              <a:t>ngspice waveforms from sim/dpt.cir, the same file every number in this deck comes from. Click to play, 22 s.</a:t>
            </a:r>
          </a:p>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What it means. </a:t>
            </a:r>
            <a:r>
              <a:rPr lang="en-US" sz="1100" dirty="0">
                <a:solidFill>
                  <a:srgbClr val="000000"/>
                </a:solidFill>
                <a:latin typeface="Calibri" pitchFamily="34" charset="0"/>
                <a:ea typeface="Calibri" pitchFamily="34" charset="-122"/>
                <a:cs typeface="Calibri" pitchFamily="34" charset="-120"/>
              </a:rPr>
              <a:t>Left panel crosses the 1.4 V line and the device turns on. Right panel, same circuit with the fix, peaks at −1.18 V.</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687568"/>
            <a:ext cx="11201400" cy="82296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LTspice's own output, from the schematic in ltspice/. Top: the switch node falling 100 V. Bottom: what that does to the gate of the device that is supposed to be OFF.</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A second simulator, on a drawn circuit, gets +1.6476 V and −1.1769 V where ngspice gets +1.6486 and −1.1757. About a millivolt apart, so the result is the circuit's, not the simulator's.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687568"/>
            <a:ext cx="11201400" cy="82296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LTspice's own output, from the schematic in ltspice/. Top: the switch node falling 100 V. Bottom: what that does to the gate of the device that is supposed to be OFF.</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A second simulator, on a drawn circuit, gets +1.6476 V and −1.1769 V where ngspice gets +1.6486 and −1.1757. About a millivolt apart, so the result is the circuit's, not the simulator's.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669280"/>
            <a:ext cx="11201400" cy="822960"/>
          </a:xfrm>
          <a:prstGeom prst="rect">
            <a:avLst/>
          </a:prstGeom>
          <a:noFill/>
        </p:spPr>
        <p:txBody>
          <a:bodyPr wrap="square" lIns="0" tIns="0" rIns="0" bIns="0">
            <a:spAutoFit/>
          </a:bodyPr>
          <a:lstStyle/>
          <a:p>
            <a:pPr marL="177800" indent="0">
              <a:spcAft>
                <a:spcPts val="6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figure. </a:t>
            </a:r>
            <a:r>
              <a:rPr lang="en-US" sz="1150" dirty="0">
                <a:solidFill>
                  <a:srgbClr val="000000"/>
                </a:solidFill>
                <a:latin typeface="Calibri" pitchFamily="34" charset="0"/>
                <a:ea typeface="Calibri" pitchFamily="34" charset="-122"/>
                <a:cs typeface="Calibri" pitchFamily="34" charset="-120"/>
              </a:rPr>
              <a:t xml:space="preserve">Every circuit simulation in the study is ngspice. LTspice draws the same circuit and re-measures the crosstalk result.</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What it means. </a:t>
            </a:r>
            <a:r>
              <a:rPr lang="en-US" sz="1150" dirty="0">
                <a:solidFill>
                  <a:srgbClr val="000000"/>
                </a:solidFill>
                <a:latin typeface="Calibri" pitchFamily="34" charset="0"/>
                <a:ea typeface="Calibri" pitchFamily="34" charset="-122"/>
                <a:cs typeface="Calibri" pitchFamily="34" charset="-120"/>
              </a:rPr>
              <a:t xml:space="preserve">One tool does the work. The second exists so that no headline number rests on a single program.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