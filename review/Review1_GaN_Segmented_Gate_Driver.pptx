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7" r:id="rId18"/>
    <p:sldId id="261" r:id="rId7"/>
    <p:sldId id="262" r:id="rId8"/>
    <p:sldId id="263" r:id="rId9"/>
    <p:sldId id="264" r:id="rId10"/>
    <p:sldId id="268" r:id="rId19"/>
    <p:sldId id="269" r:id="rId20"/>
    <p:sldId id="270" r:id="rId21"/>
    <p:sldId id="271" r:id="rId22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6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4589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.mp4"/><Relationship Id="rId3" Type="http://schemas.openxmlformats.org/officeDocument/2006/relationships/image" Target="../media/image1.png"/><Relationship Id="rId4" Type="http://schemas.openxmlformats.org/officeDocument/2006/relationships/video" Target="../media/media1.mp4"/><Relationship Id="rId5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Segmented Gate Driver for GaN HEMTs: Measuring What Operating-Point Scheduling Is Actually Worth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Amritha  —  Reg. No. ________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Bindu  — 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 ·  02.09.2026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— 02.09.2026 (5 Marks, 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Proposed Solution &amp; 50% Work Completion.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8–10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background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— minimum 8–10 recent references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 and their limitations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solution, scope and methodology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work completed, timeline, tools &amp; technologies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Problem clarity &amp; relevance (2), Literature survey quality (1), Proposed solution feasibility (1), Presentation quality (1).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Problem Statement: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a GaN half-bridge the dV/dt of one device couples through C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GD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into the gate of the device meant to be off. With a threshold near 1.4 V the spurious pulse can exceed it and turn that device partially on — shoot-through, extra loss, and at worst destruction.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Background &amp; Significance: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GaN half-bridges are the switching core of EV and HEV traction inverters, on-board chargers and high-density server supplies, where the whole reason to choose GaN is to switch faster — which is exactly what makes this failure mode worse.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Negative off-bias is uniquely expensive on GaN: with no body diode the reverse drop is V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+ I·R + |V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GS,off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|, so each volt of margin is paid for again across the dead time.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Existing Solutions: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Active gate drivers with segmented drive strength, Miller clamps, programmable dead time and negative off-bias [1]–[4]. Closed-loop designs adapt to the operating point and report large gains — 30.5 % less overshoot, 75 % less turn-off loss — against a conventional driver [5]–[7].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Limitations / Research Gap: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That comparison conflates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choosing better fixed settings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with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adapting settings per operating point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. Only the second needs sensing, a lookup table and a controller — the hardware cost that justifies the architecture. No published work isolates them, so the value of adaptation has never been measured.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 (1 – 4)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84048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Zhang, Wang, Tolbert &amp; Blalock (2014)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Active Gate Driver for Crosstalk Suppression of SiC Devices in a Phase-Leg Configuration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Trans. Power Electron., 29(4), 1986–1997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Two gate-assist circuits on a SiC MOSFET phase leg; suppresses the spurious gate pulse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Up to 17 % less turn-on loss. SiC has a body diode, so the third-quadrant cost of negative off-bias — the GaN-specific trade — never arises.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Xie, Wang, Tang, Yang &amp; Chen (2017)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An Analytical Model for False Turn-On Evaluation of High-Voltage Enhancement-Mode GaN Transistor in Bridge-Leg Configuration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Trans. Power Electron., 32(8), 6416–6433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Closed-form model of the crosstalk loop for e-mode GaN; predicts the spurious gate peak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Models the mechanism accurately but does not optimise a driver against it, and never asks whether settings must adapt per operating point.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Reusch &amp; Strydom (2014)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Understanding the Effect of PCB Layout on Circuit Performance in a High-Frequency Gallium-Nitride-Based Point of Load Converter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Trans. Power Electron., 29(4), 2008–2015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Measures a GaN converter across deliberately varied board layouts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Loop inductance is set by layout, not by the device. Our robustness study finds the scheduling ceiling depends on exactly this parameter: 13.5 % at 1.5 nH against 0.6 % at 4.5 nH.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IEEE Trans. Power Electron. (journal)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7A7A7A"/>
                          </a:solidFill>
                          <a:latin typeface="Calibri"/>
                        </a:rPr>
                        <a:t>authors: complete from Xplore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Crosstalk Suppression Method for GaN-Based Bridge Configuration Using Negative Voltage Self-Recovery Gate Drive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Xplore doc. 9573371 — vol./pp. XX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RC-diode divider generates negative V_GS; antiparallel diode gives a low-impedance Miller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Suppresses positive and negative crosstalk together. Treats the negative rail as always beneficial; our freeze test finds off-bias worth 2.55 % to schedule, and nothing at a 1 V guard band.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References [1]–[3] are verified against the publisher record — author list, volume, issue and pages all confirmed.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 (5 – 8)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84048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IEEE journal (SiC active gate driver)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7A7A7A"/>
                          </a:solidFill>
                          <a:latin typeface="Calibri"/>
                        </a:rPr>
                        <a:t>authors: complete from Xplore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Novel Control Strategy for Optimal Tradeoff between Overshoot and Switching Loss Based on Double Closed-Loop Self-Regulating Active Gate Driver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Xplore doc. 10553383 — vol./pp. XX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Weight-based closed-loop control balancing overshoot against turn-off loss per operating condition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Reports 30.5 % less overshoot and 75 % less turn-off loss. Optimises the same two objectives as our cost function, but never bounds what the adaptation itself is worth against a fixed setting.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IEEE journal (SiC active gate driver)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7A7A7A"/>
                          </a:solidFill>
                          <a:latin typeface="Calibri"/>
                        </a:rPr>
                        <a:t>authors: complete from Xplore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Self-Regulating Active Gate Driver of Voltage Overshoot Suppression for SiC MOSFETs Under Variable Load Current Conditions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Xplore doc. 10964227 — vol./pp. XX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Gate drive self-regulates as load current varies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Adaptation to the operating point is the premise, not a tested hypothesis. This is precisely the claim our exhaustive search isolates and measures at 5.2 %.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IEEE journal (SiC gate driver IC)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7A7A7A"/>
                          </a:solidFill>
                          <a:latin typeface="Calibri"/>
                        </a:rPr>
                        <a:t>authors: complete from Xplore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Universal Active Gate Driver IC With Closed-Loop Timing Control and Gate-Sensing Technique for Silicon Carbide Power Devices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Xplore doc. 10813402 — vol./pp. XX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Integrated driver with closed-loop timing and on-chip gate sensing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The sensing and control hardware that per-operating-point scheduling requires. Our result bounds the benefit that hardware can deliver on this architecture at a few per cent.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IEEE journal (GaN integrated driver)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7A7A7A"/>
                          </a:solidFill>
                          <a:latin typeface="Calibri"/>
                        </a:rPr>
                        <a:t>authors: complete from Xplore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An Integrated Driver With Dual-Edge Adaptive Dead-Time Control for GaN-Based Synchronous Buck Converter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Xplore doc. 10664041 — vol./pp. XX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Dual-edge adaptive dead-time control; sub-1 ns dead times across a 0.2–2 A range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Adapts the one field our freeze test says actually carries the benefit — dead time, 5.45 % of the cost, 4.6× the next field. Direct independent support for the paper's central recommendation.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References [4]–[8]: title, journal status and IEEE Xplore document ID confirmed. Volume, issue, pages and authors are marked XX — every publisher and metadata service was unreachable from the build environment, and they are not invented. One click on Xplore's “Cite This” completes each.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&amp; Methodology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Proposed Solution: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 segmented GaN gate driver with a 720-point control word: 8 pull-up slices, 8 pull-down slices, dead time 5–35 ns, an active Miller clamp, and a selectable off-bias rail (0 / −2 V).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contribution is to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separate the two claims by exhaustive search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: sweep the full word at every corner, so each per-corner optimum is a true optimum and not the best of a shortlist, then compare against the best single fixed word. That difference is the value of adaptation, and nothing else.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Methodology / Approach: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Double-pulse test in ngspice with a behavioural eGaN model from datasheet quantities. Its channel is symmetric by design, so the third-quadrant penalty of negative bias emerges from device physics rather than being added by hand.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Eight metrics per run — three energies, overshoot, settling, oscillation energy, spurious gate voltage, crosstalk margin — frozen in one extractor early, so no later sweep becomes incomparable.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reported quantity must be flat across a 5× timestep range. Enforced, not assumed: it has twice rejected a number that had already reached a draft.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Project Scope: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scope: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driver architecture, control-word optimisation, transistor-level output stage in SKY130.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Out of scope: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GaN device fabrication, closed-loop sensing hardware, PCB build.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(50%), Timeline &amp; Tools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Work completed so far (≈ 50 %):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Crosstalk reproduced and fixed.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Fastest drive, no clamp: spurious gate peak 1.65 V against a 1.4 V threshold — false turn-on. Clamp on with −2 V off-bias: −1.18 V, a 2.58 V margin.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Full exhaustive search.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720 control words at each of four corners (50–200 V, 2–10 A, 25–125 °C) = 2,880 transients, plus 1,511 over a 36-point operating grid.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Robustness study.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21,600 further transients perturbing five device-model parameters, one failure.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Ports generated and re-simulated.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LTspice-dialect, Spectre and browser-WASM decks each reproduce 122.4 V / 5.00 V / 1.65 V on re-simulation. LTspice and Spectre themselves are not yet run — no installation available — so those two are faithful ports, not cross-simulator agreement.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Nearly 26,000 transient simulations in total; a 28-section written record; a full manuscript draft.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Timeline &amp; milestones to Review-III: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Review-II: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transistor-level output stage in Cadence with a 5 V-capable PDK; re-run the ceiling on real devices; hardware-in-the-loop plan.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Review-III: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half-bridge measured at one corner; manuscript submitted.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Tools &amp; technologies: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ngspice 42 (all sweeps) · LTspice · Cadence Spectre / OCEAN · SKY130 PDK (BSIM4) · Python / NumPy / Matplotlib · MATLAB Online (independent cross-check) · Git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the problem, and the fix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fig1_crosstal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325880"/>
            <a:ext cx="6675120" cy="42383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760720"/>
            <a:ext cx="66751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Fig. 1  Spurious gate voltage on the off-device: the failure, and the actuator that removes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325880"/>
            <a:ext cx="3886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problem is real, and reproduced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28800"/>
            <a:ext cx="38862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1.65 V</a:t>
            </a:r>
          </a:p>
          <a:p>
            <a:pPr marL="177800" indent="0">
              <a:spcAft>
                <a:spcPts val="6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spurious gate peak vs 1.4 V threshold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Fastest drive, no clamp — false turn-on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63240"/>
            <a:ext cx="38862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2.58 V</a:t>
            </a:r>
          </a:p>
          <a:p>
            <a:pPr marL="177800" indent="0">
              <a:spcAft>
                <a:spcPts val="6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margin with clamp + −2 V off-bias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actuator removes it completely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343400"/>
            <a:ext cx="38862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2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And safety is nearly free</a:t>
            </a:r>
          </a:p>
          <a:p>
            <a:pPr marL="177800" indent="0">
              <a:spcAft>
                <a:spcPts val="200"/>
              </a:spcAft>
              <a:buSzPct val="100000"/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energy-optimal control word is already crosstalk-safe at three of four corners. At the fourth, safety costs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0.04 % of switching energy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3.335 µJ against 3.334 µJ.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clamp itself is worth 9.7–12.2 % of the blended cost, from a static architecture choice needing no sensing or controller.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what scheduling is actually worth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paper_fig2_ceil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17320"/>
            <a:ext cx="6035040" cy="3212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92040"/>
            <a:ext cx="6035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Fig. 2  Cost of one fixed control word vs the true per-corner optimum, four corners.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40680"/>
            <a:ext cx="60350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Full 720-word search at every corner — 2,880 transients — so each per-corner optimum is a true optimum, not the best of a shortlist.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60" y="1325880"/>
            <a:ext cx="45262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What adaptation is actually 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828800"/>
            <a:ext cx="45262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5.2 %</a:t>
            </a:r>
          </a:p>
          <a:p>
            <a:pPr marL="177800" indent="0">
              <a:spcAft>
                <a:spcPts val="6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ceiling on operating-point scheduling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vs the best single fixed word. A fixed word is nearly as good.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3154680"/>
            <a:ext cx="452628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8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benefit is not spread out. 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Three corners lose 1–4 % from a fixed word; one loses 12.7 %.</a:t>
            </a:r>
          </a:p>
          <a:p>
            <a:pPr marL="177800" indent="0">
              <a:spcAft>
                <a:spcPts val="18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It is carried by the dead time. 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Freezing dead time costs 5.45 %; freezing pull-up drive strength costs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0.00 %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and drive strength is what the active-gate-driver literature actually schedules.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Robust to the device, conditional on the layout. 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Across 21,600 transients, no device parameter moves the ceiling outside 4.3–7.7 %. Halving the loop inductance takes it to 13.5 %, and loop inductance is board layout, not the transistor [3].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robustness of the ceiling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Perturbation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132588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Ceiling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3258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vs nom.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19072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Loop inductance −50 %  (1.5 nH)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7190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13.54 %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7190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+7.59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25395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Input capacitance +30 %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025395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7.71 %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2025395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+1.76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317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Miller capacitance −50 %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23317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6.93 %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331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+0.99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638044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nominal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638044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5.95 %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6380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44368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Threshold −20 %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2944368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5.64 %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294436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−0.31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250691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Transconductance +30 %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3250691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5.08 %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250691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−0.87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557015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Threshold +20 %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0520" y="3557015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4.90 %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557015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−1.05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863339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Input capacitance −30 %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3863339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4.76 %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3863339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−1.19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169663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Transconductance −30 %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60520" y="4169663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4.45 %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4169663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−1.49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475988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Miller capacitance +50 %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475988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4.32 %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44759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−1.63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782312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Loop inductance +50 %  (4.5 nH)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0520" y="478231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0.55 %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57800" y="47823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−5.39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1325880"/>
            <a:ext cx="46177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Robust to the device,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conditional on the layout.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2057400"/>
            <a:ext cx="46177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21,600 transients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a full 720-word search at two corners under each of eleven single-parameter perturbations. One failure.</a:t>
            </a:r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device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parameter leaves the ceiling between 4.3 % and 7.7 % — at most 1.76 points from nominal. The objection this study was built to answer is not supported.</a:t>
            </a:r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one thing that moves it is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loop inductance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which is board layout, not the transistor. A tighter loop commutates faster, so more charge couples through C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GD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: the median spurious gate voltage goes 0.640 V to 3.522 V and the feasible set collapses 474 → 158.</a:t>
            </a:r>
          </a:p>
          <a:p>
            <a:pPr marL="177800" indent="-177800">
              <a:spcAft>
                <a:spcPts val="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So the claim is narrower and more useful than “robust”: on a loop of about 3 nH or looser a fixed word is nearly as good; on a substantially tighter loop the question has to be re-asked.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peline_demo_review1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40080" y="1417320"/>
            <a:ext cx="6949440" cy="40507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2356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Click to play (17 s). Real captured output — only the pacing is presentational.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417320"/>
            <a:ext cx="3611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24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What it shows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ngspice 42 running the real double-pulse test.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Fastest drive, no clamp: spurious gate 1.649 V, margin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−0.249 V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false turn-on.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Miller clamp on: 0.830 V, margin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+0.570 V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safe.</a:t>
            </a:r>
          </a:p>
          <a:p>
            <a:pPr marL="177800" indent="-177800">
              <a:spcAft>
                <a:spcPts val="24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full 720-word search at four corners: 474 feasible, ceiling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5.2 %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 second video ships in the project folder: a 20 s interactive waveform viewer over the same simulation data.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numbers hold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554480"/>
            <a:ext cx="5257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20"/>
              </a:spcAft>
              <a:buSzPct val="100000"/>
              <a:buNone/>
            </a:pPr>
            <a:r>
              <a:rPr lang="en-US" sz="4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25,990</a:t>
            </a:r>
          </a:p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transient simulations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sweep, corner study and robustness run, start to finish.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554480"/>
            <a:ext cx="5257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20"/>
              </a:spcAft>
              <a:buSzPct val="100000"/>
              <a:buNone/>
            </a:pPr>
            <a:r>
              <a:rPr lang="en-US" sz="4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720</a:t>
            </a:r>
          </a:p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control words, searched in full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At every corner — so each per-corner optimum is a true optimum, not the best of a shortlist.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03320"/>
            <a:ext cx="5257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20"/>
              </a:spcAft>
              <a:buSzPct val="100000"/>
              <a:buNone/>
            </a:pPr>
            <a:r>
              <a:rPr lang="en-US" sz="4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25×</a:t>
            </a:r>
          </a:p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timestep refinement survived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reported quantity must be flat across it. Enforced, not assumed.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703320"/>
            <a:ext cx="5257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20"/>
              </a:spcAft>
              <a:buSzPct val="100000"/>
              <a:buNone/>
            </a:pPr>
            <a:r>
              <a:rPr lang="en-US" sz="4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7</a:t>
            </a:r>
          </a:p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wrong numbers caught, and corrected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By that discipline, before any of them reached the report.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Stated plainly: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LTspice and Spectre decks are faithful ports re-simulated to the same numbers, but neither simulator has itself been run — no installation was available.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next steps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0">
              <a:spcAft>
                <a:spcPts val="200"/>
              </a:spcAft>
              <a:buSzPct val="100000"/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What the data supports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Choosing the control word well matters enormously — it spans roughly fivefold in switching energy. </a:t>
            </a: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Adapting it to the operating point does not: 5.2 %, and a single fixed word is nearly as good.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benefit that exists is carried by the </a:t>
            </a: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dead time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not by the drive-strength segmentation that motivates the hardware. Crosstalk safety is nearly free once the Miller clamp is present.</a:t>
            </a:r>
          </a:p>
          <a:p>
            <a:pPr marL="177800" indent="-177800">
              <a:spcAft>
                <a:spcPts val="26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This is a negative result about the </a:t>
            </a: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adaptive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premise, and it is reported as one rather than hidden.</a:t>
            </a:r>
          </a:p>
          <a:p>
            <a:pPr marL="177800" indent="0">
              <a:spcAft>
                <a:spcPts val="200"/>
              </a:spcAft>
              <a:buSzPct val="100000"/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What it does not support, and what is next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objective prices loss and overshoot only. Pull-up strength is worth 0.00 % to schedule under it, yet swings turn-on slew rate by 123 % and ringing energy by 128 % — an EMI-bound design could reach the opposite conclusion.</a:t>
            </a:r>
          </a:p>
          <a:p>
            <a:pPr marL="177800" indent="-177800">
              <a:spcAft>
                <a:spcPts val="0"/>
              </a:spcAft>
              <a:buSzPct val="100000"/>
              <a:buChar char="•"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Review-II: 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transistor-level output stage in Cadence on a 5 V-capable PDK; re-run the ceiling on real devices. </a:t>
            </a: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Review-III: 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measure a hardware half-bridge at one corner — until then this is a simulation study and is titled as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0">
              <a:spcAft>
                <a:spcPts val="34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[1]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Z. Zhang, F. Wang, L. M. Tolbert and B. J. Blalock, “Active Gate Driver for Crosstalk Suppression of SiC Devices in a Phase-Leg Configuration,” IEEE Trans. Power Electron., vol. 29, no. 4, pp. 1986–1997, Apr. 2014.</a:t>
            </a:r>
          </a:p>
          <a:p>
            <a:pPr marL="177800" indent="0">
              <a:spcAft>
                <a:spcPts val="34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[2]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R. Xie, H. Wang, G. Tang, X. Yang and K. J. Chen, “An Analytical Model for False Turn-On Evaluation of High-Voltage Enhancement-Mode GaN Transistor in Bridge-Leg Configuration,” IEEE Trans. Power Electron., vol. 32, no. 8, pp. 6416–6433, Aug. 2017.</a:t>
            </a:r>
          </a:p>
          <a:p>
            <a:pPr marL="177800" indent="0">
              <a:spcAft>
                <a:spcPts val="34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[3]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D. Reusch and J. Strydom, “Understanding the Effect of PCB Layout on Circuit Performance in a High-Frequency Gallium-Nitride-Based Point of Load Converter,” IEEE Trans. Power Electron., vol. 29, no. 4, pp. 2008–2015, Apr. 2014.</a:t>
            </a:r>
          </a:p>
          <a:p>
            <a:pPr marL="177800" indent="0">
              <a:spcAft>
                <a:spcPts val="34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[4]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“Crosstalk Suppression Method for GaN-Based Bridge Configuration Using Negative Voltage Self-Recovery Gate Drive,”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IEEE journal; Xplore document 9573371. </a:t>
            </a: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Authors, vol., no., pp., year to be completed from Xplore.</a:t>
            </a:r>
          </a:p>
          <a:p>
            <a:pPr marL="177800" indent="0">
              <a:spcAft>
                <a:spcPts val="34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[5]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“A Novel Control Strategy for Optimal Tradeoff between Overshoot and Switching Loss Based on Double Closed-Loop Self-Regulating Active Gate Driver,”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IEEE journal; Xplore document 10553383. </a:t>
            </a: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Authors, vol., no., pp., year to be completed from Xplore.</a:t>
            </a:r>
          </a:p>
          <a:p>
            <a:pPr marL="177800" indent="0">
              <a:spcAft>
                <a:spcPts val="34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[6]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“A Self-Regulating Active Gate Driver of Voltage Overshoot Suppression for SiC MOSFETs Under Variable Load Current Conditions,”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IEEE journal; Xplore document 10964227. </a:t>
            </a: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Authors, vol., no., pp., year to be completed from Xplore.</a:t>
            </a:r>
          </a:p>
          <a:p>
            <a:pPr marL="177800" indent="0">
              <a:spcAft>
                <a:spcPts val="34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[7]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“Universal Active Gate Driver IC With Closed-Loop Timing Control and Gate-Sensing Technique for Silicon Carbide Power Devices,”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IEEE journal; Xplore document 10813402. </a:t>
            </a: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Authors, vol., no., pp., year to be completed from Xplore.</a:t>
            </a:r>
          </a:p>
          <a:p>
            <a:pPr marL="177800" indent="0">
              <a:spcAft>
                <a:spcPts val="34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[8]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“An Integrated Driver With Dual-Edge Adaptive Dead-Time Control for GaN-Based Synchronous Buck Converter,”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IEEE journal; Xplore document 10664041. </a:t>
            </a: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Authors, vol., no., pp., year to be completed from Xplore.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[1]–[3] verified against the publisher record. [4]–[8]: title, journal status and Xplore document ID confirmed; the remaining fields were not reachable from the build environment and are deliberately left blank rather than guessed.</a:t>
            </a:r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Use IEEE format. Every reference listed must be cited in the slides / report.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496</Words>
  <Application>Microsoft Macintosh PowerPoint</Application>
  <PresentationFormat>Widescreen</PresentationFormat>
  <Paragraphs>89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2</cp:revision>
  <dcterms:created xsi:type="dcterms:W3CDTF">2026-08-27T09:57:11Z</dcterms:created>
  <dcterms:modified xsi:type="dcterms:W3CDTF">2026-08-27T10:07:08Z</dcterms:modified>
</cp:coreProperties>
</file>