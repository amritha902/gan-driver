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8" r:id="rId4"/>
    <p:sldId id="259" r:id="rId5"/>
    <p:sldId id="316" r:id="rId59"/>
    <p:sldId id="261" r:id="rId7"/>
    <p:sldId id="300" r:id="rId43"/>
    <p:sldId id="301" r:id="rId44"/>
    <p:sldId id="302" r:id="rId45"/>
    <p:sldId id="260" r:id="rId6"/>
    <p:sldId id="283" r:id="rId34"/>
    <p:sldId id="320" r:id="rId63"/>
    <p:sldId id="267" r:id="rId18"/>
    <p:sldId id="282" r:id="rId33"/>
    <p:sldId id="303" r:id="rId46"/>
    <p:sldId id="304" r:id="rId47"/>
    <p:sldId id="305" r:id="rId48"/>
    <p:sldId id="306" r:id="rId49"/>
    <p:sldId id="280" r:id="rId31"/>
    <p:sldId id="278" r:id="rId29"/>
    <p:sldId id="298" r:id="rId2"/>
    <p:sldId id="296" r:id="rId19"/>
    <p:sldId id="297" r:id="rId40"/>
    <p:sldId id="299" r:id="rId42"/>
    <p:sldId id="295" r:id="rId21"/>
    <p:sldId id="314" r:id="rId57"/>
    <p:sldId id="291" r:id="rId35"/>
    <p:sldId id="293" r:id="rId30"/>
    <p:sldId id="307" r:id="rId50"/>
    <p:sldId id="308" r:id="rId51"/>
    <p:sldId id="309" r:id="rId52"/>
    <p:sldId id="310" r:id="rId53"/>
    <p:sldId id="311" r:id="rId54"/>
    <p:sldId id="312" r:id="rId55"/>
    <p:sldId id="313" r:id="rId56"/>
    <p:sldId id="263" r:id="rId9"/>
    <p:sldId id="294" r:id="rId28"/>
    <p:sldId id="292" r:id="rId32"/>
    <p:sldId id="275" r:id="rId26"/>
    <p:sldId id="276" r:id="rId27"/>
    <p:sldId id="264" r:id="rId10"/>
    <p:sldId id="273" r:id="rId24"/>
    <p:sldId id="285" r:id="rId36"/>
    <p:sldId id="318" r:id="rId61"/>
    <p:sldId id="319" r:id="rId62"/>
    <p:sldId id="321" r:id="rId64"/>
    <p:sldId id="317" r:id="rId60"/>
    <p:sldId id="262" r:id="rId8"/>
    <p:sldId id="272" r:id="rId23"/>
    <p:sldId id="271" r:id="rId22"/>
    <p:sldId id="265" r:id="rId11"/>
    <p:sldId id="290" r:id="rId41"/>
    <p:sldId id="315" r:id="rId5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17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4.876 A, 97.70 %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13</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 every one of them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 236.9 W delivered, 97.7 %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9 — </a:t>
            </a:r>
            <a:r>
              <a:rPr lang="en-US" sz="1200" b="1" dirty="0">
                <a:solidFill>
                  <a:srgbClr val="000000"/>
                </a:solidFill>
                <a:latin typeface="Calibri" pitchFamily="34" charset="0"/>
                <a:ea typeface="Calibri" pitchFamily="34" charset="-122"/>
                <a:cs typeface="Calibri" pitchFamily="34" charset="-120"/>
              </a:rPr>
              <a:t> DIAGRAM — DRAWN,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10</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12 blocks, weighted by how much of the project each is. 10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313006">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100 V → 48.6 V at 4.88 A, 97.7 % efficient (buck.cir)</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zhangdrv.lib in our own deck; quoted at ITS best, +0.407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60,533 transients over 36 corners; fixed 26.5 % vs adaptive 2.6 %</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31300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31300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We are past it because this is a simulation study and the simulation half is finished — the remaining 10 % is place-and-route on a chosen board and a hardware half-bridge on a bench, and no amount of further simulating will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Stated plainly: the architecture is finished. The measurement of it on real silicon is not.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31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18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26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28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29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701223"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30 — </a:t>
            </a:r>
            <a:r>
              <a:rPr lang="en-US" sz="1200" dirty="0" b="1">
                <a:solidFill>
                  <a:srgbClr val="000000"/>
                </a:solidFill>
                <a:latin typeface="Calibri" pitchFamily="34" charset="0"/>
                <a:ea typeface="Calibri" pitchFamily="34" charset="-122"/>
                <a:cs typeface="Calibri" pitchFamily="34" charset="-120"/>
              </a:rPr>
              <a:t> SIMULATED IN NGSPICE.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97.7 %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60,533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27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A PROJECT FILE, TYPESET — NOT SIMULATION OUTPUT.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4.876 A out: 242.47 W drawn, 236.89 W delivered, 97.70 % efficient. Peak switch node 115.4 V on a 100 V bus — 15.4 % overshoot, with bus decoupling. Without it: 168 V.</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20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21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 cheapest is 15 ns at full load, 5 ns at light load.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22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23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24 — </a:t>
            </a:r>
            <a:r>
              <a:rPr lang="en-US" sz="1150" b="1" dirty="0">
                <a:solidFill>
                  <a:srgbClr val="000000"/>
                </a:solidFill>
                <a:latin typeface="Calibri" pitchFamily="34" charset="0"/>
                <a:ea typeface="Calibri" pitchFamily="34" charset="-122"/>
                <a:cs typeface="Calibri" pitchFamily="34" charset="-120"/>
              </a:rPr>
              <a:t xml:space="preserve"> ICARUS VERILOG OUTPUT.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25 —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SO THE TEST OF PURPOSE IS NOT “does the converter run”.  </a:t>
            </a:r>
            <a:r>
              <a:rPr lang="en-US" sz="1250" dirty="0">
                <a:solidFill>
                  <a:srgbClr val="000000"/>
                </a:solidFill>
                <a:latin typeface="Calibri" pitchFamily="34" charset="0"/>
                <a:ea typeface="Calibri" pitchFamily="34" charset="-122"/>
                <a:cs typeface="Calibri" pitchFamily="34" charset="-120"/>
              </a:rPr>
              <a:t xml:space="preserve">It runs — 100 V in, 48.6 V out at 4.88 A, 97.7 % efficient, OPEN LOOP at a fixed duty, which is the deck the switching study is measured on; the regulated version holds 50.0 V at 96.1 %. Any textbook buck converter runs. The test is whether the architecture we put around it answers the questions the published work on these drivers leaves open, because that is the only part of this that is ours.</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AND a clamp AND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 and the clamp ALONE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 which is a result, not a failure — and one that needs a bench. The honest summary is that the architecture is finished and the measurement of it on real silicon is not.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0701223"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 and neither half of the verification could have seen it alone.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AND WHAT THIS IS NOT: models/zhangdrv.lib is our implementation of their DESCRIBED scheme — their netlist is not published — run in our testbench with our parasitics. It is not 5.5–12.4× their measured result, and we do not claim it is.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33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ALONE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the claim is NOT.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