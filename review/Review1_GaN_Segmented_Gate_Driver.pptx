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86" r:id="rId37"/>
    <p:sldId id="259" r:id="rId5"/>
    <p:sldId id="260" r:id="rId6"/>
    <p:sldId id="267" r:id="rId18"/>
    <p:sldId id="282" r:id="rId33"/>
    <p:sldId id="287" r:id="rId38"/>
    <p:sldId id="261" r:id="rId7"/>
    <p:sldId id="280" r:id="rId31"/>
    <p:sldId id="274" r:id="rId25"/>
    <p:sldId id="278" r:id="rId29"/>
    <p:sldId id="277" r:id="rId28"/>
    <p:sldId id="283" r:id="rId34"/>
    <p:sldId id="262" r:id="rId8"/>
    <p:sldId id="272" r:id="rId23"/>
    <p:sldId id="281" r:id="rId32"/>
    <p:sldId id="273" r:id="rId24"/>
    <p:sldId id="284" r:id="rId35"/>
    <p:sldId id="285" r:id="rId36"/>
    <p:sldId id="288" r:id="rId39"/>
    <p:sldId id="263" r:id="rId9"/>
    <p:sldId id="275" r:id="rId26"/>
    <p:sldId id="279" r:id="rId30"/>
    <p:sldId id="276" r:id="rId27"/>
    <p:sldId id="264" r:id="rId10"/>
    <p:sldId id="268" r:id="rId19"/>
    <p:sldId id="269" r:id="rId20"/>
    <p:sldId id="270" r:id="rId21"/>
    <p:sldId id="289" r:id="rId40"/>
    <p:sldId id="271" r:id="rId22"/>
    <p:sldId id="265" r:id="rId11"/>
    <p:sldId id="290" r:id="rId4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242.5 W drawn, 97.7 %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3.5 %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over 36 corners, vs the best single fixed word (= 2.6 % of baseline).</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3.5 % is the generous figure: </a:t>
            </a:r>
            <a:r>
              <a:rPr lang="en-US" sz="1200" dirty="0">
                <a:solidFill>
                  <a:srgbClr val="000000"/>
                </a:solidFill>
                <a:latin typeface="Calibri" pitchFamily="34" charset="0"/>
                <a:ea typeface="Calibri" pitchFamily="34" charset="-122"/>
                <a:cs typeface="Calibri" pitchFamily="34" charset="-120"/>
              </a:rPr>
              <a:t xml:space="preserve">the denser 36-point grid gives </a:t>
            </a:r>
            <a:r>
              <a:rPr lang="en-US" sz="1200" b="1" dirty="0">
                <a:solidFill>
                  <a:srgbClr val="000000"/>
                </a:solidFill>
                <a:latin typeface="Calibri" pitchFamily="34" charset="0"/>
                <a:ea typeface="Calibri" pitchFamily="34" charset="-122"/>
                <a:cs typeface="Calibri" pitchFamily="34" charset="-120"/>
              </a:rPr>
              <a:t xml:space="preserve">2.0 %</a:t>
            </a:r>
            <a:r>
              <a:rPr lang="en-US" sz="1200" dirty="0">
                <a:solidFill>
                  <a:srgbClr val="000000"/>
                </a:solidFill>
                <a:latin typeface="Calibri" pitchFamily="34" charset="0"/>
                <a:ea typeface="Calibri" pitchFamily="34" charset="-122"/>
                <a:cs typeface="Calibri" pitchFamily="34" charset="-120"/>
              </a:rPr>
              <a:t xml:space="preserve">.</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47 %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4.7 %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8.9 % of the gain; one threshold, on LOAD CURRENT at 10 A, takes 47 % of that. Two comparators take 61 %, leaving 3.4 % — the corner worth isolating shares its bus, load and temperature with others, so one threshold cannot reach it.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3.5 %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60,533</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Does it serve its purpose? Yes — as a simulation study, which is what it is titled as.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 xml:space="preserve">Five of the six gaps in the published work are closed by the architecture; the sixth is answered in the negative, which is a result. What is left needs a bench, not more simulating.</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Choosing the word well: </a:t>
            </a:r>
            <a:r>
              <a:rPr lang="en-US" sz="1600" dirty="0">
                <a:solidFill>
                  <a:srgbClr val="000000"/>
                </a:solidFill>
                <a:latin typeface="Calibri" pitchFamily="34" charset="0"/>
                <a:ea typeface="Calibri" pitchFamily="34" charset="-122"/>
                <a:cs typeface="Calibri" pitchFamily="34" charset="-120"/>
              </a:rPr>
              <a:t xml:space="preserve">26.5 %.   </a:t>
            </a:r>
            <a:r>
              <a:rPr lang="en-US" sz="1600" b="1" dirty="0">
                <a:solidFill>
                  <a:srgbClr val="000000"/>
                </a:solidFill>
                <a:latin typeface="Calibri" pitchFamily="34" charset="0"/>
                <a:ea typeface="Calibri" pitchFamily="34" charset="-122"/>
                <a:cs typeface="Calibri" pitchFamily="34" charset="-120"/>
              </a:rPr>
              <a:t xml:space="preserve">Adapting it per operating point: </a:t>
            </a:r>
            <a:r>
              <a:rPr lang="en-US" sz="1600" dirty="0">
                <a:solidFill>
                  <a:srgbClr val="000000"/>
                </a:solidFill>
                <a:latin typeface="Calibri" pitchFamily="34" charset="0"/>
                <a:ea typeface="Calibri" pitchFamily="34" charset="-122"/>
                <a:cs typeface="Calibri" pitchFamily="34" charset="-120"/>
              </a:rPr>
              <a:t xml:space="preserve">2.6 %.</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One comparator takes 47 % of that 2.6 %; two take 61 %.</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deliverable: </a:t>
            </a:r>
            <a:r>
              <a:rPr lang="en-US" sz="1600" dirty="0">
                <a:solidFill>
                  <a:srgbClr val="000000"/>
                </a:solidFill>
                <a:latin typeface="Calibri" pitchFamily="34" charset="0"/>
                <a:ea typeface="Calibri" pitchFamily="34" charset="-122"/>
                <a:cs typeface="Calibri" pitchFamily="34" charset="-120"/>
              </a:rPr>
              <a:t xml:space="preserve">a fixed word plus one bus-voltage comparator. The full sense + ADC + lookup table is left justifying </a:t>
            </a:r>
            <a:r>
              <a:rPr lang="en-US" sz="1600" b="1" dirty="0">
                <a:solidFill>
                  <a:srgbClr val="000000"/>
                </a:solidFill>
                <a:latin typeface="Calibri" pitchFamily="34" charset="0"/>
                <a:ea typeface="Calibri" pitchFamily="34" charset="-122"/>
                <a:cs typeface="Calibri" pitchFamily="34" charset="-120"/>
              </a:rPr>
              <a:t xml:space="preserve">4.7 %</a:t>
            </a:r>
            <a:r>
              <a:rPr lang="en-US" sz="1600" dirty="0">
                <a:solidFill>
                  <a:srgbClr val="000000"/>
                </a:solidFill>
                <a:latin typeface="Calibri" pitchFamily="34" charset="0"/>
                <a:ea typeface="Calibri" pitchFamily="34" charset="-122"/>
                <a:cs typeface="Calibri" pitchFamily="34" charset="-120"/>
              </a:rPr>
              <a:t xml:space="preserve"> — or 3.4 % if the second comparator is built too.</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half is real: </a:t>
            </a:r>
            <a:r>
              <a:rPr lang="en-US" sz="1600" dirty="0">
                <a:solidFill>
                  <a:srgbClr val="000000"/>
                </a:solidFill>
                <a:latin typeface="Calibri" pitchFamily="34" charset="0"/>
                <a:ea typeface="Calibri" pitchFamily="34" charset="-122"/>
                <a:cs typeface="Calibri" pitchFamily="34" charset="-120"/>
              </a:rPr>
              <a:t xml:space="preserve">20 LUTs and 20 flip-flops on an xc7a35t, 200 MHz met with 1.996 ns of slack.</a:t>
            </a:r>
          </a:p>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next</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 — </a:t>
            </a:r>
            <a:r>
              <a:rPr lang="en-US" sz="1600" dirty="0">
                <a:solidFill>
                  <a:srgbClr val="000000"/>
                </a:solidFill>
                <a:latin typeface="Calibri" pitchFamily="34" charset="0"/>
                <a:ea typeface="Calibri" pitchFamily="34" charset="-122"/>
                <a:cs typeface="Calibri" pitchFamily="34" charset="-120"/>
              </a:rPr>
              <a:t xml:space="preserve">transistor-level output stage in Cadence; re-run the ceiling on real devices.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Review-III — </a:t>
            </a:r>
            <a:r>
              <a:rPr lang="en-US" sz="1600" dirty="0">
                <a:solidFill>
                  <a:srgbClr val="000000"/>
                </a:solidFill>
                <a:latin typeface="Calibri" pitchFamily="34" charset="0"/>
                <a:ea typeface="Calibri" pitchFamily="34" charset="-122"/>
                <a:cs typeface="Calibri" pitchFamily="34" charset="-120"/>
              </a:rPr>
              <a:t xml:space="preserve">measure a hardware half-bridge. Until then this is a simulation study, and is titled as one.</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Limits we state ourselves: </a:t>
            </a:r>
            <a:r>
              <a:rPr lang="en-US" sz="1450" dirty="0">
                <a:solidFill>
                  <a:srgbClr val="000000"/>
                </a:solidFill>
                <a:latin typeface="Calibri" pitchFamily="34" charset="0"/>
                <a:ea typeface="Calibri" pitchFamily="34" charset="-122"/>
                <a:cs typeface="Calibri" pitchFamily="34" charset="-120"/>
              </a:rPr>
              <a:t xml:space="preserve">no silicon measured; and the converter deck drives the switch node to 168 V on a 100 V bus — 84 % of the modelled device's rating, found by opening the waveform rather than reading the measured scalars.</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No longer a limit: </a:t>
            </a:r>
            <a:r>
              <a:rPr lang="en-US" sz="1450" dirty="0">
                <a:solidFill>
                  <a:srgbClr val="000000"/>
                </a:solidFill>
                <a:latin typeface="Calibri" pitchFamily="34" charset="0"/>
                <a:ea typeface="Calibri" pitchFamily="34" charset="-122"/>
                <a:cs typeface="Calibri" pitchFamily="34" charset="-120"/>
              </a:rPr>
              <a:t xml:space="preserve">the device is now sampled, not assumed. 24 devices with threshold, transconductance, C</a:t>
            </a:r>
            <a:r>
              <a:rPr lang="en-US" sz="1450" dirty="0">
                <a:solidFill>
                  <a:srgbClr val="000000"/>
                </a:solidFill>
                <a:latin typeface="Calibri" pitchFamily="34" charset="0"/>
                <a:ea typeface="Calibri" pitchFamily="34" charset="-122"/>
                <a:cs typeface="Calibri" pitchFamily="34" charset="-120"/>
              </a:rPr>
              <a:t xml:space="preserve">GS</a:t>
            </a:r>
            <a:r>
              <a:rPr lang="en-US" sz="1450" dirty="0">
                <a:solidFill>
                  <a:srgbClr val="000000"/>
                </a:solidFill>
                <a:latin typeface="Calibri" pitchFamily="34" charset="0"/>
                <a:ea typeface="Calibri" pitchFamily="34" charset="-122"/>
                <a:cs typeface="Calibri" pitchFamily="34" charset="-120"/>
              </a:rPr>
              <a:t xml:space="preserve"> and C</a:t>
            </a:r>
            <a:r>
              <a:rPr lang="en-US" sz="1450" dirty="0">
                <a:solidFill>
                  <a:srgbClr val="000000"/>
                </a:solidFill>
                <a:latin typeface="Calibri" pitchFamily="34" charset="0"/>
                <a:ea typeface="Calibri" pitchFamily="34" charset="-122"/>
                <a:cs typeface="Calibri" pitchFamily="34" charset="-120"/>
              </a:rPr>
              <a:t xml:space="preserve">GD</a:t>
            </a:r>
            <a:r>
              <a:rPr lang="en-US" sz="1450" dirty="0">
                <a:solidFill>
                  <a:srgbClr val="000000"/>
                </a:solidFill>
                <a:latin typeface="Calibri" pitchFamily="34" charset="0"/>
                <a:ea typeface="Calibri" pitchFamily="34" charset="-122"/>
                <a:cs typeface="Calibri" pitchFamily="34" charset="-120"/>
              </a:rPr>
              <a:t xml:space="preserve"> varied JOINTLY — the shipped word stays safe on every one (worst case +1.90 V), and choosing a better fixed word beats adapting on every one. It remains one behavioural model FORM; its parameters are no longer a single guess.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4"/>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Rectangle 4"/>
          <p:cNvSpPr/>
          <p:nvPr/>
        </p:nvSpPr>
        <p:spPr>
          <a:xfrm>
            <a:off x="54864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reto_matlab.png"/>
          <p:cNvPicPr>
            <a:picLocks noChangeAspect="1"/>
          </p:cNvPicPr>
          <p:nvPr/>
        </p:nvPicPr>
        <p:blipFill>
          <a:blip r:embed="rId3"/>
          <a:stretch>
            <a:fillRect/>
          </a:stretch>
        </p:blipFill>
        <p:spPr>
          <a:xfrm>
            <a:off x="640080" y="1188720"/>
            <a:ext cx="4389120" cy="3291840"/>
          </a:xfrm>
          <a:prstGeom prst="rect">
            <a:avLst/>
          </a:prstGeom>
        </p:spPr>
      </p:pic>
      <p:sp>
        <p:nvSpPr>
          <p:cNvPr id="7" name="Rectangle 6"/>
          <p:cNvSpPr/>
          <p:nvPr/>
        </p:nvSpPr>
        <p:spPr>
          <a:xfrm>
            <a:off x="635508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g_master_weight.png"/>
          <p:cNvPicPr>
            <a:picLocks noChangeAspect="1"/>
          </p:cNvPicPr>
          <p:nvPr/>
        </p:nvPicPr>
        <p:blipFill>
          <a:blip r:embed="rId4"/>
          <a:stretch>
            <a:fillRect/>
          </a:stretch>
        </p:blipFill>
        <p:spPr>
          <a:xfrm>
            <a:off x="6446520" y="1188720"/>
            <a:ext cx="4389120" cy="3291840"/>
          </a:xfrm>
          <a:prstGeom prst="rect">
            <a:avLst/>
          </a:prstGeom>
        </p:spPr>
      </p:pic>
      <p:sp>
        <p:nvSpPr>
          <p:cNvPr id="9" name="TextBox 8"/>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10" name="TextBox 9"/>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(A) stays above (B) at every weight tested.</a:t>
            </a:r>
            <a:r>
              <a:rPr lang="en-US" sz="1150" dirty="0">
                <a:solidFill>
                  <a:srgbClr val="000000"/>
                </a:solidFill>
                <a:latin typeface="Calibri" pitchFamily="34" charset="0"/>
                <a:ea typeface="Calibri" pitchFamily="34" charset="-122"/>
                <a:cs typeface="Calibri" pitchFamily="34" charset="-120"/>
              </a:rPr>
              <a:t xml:space="preserve"> Choosing the word well is worth 22.5–29.0 % of baseline across the whole range; adapting it per operating point 1.3–12.7 %. The ordering never flips.</a:t>
            </a:r>
          </a:p>
        </p:txBody>
      </p:sp>
      <p:sp>
        <p:nvSpPr>
          <p:cNvPr id="11" name="TextBox 10"/>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top row as the controller and the bottom row as the circuit. </a:t>
            </a:r>
            <a:r>
              <a:rPr lang="en-US" sz="1200" dirty="0">
                <a:solidFill>
                  <a:srgbClr val="000000"/>
                </a:solidFill>
                <a:latin typeface="Calibri" pitchFamily="34" charset="0"/>
                <a:ea typeface="Calibri" pitchFamily="34" charset="-122"/>
                <a:cs typeface="Calibri" pitchFamily="34" charset="-120"/>
              </a:rPr>
              <a:t xml:space="preserve">The one shaded diamond is the entire adaptive machinery.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Tools — and what each one produced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41732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ngspice 42</a:t>
            </a:r>
          </a:p>
        </p:txBody>
      </p:sp>
      <p:sp>
        <p:nvSpPr>
          <p:cNvPr id="6" name="TextBox 5"/>
          <p:cNvSpPr txBox="1"/>
          <p:nvPr/>
        </p:nvSpPr>
        <p:spPr>
          <a:xfrm>
            <a:off x="3520440" y="141732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transient in the study</a:t>
            </a:r>
          </a:p>
        </p:txBody>
      </p:sp>
      <p:sp>
        <p:nvSpPr>
          <p:cNvPr id="7" name="TextBox 6"/>
          <p:cNvSpPr txBox="1"/>
          <p:nvPr/>
        </p:nvSpPr>
        <p:spPr>
          <a:xfrm>
            <a:off x="6858000" y="141732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60,533 simulations · 1.65 V spurious · 2.58 V margin · 3.5 % ceiling</a:t>
            </a:r>
          </a:p>
        </p:txBody>
      </p:sp>
      <p:sp>
        <p:nvSpPr>
          <p:cNvPr id="8" name="TextBox 7"/>
          <p:cNvSpPr txBox="1"/>
          <p:nvPr/>
        </p:nvSpPr>
        <p:spPr>
          <a:xfrm>
            <a:off x="640080" y="198424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LTspice 24</a:t>
            </a:r>
          </a:p>
        </p:txBody>
      </p:sp>
      <p:sp>
        <p:nvSpPr>
          <p:cNvPr id="9" name="TextBox 8"/>
          <p:cNvSpPr txBox="1"/>
          <p:nvPr/>
        </p:nvSpPr>
        <p:spPr>
          <a:xfrm>
            <a:off x="3520440" y="198424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re-run of the shipped netlists</a:t>
            </a:r>
          </a:p>
        </p:txBody>
      </p:sp>
      <p:sp>
        <p:nvSpPr>
          <p:cNvPr id="10" name="TextBox 9"/>
          <p:cNvSpPr txBox="1"/>
          <p:nvPr/>
        </p:nvSpPr>
        <p:spPr>
          <a:xfrm>
            <a:off x="6858000" y="198424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1.6487 / 0.8282 / −1.1768 V — matches ngspice within 2 mV</a:t>
            </a:r>
          </a:p>
        </p:txBody>
      </p:sp>
      <p:sp>
        <p:nvSpPr>
          <p:cNvPr id="11" name="TextBox 10"/>
          <p:cNvSpPr txBox="1"/>
          <p:nvPr/>
        </p:nvSpPr>
        <p:spPr>
          <a:xfrm>
            <a:off x="640080" y="2551176"/>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MATLAB Online</a:t>
            </a:r>
          </a:p>
        </p:txBody>
      </p:sp>
      <p:sp>
        <p:nvSpPr>
          <p:cNvPr id="12" name="TextBox 11"/>
          <p:cNvSpPr txBox="1"/>
          <p:nvPr/>
        </p:nvSpPr>
        <p:spPr>
          <a:xfrm>
            <a:off x="3520440" y="2551176"/>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re-analysis of the same CSVs</a:t>
            </a:r>
          </a:p>
        </p:txBody>
      </p:sp>
      <p:sp>
        <p:nvSpPr>
          <p:cNvPr id="13" name="TextBox 12"/>
          <p:cNvSpPr txBox="1"/>
          <p:nvPr/>
        </p:nvSpPr>
        <p:spPr>
          <a:xfrm>
            <a:off x="6858000" y="2551176"/>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504 of 720 feasible · 7-word Pareto front · 0.039 µJ per point</a:t>
            </a:r>
          </a:p>
        </p:txBody>
      </p:sp>
      <p:sp>
        <p:nvSpPr>
          <p:cNvPr id="14" name="TextBox 13"/>
          <p:cNvSpPr txBox="1"/>
          <p:nvPr/>
        </p:nvSpPr>
        <p:spPr>
          <a:xfrm>
            <a:off x="640080" y="3118104"/>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GNU Octave 11.3</a:t>
            </a:r>
          </a:p>
        </p:txBody>
      </p:sp>
      <p:sp>
        <p:nvSpPr>
          <p:cNvPr id="15" name="TextBox 14"/>
          <p:cNvSpPr txBox="1"/>
          <p:nvPr/>
        </p:nvSpPr>
        <p:spPr>
          <a:xfrm>
            <a:off x="3520440" y="3118104"/>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second run of the same MATLAB scripts</a:t>
            </a:r>
          </a:p>
        </p:txBody>
      </p:sp>
      <p:sp>
        <p:nvSpPr>
          <p:cNvPr id="16" name="TextBox 15"/>
          <p:cNvSpPr txBox="1"/>
          <p:nvPr/>
        </p:nvSpPr>
        <p:spPr>
          <a:xfrm>
            <a:off x="6858000" y="3118104"/>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agrees with MATLAB to the last printed digit</a:t>
            </a:r>
          </a:p>
        </p:txBody>
      </p:sp>
      <p:sp>
        <p:nvSpPr>
          <p:cNvPr id="17" name="TextBox 16"/>
          <p:cNvSpPr txBox="1"/>
          <p:nvPr/>
        </p:nvSpPr>
        <p:spPr>
          <a:xfrm>
            <a:off x="640080" y="3685032"/>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Icarus Verilog</a:t>
            </a:r>
          </a:p>
        </p:txBody>
      </p:sp>
      <p:sp>
        <p:nvSpPr>
          <p:cNvPr id="18" name="TextBox 17"/>
          <p:cNvSpPr txBox="1"/>
          <p:nvPr/>
        </p:nvSpPr>
        <p:spPr>
          <a:xfrm>
            <a:off x="3520440" y="3685032"/>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RTL verification and mutation testing</a:t>
            </a:r>
          </a:p>
        </p:txBody>
      </p:sp>
      <p:sp>
        <p:nvSpPr>
          <p:cNvPr id="19" name="TextBox 18"/>
          <p:cNvSpPr txBox="1"/>
          <p:nvPr/>
        </p:nvSpPr>
        <p:spPr>
          <a:xfrm>
            <a:off x="6858000" y="3685032"/>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8 asserted properties pass · injected shoot-through caught 221×</a:t>
            </a:r>
          </a:p>
        </p:txBody>
      </p:sp>
      <p:sp>
        <p:nvSpPr>
          <p:cNvPr id="20" name="TextBox 19"/>
          <p:cNvSpPr txBox="1"/>
          <p:nvPr/>
        </p:nvSpPr>
        <p:spPr>
          <a:xfrm>
            <a:off x="640080" y="425196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Xilinx Vivado 2024.1.2</a:t>
            </a:r>
          </a:p>
        </p:txBody>
      </p:sp>
      <p:sp>
        <p:nvSpPr>
          <p:cNvPr id="21" name="TextBox 20"/>
          <p:cNvSpPr txBox="1"/>
          <p:nvPr/>
        </p:nvSpPr>
        <p:spPr>
          <a:xfrm>
            <a:off x="3520440" y="425196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FPGA synthesis and timing on xc7a35t</a:t>
            </a:r>
          </a:p>
        </p:txBody>
      </p:sp>
      <p:sp>
        <p:nvSpPr>
          <p:cNvPr id="22" name="TextBox 21"/>
          <p:cNvSpPr txBox="1"/>
          <p:nvPr/>
        </p:nvSpPr>
        <p:spPr>
          <a:xfrm>
            <a:off x="6858000" y="425196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20 LUTs, 20 flip-flops · 200 MHz met, 1.996 ns slack</a:t>
            </a:r>
          </a:p>
        </p:txBody>
      </p:sp>
      <p:sp>
        <p:nvSpPr>
          <p:cNvPr id="23" name="TextBox 22"/>
          <p:cNvSpPr txBox="1"/>
          <p:nvPr/>
        </p:nvSpPr>
        <p:spPr>
          <a:xfrm>
            <a:off x="640080" y="481888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Python · NumPy</a:t>
            </a:r>
          </a:p>
        </p:txBody>
      </p:sp>
      <p:sp>
        <p:nvSpPr>
          <p:cNvPr id="24" name="TextBox 23"/>
          <p:cNvSpPr txBox="1"/>
          <p:nvPr/>
        </p:nvSpPr>
        <p:spPr>
          <a:xfrm>
            <a:off x="3520440" y="481888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sweep orchestration and the decomposition</a:t>
            </a:r>
          </a:p>
        </p:txBody>
      </p:sp>
      <p:sp>
        <p:nvSpPr>
          <p:cNvPr id="25" name="TextBox 24"/>
          <p:cNvSpPr txBox="1"/>
          <p:nvPr/>
        </p:nvSpPr>
        <p:spPr>
          <a:xfrm>
            <a:off x="6858000" y="481888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720 words × 36 corners · (A) 26.5 % vs (B) 2.6 %</a:t>
            </a:r>
          </a:p>
        </p:txBody>
      </p:sp>
      <p:sp>
        <p:nvSpPr>
          <p:cNvPr id="26" name="TextBox 25"/>
          <p:cNvSpPr txBox="1"/>
          <p:nvPr/>
        </p:nvSpPr>
        <p:spPr>
          <a:xfrm>
            <a:off x="640080" y="5550408"/>
            <a:ext cx="10972800" cy="54864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 number rests on one tool. </a:t>
            </a:r>
            <a:r>
              <a:rPr lang="en-US" sz="1250" dirty="0">
                <a:solidFill>
                  <a:srgbClr val="000000"/>
                </a:solidFill>
                <a:latin typeface="Calibri" pitchFamily="34" charset="0"/>
                <a:ea typeface="Calibri" pitchFamily="34" charset="-122"/>
                <a:cs typeface="Calibri" pitchFamily="34" charset="-120"/>
              </a:rPr>
              <a:t xml:space="preserve">Every headline figure was produced in one program and checked in another — SPICE against SPICE, MATLAB against Octave, yosys against Vivado.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8</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15</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models/zhangdrv.lib implements Zhang et al.'s segmented driver — seven slices brought in as a timed pattern across the switching edge, the pattern selected by one bias resistor,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seven-slice pattern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constant code is worse than their staged pattern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6.3× the base paper's best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stages its slices in TIME and picks the pattern with one resistor; we add two actuators it does not have and make every field programmable. Both clear the threshold — theirs works, and we quote it at the best setting in its own stated range — but ours clears it by 6.3×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the synthesis report itself</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vivado.png"/>
          <p:cNvPicPr>
            <a:picLocks noChangeAspect="1"/>
          </p:cNvPicPr>
          <p:nvPr/>
        </p:nvPicPr>
        <p:blipFill>
          <a:blip r:embed="rId4"/>
          <a:stretch>
            <a:fillRect/>
          </a:stretch>
        </p:blipFill>
        <p:spPr>
          <a:xfrm>
            <a:off x="685800" y="1325880"/>
            <a:ext cx="10283174" cy="4434840"/>
          </a:xfrm>
          <a:prstGeom prst="rect">
            <a:avLst/>
          </a:prstGeom>
        </p:spPr>
      </p:pic>
      <p:sp>
        <p:nvSpPr>
          <p:cNvPr id="6" name="TextBox 5"/>
          <p:cNvSpPr txBox="1"/>
          <p:nvPr/>
        </p:nvSpPr>
        <p:spPr>
          <a:xfrm>
            <a:off x="685800" y="5989320"/>
            <a:ext cx="1078992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Run by a colleague on Windows — Vivado has no macOS build. </a:t>
            </a:r>
            <a:r>
              <a:rPr lang="en-US" sz="1200" dirty="0">
                <a:solidFill>
                  <a:srgbClr val="000000"/>
                </a:solidFill>
                <a:latin typeface="Calibri" pitchFamily="34" charset="0"/>
                <a:ea typeface="Calibri" pitchFamily="34" charset="-122"/>
                <a:cs typeface="Calibri" pitchFamily="34" charset="-120"/>
              </a:rPr>
              <a:t xml:space="preserve">Both reports are committed in rtl/vivado/build/.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720-point control word, and an exhaustive search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well beats adapting — and by how much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04</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Where this goes</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The deliverable, the limits, and Review-II</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