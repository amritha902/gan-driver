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7" r:id="rId18"/>
    <p:sldId id="281" r:id="rId32"/>
    <p:sldId id="261" r:id="rId7"/>
    <p:sldId id="274" r:id="rId25"/>
    <p:sldId id="279" r:id="rId30"/>
    <p:sldId id="277" r:id="rId28"/>
    <p:sldId id="278" r:id="rId29"/>
    <p:sldId id="282" r:id="rId33"/>
    <p:sldId id="262" r:id="rId8"/>
    <p:sldId id="272" r:id="rId23"/>
    <p:sldId id="273" r:id="rId24"/>
    <p:sldId id="263" r:id="rId9"/>
    <p:sldId id="280" r:id="rId31"/>
    <p:sldId id="275" r:id="rId26"/>
    <p:sldId id="276" r:id="rId27"/>
    <p:sldId id="264" r:id="rId10"/>
    <p:sldId id="268" r:id="rId19"/>
    <p:sldId id="269" r:id="rId20"/>
    <p:sldId id="270" r:id="rId21"/>
    <p:sldId id="271" r:id="rId22"/>
    <p:sldId id="265" r:id="rId11"/>
    <p:sldId id="283" r:id="rId34"/>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9144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828032"/>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In a GaN half-bridge the dV/dt of one device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meant to be off. With a threshold near 1.4 V the spurious pulse can exceed it and turn that device partially on — shoot-through, extra loss, and at worst destruction.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switching core of EV and HEV traction inverters, on-board chargers and high-density server supplies, where the whole reason to choose GaN is to switch faster — which is exactly what makes this failure mode worse.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Negative off-bias is uniquely expensive on GaN: with no body diode the reverse drop is V</a:t>
            </a:r>
            <a:r>
              <a:rPr lang="en-US" sz="1500" dirty="0">
                <a:solidFill>
                  <a:srgbClr val="000000"/>
                </a:solidFill>
                <a:latin typeface="Calibri" pitchFamily="34" charset="0"/>
                <a:ea typeface="Calibri" pitchFamily="34" charset="-122"/>
                <a:cs typeface="Calibri" pitchFamily="34" charset="-120"/>
              </a:rPr>
              <a:t xml:space="preserve">th</a:t>
            </a:r>
            <a:r>
              <a:rPr lang="en-US" sz="1500" dirty="0">
                <a:solidFill>
                  <a:srgbClr val="000000"/>
                </a:solidFill>
                <a:latin typeface="Calibri" pitchFamily="34" charset="0"/>
                <a:ea typeface="Calibri" pitchFamily="34" charset="-122"/>
                <a:cs typeface="Calibri" pitchFamily="34" charset="-120"/>
              </a:rPr>
              <a:t xml:space="preserve"> + I·R + |V</a:t>
            </a:r>
            <a:r>
              <a:rPr lang="en-US" sz="1500" dirty="0">
                <a:solidFill>
                  <a:srgbClr val="000000"/>
                </a:solidFill>
                <a:latin typeface="Calibri" pitchFamily="34" charset="0"/>
                <a:ea typeface="Calibri" pitchFamily="34" charset="-122"/>
                <a:cs typeface="Calibri" pitchFamily="34" charset="-120"/>
              </a:rPr>
              <a:t xml:space="preserve">GS,off</a:t>
            </a:r>
            <a:r>
              <a:rPr lang="en-US" sz="1500" dirty="0">
                <a:solidFill>
                  <a:srgbClr val="000000"/>
                </a:solidFill>
                <a:latin typeface="Calibri" pitchFamily="34" charset="0"/>
                <a:ea typeface="Calibri" pitchFamily="34" charset="-122"/>
                <a:cs typeface="Calibri" pitchFamily="34" charset="-120"/>
              </a:rPr>
              <a:t xml:space="preserve">|, so each volt of margin is paid for again across the dead time.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with segmented drive strength, Miller clamps, programmable dead time and negative off-bias [1]–[4]. Closed-loop designs adapt to the operating point and report large gains — 30.5 % less overshoot, 75 % less turn-off loss — against a conventional driver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 published work has ever measured what the adaptation is worth.</a:t>
            </a:r>
            <a:r>
              <a:rPr lang="en-US" sz="1500" dirty="0">
                <a:solidFill>
                  <a:srgbClr val="000000"/>
                </a:solidFill>
                <a:latin typeface="Calibri" pitchFamily="34" charset="0"/>
                <a:ea typeface="Calibri" pitchFamily="34" charset="-122"/>
                <a:cs typeface="Calibri" pitchFamily="34" charset="-120"/>
              </a:rPr>
              <a:t xml:space="preserve"> Those gains bundle </a:t>
            </a:r>
            <a:r>
              <a:rPr lang="en-US" sz="1500" b="1" dirty="0">
                <a:solidFill>
                  <a:srgbClr val="000000"/>
                </a:solidFill>
                <a:latin typeface="Calibri" pitchFamily="34" charset="0"/>
                <a:ea typeface="Calibri" pitchFamily="34" charset="-122"/>
                <a:cs typeface="Calibri" pitchFamily="34" charset="-120"/>
              </a:rPr>
              <a:t xml:space="preserve">choosing better fixed settings</a:t>
            </a:r>
            <a:r>
              <a:rPr lang="en-US" sz="1500" dirty="0">
                <a:solidFill>
                  <a:srgbClr val="000000"/>
                </a:solidFill>
                <a:latin typeface="Calibri" pitchFamily="34" charset="0"/>
                <a:ea typeface="Calibri" pitchFamily="34" charset="-122"/>
                <a:cs typeface="Calibri" pitchFamily="34" charset="-120"/>
              </a:rPr>
              <a:t xml:space="preserve"> with </a:t>
            </a:r>
            <a:r>
              <a:rPr lang="en-US" sz="1500" b="1" dirty="0">
                <a:solidFill>
                  <a:srgbClr val="000000"/>
                </a:solidFill>
                <a:latin typeface="Calibri" pitchFamily="34" charset="0"/>
                <a:ea typeface="Calibri" pitchFamily="34" charset="-122"/>
                <a:cs typeface="Calibri" pitchFamily="34" charset="-120"/>
              </a:rPr>
              <a:t xml:space="preserve">adapting settings per operating point</a:t>
            </a:r>
            <a:r>
              <a:rPr lang="en-US" sz="1500" dirty="0">
                <a:solidFill>
                  <a:srgbClr val="000000"/>
                </a:solidFill>
                <a:latin typeface="Calibri" pitchFamily="34" charset="0"/>
                <a:ea typeface="Calibri" pitchFamily="34" charset="-122"/>
                <a:cs typeface="Calibri" pitchFamily="34" charset="-120"/>
              </a:rPr>
              <a:t xml:space="preserve">. Only the second needs sensing, a lookup table and a controller — the cost that justifies the architecture, and the one nobody has priced.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Landscape — four clusters, and where we sit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61188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1050" b="0">
                          <a:solidFill>
                            <a:srgbClr val="000000"/>
                          </a:solidFill>
                          <a:latin typeface="Calibri"/>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Cluster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Refs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2">
                  <a:txBody>
                    <a:bodyPr wrap="square"/>
                    <a:lstStyle/>
                    <a:p>
                      <a:pPr marL="0" indent="0">
                        <a:buNone/>
                      </a:pPr>
                      <a:r>
                        <a:rPr sz="1050" b="0">
                          <a:solidFill>
                            <a:srgbClr val="000000"/>
                          </a:solidFill>
                          <a:latin typeface="Calibri"/>
                        </a:rPr>
                        <a:t>What the cluster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22960">
                <a:tc>
                  <a:txBody>
                    <a:bodyPr wrap="square"/>
                    <a:lstStyle/>
                    <a:p>
                      <a:pPr marL="0" indent="0">
                        <a:buNone/>
                      </a:pPr>
                      <a:r>
                        <a:rPr sz="1050" b="0">
                          <a:solidFill>
                            <a:srgbClr val="000000"/>
                          </a:solidFill>
                          <a:latin typeface="Calibri"/>
                        </a:rPr>
                        <a:t>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A · Passive / analogue crosstalk fixes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[1] [3] [4] [11] [12]</a:t>
                      </a:r>
                      <a:endParaRPr lang="en-US" sz="1300" dirty="0">
                        <a:latin typeface="Calibri" charset="0"/>
                        <a:ea typeface="Calibri" charset="0"/>
                        <a:cs typeface="Calibri" charset="0"/>
                      </a:endParaRPr>
                    </a:p>
                    <a:p>
                      <a:r>
                        <a:rPr sz="1050" b="0">
                          <a:solidFill>
                            <a:srgbClr val="000000"/>
                          </a:solidFill>
                          <a:latin typeface="Calibri"/>
                        </a:rPr>
                        <a:t>[14]–[19]</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Negative off-bias, RC-diode rails, three-level drive, Miller clamps. Cheap and effective, but the setting is chosen once by hand and never revisited.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wrap="square"/>
                    <a:lstStyle/>
                    <a:p>
                      <a:pPr marL="0" indent="0">
                        <a:buNone/>
                      </a:pPr>
                      <a:r>
                        <a:rPr sz="1050" b="0">
                          <a:solidFill>
                            <a:srgbClr val="000000"/>
                          </a:solidFill>
                          <a:latin typeface="Calibri"/>
                        </a:rPr>
                        <a:t>B</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B · Closed-loop analogue adaptation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[5] [6] [7]</a:t>
                      </a:r>
                      <a:endParaRPr lang="en-US" sz="1300" dirty="0">
                        <a:latin typeface="Calibri" charset="0"/>
                        <a:ea typeface="Calibri" charset="0"/>
                        <a:cs typeface="Calibri" charset="0"/>
                      </a:endParaRPr>
                    </a:p>
                    <a:p>
                      <a:r>
                        <a:rPr sz="1050" b="0">
                          <a:solidFill>
                            <a:srgbClr val="000000"/>
                          </a:solidFill>
                          <a:latin typeface="Calibri"/>
                        </a:rPr>
                        <a:t>[20]–[24]</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Sense the operating point, regulate drive strength or timing in the loop. Reports large gains — 30.5 % less overshoot, 75 % less turn-off loss — against a conventional driver.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wrap="square"/>
                    <a:lstStyle/>
                    <a:p>
                      <a:pPr marL="0" indent="0">
                        <a:buNone/>
                      </a:pPr>
                      <a:r>
                        <a:rPr sz="1050" b="0">
                          <a:solidFill>
                            <a:srgbClr val="000000"/>
                          </a:solidFill>
                          <a:latin typeface="Calibri"/>
                        </a:rPr>
                        <a:t>C</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C · Adaptive dead-time control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[8] [13]</a:t>
                      </a:r>
                      <a:endParaRPr lang="en-US" sz="1300" dirty="0">
                        <a:latin typeface="Calibri" charset="0"/>
                        <a:ea typeface="Calibri" charset="0"/>
                        <a:cs typeface="Calibri" charset="0"/>
                      </a:endParaRPr>
                    </a:p>
                    <a:p>
                      <a:r>
                        <a:rPr sz="1050" b="0">
                          <a:solidFill>
                            <a:srgbClr val="000000"/>
                          </a:solidFill>
                          <a:latin typeface="Calibri"/>
                        </a:rPr>
                        <a:t>[25] [26]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Dead time driven to sub-nanosecond across load. The one field our own freeze test finds actually carries the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wrap="square"/>
                    <a:lstStyle/>
                    <a:p>
                      <a:pPr marL="0" indent="0">
                        <a:buNone/>
                      </a:pPr>
                      <a:r>
                        <a:rPr sz="1050" b="0">
                          <a:solidFill>
                            <a:srgbClr val="000000"/>
                          </a:solidFill>
                          <a:latin typeface="Calibri"/>
                        </a:rPr>
                        <a:t>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D · DIGITAL / segmented drive  — where this project sits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[9] BASE   [10]</a:t>
                      </a:r>
                      <a:endParaRPr lang="en-US" sz="1300" dirty="0">
                        <a:latin typeface="Calibri" charset="0"/>
                        <a:ea typeface="Calibri" charset="0"/>
                        <a:cs typeface="Calibri" charset="0"/>
                      </a:endParaRPr>
                    </a:p>
                    <a:p>
                      <a:r>
                        <a:rPr sz="1050" b="0">
                          <a:solidFill>
                            <a:srgbClr val="000000"/>
                          </a:solidFill>
                          <a:latin typeface="Calibri"/>
                        </a:rPr>
                        <a:t>[27]–[30]</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The gate waveform selected by a multibit CODE rather than a resistor network. [9] is the BASE PAPER — doi.org/10.1002/cta.3136 — and [10] is the closest GaN implementation. Digital means FPGA-implementable, and the code space can be searched exhaustively.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30 references, all publisher-verified, grouped by what the driver DOES. Clusters A–C set or regulate in analogue; only cluster D makes the setting a digital CODE — which is what makes an exhaustive search possible at 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069848" y="1207008"/>
            <a:ext cx="10058400" cy="4800600"/>
          </a:xfrm>
          <a:prstGeom prst="rect">
            <a:avLst/>
          </a:prstGeom>
        </p:spPr>
      </p:pic>
      <p:sp>
        <p:nvSpPr>
          <p:cNvPr id="6" name="TextBox 5"/>
          <p:cNvSpPr txBox="1"/>
          <p:nvPr/>
        </p:nvSpPr>
        <p:spPr>
          <a:xfrm>
            <a:off x="640080" y="6089904"/>
            <a:ext cx="10881360" cy="347472"/>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Solid blocks are configured once at power-up. The dashed block — sensing, ADC and lookup table — is the adaptive machinery this project exists to price.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Crosstalk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Fastest drive, no clamp: spurious gate peak </a:t>
            </a:r>
            <a:r>
              <a:rPr lang="en-US" sz="1500" b="1" dirty="0">
                <a:solidFill>
                  <a:srgbClr val="000000"/>
                </a:solidFill>
                <a:latin typeface="Calibri" pitchFamily="34" charset="0"/>
                <a:ea typeface="Calibri" pitchFamily="34" charset="-122"/>
                <a:cs typeface="Calibri" pitchFamily="34" charset="-120"/>
              </a:rPr>
              <a:t xml:space="preserve">1.65 V</a:t>
            </a:r>
            <a:r>
              <a:rPr lang="en-US" sz="1500" dirty="0">
                <a:solidFill>
                  <a:srgbClr val="000000"/>
                </a:solidFill>
                <a:latin typeface="Calibri" pitchFamily="34" charset="0"/>
                <a:ea typeface="Calibri" pitchFamily="34" charset="-122"/>
                <a:cs typeface="Calibri" pitchFamily="34" charset="-120"/>
              </a:rPr>
              <a:t xml:space="preserve"> against a 1.4 V threshold — false turn-on, the failure this project exists to remove. Miller clamp on with −2 V off-bias: </a:t>
            </a:r>
            <a:r>
              <a:rPr lang="en-US" sz="1500" b="1" dirty="0">
                <a:solidFill>
                  <a:srgbClr val="000000"/>
                </a:solidFill>
                <a:latin typeface="Calibri" pitchFamily="34" charset="0"/>
                <a:ea typeface="Calibri" pitchFamily="34" charset="-122"/>
                <a:cs typeface="Calibri" pitchFamily="34" charset="-120"/>
              </a:rPr>
              <a:t xml:space="preserve">−1.18 V</a:t>
            </a:r>
            <a:r>
              <a:rPr lang="en-US" sz="1500" dirty="0">
                <a:solidFill>
                  <a:srgbClr val="000000"/>
                </a:solidFill>
                <a:latin typeface="Calibri" pitchFamily="34" charset="0"/>
                <a:ea typeface="Calibri" pitchFamily="34" charset="-122"/>
                <a:cs typeface="Calibri" pitchFamily="34" charset="-120"/>
              </a:rPr>
              <a:t xml:space="preserve">, a 2.58 V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full exhaustive search is done.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control words at each of four corners (50–200 V, 2–10 A, 25–125 °C) = 2,880 transients, plus 1,511 over a 36-point operating grid.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result has been stress-tested.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perturbing five device-model parameters; the ceiling holds between 4.3 % and 7.7 % against every one of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Both objections to the result have been tested, not argued.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Loop inductance (7,192 transients, eight values): adaptive control pays below ~2.5 nH, peaking at 13.5 %. EMI (1,440 transients): pricing it makes scheduling worth </a:t>
            </a:r>
            <a:r>
              <a:rPr lang="en-US" sz="1500" b="1" dirty="0">
                <a:solidFill>
                  <a:srgbClr val="000000"/>
                </a:solidFill>
                <a:latin typeface="Calibri" pitchFamily="34" charset="0"/>
                <a:ea typeface="Calibri" pitchFamily="34" charset="-122"/>
                <a:cs typeface="Calibri" pitchFamily="34" charset="-120"/>
              </a:rPr>
              <a:t xml:space="preserve">less</a:t>
            </a:r>
            <a:r>
              <a:rPr lang="en-US" sz="1500" dirty="0">
                <a:solidFill>
                  <a:srgbClr val="000000"/>
                </a:solidFill>
                <a:latin typeface="Calibri" pitchFamily="34" charset="0"/>
                <a:ea typeface="Calibri" pitchFamily="34" charset="-122"/>
                <a:cs typeface="Calibri" pitchFamily="34" charset="-120"/>
              </a:rPr>
              <a:t xml:space="preserve">, not more — 5.95 % → 0.15 %.</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LTspice port has been run in LTspice.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three shipped .cir files give 1.6487 / 0.8282 / −1.1768 V in LTspice 24, matching ngspice within 2 mV — the result is not an artefact of one simulator. Spectre remains a port.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 a 34-section written record, and a full manuscript draft with five tables and four figures.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24, in which the port was re-run · Icarus Verilog (RTL, 8 asserted properties) · Xilinx Vivado (export written) · Cadence Spectre / OCEAN · SKY130 PDK (BSIM4) · Python / NumPy / Matplotlib · MATLAB Online,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the study's own result built into the hardware, since dead time is worth 5.45 % to schedule (carried by the light-load corner alone) and pull-up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Reset lands on the safest word, not the fastest.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pass under Icarus; a shoot-through mutant is caught 221×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Synthesised to Artix-7 primitives. </a:t>
            </a:r>
            <a:r>
              <a:rPr lang="en-US" sz="1500" dirty="0">
                <a:solidFill>
                  <a:srgbClr val="000000"/>
                </a:solidFill>
                <a:latin typeface="Calibri" pitchFamily="34" charset="0"/>
                <a:ea typeface="Calibri" pitchFamily="34" charset="-122"/>
                <a:cs typeface="Calibri" pitchFamily="34" charset="-120"/>
              </a:rPr>
              <a:t xml:space="preserve">Strapping the word instead of leaving all six fields live takes the controller from </a:t>
            </a:r>
            <a:r>
              <a:rPr lang="en-US" sz="1500" b="1" dirty="0">
                <a:solidFill>
                  <a:srgbClr val="000000"/>
                </a:solidFill>
                <a:latin typeface="Calibri" pitchFamily="34" charset="0"/>
                <a:ea typeface="Calibri" pitchFamily="34" charset="-122"/>
                <a:cs typeface="Calibri" pitchFamily="34" charset="-120"/>
              </a:rPr>
              <a:t xml:space="preserve">53 LUTs to 27</a:t>
            </a:r>
            <a:r>
              <a:rPr lang="en-US" sz="1500" dirty="0">
                <a:solidFill>
                  <a:srgbClr val="000000"/>
                </a:solidFill>
                <a:latin typeface="Calibri" pitchFamily="34" charset="0"/>
                <a:ea typeface="Calibri" pitchFamily="34" charset="-122"/>
                <a:cs typeface="Calibri" pitchFamily="34" charset="-120"/>
              </a:rPr>
              <a:t xml:space="preserve"> (33 FFs to 25) — half the fabric for the 3.9 % adaptation buys. yosys synth_xilinx; Vivado itself needs Windows/Linux, so no place-and-route or timing yet.</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154680"/>
            <a:ext cx="4526280" cy="3108960"/>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(22 s). Real ngspice waveforms from sim/dpt.cir, run twice — only the pacing and the captions are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TOP row: the switch node. The low-side device turns on and V(sw) collapses from 100 V in a few nanoseconds. That slew is the cause.</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BOTTOM row: the OFF device's gate. The dV/dt couples through C</a:t>
            </a:r>
            <a:r>
              <a:rPr lang="en-US" sz="1250" dirty="0">
                <a:solidFill>
                  <a:srgbClr val="000000"/>
                </a:solidFill>
                <a:latin typeface="Calibri" pitchFamily="34" charset="0"/>
                <a:ea typeface="Calibri" pitchFamily="34" charset="-122"/>
                <a:cs typeface="Calibri" pitchFamily="34" charset="-120"/>
              </a:rPr>
              <a:t xml:space="preserve">GD</a:t>
            </a:r>
            <a:r>
              <a:rPr lang="en-US" sz="1250" dirty="0">
                <a:solidFill>
                  <a:srgbClr val="000000"/>
                </a:solidFill>
                <a:latin typeface="Calibri" pitchFamily="34" charset="0"/>
                <a:ea typeface="Calibri" pitchFamily="34" charset="-122"/>
                <a:cs typeface="Calibri" pitchFamily="34" charset="-120"/>
              </a:rPr>
              <a:t xml:space="preserve"> and lifts it.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LEFT, failing: the gate reaches </a:t>
            </a:r>
            <a:r>
              <a:rPr lang="en-US" sz="1250" b="1" dirty="0">
                <a:solidFill>
                  <a:srgbClr val="000000"/>
                </a:solidFill>
                <a:latin typeface="Calibri" pitchFamily="34" charset="0"/>
                <a:ea typeface="Calibri" pitchFamily="34" charset="-122"/>
                <a:cs typeface="Calibri" pitchFamily="34" charset="-120"/>
              </a:rPr>
              <a:t xml:space="preserve">+1.65 V</a:t>
            </a:r>
            <a:r>
              <a:rPr lang="en-US" sz="1250" dirty="0">
                <a:solidFill>
                  <a:srgbClr val="000000"/>
                </a:solidFill>
                <a:latin typeface="Calibri" pitchFamily="34" charset="0"/>
                <a:ea typeface="Calibri" pitchFamily="34" charset="-122"/>
                <a:cs typeface="Calibri" pitchFamily="34" charset="-120"/>
              </a:rPr>
              <a:t xml:space="preserve"> — above the 1.4 V threshold drawn on the plot. The device turns on when it must not.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RIGHT, shipped: same circuit, same word, plus the Miller clamp and −2 V off-bias. Peak </a:t>
            </a:r>
            <a:r>
              <a:rPr lang="en-US" sz="1250" b="1" dirty="0">
                <a:solidFill>
                  <a:srgbClr val="000000"/>
                </a:solidFill>
                <a:latin typeface="Calibri" pitchFamily="34" charset="0"/>
                <a:ea typeface="Calibri" pitchFamily="34" charset="-122"/>
                <a:cs typeface="Calibri" pitchFamily="34" charset="-120"/>
              </a:rPr>
              <a:t xml:space="preserve">−1.18 V</a:t>
            </a:r>
            <a:r>
              <a:rPr lang="en-US" sz="1250" dirty="0">
                <a:solidFill>
                  <a:srgbClr val="000000"/>
                </a:solidFill>
                <a:latin typeface="Calibri" pitchFamily="34" charset="0"/>
                <a:ea typeface="Calibri" pitchFamily="34" charset="-122"/>
                <a:cs typeface="Calibri" pitchFamily="34" charset="-120"/>
              </a:rPr>
              <a:t xml:space="preserve">,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Both panels are the same simulation deck; only CLKEN and VNEG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has now been run: the three shipped .cir files reproduce 1.6487 / 0.8282 / −1.1768 V, matching ngspice to within 2 mV. Spectre is still a port — no installation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180"/>
              </a:spcAft>
              <a:buSzPct val="100000"/>
              <a:buChar char="•"/>
            </a:pPr>
            <a:r>
              <a:rPr lang="en-US" sz="1450" dirty="0">
                <a:solidFill>
                  <a:srgbClr val="000000"/>
                </a:solidFill>
                <a:latin typeface="Calibri" pitchFamily="34" charset="0"/>
                <a:ea typeface="Calibri" pitchFamily="34" charset="-122"/>
                <a:cs typeface="Calibri" pitchFamily="34" charset="-120"/>
              </a:rPr>
              <a:t xml:space="preserve">Choosing the control word well matters enormously — it spans roughly fivefold in switching energy. </a:t>
            </a:r>
            <a:r>
              <a:rPr lang="en-US" sz="1450" b="1" dirty="0">
                <a:solidFill>
                  <a:srgbClr val="000000"/>
                </a:solidFill>
                <a:latin typeface="Calibri" pitchFamily="34" charset="0"/>
                <a:ea typeface="Calibri" pitchFamily="34" charset="-122"/>
                <a:cs typeface="Calibri" pitchFamily="34" charset="-120"/>
              </a:rPr>
              <a:t xml:space="preserve">Adapting it to the operating point does not: 3.9 %, a seventh of the total gain, and one comparator takes 72 % of even that.</a:t>
            </a:r>
          </a:p>
          <a:p>
            <a:pPr marL="177800" indent="-177800">
              <a:spcAft>
                <a:spcPts val="180"/>
              </a:spcAft>
              <a:buSzPct val="100000"/>
              <a:buChar char="•"/>
            </a:pPr>
            <a:r>
              <a:rPr lang="en-US" sz="1400" dirty="0">
                <a:solidFill>
                  <a:srgbClr val="000000"/>
                </a:solidFill>
                <a:latin typeface="Calibri" pitchFamily="34" charset="0"/>
                <a:ea typeface="Calibri" pitchFamily="34" charset="-122"/>
                <a:cs typeface="Calibri" pitchFamily="34" charset="-120"/>
              </a:rPr>
              <a:t xml:space="preserve">The benefit that exists is carried by the </a:t>
            </a:r>
            <a:r>
              <a:rPr lang="en-US" sz="1400" b="1" dirty="0">
                <a:solidFill>
                  <a:srgbClr val="000000"/>
                </a:solidFill>
                <a:latin typeface="Calibri" pitchFamily="34" charset="0"/>
                <a:ea typeface="Calibri" pitchFamily="34" charset="-122"/>
                <a:cs typeface="Calibri" pitchFamily="34" charset="-120"/>
              </a:rPr>
              <a:t xml:space="preserve">dead time</a:t>
            </a:r>
            <a:r>
              <a:rPr lang="en-US" sz="1400" dirty="0">
                <a:solidFill>
                  <a:srgbClr val="000000"/>
                </a:solidFill>
                <a:latin typeface="Calibri" pitchFamily="34" charset="0"/>
                <a:ea typeface="Calibri" pitchFamily="34" charset="-122"/>
                <a:cs typeface="Calibri" pitchFamily="34" charset="-120"/>
              </a:rPr>
              <a:t xml:space="preserve"> — and the dead time, in turn, by the </a:t>
            </a:r>
            <a:r>
              <a:rPr lang="en-US" sz="1400" b="1" dirty="0">
                <a:solidFill>
                  <a:srgbClr val="000000"/>
                </a:solidFill>
                <a:latin typeface="Calibri" pitchFamily="34" charset="0"/>
                <a:ea typeface="Calibri" pitchFamily="34" charset="-122"/>
                <a:cs typeface="Calibri" pitchFamily="34" charset="-120"/>
              </a:rPr>
              <a:t xml:space="preserve">light-load corner alone</a:t>
            </a:r>
            <a:r>
              <a:rPr lang="en-US" sz="1400" dirty="0">
                <a:solidFill>
                  <a:srgbClr val="000000"/>
                </a:solidFill>
                <a:latin typeface="Calibri" pitchFamily="34" charset="0"/>
                <a:ea typeface="Calibri" pitchFamily="34" charset="-122"/>
                <a:cs typeface="Calibri" pitchFamily="34" charset="-120"/>
              </a:rPr>
              <a:t xml:space="preserve">: leave it out and freezing dead time costs 0.00 %. Not by the drive-strength segmentation that motivates the hardware, which stays at 0.00 % even when the objective prices EMI. Crosstalk safety is nearly free once the clamp is present.</a:t>
            </a:r>
          </a:p>
          <a:p>
            <a:pPr marL="177800" indent="-177800">
              <a:spcAft>
                <a:spcPts val="26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Stated positively — and this is the deliverable, not the percentage: </a:t>
            </a:r>
            <a:r>
              <a:rPr lang="en-US" sz="1450" dirty="0">
                <a:solidFill>
                  <a:srgbClr val="000000"/>
                </a:solidFill>
                <a:latin typeface="Calibri" pitchFamily="34" charset="0"/>
                <a:ea typeface="Calibri" pitchFamily="34" charset="-122"/>
                <a:cs typeface="Calibri" pitchFamily="34" charset="-120"/>
              </a:rPr>
              <a:t xml:space="preserve">use the recommended fixed word with a light-load comparator, and the full sense + ADC + lookup table is left justifying 3.7 % of the achievable gain.</a:t>
            </a:r>
          </a:p>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now answers, and what is next</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The EMI objection is now tested rather than conceded.</a:t>
            </a:r>
            <a:r>
              <a:rPr lang="en-US" sz="1450" dirty="0">
                <a:solidFill>
                  <a:srgbClr val="000000"/>
                </a:solidFill>
                <a:latin typeface="Calibri" pitchFamily="34" charset="0"/>
                <a:ea typeface="Calibri" pitchFamily="34" charset="-122"/>
                <a:cs typeface="Calibri" pitchFamily="34" charset="-120"/>
              </a:rPr>
              <a:t xml:space="preserve"> Re-running the full search under objectives that price turn-on slew rate, and again under 30–500 MHz band energy, makes scheduling worth </a:t>
            </a:r>
            <a:r>
              <a:rPr lang="en-US" sz="1450" b="1" dirty="0">
                <a:solidFill>
                  <a:srgbClr val="000000"/>
                </a:solidFill>
                <a:latin typeface="Calibri" pitchFamily="34" charset="0"/>
                <a:ea typeface="Calibri" pitchFamily="34" charset="-122"/>
                <a:cs typeface="Calibri" pitchFamily="34" charset="-120"/>
              </a:rPr>
              <a:t xml:space="preserve">less</a:t>
            </a:r>
            <a:r>
              <a:rPr lang="en-US" sz="1450" dirty="0">
                <a:solidFill>
                  <a:srgbClr val="000000"/>
                </a:solidFill>
                <a:latin typeface="Calibri" pitchFamily="34" charset="0"/>
                <a:ea typeface="Calibri" pitchFamily="34" charset="-122"/>
                <a:cs typeface="Calibri" pitchFamily="34" charset="-120"/>
              </a:rPr>
              <a:t xml:space="preserve">, not more: 5.95 % falls to 0.15 %. Pull-up strength still does not need scheduling — it needs a different fixed value.</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What it does not support.</a:t>
            </a:r>
            <a:r>
              <a:rPr lang="en-US" sz="1450" dirty="0">
                <a:solidFill>
                  <a:srgbClr val="000000"/>
                </a:solidFill>
                <a:latin typeface="Calibri" pitchFamily="34" charset="0"/>
                <a:ea typeface="Calibri" pitchFamily="34" charset="-122"/>
                <a:cs typeface="Calibri" pitchFamily="34" charset="-120"/>
              </a:rPr>
              <a:t xml:space="preserve"> Which EMI measure a designer should price is unsettled, and the two disagree: under band energy freezing pull-up costs 0.00 % at every weight, under slew rate up to 2.27 % in a narrow transition band. No silicon has been measured, and one device model underlies everything.</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Review-II: </a:t>
            </a:r>
            <a:r>
              <a:rPr lang="en-US" sz="1450" dirty="0">
                <a:solidFill>
                  <a:srgbClr val="000000"/>
                </a:solidFill>
                <a:latin typeface="Calibri" pitchFamily="34" charset="0"/>
                <a:ea typeface="Calibri" pitchFamily="34" charset="-122"/>
                <a:cs typeface="Calibri" pitchFamily="34" charset="-120"/>
              </a:rPr>
              <a:t xml:space="preserve">transistor-level output stage in Cadence on a 5 V-capable PDK; re-run the ceiling on real devices — sub-nanosecond dead-time control needs silicon, not fabric: [13] reaches 0.19 ns where a 200 MHz FPGA grid is 5 ns. </a:t>
            </a:r>
            <a:r>
              <a:rPr lang="en-US" sz="1450" b="1" dirty="0">
                <a:solidFill>
                  <a:srgbClr val="000000"/>
                </a:solidFill>
                <a:latin typeface="Calibri" pitchFamily="34" charset="0"/>
                <a:ea typeface="Calibri" pitchFamily="34" charset="-122"/>
                <a:cs typeface="Calibri" pitchFamily="34" charset="-120"/>
              </a:rPr>
              <a:t xml:space="preserve">Review-III: </a:t>
            </a:r>
            <a:r>
              <a:rPr lang="en-US" sz="1450" dirty="0">
                <a:solidFill>
                  <a:srgbClr val="000000"/>
                </a:solidFill>
                <a:latin typeface="Calibri" pitchFamily="34" charset="0"/>
                <a:ea typeface="Calibri" pitchFamily="34" charset="-122"/>
                <a:cs typeface="Calibri" pitchFamily="34" charset="-120"/>
              </a:rPr>
              <a:t xml:space="preserve">measure a hardware half-bridge at one corner — until then this is a simulation study and is titled as one.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256032"/>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8 asserted properties, mutation-tested</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pareto_matlab.png"/>
          <p:cNvPicPr>
            <a:picLocks noChangeAspect="1"/>
          </p:cNvPicPr>
          <p:nvPr/>
        </p:nvPicPr>
        <p:blipFill>
          <a:blip r:embed="rId3"/>
          <a:stretch>
            <a:fillRect/>
          </a:stretch>
        </p:blipFill>
        <p:spPr>
          <a:xfrm>
            <a:off x="548640" y="1188720"/>
            <a:ext cx="4444977" cy="3337560"/>
          </a:xfrm>
          <a:prstGeom prst="rect">
            <a:avLst/>
          </a:prstGeom>
        </p:spPr>
      </p:pic>
      <p:pic>
        <p:nvPicPr>
          <p:cNvPr id="6" name="Picture 5" descr="crosstalk_model_matlab.png"/>
          <p:cNvPicPr>
            <a:picLocks noChangeAspect="1"/>
          </p:cNvPicPr>
          <p:nvPr/>
        </p:nvPicPr>
        <p:blipFill>
          <a:blip r:embed="rId4"/>
          <a:stretch>
            <a:fillRect/>
          </a:stretch>
        </p:blipFill>
        <p:spPr>
          <a:xfrm>
            <a:off x="6355080" y="1188720"/>
            <a:ext cx="4444977" cy="3337560"/>
          </a:xfrm>
          <a:prstGeom prst="rect">
            <a:avLst/>
          </a:prstGeom>
        </p:spPr>
      </p:pic>
      <p:sp>
        <p:nvSpPr>
          <p:cNvPr id="7" name="TextBox 6"/>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8" name="TextBox 7"/>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hand calculations disagree by 8.7×.</a:t>
            </a:r>
            <a:r>
              <a:rPr lang="en-US" sz="1150" dirty="0">
                <a:solidFill>
                  <a:srgbClr val="000000"/>
                </a:solidFill>
                <a:latin typeface="Calibri" pitchFamily="34" charset="0"/>
                <a:ea typeface="Calibri" pitchFamily="34" charset="-122"/>
                <a:cs typeface="Calibri" pitchFamily="34" charset="-120"/>
              </a:rPr>
              <a:t xml:space="preserve"> The peak-C bound says 7.50 V, charge-averaging says 0.86 V, SPICE measures 1.65 V — inside the bracket. That gap is why this is simulated, not hand-calculated.</a:t>
            </a:r>
          </a:p>
        </p:txBody>
      </p:sp>
      <p:sp>
        <p:nvSpPr>
          <p:cNvPr id="9" name="TextBox 8"/>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results/gan_master.m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7</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b="1" dirty="0">
                <a:solidFill>
                  <a:srgbClr val="000000"/>
                </a:solidFill>
                <a:latin typeface="Calibri" pitchFamily="34" charset="0"/>
                <a:ea typeface="Calibri" pitchFamily="34" charset="-122"/>
                <a:cs typeface="Calibri" pitchFamily="34" charset="-120"/>
              </a:rPr>
              <a:t xml:space="preserve">Every active-gate-driver paper reports ONE number: the improvement over a conventional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That number bundles two effects that cost completely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Pick a better control word once, at design time. Costs nothing at run time: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Change the word as load, bus voltage and temperature move. This is what needs the sensing hardware the architecture is sold on.</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THE GAP: </a:t>
            </a:r>
            <a:r>
              <a:rPr lang="en-US" sz="1400" dirty="0">
                <a:solidFill>
                  <a:srgbClr val="000000"/>
                </a:solidFill>
                <a:latin typeface="Calibri" pitchFamily="34" charset="0"/>
                <a:ea typeface="Calibri" pitchFamily="34" charset="-122"/>
                <a:cs typeface="Calibri" pitchFamily="34" charset="-120"/>
              </a:rPr>
              <a:t xml:space="preserve">no published work separates them. Nobody reports how much of an active gate driver's benefit actually requires adaptation, because separating the two needs an exhaustive search of the control word at every corner — and nobody has run one.</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WHY IT MATTERS: </a:t>
            </a:r>
            <a:r>
              <a:rPr lang="en-US" sz="1400" dirty="0">
                <a:solidFill>
                  <a:srgbClr val="000000"/>
                </a:solidFill>
                <a:latin typeface="Calibri" pitchFamily="34" charset="0"/>
                <a:ea typeface="Calibri" pitchFamily="34" charset="-122"/>
                <a:cs typeface="Calibri" pitchFamily="34" charset="-120"/>
              </a:rPr>
              <a:t xml:space="preserve">only Effect 2 justifies the sense + ADC + lookup table. If it is small, that hardware is mostly paying for something a design-time choice already delivers — a buy-or-not decision nobody has costed.</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WHAT WE DO: </a:t>
            </a:r>
            <a:r>
              <a:rPr lang="en-US" sz="1400" dirty="0">
                <a:solidFill>
                  <a:srgbClr val="000000"/>
                </a:solidFill>
                <a:latin typeface="Calibri" pitchFamily="34" charset="0"/>
                <a:ea typeface="Calibri" pitchFamily="34" charset="-122"/>
                <a:cs typeface="Calibri" pitchFamily="34" charset="-120"/>
              </a:rPr>
              <a:t xml:space="preserve">720 control words × 4 corners, exhaustively, in ngspice — then report the two numbers separately instead of their sum.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Citing a base paper is not a comparison. </a:t>
            </a:r>
            <a:r>
              <a:rPr lang="en-US" sz="1250" dirty="0">
                <a:solidFill>
                  <a:srgbClr val="000000"/>
                </a:solidFill>
                <a:latin typeface="Calibri" pitchFamily="34" charset="0"/>
                <a:ea typeface="Calibri" pitchFamily="34" charset="-122"/>
                <a:cs typeface="Calibri" pitchFamily="34" charset="-120"/>
              </a:rPr>
              <a:t xml:space="preserve">models/basedrv.lib implements Takayama, Okuda &amp; Hikihara's DAC-architecture driver — a multibit code that changes DURING the switching edge, with no Miller clamp and no negative off-bias rail, because those are ours. It runs inside sim/dpt.cir, byte-identical otherwise,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+0.533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time-sequenced multibit code alone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FALSE TURN-ON. A fast FIXED code is worse than their sequenced one — their contribution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Only marginally past the base paper. The clamp alone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4.8× the base paper's margin. This is the shipped configuration.</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comparison shows. </a:t>
            </a:r>
            <a:r>
              <a:rPr lang="en-US" sz="1250" dirty="0">
                <a:solidFill>
                  <a:srgbClr val="000000"/>
                </a:solidFill>
                <a:latin typeface="Calibri" pitchFamily="34" charset="0"/>
                <a:ea typeface="Calibri" pitchFamily="34" charset="-122"/>
                <a:cs typeface="Calibri" pitchFamily="34" charset="-120"/>
              </a:rPr>
              <a:t xml:space="preserve">The base paper shapes the gate waveform in TIME; we hold the code constant and add two actuators it does not have. Both clear the threshold — theirs works — but ours clears it by 4.8× more, and ours is the one whose settings can then be searched exhaustively to ask what adaptation is actually worth.</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Reproduce: </a:t>
            </a:r>
            <a:r>
              <a:rPr lang="en-US" sz="1150" b="1" dirty="0">
                <a:solidFill>
                  <a:srgbClr val="000000"/>
                </a:solidFill>
                <a:latin typeface="Calibri" pitchFamily="34" charset="0"/>
                <a:ea typeface="Calibri" pitchFamily="34" charset="-122"/>
                <a:cs typeface="Calibri" pitchFamily="34" charset="-120"/>
              </a:rPr>
              <a:t xml:space="preserve">python3 scripts/basepaper_compare.py</a:t>
            </a:r>
            <a:r>
              <a:rPr lang="en-US" sz="1150" dirty="0">
                <a:solidFill>
                  <a:srgbClr val="000000"/>
                </a:solidFill>
                <a:latin typeface="Calibri" pitchFamily="34" charset="0"/>
                <a:ea typeface="Calibri" pitchFamily="34" charset="-122"/>
                <a:cs typeface="Calibri" pitchFamily="34" charset="-120"/>
              </a:rPr>
              <a:t xml:space="preserve">  — four ngspice runs, prints this table.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