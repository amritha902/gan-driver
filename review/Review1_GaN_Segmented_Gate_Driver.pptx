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263" r:id="rId9"/>
    <p:sldId id="294" r:id="rId28"/>
    <p:sldId id="292" r:id="rId32"/>
    <p:sldId id="275" r:id="rId26"/>
    <p:sldId id="276" r:id="rId27"/>
    <p:sldId id="264" r:id="rId10"/>
    <p:sldId id="273" r:id="rId24"/>
    <p:sldId id="285" r:id="rId36"/>
    <p:sldId id="318" r:id="rId61"/>
    <p:sldId id="319" r:id="rId62"/>
    <p:sldId id="320" r:id="rId63"/>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16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8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Twelve blocks, weighted by how much of the project each is. Eight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23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18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21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22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0.05 %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49.45 V</a:t>
                      </a:r>
                    </a:p>
                  </a:txBody>
                  <a:tcPr marL="50292" marR="50292" marT="27432" marB="27432"/>
                </a:tc>
                <a:tc>
                  <a:txBody>
                    <a:bodyPr wrap="square"/>
                    <a:lstStyle/>
                    <a:p>
                      <a:r>
                        <a:rPr sz="1100" b="0">
                          <a:latin typeface="Calibri"/>
                        </a:rPr>
                        <a:t>48.69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19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survive real transistors?</a:t>
            </a:r>
            <a:endParaRPr lang="en-US" sz="2800" dirty="0"/>
          </a:p>
        </p:txBody>
      </p:sp>
      <p:sp>
        <p:nvSpPr>
          <p:cNvPr id="5" name="TextBox 4"/>
          <p:cNvSpPr txBox="1"/>
          <p:nvPr/>
        </p:nvSpPr>
        <p:spPr>
          <a:xfrm>
            <a:off x="640080" y="1078992"/>
            <a:ext cx="11064240" cy="694944"/>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margin in this deck was measured with an output stage whose slices are IDEAL SWITCHES — 10 mΩ on, 1 GΩ off, no gate charge, no threshold, no transition. Fair for comparing control words. Not a driver anyone can fabricate. So we rebuilt the same output stage in real SKY130 5 V devices and ran it again.</a:t>
            </a:r>
          </a:p>
        </p:txBody>
      </p:sp>
      <p:graphicFrame>
        <p:nvGraphicFramePr>
          <p:cNvPr id="6" name="Table 5"/>
          <p:cNvGraphicFramePr>
            <a:graphicFrameLocks noGrp="1"/>
          </p:cNvGraphicFramePr>
          <p:nvPr/>
        </p:nvGraphicFramePr>
        <p:xfrm>
          <a:off x="1737360" y="1901952"/>
          <a:ext cx="8686797" cy="1234440"/>
        </p:xfrm>
        <a:graphic>
          <a:graphicData uri="http://schemas.openxmlformats.org/drawingml/2006/table">
            <a:tbl>
              <a:tblPr firstRow="1">
                <a:tableStyleId>{5C22544A-7EE6-4342-B048-85BDC9FD1C3A}</a:tableStyleId>
              </a:tblPr>
              <a:tblGrid>
                <a:gridCol w="2606040"/>
                <a:gridCol w="1911095"/>
                <a:gridCol w="2084831"/>
                <a:gridCol w="2084831"/>
              </a:tblGrid>
              <a:tr h="308610">
                <a:tc>
                  <a:txBody>
                    <a:bodyPr wrap="square"/>
                    <a:lstStyle/>
                    <a:p>
                      <a:r>
                        <a:rPr sz="1050" b="1">
                          <a:latin typeface="Calibri"/>
                        </a:rPr>
                        <a:t>configuration</a:t>
                      </a:r>
                    </a:p>
                  </a:txBody>
                  <a:tcPr marL="50292" marR="50292" marT="27432" marB="27432"/>
                </a:tc>
                <a:tc>
                  <a:txBody>
                    <a:bodyPr wrap="square"/>
                    <a:lstStyle/>
                    <a:p>
                      <a:r>
                        <a:rPr sz="1050" b="1">
                          <a:latin typeface="Calibri"/>
                        </a:rPr>
                        <a:t>ideal switches</a:t>
                      </a:r>
                    </a:p>
                  </a:txBody>
                  <a:tcPr marL="50292" marR="50292" marT="27432" marB="27432"/>
                </a:tc>
                <a:tc>
                  <a:txBody>
                    <a:bodyPr wrap="square"/>
                    <a:lstStyle/>
                    <a:p>
                      <a:r>
                        <a:rPr sz="1050" b="1">
                          <a:latin typeface="Calibri"/>
                        </a:rPr>
                        <a:t>SKY130 transistors</a:t>
                      </a:r>
                    </a:p>
                  </a:txBody>
                  <a:tcPr marL="50292" marR="50292" marT="27432" marB="27432"/>
                </a:tc>
                <a:tc>
                  <a:txBody>
                    <a:bodyPr wrap="square"/>
                    <a:lstStyle/>
                    <a:p>
                      <a:r>
                        <a:rPr sz="1050" b="1">
                          <a:latin typeface="Calibri"/>
                        </a:rPr>
                        <a:t/>
                      </a:r>
                    </a:p>
                  </a:txBody>
                  <a:tcPr marL="50292" marR="50292" marT="27432" marB="27432"/>
                </a:tc>
              </a:tr>
              <a:tr h="308610">
                <a:tc>
                  <a:txBody>
                    <a:bodyPr wrap="square"/>
                    <a:lstStyle/>
                    <a:p>
                      <a:r>
                        <a:rPr sz="1100" b="0">
                          <a:latin typeface="Calibri"/>
                        </a:rPr>
                        <a:t>constant word, no clamp</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−0.563 V</a:t>
                      </a:r>
                    </a:p>
                  </a:txBody>
                  <a:tcPr marL="50292" marR="50292" marT="27432" marB="27432"/>
                </a:tc>
                <a:tc>
                  <a:txBody>
                    <a:bodyPr wrap="square"/>
                    <a:lstStyle/>
                    <a:p>
                      <a:r>
                        <a:rPr sz="1100" b="1">
                          <a:solidFill>
                            <a:srgbClr val="B56A00"/>
                          </a:solidFill>
                          <a:latin typeface="Calibri"/>
                        </a:rPr>
                        <a:t>FALSE TURN-ON</a:t>
                      </a:r>
                    </a:p>
                  </a:txBody>
                  <a:tcPr marL="50292" marR="50292" marT="27432" marB="27432"/>
                </a:tc>
              </a:tr>
              <a:tr h="308610">
                <a:tc>
                  <a:txBody>
                    <a:bodyPr wrap="square"/>
                    <a:lstStyle/>
                    <a:p>
                      <a:r>
                        <a:rPr sz="1100" b="0">
                          <a:latin typeface="Calibri"/>
                        </a:rPr>
                        <a:t>clamp on</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1">
                          <a:solidFill>
                            <a:srgbClr val="B56A00"/>
                          </a:solidFill>
                          <a:latin typeface="Calibri"/>
                        </a:rPr>
                        <a:t>+0.031 V</a:t>
                      </a:r>
                    </a:p>
                  </a:txBody>
                  <a:tcPr marL="50292" marR="50292" marT="27432" marB="27432"/>
                </a:tc>
                <a:tc>
                  <a:txBody>
                    <a:bodyPr wrap="square"/>
                    <a:lstStyle/>
                    <a:p>
                      <a:r>
                        <a:rPr sz="1100" b="1">
                          <a:solidFill>
                            <a:srgbClr val="B56A00"/>
                          </a:solidFill>
                          <a:latin typeface="Calibri"/>
                        </a:rPr>
                        <a:t>barely holds</a:t>
                      </a:r>
                    </a:p>
                  </a:txBody>
                  <a:tcPr marL="50292" marR="50292" marT="27432" marB="27432"/>
                </a:tc>
              </a:tr>
              <a:tr h="308610">
                <a:tc>
                  <a:txBody>
                    <a:bodyPr wrap="square"/>
                    <a:lstStyle/>
                    <a:p>
                      <a:r>
                        <a:rPr sz="1100" b="1">
                          <a:latin typeface="Calibri"/>
                        </a:rPr>
                        <a:t>clamp + −2 V off-bias</a:t>
                      </a:r>
                    </a:p>
                  </a:txBody>
                  <a:tcPr marL="50292" marR="50292" marT="27432" marB="27432"/>
                </a:tc>
                <a:tc>
                  <a:txBody>
                    <a:bodyPr wrap="square"/>
                    <a:lstStyle/>
                    <a:p>
                      <a:r>
                        <a:rPr sz="1100" b="0">
                          <a:latin typeface="Calibri"/>
                        </a:rPr>
                        <a:t>+2.576 V</a:t>
                      </a:r>
                    </a:p>
                  </a:txBody>
                  <a:tcPr marL="50292" marR="50292" marT="27432" marB="27432"/>
                </a:tc>
                <a:tc>
                  <a:txBody>
                    <a:bodyPr wrap="square"/>
                    <a:lstStyle/>
                    <a:p>
                      <a:r>
                        <a:rPr sz="1100" b="1">
                          <a:solidFill>
                            <a:srgbClr val="1B7F3B"/>
                          </a:solidFill>
                          <a:latin typeface="Calibri"/>
                        </a:rPr>
                        <a:t>+2.032 V</a:t>
                      </a:r>
                    </a:p>
                  </a:txBody>
                  <a:tcPr marL="50292" marR="50292" marT="27432" marB="27432"/>
                </a:tc>
                <a:tc>
                  <a:txBody>
                    <a:bodyPr wrap="square"/>
                    <a:lstStyle/>
                    <a:p>
                      <a:r>
                        <a:rPr sz="1100" b="1">
                          <a:solidFill>
                            <a:srgbClr val="1B7F3B"/>
                          </a:solidFill>
                          <a:latin typeface="Calibri"/>
                        </a:rPr>
                        <a:t>safe</a:t>
                      </a:r>
                    </a:p>
                  </a:txBody>
                  <a:tcPr marL="50292" marR="50292" marT="27432" marB="27432"/>
                </a:tc>
              </a:tr>
            </a:tbl>
          </a:graphicData>
        </a:graphic>
      </p:graphicFrame>
      <p:sp>
        <p:nvSpPr>
          <p:cNvPr id="7" name="TextBox 6"/>
          <p:cNvSpPr txBox="1"/>
          <p:nvPr/>
        </p:nvSpPr>
        <p:spPr>
          <a:xfrm>
            <a:off x="640080" y="3346704"/>
            <a:ext cx="11064240" cy="1417320"/>
          </a:xfrm>
          <a:prstGeom prst="rect">
            <a:avLst/>
          </a:prstGeom>
          <a:noFill/>
        </p:spPr>
        <p:txBody>
          <a:bodyPr wrap="square" lIns="0" tIns="0" rIns="0" bIns="0">
            <a:spAutoFit/>
          </a:bodyPr>
          <a:lstStyle/>
          <a:p>
            <a:pPr marL="177800" indent="0">
              <a:spcAft>
                <a:spcPts val="18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architecture survives — and the reason it survives changes.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Sign and ordering hold on both stages: the constant word fails on real transistors too, the clamp beats no clamp, and clamp plus negative bias beats clamp alone. That is what had to be true, and it is. But on real devices </a:t>
            </a:r>
            <a:r>
              <a:rPr lang="en-US" sz="1200" b="1" dirty="0">
                <a:solidFill>
                  <a:srgbClr val="000000"/>
                </a:solidFill>
                <a:latin typeface="Calibri" pitchFamily="34" charset="0"/>
                <a:ea typeface="Calibri" pitchFamily="34" charset="-122"/>
                <a:cs typeface="Calibri" pitchFamily="34" charset="-120"/>
              </a:rPr>
              <a:t xml:space="preserve">the clamp ALONE gives +0.031 V</a:t>
            </a:r>
            <a:r>
              <a:rPr lang="en-US" sz="1200" dirty="0">
                <a:solidFill>
                  <a:srgbClr val="000000"/>
                </a:solidFill>
                <a:latin typeface="Calibri" pitchFamily="34" charset="0"/>
                <a:ea typeface="Calibri" pitchFamily="34" charset="-122"/>
                <a:cs typeface="Calibri" pitchFamily="34" charset="-120"/>
              </a:rPr>
              <a:t xml:space="preserve"> — thirty-one millivolts, at one corner, with nothing left over for temperature or a worse layout. That is not a fix.</a:t>
            </a:r>
          </a:p>
        </p:txBody>
      </p:sp>
      <p:sp>
        <p:nvSpPr>
          <p:cNvPr id="8" name="TextBox 7"/>
          <p:cNvSpPr txBox="1"/>
          <p:nvPr/>
        </p:nvSpPr>
        <p:spPr>
          <a:xfrm>
            <a:off x="640080" y="4882896"/>
            <a:ext cx="10698480" cy="160020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we correct our own headline. </a:t>
            </a:r>
            <a:r>
              <a:rPr lang="en-US" sz="1250" dirty="0">
                <a:solidFill>
                  <a:srgbClr val="000000"/>
                </a:solidFill>
                <a:latin typeface="Calibri" pitchFamily="34" charset="0"/>
                <a:ea typeface="Calibri" pitchFamily="34" charset="-122"/>
                <a:cs typeface="Calibri" pitchFamily="34" charset="-120"/>
              </a:rPr>
              <a:t xml:space="preserve">The −2 V off-bias is the fix; the clamp is what makes the off-bias hold. The ideal-switch model was flattering the clamp, because an ideal switch pulls the gate down through 10 mΩ while a real NMOS pulls it through a channel that has to be turned on first.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Stated limit: the predrivers in this stage are still behavioural. The output stage is what is being checked. And there is no equivalent check on the GaN side — no open PDK ships a 200 V GaN HEMT — so that model remains the single assumption everything rests 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