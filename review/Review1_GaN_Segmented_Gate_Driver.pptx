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7" r:id="rId3"/>
    <p:sldId id="258" r:id="rId4"/>
    <p:sldId id="259" r:id="rId5"/>
    <p:sldId id="261" r:id="rId7"/>
    <p:sldId id="296" r:id="rId19"/>
    <p:sldId id="297" r:id="rId40"/>
    <p:sldId id="260" r:id="rId6"/>
    <p:sldId id="267" r:id="rId18"/>
    <p:sldId id="283" r:id="rId34"/>
    <p:sldId id="282" r:id="rId33"/>
    <p:sldId id="298" r:id="rId2"/>
    <p:sldId id="299" r:id="rId42"/>
    <p:sldId id="300" r:id="rId43"/>
    <p:sldId id="301" r:id="rId44"/>
    <p:sldId id="280" r:id="rId31"/>
    <p:sldId id="278" r:id="rId29"/>
    <p:sldId id="295" r:id="rId21"/>
    <p:sldId id="302" r:id="rId45"/>
    <p:sldId id="291" r:id="rId35"/>
    <p:sldId id="293" r:id="rId30"/>
    <p:sldId id="263" r:id="rId9"/>
    <p:sldId id="294" r:id="rId28"/>
    <p:sldId id="292" r:id="rId32"/>
    <p:sldId id="275" r:id="rId26"/>
    <p:sldId id="276" r:id="rId27"/>
    <p:sldId id="264" r:id="rId10"/>
    <p:sldId id="273" r:id="rId24"/>
    <p:sldId id="285" r:id="rId36"/>
    <p:sldId id="262" r:id="rId8"/>
    <p:sldId id="272" r:id="rId23"/>
    <p:sldId id="271" r:id="rId22"/>
    <p:sldId id="265" r:id="rId11"/>
    <p:sldId id="290" r:id="rId41"/>
    <p:sldId id="303" r:id="rId46"/>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35.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10.xml"/><Relationship Id="rId8" Type="http://schemas.openxmlformats.org/officeDocument/2006/relationships/slide" Target="slides/slide15.xml"/><Relationship Id="rId9" Type="http://schemas.openxmlformats.org/officeDocument/2006/relationships/slide" Target="slides/slide22.xml"/><Relationship Id="rId10" Type="http://schemas.openxmlformats.org/officeDocument/2006/relationships/slide" Target="slides/slide27.xml"/><Relationship Id="rId11" Type="http://schemas.openxmlformats.org/officeDocument/2006/relationships/slide" Target="slides/slide30.xml"/><Relationship Id="rId12" Type="http://schemas.openxmlformats.org/officeDocument/2006/relationships/slide" Target="slides/slide32.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7.xml"/><Relationship Id="rId19" Type="http://schemas.openxmlformats.org/officeDocument/2006/relationships/slide" Target="slides/slide33.xml"/><Relationship Id="rId20" Type="http://schemas.openxmlformats.org/officeDocument/2006/relationships/slide" Target="slides/slide28.xml"/><Relationship Id="rId21" Type="http://schemas.openxmlformats.org/officeDocument/2006/relationships/slide" Target="slides/slide21.xml"/><Relationship Id="rId22" Type="http://schemas.openxmlformats.org/officeDocument/2006/relationships/slide" Target="slides/slide29.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2.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32.xml"/><Relationship Id="rId29" Type="http://schemas.openxmlformats.org/officeDocument/2006/relationships/slide" Target="slides/slide13.xml"/><Relationship Id="rId30" Type="http://schemas.openxmlformats.org/officeDocument/2006/relationships/slide" Target="slides/slide20.xml"/><Relationship Id="rId31" Type="http://schemas.openxmlformats.org/officeDocument/2006/relationships/slide" Target="slides/slide11.xml"/><Relationship Id="rId32" Type="http://schemas.openxmlformats.org/officeDocument/2006/relationships/slide" Target="slides/slide24.xml"/><Relationship Id="rId33" Type="http://schemas.openxmlformats.org/officeDocument/2006/relationships/slide" Target="slides/slide8.xml"/><Relationship Id="rId34" Type="http://schemas.openxmlformats.org/officeDocument/2006/relationships/slide" Target="slides/slide14.xml"/><Relationship Id="rId35" Type="http://schemas.openxmlformats.org/officeDocument/2006/relationships/slide" Target="slides/slide3.xml"/><Relationship Id="rId36" Type="http://schemas.openxmlformats.org/officeDocument/2006/relationships/slide" Target="slides/slide18.xml"/><Relationship Id="rId37" Type="http://schemas.openxmlformats.org/officeDocument/2006/relationships/slide" Target="slides/slide4.xml"/><Relationship Id="rId38" Type="http://schemas.openxmlformats.org/officeDocument/2006/relationships/slide" Target="slides/slide9.xml"/><Relationship Id="rId39" Type="http://schemas.openxmlformats.org/officeDocument/2006/relationships/slide" Target="slides/slide19.xml"/><Relationship Id="rId40" Type="http://schemas.openxmlformats.org/officeDocument/2006/relationships/slide" Target="slides/slide34.xml"/><Relationship Id="rId41" Type="http://schemas.openxmlformats.org/officeDocument/2006/relationships/slide" Target="slides/slide31.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589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s]  CORE. Project name and the one-line claim: a segmented GaN gate driver, and a measurement of what per-operating-point adaptation is actually worth.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SKIP. Template slide.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  CORE — the 2-mark slide, the biggest block in the review. Land two things: the failure is real and specific (1.65 V on a 1.40 V threshold), and the gap is that prior work conflates 'better fixed settings' with 'settings that adapt'.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literature mark. Do not read the table. Eight references, three verified to page level; point at [3], layout sets loop inductance, which decides our answer.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proposed-solution mark. The 720-point control word and the method: exhaustive search at every corner, so each per-corner optimum is a TRUE optimum and not the best of a shortlist.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50 %-completion requirement. Five claims, each with a number. If asked 'is this really 50 %?': the search is complete, stress-tested, and both objections to it - layout and EMI - have been tested rather than argued. What remains is silicon and hardware.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The problem reproduced and fixed. Point at the red X below the threshold line. Then: safety costs 0.04 % — nearly free once the clamp is present.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design chart, and the most USEFUL thing in the deck. Do NOT call it a single crossover: eight points show a BAND. Adaptive control pays from about 2.5 nH down, peaks at 13.5 % at 1.5 nH, then FALLS BACK to 8.1 % at 1.0 nH. Say why, because it is the interesting part: at 1.0 nH only 165 of 720 words are still safe, so the fixed word and the per-corner optima are squeezed into the same narrow region and the gap scheduling exploits shrinks. Below ~2 nH feasibility binds, not optimisation. We checked it is not the clamp-chatter artefact — excluding every chatter point leaves all eight ceilings unchanged to the digit. The literature does not state this trade-off because it never separates the fixed and adaptive halves.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Reference list. Leave up during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 literature mark. Closest prior work. [8] adapts dead time, the one field we find worth scheduling — and it does so across a 0.2-2 A range, which is exactly the light-load corner our leave-one-out test shows carries all of that benefit. Independent support, not competition.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Walk the diagram left to right in one sentence, then stop on the dashed block: that is the sensing and lookup-table machinery the adaptive premise needs. The whole project is a measurement of what it buys. Let the picture do the work — do not narrate every box.</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the timeline and tools requirement. M1-M6. If asked what could go wrong: M1, the PDK — a 1.8 V / 3.3 V teaching PDK cannot take a 5 V rail.</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FPGA. If asked: written AND verified, eight asserted properties, then mutation-tested. Dead time gets a live register and drive strength is strapped, because that is what the study found.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5.2 %. Say plainly this is a NEGATIVE result about the adaptive premise and you are reporting it rather than hiding it. Keep it short — slides 18 and 19 do the real work.</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[45 s]  CORE — the novelty slide, and the one sentence the panel should leave with: 'a full sense-plus-ADC-plus-lookup-table is left justifying 3.7 % of the gain over a fixed word and one comparator.' Build it in three steps. (1) Choosing the fixed word well is worth 25.1 %. (2) Adapting per corner adds only 3.9 % — a seventh of the total. (3) And 72 % of even THAT is capturable with a single light-load comparator, not a lookup table. No published work separates these, because separating them needs the exhaustive search rather than a shortlist. If asked why nobody found this: they report one number.</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Play the video. Real captured ngspice output — the failure, the fix, the search. Let it run; do not talk over it.</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Close on what the data supports and what it now answers. Do NOT concede EMI as a limitation any more - it was tested: pricing it makes scheduling worth LESS, 5.95 % down to 0.15 %. State the remaining limits yourself instead: the two EMI measures disagree about drive strength, no silicon has been measured, and one device model underlies everything.</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use this the moment anyone asks what was actually simulated. Trace the red path with a finger: Q1 switches, the SW node moves, charge couples through C_GD into Q2's gate, and Q2 turns on when it should be off. Then point at the clamp and the off-bias mux — those are the two things that fix it. Do not read the component values out.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8.png"/><Relationship Id="rId5" Type="http://schemas.openxmlformats.org/officeDocument/2006/relationships/notesSlide" Target="../notesSlides/notesSlide23.xml"/><Relationship Id="rId6" Type="http://schemas.openxmlformats.org/officeDocument/2006/relationships/image" Target="../media/image2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notesSlide" Target="../notesSlides/notesSlide1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microsoft.com/office/2007/relationships/media" Target="../media/media1.mp4"/><Relationship Id="rId3" Type="http://schemas.openxmlformats.org/officeDocument/2006/relationships/image" Target="../media/image1.png"/><Relationship Id="rId4" Type="http://schemas.openxmlformats.org/officeDocument/2006/relationships/video" Target="../media/media1.mp4"/><Relationship Id="rId5" Type="http://schemas.openxmlformats.org/officeDocument/2006/relationships/image" Target="../media/image4.png"/><Relationship Id="rId6" Type="http://schemas.openxmlformats.org/officeDocument/2006/relationships/notesSlide" Target="../notesSlides/notesSlide1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2.mp4"/><Relationship Id="rId5" Type="http://schemas.openxmlformats.org/officeDocument/2006/relationships/video" Target="../media/media2.mp4"/><Relationship Id="rId6" Type="http://schemas.openxmlformats.org/officeDocument/2006/relationships/image" Target="../media/image25.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1188720"/>
          </a:xfrm>
          <a:prstGeom prst="rect">
            <a:avLst/>
          </a:prstGeom>
          <a:noFill/>
          <a:ln/>
        </p:spPr>
        <p:txBody>
          <a:bodyPr wrap="square" lIns="0" tIns="0" rIns="0" bIns="0" rtlCol="0" anchor="ctr"/>
          <a:lstStyle/>
          <a:p>
            <a:pPr marL="0" indent="0" algn="ctr">
              <a:buNone/>
            </a:pPr>
            <a:r>
              <a:rPr lang="en-US" sz="3200" b="1" dirty="0">
                <a:solidFill>
                  <a:srgbClr val="1D2F82"/>
                </a:solidFill>
                <a:latin typeface="Calibri" pitchFamily="34" charset="0"/>
                <a:ea typeface="Calibri" pitchFamily="34" charset="-122"/>
                <a:cs typeface="Calibri" pitchFamily="34" charset="-120"/>
              </a:rPr>
              <a:t>GaN Based DC–DC Power Converter with an Improved Gate Driver</a:t>
            </a:r>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617720" cy="384048"/>
          </a:xfrm>
          <a:prstGeom prst="rect">
            <a:avLst/>
          </a:prstGeom>
          <a:noFill/>
          <a:ln/>
        </p:spPr>
        <p:txBody>
          <a:bodyPr wrap="square" lIns="0" tIns="0" rIns="0" bIns="0" rtlCol="0" anchor="ctr"/>
          <a:lstStyle/>
          <a:p>
            <a:pPr marL="0" indent="0">
              <a:buNone/>
            </a:pPr>
            <a:r>
              <a:rPr lang="en-US" sz="950" dirty="0">
                <a:solidFill>
                  <a:srgbClr val="000000"/>
                </a:solidFill>
                <a:latin typeface="Calibri" pitchFamily="34" charset="0"/>
                <a:ea typeface="Calibri" pitchFamily="34" charset="-122"/>
                <a:cs typeface="Calibri" pitchFamily="34" charset="-120"/>
              </a:rPr>
              <a:t>Sanjay Kumar 23BEC1447  ·  Aamir Abdullah 23BPS1197  ·  Amritha S 23BEC1368</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Bindu  —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  ·  09.09.2026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Review-I — 09.09.2026 (5 Marks, 5%)</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Focus: Proposed Solution &amp; 50% Work Completion.</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Duration: 10 minutes.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Presentation contents: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Signed &amp; scanned title slide (Slide 1)</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Problem statement and background</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Literature survey — minimum 8–10 recent references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Existing solutions and their limitations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Proposed solution, scope and methodology</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50% work completed, timeline, tools &amp; technologies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Mark split-up: Problem clarity &amp; relevance (2), Literature survey quality (1), Proposed solution feasibility (1), Presentation quality (1).</a:t>
            </a:r>
            <a:endParaRPr lang="en-US" sz="1500" dirty="0"/>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we are building — the converter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converter.png"/>
          <p:cNvPicPr>
            <a:picLocks noChangeAspect="1"/>
          </p:cNvPicPr>
          <p:nvPr/>
        </p:nvPicPr>
        <p:blipFill>
          <a:blip r:embed="rId4"/>
          <a:stretch>
            <a:fillRect/>
          </a:stretch>
        </p:blipFill>
        <p:spPr>
          <a:xfrm>
            <a:off x="1592779" y="1115568"/>
            <a:ext cx="9006137" cy="4434840"/>
          </a:xfrm>
          <a:prstGeom prst="rect">
            <a:avLst/>
          </a:prstGeom>
        </p:spPr>
      </p:pic>
      <p:sp>
        <p:nvSpPr>
          <p:cNvPr id="6" name="TextBox 5"/>
          <p:cNvSpPr txBox="1"/>
          <p:nvPr/>
        </p:nvSpPr>
        <p:spPr>
          <a:xfrm>
            <a:off x="502920" y="562356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The figure. </a:t>
            </a:r>
            <a:r>
              <a:rPr lang="en-US" sz="1250" dirty="0">
                <a:solidFill>
                  <a:srgbClr val="000000"/>
                </a:solidFill>
                <a:latin typeface="Calibri" pitchFamily="34" charset="0"/>
                <a:ea typeface="Calibri" pitchFamily="34" charset="-122"/>
                <a:cs typeface="Calibri" pitchFamily="34" charset="-120"/>
              </a:rPr>
              <a:t>(a) the output charging from zero and settling; (b) three switching cycles of the half-bridge; (c) power in against power out.</a:t>
            </a:r>
          </a:p>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What it means. </a:t>
            </a:r>
            <a:r>
              <a:rPr lang="en-US" sz="1100" dirty="0">
                <a:solidFill>
                  <a:srgbClr val="000000"/>
                </a:solidFill>
                <a:latin typeface="Calibri" pitchFamily="34" charset="0"/>
                <a:ea typeface="Calibri" pitchFamily="34" charset="-122"/>
                <a:cs typeface="Calibri" pitchFamily="34" charset="-120"/>
              </a:rPr>
              <a:t>The converter works. 100 V DC becomes 48.6 V DC at 4.88 A, and 97.6 % of the power gets through.</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01</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The problem</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real failure, and the question nobody has answered</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Problem Statement &amp; Background</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Problem Statement: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When one GaN transistor switches, its fast voltage swing pushes charge into the gate of the other transistor — the one that is supposed to stay OFF. That gate rises to </a:t>
            </a:r>
            <a:r>
              <a:rPr lang="en-US" sz="1500" b="1" dirty="0">
                <a:solidFill>
                  <a:srgbClr val="000000"/>
                </a:solidFill>
                <a:latin typeface="Calibri" pitchFamily="34" charset="0"/>
                <a:ea typeface="Calibri" pitchFamily="34" charset="-122"/>
                <a:cs typeface="Calibri" pitchFamily="34" charset="-120"/>
              </a:rPr>
              <a:t xml:space="preserve">1.65 V, and only 1.4 V is needed to turn it on</a:t>
            </a:r>
            <a:r>
              <a:rPr lang="en-US" sz="1500" dirty="0">
                <a:solidFill>
                  <a:srgbClr val="000000"/>
                </a:solidFill>
                <a:latin typeface="Calibri" pitchFamily="34" charset="0"/>
                <a:ea typeface="Calibri" pitchFamily="34" charset="-122"/>
                <a:cs typeface="Calibri" pitchFamily="34" charset="-120"/>
              </a:rPr>
              <a:t xml:space="preserve">. Both devices conduct at once and the supply shorts through them.</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Background &amp; Significance: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GaN half-bridges sit inside EV inverters and battery chargers. GaN is chosen because it switches fast — and that speed is exactly what causes this fault.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Existing Solutions: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Gate drivers that turn the device on in steps, clamp the off gate down, adjust the gap between the two switching edges, and hold the gate at −2 V [1]–[4]. Reported: 30.5 % less overshoot, 75 % less turn-off loss [5]–[7].</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Limitations / Research Gap:</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Nobody has measured what the re-tuning is worth.</a:t>
            </a:r>
            <a:r>
              <a:rPr lang="en-US" sz="1500" dirty="0">
                <a:solidFill>
                  <a:srgbClr val="000000"/>
                </a:solidFill>
                <a:latin typeface="Calibri" pitchFamily="34" charset="0"/>
                <a:ea typeface="Calibri" pitchFamily="34" charset="-122"/>
                <a:cs typeface="Calibri" pitchFamily="34" charset="-120"/>
              </a:rPr>
              <a:t xml:space="preserve"> Those gains mix two different things: picking one good setting, and changing the setting while the converter runs. Only the second needs a sensor, a lookup table and a controller.</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base paper we build on</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0652760" cy="3657600"/>
        </p:xfrm>
        <a:graphic>
          <a:graphicData uri="http://schemas.openxmlformats.org/drawingml/2006/table">
            <a:tbl>
              <a:tblPr/>
              <a:tblGrid>
                <a:gridCol w="109728">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6576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gridSpan="4">
                  <a:txBody>
                    <a:bodyPr wrap="square"/>
                    <a:lstStyle/>
                    <a:p>
                      <a:pPr marL="0" indent="0">
                        <a:buNone/>
                      </a:pPr>
                      <a:r>
                        <a:rPr sz="1050" b="1">
                          <a:solidFill>
                            <a:srgbClr val="000000"/>
                          </a:solidFill>
                          <a:latin typeface="Calibri"/>
                        </a:rPr>
                        <a:t>Takayama, Okuda &amp; Hikihara (2022)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What it does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Drives the gate from a multibit CODE instead of a resistor — the driver is a DAC, and the code changes DURING the switching edge.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Why it matters to us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A digital code is finite. That is what makes the setting space searchable, and what makes the driver implementable on an FPGA rather than as an analogue network.</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What it leaves open</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It never asks whether the code has to CHANGE as load, voltage and temperature move. That question is this project.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Text 2"/>
          <p:cNvSpPr txBox="1"/>
          <p:nvPr/>
        </p:nvSpPr>
        <p:spPr>
          <a:xfrm>
            <a:off x="548640" y="5897880"/>
            <a:ext cx="11064240" cy="365760"/>
          </a:xfrm>
          <a:prstGeom prst="rect">
            <a:avLst/>
          </a:prstGeom>
          <a:noFill/>
          <a:ln/>
        </p:spPr>
        <p:txBody>
          <a:bodyPr wrap="square" lIns="0" tIns="0" rIns="0" bIns="0" rtlCol="0" anchor="ct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H. Takayama, T. Okuda and T. Hikihara, </a:t>
            </a:r>
            <a:r>
              <a:rPr lang="en-US" sz="1150" b="1" dirty="0">
                <a:solidFill>
                  <a:srgbClr val="000000"/>
                </a:solidFill>
                <a:latin typeface="Calibri" pitchFamily="34" charset="0"/>
                <a:ea typeface="Calibri" pitchFamily="34" charset="-122"/>
                <a:cs typeface="Calibri" pitchFamily="34" charset="-120"/>
              </a:rPr>
              <a:t xml:space="preserve">“Digital Active Gate Drive of SiC MOSFETs for Controlling Switching Behavior,”</a:t>
            </a:r>
            <a:r>
              <a:rPr lang="en-US" sz="1150" dirty="0">
                <a:solidFill>
                  <a:srgbClr val="000000"/>
                </a:solidFill>
                <a:latin typeface="Calibri" pitchFamily="34" charset="0"/>
                <a:ea typeface="Calibri" pitchFamily="34" charset="-122"/>
                <a:cs typeface="Calibri" pitchFamily="34" charset="-120"/>
              </a:rPr>
              <a:t xml:space="preserve"> Int. J. Circuit Theory Appl., vol. 50, no. 1, pp. 183–196, 2022.  doi.org/10.1002/cta.3136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Five Closest — and the base paper we replicate</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4343400"/>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20040">
                <a:tc>
                  <a:txBody>
                    <a:bodyPr wrap="square"/>
                    <a:lstStyle/>
                    <a:p>
                      <a:pPr marL="0" indent="0">
                        <a:buNone/>
                      </a:pPr>
                      <a:r>
                        <a:rPr sz="950" b="1">
                          <a:solidFill>
                            <a:srgbClr val="000000"/>
                          </a:solidFill>
                          <a:latin typeface="Calibri"/>
                        </a:rPr>
                        <a:t>Ref</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Author(s) &amp; Year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Title / Source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Aim  —  what the paper sets out to do</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Gap we found  →  what WE fill</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804672">
                <a:tc>
                  <a:txBody>
                    <a:bodyPr wrap="square"/>
                    <a:lstStyle/>
                    <a:p>
                      <a:pPr marL="0" indent="0">
                        <a:buNone/>
                      </a:pPr>
                      <a:r>
                        <a:rPr sz="1050" b="1">
                          <a:solidFill>
                            <a:srgbClr val="000000"/>
                          </a:solidFill>
                          <a:latin typeface="Calibri"/>
                        </a:rPr>
                        <a:t>BASE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H. Takayama, T. Okuda &amp; T. Hikihara (2022)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Digital Active Gate Drive of SiC MOSFETs for Controlling Switching Behavior — Preparation Toward Universal Digitization of Power Switching</a:t>
                      </a:r>
                      <a:endParaRPr lang="en-US" sz="1300" dirty="0">
                        <a:latin typeface="Calibri" charset="0"/>
                        <a:ea typeface="Calibri" charset="0"/>
                        <a:cs typeface="Calibri" charset="0"/>
                      </a:endParaRPr>
                    </a:p>
                    <a:p>
                      <a:r>
                        <a:rPr sz="900" b="1">
                          <a:solidFill>
                            <a:srgbClr val="000000"/>
                          </a:solidFill>
                          <a:latin typeface="Calibri"/>
                        </a:rPr>
                        <a:t>Int. J. Circuit Theory Appl., vol. 50, no. 1, pp. 183–196</a:t>
                      </a:r>
                    </a:p>
                    <a:p>
                      <a:r>
                        <a:rPr sz="900" b="1">
                          <a:solidFill>
                            <a:srgbClr val="000000"/>
                          </a:solidFill>
                          <a:latin typeface="Calibri"/>
                        </a:rPr>
                        <a:t>doi.org/10.1002/cta.3136</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DAC-inspired driver: a multibit gate signal SEQUENCE sets the gate waveform digitally, so switching behaviour is chosen by a code rather than by a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BASE PAPER. Its multibit gate code is the direct ancestor of our 720-point control word, and it is digital — implementable on an FPGA — rather than a fixed analogue network. We replicate its premise on GaN and then ask the question it does not: of the gain a code buys, how much needs per-operating-point adaptation at all?  </a:t>
                      </a:r>
                      <a:r>
                        <a:rPr sz="900" b="1">
                          <a:solidFill>
                            <a:srgbClr val="000000"/>
                          </a:solidFill>
                          <a:latin typeface="Calibri"/>
                        </a:rPr>
                        <a:t>WE FILL: </a:t>
                      </a:r>
                      <a:r>
                        <a:rPr sz="900" b="0">
                          <a:solidFill>
                            <a:srgbClr val="000000"/>
                          </a:solidFill>
                          <a:latin typeface="Calibri"/>
                        </a:rPr>
                        <a:t>the exhaustive 720-word search that makes the fixed-vs-adaptive split measurable, and the GaN third-quadrant cost their SiC device never pays.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04672">
                <a:tc>
                  <a:txBody>
                    <a:bodyPr wrap="square"/>
                    <a:lstStyle/>
                    <a:p>
                      <a:pPr marL="0" indent="0">
                        <a:buNone/>
                      </a:pPr>
                      <a:r>
                        <a:rPr sz="1050" b="0">
                          <a:solidFill>
                            <a:srgbClr val="000000"/>
                          </a:solidFill>
                          <a:latin typeface="Calibri"/>
                        </a:rPr>
                        <a:t>10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Zhang, Yu, Leng, Cui, Deng &amp; Ng (2020)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Segmented Gate Driver for E-mode GaN HEMTs with Simple Driving Strength Pattern Control</a:t>
                      </a:r>
                      <a:endParaRPr lang="en-US" sz="1300" dirty="0">
                        <a:latin typeface="Calibri" charset="0"/>
                        <a:ea typeface="Calibri" charset="0"/>
                        <a:cs typeface="Calibri" charset="0"/>
                      </a:endParaRPr>
                    </a:p>
                    <a:p>
                      <a:r>
                        <a:rPr sz="900" b="1">
                          <a:solidFill>
                            <a:srgbClr val="000000"/>
                          </a:solidFill>
                          <a:latin typeface="Calibri"/>
                        </a:rPr>
                        <a:t>Proc. IEEE ISPSD, 2020, pp. 102–105</a:t>
                      </a:r>
                    </a:p>
                    <a:p>
                      <a:r>
                        <a:rPr sz="900" b="1">
                          <a:solidFill>
                            <a:srgbClr val="000000"/>
                          </a:solidFill>
                          <a:latin typeface="Calibri"/>
                        </a:rPr>
                        <a:t>ieeexplore.ieee.org/document/9170108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Segmented output stage on E-mode GaN: 7 slices, pattern timing 0.5–5 ns, strength set by one external bias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Architecturally the closest published driver to ours — segmented slices, pattern-selected strength. It is an ASIC with a fixed pattern set; our contribution is to search the whole pattern space exhaustively and price what the search actually buys.  </a:t>
                      </a:r>
                      <a:r>
                        <a:rPr sz="900" b="1">
                          <a:solidFill>
                            <a:srgbClr val="000000"/>
                          </a:solidFill>
                          <a:latin typeface="Calibri"/>
                        </a:rPr>
                        <a:t>WE FILL: </a:t>
                      </a:r>
                      <a:r>
                        <a:rPr sz="900" b="0">
                          <a:solidFill>
                            <a:srgbClr val="000000"/>
                          </a:solidFill>
                          <a:latin typeface="Calibri"/>
                        </a:rPr>
                        <a:t>the price of the pattern space: what an exhaustive search buys over their fixed pattern set.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04672">
                <a:tc>
                  <a:txBody>
                    <a:bodyPr wrap="square"/>
                    <a:lstStyle/>
                    <a:p>
                      <a:pPr marL="0" indent="0">
                        <a:buNone/>
                      </a:pPr>
                      <a:r>
                        <a:rPr sz="1050" b="0">
                          <a:solidFill>
                            <a:srgbClr val="000000"/>
                          </a:solidFill>
                          <a:latin typeface="Calibri"/>
                        </a:rPr>
                        <a:t>11</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Tao, Xiao, Luo, He, Zhou, Zhang &amp; Wang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High-Frequency Three-Level Gate Driver for GaN HEMT Bridge Crosstalk Suppression</a:t>
                      </a:r>
                      <a:endParaRPr lang="en-US" sz="1300" dirty="0">
                        <a:latin typeface="Calibri" charset="0"/>
                        <a:ea typeface="Calibri" charset="0"/>
                        <a:cs typeface="Calibri" charset="0"/>
                      </a:endParaRPr>
                    </a:p>
                    <a:p>
                      <a:r>
                        <a:rPr sz="900" b="1">
                          <a:solidFill>
                            <a:srgbClr val="000000"/>
                          </a:solidFill>
                          <a:latin typeface="Calibri"/>
                        </a:rPr>
                        <a:t>IEEE Trans. Power Electron., 39(1), 1343–1352</a:t>
                      </a:r>
                    </a:p>
                    <a:p>
                      <a:r>
                        <a:rPr sz="900" b="1">
                          <a:solidFill>
                            <a:srgbClr val="000000"/>
                          </a:solidFill>
                          <a:latin typeface="Calibri"/>
                        </a:rPr>
                        <a:t>ieeexplore.ieee.org/document/10286072</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Three-level drive; capacitor–diode negative rail with a digitally-clamped zero level, to 5 MHz</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Recent, GaN, and on exactly our failure mode. It suppresses crosstalk with added passives; we get the same protection from the Miller clamp already in the cell and measure its price at 0.04 %.  </a:t>
                      </a:r>
                      <a:r>
                        <a:rPr sz="900" b="1">
                          <a:solidFill>
                            <a:srgbClr val="000000"/>
                          </a:solidFill>
                          <a:latin typeface="Calibri"/>
                        </a:rPr>
                        <a:t>WE FILL: </a:t>
                      </a:r>
                      <a:r>
                        <a:rPr sz="900" b="0">
                          <a:solidFill>
                            <a:srgbClr val="000000"/>
                          </a:solidFill>
                          <a:latin typeface="Calibri"/>
                        </a:rPr>
                        <a:t>whether the setting has to change with the operating point at all. It does not: 3.9 % of baseline.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04672">
                <a:tc>
                  <a:txBody>
                    <a:bodyPr wrap="square"/>
                    <a:lstStyle/>
                    <a:p>
                      <a:pPr marL="0" indent="0">
                        <a:buNone/>
                      </a:pPr>
                      <a:r>
                        <a:rPr sz="1050" b="0">
                          <a:solidFill>
                            <a:srgbClr val="000000"/>
                          </a:solidFill>
                          <a:latin typeface="Calibri"/>
                        </a:rPr>
                        <a:t>12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Sun, Yan, Ma &amp; Xu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An Integrated Suppression Method of Both Gate-Source Voltage Oscillation and Crosstalk for GaN HEMT Gate Driver</a:t>
                      </a:r>
                      <a:endParaRPr lang="en-US" sz="1300" dirty="0">
                        <a:latin typeface="Calibri" charset="0"/>
                        <a:ea typeface="Calibri" charset="0"/>
                        <a:cs typeface="Calibri" charset="0"/>
                      </a:endParaRPr>
                    </a:p>
                    <a:p>
                      <a:r>
                        <a:rPr sz="900" b="1">
                          <a:solidFill>
                            <a:srgbClr val="000000"/>
                          </a:solidFill>
                          <a:latin typeface="Calibri"/>
                        </a:rPr>
                        <a:t>IEEE Trans. Power Electron., 39(11), 14643–14655</a:t>
                      </a:r>
                    </a:p>
                    <a:p>
                      <a:r>
                        <a:rPr sz="900" b="1">
                          <a:solidFill>
                            <a:srgbClr val="000000"/>
                          </a:solidFill>
                          <a:latin typeface="Calibri"/>
                        </a:rPr>
                        <a:t>ieeexplore.ieee.org/document/10591431</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One driver addressing gate-source ringing and crosstalk together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Confirms the two effects are coupled, which is why our cost function prices loss and overshoot jointly rather than optimising either alone.  </a:t>
                      </a:r>
                      <a:r>
                        <a:rPr sz="900" b="1">
                          <a:solidFill>
                            <a:srgbClr val="000000"/>
                          </a:solidFill>
                          <a:latin typeface="Calibri"/>
                        </a:rPr>
                        <a:t>WE FILL: </a:t>
                      </a:r>
                      <a:r>
                        <a:rPr sz="900" b="0">
                          <a:solidFill>
                            <a:srgbClr val="000000"/>
                          </a:solidFill>
                          <a:latin typeface="Calibri"/>
                        </a:rPr>
                        <a:t>both effects in ONE cost function, showing the objectives genuinely conflict (Pareto, slide 16).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r h="804672">
                <a:tc>
                  <a:txBody>
                    <a:bodyPr wrap="square"/>
                    <a:lstStyle/>
                    <a:p>
                      <a:pPr marL="0" indent="0">
                        <a:buNone/>
                      </a:pPr>
                      <a:r>
                        <a:rPr sz="1050" b="0">
                          <a:solidFill>
                            <a:srgbClr val="000000"/>
                          </a:solidFill>
                          <a:latin typeface="Calibri"/>
                        </a:rPr>
                        <a:t>13</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Cai, Ye, Lv &amp; Chen (2026)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High-Efficient GaN Driver With Hybrid Adaptive Dead-Time Control and Peak Delay Control for Synchronous Buck Converter</a:t>
                      </a:r>
                      <a:endParaRPr lang="en-US" sz="1300" dirty="0">
                        <a:latin typeface="Calibri" charset="0"/>
                        <a:ea typeface="Calibri" charset="0"/>
                        <a:cs typeface="Calibri" charset="0"/>
                      </a:endParaRPr>
                    </a:p>
                    <a:p>
                      <a:r>
                        <a:rPr sz="900" b="1">
                          <a:solidFill>
                            <a:srgbClr val="000000"/>
                          </a:solidFill>
                          <a:latin typeface="Calibri"/>
                        </a:rPr>
                        <a:t>IEEE Trans. Power Electron., 41(1), 279–290</a:t>
                      </a:r>
                    </a:p>
                    <a:p>
                      <a:r>
                        <a:rPr sz="900" b="1">
                          <a:solidFill>
                            <a:srgbClr val="000000"/>
                          </a:solidFill>
                          <a:latin typeface="Calibri"/>
                        </a:rPr>
                        <a:t>ieeexplore.ieee.org/document/11146698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Hybrid adaptive dead-time plus peak delay control on a GaN synchronous buck</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most recent adaptive dead-time driver we found, and it adapts the one field our leave-one-out test shows carries the whole benefit — and only at light load.  </a:t>
                      </a:r>
                      <a:r>
                        <a:rPr sz="900" b="1">
                          <a:solidFill>
                            <a:srgbClr val="000000"/>
                          </a:solidFill>
                          <a:latin typeface="Calibri"/>
                        </a:rPr>
                        <a:t>WE FILL: </a:t>
                      </a:r>
                      <a:r>
                        <a:rPr sz="900" b="0">
                          <a:solidFill>
                            <a:srgbClr val="000000"/>
                          </a:solidFill>
                          <a:latin typeface="Calibri"/>
                        </a:rPr>
                        <a:t>which field is worth scheduling. Only dead time, and only at light load; drive strength is worth 0.00 %.</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5" name="Text 2"/>
          <p:cNvSpPr txBox="1"/>
          <p:nvPr/>
        </p:nvSpPr>
        <p:spPr>
          <a:xfrm>
            <a:off x="548640" y="6291072"/>
            <a:ext cx="10332720" cy="365760"/>
          </a:xfrm>
          <a:prstGeom prst="rect">
            <a:avLst/>
          </a:prstGeom>
          <a:noFill/>
          <a:ln/>
        </p:spPr>
        <p:txBody>
          <a:bodyPr wrap="square" lIns="0" tIns="0" rIns="0" bIns="0" rtlCol="0" anchor="ct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[9] is the BASE PAPER: we reproduce its premise — a gate waveform chosen by a multibit code — on GaN, then extend it. All five are verified against the publisher record.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The gap this project fills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10</a:t>
            </a:r>
          </a:p>
        </p:txBody>
      </p:sp>
      <p:sp>
        <p:nvSpPr>
          <p:cNvPr id="6" name="TextBox 5"/>
          <p:cNvSpPr txBox="1"/>
          <p:nvPr/>
        </p:nvSpPr>
        <p:spPr>
          <a:xfrm>
            <a:off x="640080" y="1234440"/>
            <a:ext cx="11064240" cy="914400"/>
          </a:xfrm>
          <a:prstGeom prst="rect">
            <a:avLst/>
          </a:prstGeom>
          <a:noFill/>
        </p:spPr>
        <p:txBody>
          <a:bodyPr wrap="square" lIns="0" tIns="0" rIns="0" bIns="0">
            <a:spAutoFit/>
          </a:bodyPr>
          <a:lstStyle/>
          <a:p>
            <a:pPr marL="177800" indent="0">
              <a:spcAft>
                <a:spcPts val="120"/>
              </a:spcAft>
              <a:buSzPct val="100000"/>
              <a:buNone/>
            </a:pPr>
            <a:r>
              <a:rPr lang="en-US" sz="1500" dirty="0">
                <a:solidFill>
                  <a:srgbClr val="000000"/>
                </a:solidFill>
                <a:latin typeface="Calibri" pitchFamily="34" charset="0"/>
                <a:ea typeface="Calibri" pitchFamily="34" charset="-122"/>
                <a:cs typeface="Calibri" pitchFamily="34" charset="-120"/>
              </a:rPr>
              <a:t>Every paper on these drivers reports ONE number: how much better it is than a plain driver.</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That number hides two separate effects, and they cost very different hardware.</a:t>
            </a:r>
          </a:p>
        </p:txBody>
      </p:sp>
      <p:sp>
        <p:nvSpPr>
          <p:cNvPr id="7" name="TextBox 6"/>
          <p:cNvSpPr txBox="1"/>
          <p:nvPr/>
        </p:nvSpPr>
        <p:spPr>
          <a:xfrm>
            <a:off x="64008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1  —  a better FIXED setting</a:t>
            </a:r>
          </a:p>
        </p:txBody>
      </p:sp>
      <p:sp>
        <p:nvSpPr>
          <p:cNvPr id="8" name="TextBox 7"/>
          <p:cNvSpPr txBox="1"/>
          <p:nvPr/>
        </p:nvSpPr>
        <p:spPr>
          <a:xfrm>
            <a:off x="64008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Pick one good setting once, at design time. Costs nothing while running: no sensor, no ADC, no lookup table, no controller.</a:t>
            </a:r>
          </a:p>
        </p:txBody>
      </p:sp>
      <p:sp>
        <p:nvSpPr>
          <p:cNvPr id="9" name="TextBox 8"/>
          <p:cNvSpPr txBox="1"/>
          <p:nvPr/>
        </p:nvSpPr>
        <p:spPr>
          <a:xfrm>
            <a:off x="448056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25.1 %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0" name="TextBox 9"/>
          <p:cNvSpPr txBox="1"/>
          <p:nvPr/>
        </p:nvSpPr>
        <p:spPr>
          <a:xfrm>
            <a:off x="640080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2  —  ADAPTING per operating point</a:t>
            </a:r>
          </a:p>
        </p:txBody>
      </p:sp>
      <p:sp>
        <p:nvSpPr>
          <p:cNvPr id="11" name="TextBox 10"/>
          <p:cNvSpPr txBox="1"/>
          <p:nvPr/>
        </p:nvSpPr>
        <p:spPr>
          <a:xfrm>
            <a:off x="640080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Change the setting as load, voltage and temperature move. This is the part that needs the sensing hardware.</a:t>
            </a:r>
          </a:p>
        </p:txBody>
      </p:sp>
      <p:sp>
        <p:nvSpPr>
          <p:cNvPr id="12" name="TextBox 11"/>
          <p:cNvSpPr txBox="1"/>
          <p:nvPr/>
        </p:nvSpPr>
        <p:spPr>
          <a:xfrm>
            <a:off x="1024128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3.9 %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3" name="TextBox 12"/>
          <p:cNvSpPr txBox="1"/>
          <p:nvPr/>
        </p:nvSpPr>
        <p:spPr>
          <a:xfrm>
            <a:off x="640080" y="4526280"/>
            <a:ext cx="11064240" cy="1920240"/>
          </a:xfrm>
          <a:prstGeom prst="rect">
            <a:avLst/>
          </a:prstGeom>
          <a:noFill/>
        </p:spPr>
        <p:txBody>
          <a:bodyPr wrap="square" lIns="0" tIns="0" rIns="0" bIns="0">
            <a:spAutoFit/>
          </a:bodyPr>
          <a:lstStyle/>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THE GAP: </a:t>
            </a:r>
            <a:r>
              <a:rPr lang="en-US" sz="1400" dirty="0">
                <a:solidFill>
                  <a:srgbClr val="000000"/>
                </a:solidFill>
                <a:latin typeface="Calibri" pitchFamily="34" charset="0"/>
                <a:ea typeface="Calibri" pitchFamily="34" charset="-122"/>
                <a:cs typeface="Calibri" pitchFamily="34" charset="-120"/>
              </a:rPr>
              <a:t>nobody separates them. No paper says how much of the benefit actually needs the re-tuning, because separating the two means running every setting at every operating point — and nobody has done that.</a:t>
            </a:r>
          </a:p>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WHY IT MATTERS: </a:t>
            </a:r>
            <a:r>
              <a:rPr lang="en-US" sz="1400" dirty="0">
                <a:solidFill>
                  <a:srgbClr val="000000"/>
                </a:solidFill>
                <a:latin typeface="Calibri" pitchFamily="34" charset="0"/>
                <a:ea typeface="Calibri" pitchFamily="34" charset="-122"/>
                <a:cs typeface="Calibri" pitchFamily="34" charset="-120"/>
              </a:rPr>
              <a:t>only Effect 2 pays for the sensor, ADC and lookup table. If it is small, that hardware is mostly buying something a design-time choice already gives you.</a:t>
            </a:r>
          </a:p>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WHAT WE DO: </a:t>
            </a:r>
            <a:r>
              <a:rPr lang="en-US" sz="1400" dirty="0">
                <a:solidFill>
                  <a:srgbClr val="000000"/>
                </a:solidFill>
                <a:latin typeface="Calibri" pitchFamily="34" charset="0"/>
                <a:ea typeface="Calibri" pitchFamily="34" charset="-122"/>
                <a:cs typeface="Calibri" pitchFamily="34" charset="-120"/>
              </a:rPr>
              <a:t>720 settings × 4 operating points, all of them, in ngspice — then report the two numbers separately instead of adding them together.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02</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built</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converter, and the driver that switches it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Aim, and how we approached it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Aim:</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To find out how much of a gate driver’s benefit needs the driver to re-tune itself while the converter is running, and how much comes from choosing one good setting and leaving it fixed.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Proposed Solution:</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 GaN buck converter driven by a </a:t>
            </a:r>
            <a:r>
              <a:rPr lang="en-US" sz="1500" b="1" dirty="0">
                <a:solidFill>
                  <a:srgbClr val="000000"/>
                </a:solidFill>
                <a:latin typeface="Calibri" pitchFamily="34" charset="0"/>
                <a:ea typeface="Calibri" pitchFamily="34" charset="-122"/>
                <a:cs typeface="Calibri" pitchFamily="34" charset="-120"/>
              </a:rPr>
              <a:t xml:space="preserve">segmented gate driver</a:t>
            </a:r>
            <a:r>
              <a:rPr lang="en-US" sz="1500" dirty="0">
                <a:solidFill>
                  <a:srgbClr val="000000"/>
                </a:solidFill>
                <a:latin typeface="Calibri" pitchFamily="34" charset="0"/>
                <a:ea typeface="Calibri" pitchFamily="34" charset="-122"/>
                <a:cs typeface="Calibri" pitchFamily="34" charset="-120"/>
              </a:rPr>
              <a:t xml:space="preserve">: 8 pull-up steps, 8 pull-down steps, an adjustable dead time, a Miller clamp and a −2 V off rail — every one of them a setting we can change and measure.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How we approached it: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1. Build the converter and check it converts.</a:t>
            </a:r>
            <a:r>
              <a:rPr lang="en-US" sz="1500" dirty="0">
                <a:solidFill>
                  <a:srgbClr val="000000"/>
                </a:solidFill>
                <a:latin typeface="Calibri" pitchFamily="34" charset="0"/>
                <a:ea typeface="Calibri" pitchFamily="34" charset="-122"/>
                <a:cs typeface="Calibri" pitchFamily="34" charset="-120"/>
              </a:rPr>
              <a:t xml:space="preserve"> 100 V DC in, 48.6 V DC out at 4.88 A — 236.9 W delivered, 97.6 % efficient.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2. Recreate the fault.</a:t>
            </a:r>
            <a:r>
              <a:rPr lang="en-US" sz="1500" dirty="0">
                <a:solidFill>
                  <a:srgbClr val="000000"/>
                </a:solidFill>
                <a:latin typeface="Calibri" pitchFamily="34" charset="0"/>
                <a:ea typeface="Calibri" pitchFamily="34" charset="-122"/>
                <a:cs typeface="Calibri" pitchFamily="34" charset="-120"/>
              </a:rPr>
              <a:t xml:space="preserve"> At the fastest setting the gate that should be OFF reaches 1.65 V, against a 1.4 V turn-on threshold.</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3. Fix it one change at a time,</a:t>
            </a:r>
            <a:r>
              <a:rPr lang="en-US" sz="1500" dirty="0">
                <a:solidFill>
                  <a:srgbClr val="000000"/>
                </a:solidFill>
                <a:latin typeface="Calibri" pitchFamily="34" charset="0"/>
                <a:ea typeface="Calibri" pitchFamily="34" charset="-122"/>
                <a:cs typeface="Calibri" pitchFamily="34" charset="-120"/>
              </a:rPr>
              <a:t xml:space="preserve"> measuring each change on its own run, not all at once.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4. Ask whether one fixed setting is enough,</a:t>
            </a:r>
            <a:r>
              <a:rPr lang="en-US" sz="1500" dirty="0">
                <a:solidFill>
                  <a:srgbClr val="000000"/>
                </a:solidFill>
                <a:latin typeface="Calibri" pitchFamily="34" charset="0"/>
                <a:ea typeface="Calibri" pitchFamily="34" charset="-122"/>
                <a:cs typeface="Calibri" pitchFamily="34" charset="-120"/>
              </a:rPr>
              <a:t xml:space="preserve"> by running the driver at two operating points and seeing whether the best setting moves.</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Scope and tools:</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scope: </a:t>
            </a:r>
            <a:r>
              <a:rPr lang="en-US" sz="1500" dirty="0">
                <a:solidFill>
                  <a:srgbClr val="000000"/>
                </a:solidFill>
                <a:latin typeface="Calibri" pitchFamily="34" charset="0"/>
                <a:ea typeface="Calibri" pitchFamily="34" charset="-122"/>
                <a:cs typeface="Calibri" pitchFamily="34" charset="-120"/>
              </a:rPr>
              <a:t xml:space="preserve">the converter, the driver, its settings, and the FPGA controller. </a:t>
            </a:r>
            <a:r>
              <a:rPr lang="en-US" sz="1500" b="1" dirty="0">
                <a:solidFill>
                  <a:srgbClr val="000000"/>
                </a:solidFill>
                <a:latin typeface="Calibri" pitchFamily="34" charset="0"/>
                <a:ea typeface="Calibri" pitchFamily="34" charset="-122"/>
                <a:cs typeface="Calibri" pitchFamily="34" charset="-120"/>
              </a:rPr>
              <a:t xml:space="preserve">Out of scope: </a:t>
            </a:r>
            <a:r>
              <a:rPr lang="en-US" sz="1500" dirty="0">
                <a:solidFill>
                  <a:srgbClr val="000000"/>
                </a:solidFill>
                <a:latin typeface="Calibri" pitchFamily="34" charset="0"/>
                <a:ea typeface="Calibri" pitchFamily="34" charset="-122"/>
                <a:cs typeface="Calibri" pitchFamily="34" charset="-120"/>
              </a:rPr>
              <a:t xml:space="preserve">building hardware. </a:t>
            </a:r>
            <a:r>
              <a:rPr lang="en-US" sz="1500" b="1" dirty="0">
                <a:solidFill>
                  <a:srgbClr val="000000"/>
                </a:solidFill>
                <a:latin typeface="Calibri" pitchFamily="34" charset="0"/>
                <a:ea typeface="Calibri" pitchFamily="34" charset="-122"/>
                <a:cs typeface="Calibri" pitchFamily="34" charset="-120"/>
              </a:rPr>
              <a:t xml:space="preserve">Tools: </a:t>
            </a:r>
            <a:r>
              <a:rPr lang="en-US" sz="1500" dirty="0">
                <a:solidFill>
                  <a:srgbClr val="000000"/>
                </a:solidFill>
                <a:latin typeface="Calibri" pitchFamily="34" charset="0"/>
                <a:ea typeface="Calibri" pitchFamily="34" charset="-122"/>
                <a:cs typeface="Calibri" pitchFamily="34" charset="-120"/>
              </a:rPr>
              <a:t xml:space="preserve">ngspice for every simulation, LTspice to draw the circuit and re-check, Vivado for the FPGA.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it works — one use case, start to finish</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flow.png"/>
          <p:cNvPicPr>
            <a:picLocks noChangeAspect="1"/>
          </p:cNvPicPr>
          <p:nvPr/>
        </p:nvPicPr>
        <p:blipFill>
          <a:blip r:embed="rId4"/>
          <a:stretch>
            <a:fillRect/>
          </a:stretch>
        </p:blipFill>
        <p:spPr>
          <a:xfrm>
            <a:off x="1700784" y="1188720"/>
            <a:ext cx="8792300" cy="4617720"/>
          </a:xfrm>
          <a:prstGeom prst="rect">
            <a:avLst/>
          </a:prstGeom>
        </p:spPr>
      </p:pic>
      <p:sp>
        <p:nvSpPr>
          <p:cNvPr id="6" name="TextBox 5"/>
          <p:cNvSpPr txBox="1"/>
          <p:nvPr/>
        </p:nvSpPr>
        <p:spPr>
          <a:xfrm>
            <a:off x="640080" y="5989320"/>
            <a:ext cx="10241280" cy="41148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The figure. </a:t>
            </a:r>
            <a:r>
              <a:rPr lang="en-US" sz="1200" dirty="0">
                <a:solidFill>
                  <a:srgbClr val="000000"/>
                </a:solidFill>
                <a:latin typeface="Calibri" pitchFamily="34" charset="0"/>
                <a:ea typeface="Calibri" pitchFamily="34" charset="-122"/>
                <a:cs typeface="Calibri" pitchFamily="34" charset="-120"/>
              </a:rPr>
              <a:t>One switching edge followed through. Top row: what the controller decides. Bottom row: what the circuit then does.</a:t>
            </a:r>
          </a:p>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What it means. </a:t>
            </a:r>
            <a:r>
              <a:rPr lang="en-US" sz="1200" dirty="0">
                <a:solidFill>
                  <a:srgbClr val="000000"/>
                </a:solidFill>
                <a:latin typeface="Calibri" pitchFamily="34" charset="0"/>
                <a:ea typeface="Calibri" pitchFamily="34" charset="-122"/>
                <a:cs typeface="Calibri" pitchFamily="34" charset="-120"/>
              </a:rPr>
              <a:t>The one shaded diamond is the only live decision. Everything else is set once at power-up.</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System Architecture</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_architecture.png"/>
          <p:cNvPicPr>
            <a:picLocks noChangeAspect="1"/>
          </p:cNvPicPr>
          <p:nvPr/>
        </p:nvPicPr>
        <p:blipFill>
          <a:blip r:embed="rId4"/>
          <a:stretch>
            <a:fillRect/>
          </a:stretch>
        </p:blipFill>
        <p:spPr>
          <a:xfrm>
            <a:off x="1417320" y="1207008"/>
            <a:ext cx="9362598" cy="4754880"/>
          </a:xfrm>
          <a:prstGeom prst="rect">
            <a:avLst/>
          </a:prstGeom>
        </p:spPr>
      </p:pic>
      <p:sp>
        <p:nvSpPr>
          <p:cNvPr id="6" name="TextBox 5"/>
          <p:cNvSpPr txBox="1"/>
          <p:nvPr/>
        </p:nvSpPr>
        <p:spPr>
          <a:xfrm>
            <a:off x="502920" y="5897880"/>
            <a:ext cx="11201400" cy="685800"/>
          </a:xfrm>
          <a:prstGeom prst="rect">
            <a:avLst/>
          </a:prstGeom>
          <a:noFill/>
        </p:spPr>
        <p:txBody>
          <a:bodyPr wrap="square" lIns="0" tIns="0" rIns="0" bIns="0">
            <a:spAutoFit/>
          </a:bodyPr>
          <a:lstStyle/>
          <a:p>
            <a:pPr marL="177800" indent="0">
              <a:spcAft>
                <a:spcPts val="6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figure. </a:t>
            </a:r>
            <a:r>
              <a:rPr lang="en-US" sz="1150" dirty="0">
                <a:solidFill>
                  <a:srgbClr val="000000"/>
                </a:solidFill>
                <a:latin typeface="Calibri" pitchFamily="34" charset="0"/>
                <a:ea typeface="Calibri" pitchFamily="34" charset="-122"/>
                <a:cs typeface="Calibri" pitchFamily="34" charset="-120"/>
              </a:rPr>
              <a:t xml:space="preserve">What talks to what, left to right: the PWM command, the FPGA, the segmented driver, the power stage.</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What it means. </a:t>
            </a:r>
            <a:r>
              <a:rPr lang="en-US" sz="1150" dirty="0">
                <a:solidFill>
                  <a:srgbClr val="000000"/>
                </a:solidFill>
                <a:latin typeface="Calibri" pitchFamily="34" charset="0"/>
                <a:ea typeface="Calibri" pitchFamily="34" charset="-122"/>
                <a:cs typeface="Calibri" pitchFamily="34" charset="-120"/>
              </a:rPr>
              <a:t xml:space="preserve">Only the dashed block needs sensing, and 72 % of what it buys needs one comparator.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drawn and simulated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circuit_and_run_slide.png"/>
          <p:cNvPicPr>
            <a:picLocks noChangeAspect="1"/>
          </p:cNvPicPr>
          <p:nvPr/>
        </p:nvPicPr>
        <p:blipFill>
          <a:blip r:embed="rId6"/>
          <a:stretch>
            <a:fillRect/>
          </a:stretch>
        </p:blipFill>
        <p:spPr>
          <a:xfrm>
            <a:off x="437540" y="1188720"/>
            <a:ext cx="11316614" cy="4160520"/>
          </a:xfrm>
          <a:prstGeom prst="rect">
            <a:avLst/>
          </a:prstGeom>
        </p:spPr>
      </p:pic>
      <p:sp>
        <p:nvSpPr>
          <p:cNvPr id="6" name="TextBox 5"/>
          <p:cNvSpPr txBox="1"/>
          <p:nvPr/>
        </p:nvSpPr>
        <p:spPr>
          <a:xfrm>
            <a:off x="502920" y="5532120"/>
            <a:ext cx="11201400" cy="841248"/>
          </a:xfrm>
          <a:prstGeom prst="rect">
            <a:avLst/>
          </a:prstGeom>
          <a:noFill/>
        </p:spPr>
        <p:txBody>
          <a:bodyPr wrap="square" lIns="0" tIns="0" rIns="0" bIns="0">
            <a:spAutoFit/>
          </a:bodyPr>
          <a:lstStyle/>
          <a:p>
            <a:pPr marL="177800" indent="0">
              <a:spcAft>
                <a:spcPts val="6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figure. </a:t>
            </a:r>
            <a:r>
              <a:rPr lang="en-US" sz="1150" dirty="0">
                <a:solidFill>
                  <a:srgbClr val="000000"/>
                </a:solidFill>
                <a:latin typeface="Calibri" pitchFamily="34" charset="0"/>
                <a:ea typeface="Calibri" pitchFamily="34" charset="-122"/>
                <a:cs typeface="Calibri" pitchFamily="34" charset="-120"/>
              </a:rPr>
              <a:t xml:space="preserve">Left: ltspice/BUCK_converter.asc as LTspice draws it — the 100 V supply and its loop parasitics, the two GaN HEMTs, a segmented driver on each gate, the output filter and the load. Right: the same file after pressing Run.</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What it means. </a:t>
            </a:r>
            <a:r>
              <a:rPr lang="en-US" sz="1150" dirty="0">
                <a:solidFill>
                  <a:srgbClr val="000000"/>
                </a:solidFill>
                <a:latin typeface="Calibri" pitchFamily="34" charset="0"/>
                <a:ea typeface="Calibri" pitchFamily="34" charset="-122"/>
                <a:cs typeface="Calibri" pitchFamily="34" charset="-120"/>
              </a:rPr>
              <a:t xml:space="preserve">This is not a picture of a circuit, it is the circuit. It gives 48.84 V and 4.88 A; ngspice on the same design gives 48.56 V and 4.875 A — 0.6 % apart.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We implemented the base paper, then ours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9</a:t>
            </a:r>
          </a:p>
        </p:txBody>
      </p:sp>
      <p:sp>
        <p:nvSpPr>
          <p:cNvPr id="6" name="TextBox 5"/>
          <p:cNvSpPr txBox="1"/>
          <p:nvPr/>
        </p:nvSpPr>
        <p:spPr>
          <a:xfrm>
            <a:off x="640080" y="1207008"/>
            <a:ext cx="11064240" cy="86868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Citing a base paper is not a comparison, so we built theirs too. </a:t>
            </a:r>
            <a:r>
              <a:rPr lang="en-US" sz="1250" b="1" dirty="0">
                <a:solidFill>
                  <a:srgbClr val="000000"/>
                </a:solidFill>
                <a:latin typeface="Calibri" pitchFamily="34" charset="0"/>
                <a:ea typeface="Calibri" pitchFamily="34" charset="-122"/>
                <a:cs typeface="Calibri" pitchFamily="34" charset="-120"/>
              </a:rPr>
              <a:t>models/basedrv.lib</a:t>
            </a:r>
            <a:r>
              <a:rPr lang="en-US" sz="1250" dirty="0">
                <a:solidFill>
                  <a:srgbClr val="000000"/>
                </a:solidFill>
                <a:latin typeface="Calibri" pitchFamily="34" charset="0"/>
                <a:ea typeface="Calibri" pitchFamily="34" charset="-122"/>
                <a:cs typeface="Calibri" pitchFamily="34" charset="-120"/>
              </a:rPr>
              <a:t> is Takayama, Okuda &amp; Hikihara's driver: a multi-bit code that changes DURING the switching edge, with no gate clamp and no −2 V rail, because those two are ours. It runs inside the same sim/dpt.cir, so only the driver differs.</a:t>
            </a:r>
          </a:p>
        </p:txBody>
      </p:sp>
      <p:sp>
        <p:nvSpPr>
          <p:cNvPr id="7" name="TextBox 6"/>
          <p:cNvSpPr txBox="1"/>
          <p:nvPr/>
        </p:nvSpPr>
        <p:spPr>
          <a:xfrm>
            <a:off x="640080" y="239572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Base paper, as we built it</a:t>
            </a:r>
          </a:p>
        </p:txBody>
      </p:sp>
      <p:sp>
        <p:nvSpPr>
          <p:cNvPr id="8" name="TextBox 7"/>
          <p:cNvSpPr txBox="1"/>
          <p:nvPr/>
        </p:nvSpPr>
        <p:spPr>
          <a:xfrm>
            <a:off x="4343400" y="234086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+0.534 V</a:t>
            </a:r>
          </a:p>
        </p:txBody>
      </p:sp>
      <p:sp>
        <p:nvSpPr>
          <p:cNvPr id="9" name="TextBox 8"/>
          <p:cNvSpPr txBox="1"/>
          <p:nvPr/>
        </p:nvSpPr>
        <p:spPr>
          <a:xfrm>
            <a:off x="5943600" y="239572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Their changing-in-time code on its own already clears the 1.4 V threshold.</a:t>
            </a:r>
          </a:p>
        </p:txBody>
      </p:sp>
      <p:sp>
        <p:nvSpPr>
          <p:cNvPr id="10" name="TextBox 9"/>
          <p:cNvSpPr txBox="1"/>
          <p:nvPr/>
        </p:nvSpPr>
        <p:spPr>
          <a:xfrm>
            <a:off x="640080" y="303580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constant code, no clamp</a:t>
            </a:r>
          </a:p>
        </p:txBody>
      </p:sp>
      <p:sp>
        <p:nvSpPr>
          <p:cNvPr id="11" name="TextBox 10"/>
          <p:cNvSpPr txBox="1"/>
          <p:nvPr/>
        </p:nvSpPr>
        <p:spPr>
          <a:xfrm>
            <a:off x="4343400" y="298094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−0.249 V</a:t>
            </a:r>
          </a:p>
        </p:txBody>
      </p:sp>
      <p:sp>
        <p:nvSpPr>
          <p:cNvPr id="12" name="TextBox 11"/>
          <p:cNvSpPr txBox="1"/>
          <p:nvPr/>
        </p:nvSpPr>
        <p:spPr>
          <a:xfrm>
            <a:off x="5943600" y="303580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b="1">
                <a:solidFill>
                  <a:srgbClr val="000000"/>
                </a:solidFill>
                <a:latin typeface="Calibri" pitchFamily="34" charset="0"/>
                <a:ea typeface="Calibri" pitchFamily="34" charset="-122"/>
                <a:cs typeface="Calibri" pitchFamily="34" charset="-120"/>
              </a:rPr>
              <a:t>FALSE TURN-ON. </a:t>
            </a:r>
            <a:r>
              <a:rPr lang="en-US" sz="1150" dirty="0">
                <a:solidFill>
                  <a:srgbClr val="000000"/>
                </a:solidFill>
                <a:latin typeface="Calibri" pitchFamily="34" charset="0"/>
                <a:ea typeface="Calibri" pitchFamily="34" charset="-122"/>
                <a:cs typeface="Calibri" pitchFamily="34" charset="-120"/>
              </a:rPr>
              <a:t>A fast fixed code is worse than their timed one — their idea is real, and we reproduce it.</a:t>
            </a:r>
          </a:p>
        </p:txBody>
      </p:sp>
      <p:sp>
        <p:nvSpPr>
          <p:cNvPr id="13" name="TextBox 12"/>
          <p:cNvSpPr txBox="1"/>
          <p:nvPr/>
        </p:nvSpPr>
        <p:spPr>
          <a:xfrm>
            <a:off x="640080" y="3675887"/>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active Miller clamp on</a:t>
            </a:r>
          </a:p>
        </p:txBody>
      </p:sp>
      <p:sp>
        <p:nvSpPr>
          <p:cNvPr id="14" name="TextBox 13"/>
          <p:cNvSpPr txBox="1"/>
          <p:nvPr/>
        </p:nvSpPr>
        <p:spPr>
          <a:xfrm>
            <a:off x="4343400" y="3621023"/>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+0.570 V</a:t>
            </a:r>
          </a:p>
        </p:txBody>
      </p:sp>
      <p:sp>
        <p:nvSpPr>
          <p:cNvPr id="15" name="TextBox 14"/>
          <p:cNvSpPr txBox="1"/>
          <p:nvPr/>
        </p:nvSpPr>
        <p:spPr>
          <a:xfrm>
            <a:off x="5943600" y="3675887"/>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Only just past the base paper. The clamp on its own is not the story.</a:t>
            </a:r>
          </a:p>
        </p:txBody>
      </p:sp>
      <p:sp>
        <p:nvSpPr>
          <p:cNvPr id="16" name="TextBox 15"/>
          <p:cNvSpPr txBox="1"/>
          <p:nvPr/>
        </p:nvSpPr>
        <p:spPr>
          <a:xfrm>
            <a:off x="640080" y="4315968"/>
            <a:ext cx="3566160" cy="53035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Ours, clamp + −2 V off-bias</a:t>
            </a:r>
          </a:p>
        </p:txBody>
      </p:sp>
      <p:sp>
        <p:nvSpPr>
          <p:cNvPr id="17" name="TextBox 16"/>
          <p:cNvSpPr txBox="1"/>
          <p:nvPr/>
        </p:nvSpPr>
        <p:spPr>
          <a:xfrm>
            <a:off x="4343400" y="426110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+2.576 V</a:t>
            </a:r>
          </a:p>
        </p:txBody>
      </p:sp>
      <p:sp>
        <p:nvSpPr>
          <p:cNvPr id="18" name="TextBox 17"/>
          <p:cNvSpPr txBox="1"/>
          <p:nvPr/>
        </p:nvSpPr>
        <p:spPr>
          <a:xfrm>
            <a:off x="5943600" y="431596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4.8× the base paper's margin. This is the version we ship.</a:t>
            </a:r>
          </a:p>
        </p:txBody>
      </p:sp>
      <p:sp>
        <p:nvSpPr>
          <p:cNvPr id="19" name="TextBox 18"/>
          <p:cNvSpPr txBox="1"/>
          <p:nvPr/>
        </p:nvSpPr>
        <p:spPr>
          <a:xfrm>
            <a:off x="640080" y="5138928"/>
            <a:ext cx="11064240" cy="1234440"/>
          </a:xfrm>
          <a:prstGeom prst="rect">
            <a:avLst/>
          </a:prstGeom>
          <a:noFill/>
        </p:spPr>
        <p:txBody>
          <a:bodyPr wrap="square" lIns="0" tIns="0" rIns="0" bIns="0">
            <a:spAutoFit/>
          </a:bodyPr>
          <a:lstStyle/>
          <a:p>
            <a:pPr marL="177800" indent="0">
              <a:spcAft>
                <a:spcPts val="150"/>
              </a:spcAft>
              <a:buSzPct val="100000"/>
              <a:buNone/>
            </a:pPr>
            <a:r>
              <a:rPr lang="en-US" sz="1250" b="1" dirty="0">
                <a:solidFill>
                  <a:srgbClr val="000000"/>
                </a:solidFill>
                <a:latin typeface="Calibri" pitchFamily="34" charset="0"/>
                <a:ea typeface="Calibri" pitchFamily="34" charset="-122"/>
                <a:cs typeface="Calibri" pitchFamily="34" charset="-120"/>
              </a:rPr>
              <a:t>What the comparison shows. </a:t>
            </a:r>
            <a:r>
              <a:rPr lang="en-US" sz="1250" dirty="0">
                <a:solidFill>
                  <a:srgbClr val="000000"/>
                </a:solidFill>
                <a:latin typeface="Calibri" pitchFamily="34" charset="0"/>
                <a:ea typeface="Calibri" pitchFamily="34" charset="-122"/>
                <a:cs typeface="Calibri" pitchFamily="34" charset="-120"/>
              </a:rPr>
              <a:t>The base paper shapes the gate over TIME; we keep the code steady and add two things they do not have. Both clear the threshold — theirs works — but ours clears it by 4.8× more, and ours is the one whose settings can then be searched in full.</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Command: python3 scripts/basepaper_compare.py — four ngspice runs, prints this table.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Work Completed — 50 %</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converter is built and it runs.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100 V DC in, 48.6 V DC out at 4.88 A — 236.9 W into the load from 242.6 W drawn, 97.6 % efficient.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fault is reproduced, and fixed.</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The off gate reaches 1.65 V against a 1.4 V threshold. With the clamp and the −2 V rail: 2.58 V of margin.</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Specific cases run and measured, one at a time.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Five settings at full load, then the same driver swept at two operating points — every number below came off its own ngspice run.</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setting measured on the converter itself.</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Across the same knob, power lost moves 4.5 % and peak device voltage moves 50 %, in opposite directions.</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FPGA controller is written and verified.</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checks pass in Icarus Verilog; 20 LUTs and 20 flip-flops in Vivado, 200 MHz met with 1.996 ns to spare.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Where we are, and what is next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Where we are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 is done. </a:t>
            </a:r>
            <a:r>
              <a:rPr lang="en-US" sz="1500" dirty="0">
                <a:solidFill>
                  <a:srgbClr val="000000"/>
                </a:solidFill>
                <a:latin typeface="Calibri" pitchFamily="34" charset="0"/>
                <a:ea typeface="Calibri" pitchFamily="34" charset="-122"/>
                <a:cs typeface="Calibri" pitchFamily="34" charset="-120"/>
              </a:rPr>
              <a:t xml:space="preserve">The converter is built and converting, the crosstalk fault is reproduced and fixed, the named cases have been run, and the FPGA controller is written and verified.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What we aim to do next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Review-II — close the loop.</a:t>
            </a:r>
            <a:r>
              <a:rPr lang="en-US" sz="1500" dirty="0">
                <a:solidFill>
                  <a:srgbClr val="000000"/>
                </a:solidFill>
                <a:latin typeface="Calibri" pitchFamily="34" charset="0"/>
                <a:ea typeface="Calibri" pitchFamily="34" charset="-122"/>
                <a:cs typeface="Calibri" pitchFamily="34" charset="-120"/>
              </a:rPr>
              <a:t xml:space="preserve"> Add a feedback controller so the output holds its value when the load changes, then re-run the driver-setting study with the loop closed.</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Review-III — settle the light-load question.</a:t>
            </a:r>
            <a:r>
              <a:rPr lang="en-US" sz="1500" dirty="0">
                <a:solidFill>
                  <a:srgbClr val="000000"/>
                </a:solidFill>
                <a:latin typeface="Calibri" pitchFamily="34" charset="0"/>
                <a:ea typeface="Calibri" pitchFamily="34" charset="-122"/>
                <a:cs typeface="Calibri" pitchFamily="34" charset="-120"/>
              </a:rPr>
              <a:t xml:space="preserve"> The cheapest dead time is 15 ns at full load and 5 ns at light load. Run the converter at both and measure what a two-setting controller actually saves against one fixed setting — that is the number the whole project turns on.</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Same tools throughout.</a:t>
            </a:r>
            <a:r>
              <a:rPr lang="en-US" sz="1500" dirty="0">
                <a:solidFill>
                  <a:srgbClr val="000000"/>
                </a:solidFill>
                <a:latin typeface="Calibri" pitchFamily="34" charset="0"/>
                <a:ea typeface="Calibri" pitchFamily="34" charset="-122"/>
                <a:cs typeface="Calibri" pitchFamily="34" charset="-120"/>
              </a:rPr>
              <a:t xml:space="preserve"> ngspice for the circuit, Vivado for the FPGA, start to finish.</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The risk we already know.</a:t>
            </a:r>
            <a:r>
              <a:rPr lang="en-US" sz="1500" dirty="0">
                <a:solidFill>
                  <a:srgbClr val="000000"/>
                </a:solidFill>
                <a:latin typeface="Calibri" pitchFamily="34" charset="0"/>
                <a:ea typeface="Calibri" pitchFamily="34" charset="-122"/>
                <a:cs typeface="Calibri" pitchFamily="34" charset="-120"/>
              </a:rPr>
              <a:t xml:space="preserve"> Closing the loop changes where the converter actually operates, so the setting study has to be redone afterwards, not before. That ordering is the schedule risk.</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Where the work lives</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github.com/Amritha902/gan-driver</a:t>
            </a:r>
            <a:r>
              <a:rPr lang="en-US" sz="1500" dirty="0">
                <a:solidFill>
                  <a:srgbClr val="000000"/>
                </a:solidFill>
                <a:latin typeface="Calibri" pitchFamily="34" charset="0"/>
                <a:ea typeface="Calibri" pitchFamily="34" charset="-122"/>
                <a:cs typeface="Calibri" pitchFamily="34" charset="-120"/>
              </a:rPr>
              <a:t xml:space="preserve"> — the circuits, the scripts, the Verilog and the Vivado reports.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FPGA Controller — verified RTL</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Three Verilog modules that produce exactly the 720 settings the SPICE model uses.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Dead time is a </a:t>
            </a:r>
            <a:r>
              <a:rPr lang="en-US" sz="1500" b="1" dirty="0">
                <a:solidFill>
                  <a:srgbClr val="000000"/>
                </a:solidFill>
                <a:latin typeface="Calibri" pitchFamily="34" charset="0"/>
                <a:ea typeface="Calibri" pitchFamily="34" charset="-122"/>
                <a:cs typeface="Calibri" pitchFamily="34" charset="-120"/>
              </a:rPr>
              <a:t xml:space="preserve">live register</a:t>
            </a:r>
            <a:r>
              <a:rPr lang="en-US" sz="1500" dirty="0">
                <a:solidFill>
                  <a:srgbClr val="000000"/>
                </a:solidFill>
                <a:latin typeface="Calibri" pitchFamily="34" charset="0"/>
                <a:ea typeface="Calibri" pitchFamily="34" charset="-122"/>
                <a:cs typeface="Calibri" pitchFamily="34" charset="-120"/>
              </a:rPr>
              <a:t xml:space="preserve">; drive strength is </a:t>
            </a:r>
            <a:r>
              <a:rPr lang="en-US" sz="1500" b="1" dirty="0">
                <a:solidFill>
                  <a:srgbClr val="000000"/>
                </a:solidFill>
                <a:latin typeface="Calibri" pitchFamily="34" charset="0"/>
                <a:ea typeface="Calibri" pitchFamily="34" charset="-122"/>
                <a:cs typeface="Calibri" pitchFamily="34" charset="-120"/>
              </a:rPr>
              <a:t xml:space="preserve">fixed at power-up</a:t>
            </a:r>
            <a:r>
              <a:rPr lang="en-US" sz="1500" dirty="0">
                <a:solidFill>
                  <a:srgbClr val="000000"/>
                </a:solidFill>
                <a:latin typeface="Calibri" pitchFamily="34" charset="0"/>
                <a:ea typeface="Calibri" pitchFamily="34" charset="-122"/>
                <a:cs typeface="Calibri" pitchFamily="34" charset="-120"/>
              </a:rPr>
              <a:t xml:space="preserve"> — worth 5.45 % against 0.00 %.</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checks pass in Icarus Verilog, safe reset included. A deliberately broken version is caught 221 times (sh rtl/mutate.sh).</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Built in Vivado 2024.1.2</a:t>
            </a:r>
            <a:r>
              <a:rPr lang="en-US" sz="1500" dirty="0">
                <a:solidFill>
                  <a:srgbClr val="000000"/>
                </a:solidFill>
                <a:latin typeface="Calibri" pitchFamily="34" charset="0"/>
                <a:ea typeface="Calibri" pitchFamily="34" charset="-122"/>
                <a:cs typeface="Calibri" pitchFamily="34" charset="-120"/>
              </a:rPr>
              <a:t xml:space="preserve"> on an xc7a35t FPGA: </a:t>
            </a:r>
            <a:r>
              <a:rPr lang="en-US" sz="1500" b="1" dirty="0">
                <a:solidFill>
                  <a:srgbClr val="000000"/>
                </a:solidFill>
                <a:latin typeface="Calibri" pitchFamily="34" charset="0"/>
                <a:ea typeface="Calibri" pitchFamily="34" charset="-122"/>
                <a:cs typeface="Calibri" pitchFamily="34" charset="-120"/>
              </a:rPr>
              <a:t xml:space="preserve">20 LUTs, 20 flip-flops</a:t>
            </a:r>
            <a:r>
              <a:rPr lang="en-US" sz="1500" dirty="0">
                <a:solidFill>
                  <a:srgbClr val="000000"/>
                </a:solidFill>
                <a:latin typeface="Calibri" pitchFamily="34" charset="0"/>
                <a:ea typeface="Calibri" pitchFamily="34" charset="-122"/>
                <a:cs typeface="Calibri" pitchFamily="34" charset="-120"/>
              </a:rPr>
              <a:t xml:space="preserve"> — 0.10 % of the chip. 200 MHz timing is </a:t>
            </a:r>
            <a:r>
              <a:rPr lang="en-US" sz="1500" b="1" dirty="0">
                <a:solidFill>
                  <a:srgbClr val="000000"/>
                </a:solidFill>
                <a:latin typeface="Calibri" pitchFamily="34" charset="0"/>
                <a:ea typeface="Calibri" pitchFamily="34" charset="-122"/>
                <a:cs typeface="Calibri" pitchFamily="34" charset="-120"/>
              </a:rPr>
              <a:t xml:space="preserve">met, with 1.996 ns to spare</a:t>
            </a:r>
            <a:r>
              <a:rPr lang="en-US" sz="1500" dirty="0">
                <a:solidFill>
                  <a:srgbClr val="000000"/>
                </a:solidFill>
                <a:latin typeface="Calibri" pitchFamily="34" charset="0"/>
                <a:ea typeface="Calibri" pitchFamily="34" charset="-122"/>
                <a:cs typeface="Calibri" pitchFamily="34" charset="-120"/>
              </a:rPr>
              <a:t xml:space="preserv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Timing is met where the logic runs. </a:t>
            </a:r>
            <a:r>
              <a:rPr lang="en-US" sz="1500" dirty="0">
                <a:solidFill>
                  <a:srgbClr val="000000"/>
                </a:solidFill>
                <a:latin typeface="Calibri" pitchFamily="34" charset="0"/>
                <a:ea typeface="Calibri" pitchFamily="34" charset="-122"/>
                <a:cs typeface="Calibri" pitchFamily="34" charset="-120"/>
              </a:rPr>
              <a:t xml:space="preserve">The paths that miss are chip-output paths, where the output pad alone takes 3.49 ns of a 4 ns budget — pad delay, not logic.</a:t>
            </a:r>
          </a:p>
        </p:txBody>
      </p:sp>
      <p:pic>
        <p:nvPicPr>
          <p:cNvPr id="6" name="Picture 5" descr="fig_rtl_waveform.png"/>
          <p:cNvPicPr>
            <a:picLocks noChangeAspect="1"/>
          </p:cNvPicPr>
          <p:nvPr/>
        </p:nvPicPr>
        <p:blipFill>
          <a:blip r:embed="rId4"/>
          <a:stretch>
            <a:fillRect/>
          </a:stretch>
        </p:blipFill>
        <p:spPr>
          <a:xfrm>
            <a:off x="2743200" y="3703320"/>
            <a:ext cx="6675120" cy="2422423"/>
          </a:xfrm>
          <a:prstGeom prst="rect">
            <a:avLst/>
          </a:prstGeom>
        </p:spPr>
      </p:pic>
      <p:sp>
        <p:nvSpPr>
          <p:cNvPr id="7" name="TextBox 6"/>
          <p:cNvSpPr txBox="1"/>
          <p:nvPr/>
        </p:nvSpPr>
        <p:spPr>
          <a:xfrm>
            <a:off x="2743200" y="6217920"/>
            <a:ext cx="6675120" cy="310896"/>
          </a:xfrm>
          <a:prstGeom prst="rect">
            <a:avLst/>
          </a:prstGeom>
          <a:noFill/>
        </p:spPr>
        <p:txBody>
          <a:bodyPr wrap="square" lIns="0" tIns="0" rIns="0" bIns="0">
            <a:spAutoFit/>
          </a:bodyPr>
          <a:lstStyle/>
          <a:p>
            <a:pPr marL="177800" indent="0">
              <a:spcAft>
                <a:spcPts val="0"/>
              </a:spcAft>
              <a:buSzPct val="100000"/>
              <a:buNone/>
            </a:pPr>
            <a:r>
              <a:rPr lang="en-US" sz="1000" dirty="0" b="1">
                <a:solidFill>
                  <a:srgbClr val="000000"/>
                </a:solidFill>
                <a:latin typeface="Calibri" pitchFamily="34" charset="0"/>
                <a:ea typeface="Calibri" pitchFamily="34" charset="-122"/>
                <a:cs typeface="Calibri" pitchFamily="34" charset="-120"/>
              </a:rPr>
              <a:t>The figure. </a:t>
            </a:r>
            <a:r>
              <a:rPr lang="en-US" sz="1000" dirty="0">
                <a:solidFill>
                  <a:srgbClr val="000000"/>
                </a:solidFill>
                <a:latin typeface="Calibri" pitchFamily="34" charset="0"/>
                <a:ea typeface="Calibri" pitchFamily="34" charset="-122"/>
                <a:cs typeface="Calibri" pitchFamily="34" charset="-120"/>
              </a:rPr>
              <a:t>The controller's own output, captured by Icarus Verilog.</a:t>
            </a:r>
          </a:p>
          <a:p>
            <a:pPr marL="177800" indent="0">
              <a:spcAft>
                <a:spcPts val="0"/>
              </a:spcAft>
              <a:buSzPct val="100000"/>
              <a:buNone/>
            </a:pPr>
            <a:r>
              <a:rPr lang="en-US" sz="1000" dirty="0" b="1">
                <a:solidFill>
                  <a:srgbClr val="000000"/>
                </a:solidFill>
                <a:latin typeface="Calibri" pitchFamily="34" charset="0"/>
                <a:ea typeface="Calibri" pitchFamily="34" charset="-122"/>
                <a:cs typeface="Calibri" pitchFamily="34" charset="-120"/>
              </a:rPr>
              <a:t>What it means. </a:t>
            </a:r>
            <a:r>
              <a:rPr lang="en-US" sz="1000" dirty="0">
                <a:solidFill>
                  <a:srgbClr val="000000"/>
                </a:solidFill>
                <a:latin typeface="Calibri" pitchFamily="34" charset="0"/>
                <a:ea typeface="Calibri" pitchFamily="34" charset="-122"/>
                <a:cs typeface="Calibri" pitchFamily="34" charset="-120"/>
              </a:rPr>
              <a:t>The two pull-up banks never overlap. The shaded gap is the dead time, so no shoot-through window exists.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 simulation and synthesis, on screen</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vivado_simulation.png"/>
          <p:cNvPicPr>
            <a:picLocks noChangeAspect="1"/>
          </p:cNvPicPr>
          <p:nvPr/>
        </p:nvPicPr>
        <p:blipFill>
          <a:blip r:embed="rId5"/>
          <a:stretch>
            <a:fillRect/>
          </a:stretch>
        </p:blipFill>
        <p:spPr>
          <a:xfrm>
            <a:off x="502920" y="1417320"/>
            <a:ext cx="5532120" cy="3111818"/>
          </a:xfrm>
          <a:prstGeom prst="rect">
            <a:avLst/>
          </a:prstGeom>
        </p:spPr>
      </p:pic>
      <p:pic>
        <p:nvPicPr>
          <p:cNvPr id="6" name="Picture 5" descr="vivado_console.png"/>
          <p:cNvPicPr>
            <a:picLocks noChangeAspect="1"/>
          </p:cNvPicPr>
          <p:nvPr/>
        </p:nvPicPr>
        <p:blipFill>
          <a:blip r:embed="rId6"/>
          <a:stretch>
            <a:fillRect/>
          </a:stretch>
        </p:blipFill>
        <p:spPr>
          <a:xfrm>
            <a:off x="6263640" y="1417320"/>
            <a:ext cx="5532120" cy="3111818"/>
          </a:xfrm>
          <a:prstGeom prst="rect">
            <a:avLst/>
          </a:prstGeom>
        </p:spPr>
      </p:pic>
      <p:sp>
        <p:nvSpPr>
          <p:cNvPr id="7" name="TextBox 6"/>
          <p:cNvSpPr txBox="1"/>
          <p:nvPr/>
        </p:nvSpPr>
        <p:spPr>
          <a:xfrm>
            <a:off x="50292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Behavioural simulation. </a:t>
            </a:r>
            <a:r>
              <a:rPr lang="en-US" sz="1150" dirty="0">
                <a:solidFill>
                  <a:srgbClr val="000000"/>
                </a:solidFill>
                <a:latin typeface="Calibri" pitchFamily="34" charset="0"/>
                <a:ea typeface="Calibri" pitchFamily="34" charset="-122"/>
                <a:cs typeface="Calibri" pitchFamily="34" charset="-120"/>
              </a:rPr>
              <a:t xml:space="preserve">fails[31:0] = 0 — every asserted property holds in Vivado's own simulator, a third tool after Icarus and the mutation test.</a:t>
            </a:r>
          </a:p>
        </p:txBody>
      </p:sp>
      <p:sp>
        <p:nvSpPr>
          <p:cNvPr id="8" name="TextBox 7"/>
          <p:cNvSpPr txBox="1"/>
          <p:nvPr/>
        </p:nvSpPr>
        <p:spPr>
          <a:xfrm>
            <a:off x="626364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Synthesis console. </a:t>
            </a:r>
            <a:r>
              <a:rPr lang="en-US" sz="1150" dirty="0">
                <a:solidFill>
                  <a:srgbClr val="000000"/>
                </a:solidFill>
                <a:latin typeface="Calibri" pitchFamily="34" charset="0"/>
                <a:ea typeface="Calibri" pitchFamily="34" charset="-122"/>
                <a:cs typeface="Calibri" pitchFamily="34" charset="-120"/>
              </a:rPr>
              <a:t xml:space="preserve">33 LUTs programmable against 20 strapped — the cost of programmability, printed by the tool.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03</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found</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Choosing the setting well beats re-tuning it — and by how much</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cases we ran, one at a time</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cases.png"/>
          <p:cNvPicPr>
            <a:picLocks noChangeAspect="1"/>
          </p:cNvPicPr>
          <p:nvPr/>
        </p:nvPicPr>
        <p:blipFill>
          <a:blip r:embed="rId4"/>
          <a:stretch>
            <a:fillRect/>
          </a:stretch>
        </p:blipFill>
        <p:spPr>
          <a:xfrm>
            <a:off x="731367" y="1170432"/>
            <a:ext cx="10728960" cy="4389120"/>
          </a:xfrm>
          <a:prstGeom prst="rect">
            <a:avLst/>
          </a:prstGeom>
        </p:spPr>
      </p:pic>
      <p:sp>
        <p:nvSpPr>
          <p:cNvPr id="6" name="TextBox 5"/>
          <p:cNvSpPr txBox="1"/>
          <p:nvPr/>
        </p:nvSpPr>
        <p:spPr>
          <a:xfrm>
            <a:off x="502920" y="566928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The figure. </a:t>
            </a:r>
            <a:r>
              <a:rPr lang="en-US" sz="1250" dirty="0">
                <a:solidFill>
                  <a:srgbClr val="000000"/>
                </a:solidFill>
                <a:latin typeface="Calibri" pitchFamily="34" charset="0"/>
                <a:ea typeface="Calibri" pitchFamily="34" charset="-122"/>
                <a:cs typeface="Calibri" pitchFamily="34" charset="-120"/>
              </a:rPr>
              <a:t>(a) five settings at full load, each its own ngspice run; (b) the same driver swept at two operating points.</a:t>
            </a:r>
          </a:p>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What it means. </a:t>
            </a:r>
            <a:r>
              <a:rPr lang="en-US" sz="1100" dirty="0">
                <a:solidFill>
                  <a:srgbClr val="000000"/>
                </a:solidFill>
                <a:latin typeface="Calibri" pitchFamily="34" charset="0"/>
                <a:ea typeface="Calibri" pitchFamily="34" charset="-122"/>
                <a:cs typeface="Calibri" pitchFamily="34" charset="-120"/>
              </a:rPr>
              <a:t>The clamp removes the fault. The cheapest dead time is 15 ns at full load and 5 ns at light load — two different numbers, and that gap is the only thing worth adapting.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Which tool did what</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tools.png"/>
          <p:cNvPicPr>
            <a:picLocks noChangeAspect="1"/>
          </p:cNvPicPr>
          <p:nvPr/>
        </p:nvPicPr>
        <p:blipFill>
          <a:blip r:embed="rId4"/>
          <a:stretch>
            <a:fillRect/>
          </a:stretch>
        </p:blipFill>
        <p:spPr>
          <a:xfrm>
            <a:off x="1188795" y="1234440"/>
            <a:ext cx="9814106" cy="4297680"/>
          </a:xfrm>
          <a:prstGeom prst="rect">
            <a:avLst/>
          </a:prstGeom>
        </p:spPr>
      </p:pic>
      <p:sp>
        <p:nvSpPr>
          <p:cNvPr id="6" name="TextBox 5"/>
          <p:cNvSpPr txBox="1"/>
          <p:nvPr/>
        </p:nvSpPr>
        <p:spPr>
          <a:xfrm>
            <a:off x="502920" y="5669280"/>
            <a:ext cx="11201400" cy="822960"/>
          </a:xfrm>
          <a:prstGeom prst="rect">
            <a:avLst/>
          </a:prstGeom>
          <a:noFill/>
        </p:spPr>
        <p:txBody>
          <a:bodyPr wrap="square" lIns="0" tIns="0" rIns="0" bIns="0">
            <a:spAutoFit/>
          </a:bodyPr>
          <a:lstStyle/>
          <a:p>
            <a:pPr marL="177800" indent="0">
              <a:spcAft>
                <a:spcPts val="6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figure. </a:t>
            </a:r>
            <a:r>
              <a:rPr lang="en-US" sz="1150" dirty="0">
                <a:solidFill>
                  <a:srgbClr val="000000"/>
                </a:solidFill>
                <a:latin typeface="Calibri" pitchFamily="34" charset="0"/>
                <a:ea typeface="Calibri" pitchFamily="34" charset="-122"/>
                <a:cs typeface="Calibri" pitchFamily="34" charset="-120"/>
              </a:rPr>
              <a:t xml:space="preserve">Every circuit simulation in the study is ngspice. LTspice draws the same circuit and re-measures the crosstalk result.</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What it means. </a:t>
            </a:r>
            <a:r>
              <a:rPr lang="en-US" sz="1150" dirty="0">
                <a:solidFill>
                  <a:srgbClr val="000000"/>
                </a:solidFill>
                <a:latin typeface="Calibri" pitchFamily="34" charset="0"/>
                <a:ea typeface="Calibri" pitchFamily="34" charset="-122"/>
                <a:cs typeface="Calibri" pitchFamily="34" charset="-120"/>
              </a:rPr>
              <a:t xml:space="preserve">One tool does the work. The second exists so that no headline number rests on a single program.</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1 — crosstalk is real; the clamp fixes it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1_crosstalk.png"/>
          <p:cNvPicPr>
            <a:picLocks noChangeAspect="1"/>
          </p:cNvPicPr>
          <p:nvPr/>
        </p:nvPicPr>
        <p:blipFill>
          <a:blip r:embed="rId4"/>
          <a:stretch>
            <a:fillRect/>
          </a:stretch>
        </p:blipFill>
        <p:spPr>
          <a:xfrm>
            <a:off x="640080" y="1325880"/>
            <a:ext cx="6675120" cy="4238315"/>
          </a:xfrm>
          <a:prstGeom prst="rect">
            <a:avLst/>
          </a:prstGeom>
        </p:spPr>
      </p:pic>
      <p:sp>
        <p:nvSpPr>
          <p:cNvPr id="6" name="TextBox 5"/>
          <p:cNvSpPr txBox="1"/>
          <p:nvPr/>
        </p:nvSpPr>
        <p:spPr>
          <a:xfrm>
            <a:off x="640080" y="5760720"/>
            <a:ext cx="6675120" cy="41148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The figure. </a:t>
            </a:r>
            <a:r>
              <a:rPr lang="en-US" sz="1100" dirty="0">
                <a:solidFill>
                  <a:srgbClr val="000000"/>
                </a:solidFill>
                <a:latin typeface="Calibri" pitchFamily="34" charset="0"/>
                <a:ea typeface="Calibri" pitchFamily="34" charset="-122"/>
                <a:cs typeface="Calibri" pitchFamily="34" charset="-120"/>
              </a:rPr>
              <a:t>Voltage on the gate that is supposed to be OFF, with the fix and without.</a:t>
            </a:r>
          </a:p>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What it means. </a:t>
            </a:r>
            <a:r>
              <a:rPr lang="en-US" sz="1100" dirty="0">
                <a:solidFill>
                  <a:srgbClr val="000000"/>
                </a:solidFill>
                <a:latin typeface="Calibri" pitchFamily="34" charset="0"/>
                <a:ea typeface="Calibri" pitchFamily="34" charset="-122"/>
                <a:cs typeface="Calibri" pitchFamily="34" charset="-120"/>
              </a:rPr>
              <a:t>1.65 V against a 1.4 V threshold turns the device on. The clamp and the −2 V rail leave 2.58 V of margin.</a:t>
            </a:r>
          </a:p>
        </p:txBody>
      </p:sp>
      <p:sp>
        <p:nvSpPr>
          <p:cNvPr id="7" name="TextBox 6"/>
          <p:cNvSpPr txBox="1"/>
          <p:nvPr/>
        </p:nvSpPr>
        <p:spPr>
          <a:xfrm>
            <a:off x="7635240" y="1325880"/>
            <a:ext cx="388620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The problem is real, and reproduced</a:t>
            </a:r>
          </a:p>
        </p:txBody>
      </p:sp>
      <p:sp>
        <p:nvSpPr>
          <p:cNvPr id="8" name="TextBox 7"/>
          <p:cNvSpPr txBox="1"/>
          <p:nvPr/>
        </p:nvSpPr>
        <p:spPr>
          <a:xfrm>
            <a:off x="7635240" y="182880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1.65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peak on the gate that should be OFF</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threshold is 1.4 V — so it turns on by mistake</a:t>
            </a:r>
          </a:p>
        </p:txBody>
      </p:sp>
      <p:sp>
        <p:nvSpPr>
          <p:cNvPr id="9" name="TextBox 8"/>
          <p:cNvSpPr txBox="1"/>
          <p:nvPr/>
        </p:nvSpPr>
        <p:spPr>
          <a:xfrm>
            <a:off x="7635240" y="306324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2.58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margin with the clamp and the −2 V rail</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fault is removed completely</a:t>
            </a:r>
          </a:p>
        </p:txBody>
      </p:sp>
      <p:sp>
        <p:nvSpPr>
          <p:cNvPr id="10" name="TextBox 9"/>
          <p:cNvSpPr txBox="1"/>
          <p:nvPr/>
        </p:nvSpPr>
        <p:spPr>
          <a:xfrm>
            <a:off x="7635240" y="4343400"/>
            <a:ext cx="3886200" cy="1828800"/>
          </a:xfrm>
          <a:prstGeom prst="rect">
            <a:avLst/>
          </a:prstGeom>
          <a:noFill/>
        </p:spPr>
        <p:txBody>
          <a:bodyPr wrap="square" lIns="0" tIns="0" rIns="0" bIns="0">
            <a:spAutoFit/>
          </a:bodyPr>
          <a:lstStyle/>
          <a:p>
            <a:pPr marL="177800" indent="0">
              <a:spcAft>
                <a:spcPts val="200"/>
              </a:spcAft>
              <a:buSzPct val="100000"/>
              <a:buNone/>
            </a:pPr>
            <a:r>
              <a:rPr lang="en-US" sz="1500" b="1" dirty="0">
                <a:solidFill>
                  <a:srgbClr val="000000"/>
                </a:solidFill>
                <a:latin typeface="Calibri" pitchFamily="34" charset="0"/>
                <a:ea typeface="Calibri" pitchFamily="34" charset="-122"/>
                <a:cs typeface="Calibri" pitchFamily="34" charset="-120"/>
              </a:rPr>
              <a:t>And safety is nearly free</a:t>
            </a:r>
          </a:p>
          <a:p>
            <a:pPr marL="177800" indent="0">
              <a:spcAft>
                <a:spcPts val="200"/>
              </a:spcAft>
              <a:buSzPct val="100000"/>
              <a:buNone/>
            </a:pPr>
            <a:r>
              <a:rPr lang="en-US" sz="1300" dirty="0">
                <a:solidFill>
                  <a:srgbClr val="000000"/>
                </a:solidFill>
                <a:latin typeface="Calibri" pitchFamily="34" charset="0"/>
                <a:ea typeface="Calibri" pitchFamily="34" charset="-122"/>
                <a:cs typeface="Calibri" pitchFamily="34" charset="-120"/>
              </a:rPr>
              <a:t>The lowest-energy setting is already safe at three of the four operating points. At the fourth, safety costs 0.04 % more energy — 3.335 µJ against 3.334 µJ.</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The clamp is worth 9.7–12.2 % of the blended cost, with no sensor and no controller.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2 — the driver setting moves the converter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buck_tradeoff.png"/>
          <p:cNvPicPr>
            <a:picLocks noChangeAspect="1"/>
          </p:cNvPicPr>
          <p:nvPr/>
        </p:nvPicPr>
        <p:blipFill>
          <a:blip r:embed="rId4"/>
          <a:stretch>
            <a:fillRect/>
          </a:stretch>
        </p:blipFill>
        <p:spPr>
          <a:xfrm>
            <a:off x="666597" y="1188720"/>
            <a:ext cx="10858500" cy="4343400"/>
          </a:xfrm>
          <a:prstGeom prst="rect">
            <a:avLst/>
          </a:prstGeom>
        </p:spPr>
      </p:pic>
      <p:sp>
        <p:nvSpPr>
          <p:cNvPr id="6" name="TextBox 5"/>
          <p:cNvSpPr txBox="1"/>
          <p:nvPr/>
        </p:nvSpPr>
        <p:spPr>
          <a:xfrm>
            <a:off x="502920" y="566928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The figure. </a:t>
            </a:r>
            <a:r>
              <a:rPr lang="en-US" sz="1250" dirty="0">
                <a:solidFill>
                  <a:srgbClr val="000000"/>
                </a:solidFill>
                <a:latin typeface="Calibri" pitchFamily="34" charset="0"/>
                <a:ea typeface="Calibri" pitchFamily="34" charset="-122"/>
                <a:cs typeface="Calibri" pitchFamily="34" charset="-120"/>
              </a:rPr>
              <a:t>Power lost and peak device voltage against drive strength, measured on the running converter.</a:t>
            </a:r>
          </a:p>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What it means. </a:t>
            </a:r>
            <a:r>
              <a:rPr lang="en-US" sz="1100" dirty="0">
                <a:solidFill>
                  <a:srgbClr val="000000"/>
                </a:solidFill>
                <a:latin typeface="Calibri" pitchFamily="34" charset="0"/>
                <a:ea typeface="Calibri" pitchFamily="34" charset="-122"/>
                <a:cs typeface="Calibri" pitchFamily="34" charset="-120"/>
              </a:rPr>
              <a:t>They move in opposite directions, so no setting is best at both. Lowest loss is 4 slices, not the fastest.</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3 — re-tuning is worth only 5.2 %</a:t>
            </a:r>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paper_fig2_ceiling.png"/>
          <p:cNvPicPr>
            <a:picLocks noChangeAspect="1"/>
          </p:cNvPicPr>
          <p:nvPr/>
        </p:nvPicPr>
        <p:blipFill>
          <a:blip r:embed="rId2"/>
          <a:stretch>
            <a:fillRect/>
          </a:stretch>
        </p:blipFill>
        <p:spPr>
          <a:xfrm>
            <a:off x="640080" y="1417320"/>
            <a:ext cx="6035040" cy="3212290"/>
          </a:xfrm>
          <a:prstGeom prst="rect">
            <a:avLst/>
          </a:prstGeom>
        </p:spPr>
      </p:pic>
      <p:sp>
        <p:nvSpPr>
          <p:cNvPr id="6" name="TextBox 5"/>
          <p:cNvSpPr txBox="1"/>
          <p:nvPr/>
        </p:nvSpPr>
        <p:spPr>
          <a:xfrm>
            <a:off x="640080" y="4892040"/>
            <a:ext cx="6035040" cy="41148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Fig. 2  What it costs to use one fixed setting instead of the best setting at each operating point.</a:t>
            </a:r>
          </a:p>
        </p:txBody>
      </p:sp>
      <p:sp>
        <p:nvSpPr>
          <p:cNvPr id="7" name="TextBox 6"/>
          <p:cNvSpPr txBox="1"/>
          <p:nvPr/>
        </p:nvSpPr>
        <p:spPr>
          <a:xfrm>
            <a:off x="640080" y="5440680"/>
            <a:ext cx="6035040" cy="822960"/>
          </a:xfrm>
          <a:prstGeom prst="rect">
            <a:avLst/>
          </a:prstGeom>
          <a:noFill/>
        </p:spPr>
        <p:txBody>
          <a:bodyPr wrap="square" lIns="0" tIns="0" rIns="0" bIns="0">
            <a:spAutoFit/>
          </a:bodyPr>
          <a:lstStyle/>
          <a:p>
            <a:pPr marL="177800" indent="0">
              <a:spcAft>
                <a:spcPts val="0"/>
              </a:spcAft>
              <a:buSzPct val="100000"/>
              <a:buNone/>
            </a:pPr>
            <a:r>
              <a:rPr lang="en-US" sz="1300" dirty="0" b="1">
                <a:solidFill>
                  <a:srgbClr val="000000"/>
                </a:solidFill>
                <a:latin typeface="Calibri" pitchFamily="34" charset="0"/>
                <a:ea typeface="Calibri" pitchFamily="34" charset="-122"/>
                <a:cs typeface="Calibri" pitchFamily="34" charset="-120"/>
              </a:rPr>
              <a:t>The figure. </a:t>
            </a:r>
            <a:r>
              <a:rPr lang="en-US" sz="1300" dirty="0">
                <a:solidFill>
                  <a:srgbClr val="000000"/>
                </a:solidFill>
                <a:latin typeface="Calibri" pitchFamily="34" charset="0"/>
                <a:ea typeface="Calibri" pitchFamily="34" charset="-122"/>
                <a:cs typeface="Calibri" pitchFamily="34" charset="-120"/>
              </a:rPr>
              <a:t>What one fixed setting costs at each of the four operating points.</a:t>
            </a:r>
          </a:p>
          <a:p>
            <a:pPr marL="177800" indent="0">
              <a:spcAft>
                <a:spcPts val="0"/>
              </a:spcAft>
              <a:buSzPct val="100000"/>
              <a:buNone/>
            </a:pPr>
            <a:r>
              <a:rPr lang="en-US" sz="1300" dirty="0" b="1">
                <a:solidFill>
                  <a:srgbClr val="000000"/>
                </a:solidFill>
                <a:latin typeface="Calibri" pitchFamily="34" charset="0"/>
                <a:ea typeface="Calibri" pitchFamily="34" charset="-122"/>
                <a:cs typeface="Calibri" pitchFamily="34" charset="-120"/>
              </a:rPr>
              <a:t>What it means. </a:t>
            </a:r>
            <a:r>
              <a:rPr lang="en-US" sz="1300" dirty="0">
                <a:solidFill>
                  <a:srgbClr val="000000"/>
                </a:solidFill>
                <a:latin typeface="Calibri" pitchFamily="34" charset="0"/>
                <a:ea typeface="Calibri" pitchFamily="34" charset="-122"/>
                <a:cs typeface="Calibri" pitchFamily="34" charset="-120"/>
              </a:rPr>
              <a:t>Three points lose 1–4 %. One loses 12.7 %. So re-tuning is worth 5.2 % at the very most.</a:t>
            </a:r>
          </a:p>
        </p:txBody>
      </p:sp>
      <p:sp>
        <p:nvSpPr>
          <p:cNvPr id="8" name="TextBox 7"/>
          <p:cNvSpPr txBox="1"/>
          <p:nvPr/>
        </p:nvSpPr>
        <p:spPr>
          <a:xfrm>
            <a:off x="6995160" y="1325880"/>
            <a:ext cx="452628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What re-tuning is actually worth</a:t>
            </a:r>
          </a:p>
        </p:txBody>
      </p:sp>
      <p:sp>
        <p:nvSpPr>
          <p:cNvPr id="9" name="TextBox 8"/>
          <p:cNvSpPr txBox="1"/>
          <p:nvPr/>
        </p:nvSpPr>
        <p:spPr>
          <a:xfrm>
            <a:off x="6995160" y="1828800"/>
            <a:ext cx="45262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5.2 %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the most that re-tuning can ever gain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against the best single fixed setting (= 3.9 % of baseline). One fixed setting is nearly as good.</a:t>
            </a:r>
          </a:p>
        </p:txBody>
      </p:sp>
      <p:sp>
        <p:nvSpPr>
          <p:cNvPr id="10" name="TextBox 9"/>
          <p:cNvSpPr txBox="1"/>
          <p:nvPr/>
        </p:nvSpPr>
        <p:spPr>
          <a:xfrm>
            <a:off x="6995160" y="3035808"/>
            <a:ext cx="4526280" cy="3401568"/>
          </a:xfrm>
          <a:prstGeom prst="rect">
            <a:avLst/>
          </a:prstGeom>
          <a:noFill/>
        </p:spPr>
        <p:txBody>
          <a:bodyPr wrap="square" lIns="0" tIns="0" rIns="0" bIns="0">
            <a:spAutoFit/>
          </a:bodyPr>
          <a:lstStyle/>
          <a:p>
            <a:pPr marL="177800" indent="0">
              <a:spcAft>
                <a:spcPts val="180"/>
              </a:spcAft>
              <a:buSzPct val="100000"/>
              <a:buNone/>
            </a:pPr>
            <a:r>
              <a:rPr lang="en-US" sz="1300" b="1" dirty="0">
                <a:solidFill>
                  <a:srgbClr val="000000"/>
                </a:solidFill>
                <a:latin typeface="Calibri" pitchFamily="34" charset="0"/>
                <a:ea typeface="Calibri" pitchFamily="34" charset="-122"/>
                <a:cs typeface="Calibri" pitchFamily="34" charset="-120"/>
              </a:rPr>
              <a:t>The benefit is not spread out. </a:t>
            </a:r>
            <a:r>
              <a:rPr lang="en-US" sz="1300" dirty="0">
                <a:solidFill>
                  <a:srgbClr val="000000"/>
                </a:solidFill>
                <a:latin typeface="Calibri" pitchFamily="34" charset="0"/>
                <a:ea typeface="Calibri" pitchFamily="34" charset="-122"/>
                <a:cs typeface="Calibri" pitchFamily="34" charset="-120"/>
              </a:rPr>
              <a:t>Three operating points lose only 1–4 % from a fixed setting; one loses 12.7 %.</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5.2 % is the generous figure — on a finer 36-point grid it is 2.0 %.</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It all comes from the dead time, and that from one operating point. Freezing the dead time costs 5.45 % across four points. Drop the light-load 50 V / 2 A point and it costs 0.00 %: three points want 5 ns, only that one wants 15 ns. So the adaptive hardware shrinks to one light-load detector choosing between two dead times. Freezing the drive strength costs 0.00 % — and that is what these papers actually adjust.</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Steady against the device, not the board. </a:t>
            </a:r>
            <a:r>
              <a:rPr lang="en-US" sz="1300" dirty="0">
                <a:solidFill>
                  <a:srgbClr val="000000"/>
                </a:solidFill>
                <a:latin typeface="Calibri" pitchFamily="34" charset="0"/>
                <a:ea typeface="Calibri" pitchFamily="34" charset="-122"/>
                <a:cs typeface="Calibri" pitchFamily="34" charset="-120"/>
              </a:rPr>
              <a:t>Across 21,600 runs no device parameter moves the answer outside 4.3–7.7 %. Halving the board inductance takes it to 13.5 %, and that is layout, not the transistor [3].</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4 — the two halves nobody separates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261872"/>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The base paper [9] (doi.org/10.1002/cta.3136) shows that a gate waveform can be chosen by a digital code. It, and every paper after it, then reports one number — how much better than a plain driver. That number adds together two separate effects, and only the second needs a sensor, an ADC and a lookup table. Separating them means running every setting at every operating point, which is why nobody has.</a:t>
            </a:r>
          </a:p>
        </p:txBody>
      </p:sp>
      <p:sp>
        <p:nvSpPr>
          <p:cNvPr id="6" name="TextBox 5"/>
          <p:cNvSpPr txBox="1"/>
          <p:nvPr/>
        </p:nvSpPr>
        <p:spPr>
          <a:xfrm>
            <a:off x="640080" y="2212848"/>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(A)   Pick a better FIXED setting</a:t>
            </a:r>
          </a:p>
        </p:txBody>
      </p:sp>
      <p:sp>
        <p:nvSpPr>
          <p:cNvPr id="7" name="TextBox 6"/>
          <p:cNvSpPr txBox="1"/>
          <p:nvPr/>
        </p:nvSpPr>
        <p:spPr>
          <a:xfrm>
            <a:off x="6812280" y="2029967"/>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25.1 %</a:t>
            </a:r>
          </a:p>
        </p:txBody>
      </p:sp>
      <p:sp>
        <p:nvSpPr>
          <p:cNvPr id="8" name="TextBox 7"/>
          <p:cNvSpPr txBox="1"/>
          <p:nvPr/>
        </p:nvSpPr>
        <p:spPr>
          <a:xfrm>
            <a:off x="9006840" y="2249424"/>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no sensing · no LUT</a:t>
            </a:r>
          </a:p>
        </p:txBody>
      </p:sp>
      <p:sp>
        <p:nvSpPr>
          <p:cNvPr id="9" name="TextBox 8"/>
          <p:cNvSpPr txBox="1"/>
          <p:nvPr/>
        </p:nvSpPr>
        <p:spPr>
          <a:xfrm>
            <a:off x="640080" y="3236976"/>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CHANGE it per operating point</a:t>
            </a:r>
          </a:p>
        </p:txBody>
      </p:sp>
      <p:sp>
        <p:nvSpPr>
          <p:cNvPr id="10" name="TextBox 9"/>
          <p:cNvSpPr txBox="1"/>
          <p:nvPr/>
        </p:nvSpPr>
        <p:spPr>
          <a:xfrm>
            <a:off x="6812280" y="3054096"/>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3.9 %</a:t>
            </a:r>
          </a:p>
        </p:txBody>
      </p:sp>
      <p:sp>
        <p:nvSpPr>
          <p:cNvPr id="11" name="TextBox 10"/>
          <p:cNvSpPr txBox="1"/>
          <p:nvPr/>
        </p:nvSpPr>
        <p:spPr>
          <a:xfrm>
            <a:off x="9006840" y="3273552"/>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needs all of it</a:t>
            </a:r>
          </a:p>
        </p:txBody>
      </p:sp>
      <p:sp>
        <p:nvSpPr>
          <p:cNvPr id="12" name="TextBox 11"/>
          <p:cNvSpPr txBox="1"/>
          <p:nvPr/>
        </p:nvSpPr>
        <p:spPr>
          <a:xfrm>
            <a:off x="640080" y="4261104"/>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…but ONE comparator gets 72 % of (B)</a:t>
            </a:r>
          </a:p>
        </p:txBody>
      </p:sp>
      <p:sp>
        <p:nvSpPr>
          <p:cNvPr id="13" name="TextBox 12"/>
          <p:cNvSpPr txBox="1"/>
          <p:nvPr/>
        </p:nvSpPr>
        <p:spPr>
          <a:xfrm>
            <a:off x="6812280" y="4078224"/>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2.8 %</a:t>
            </a:r>
          </a:p>
        </p:txBody>
      </p:sp>
      <p:sp>
        <p:nvSpPr>
          <p:cNvPr id="14" name="TextBox 13"/>
          <p:cNvSpPr txBox="1"/>
          <p:nvPr/>
        </p:nvSpPr>
        <p:spPr>
          <a:xfrm>
            <a:off x="9006840" y="4297680"/>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a threshold, not a LUT</a:t>
            </a:r>
          </a:p>
        </p:txBody>
      </p:sp>
      <p:sp>
        <p:nvSpPr>
          <p:cNvPr id="15" name="TextBox 14"/>
          <p:cNvSpPr txBox="1"/>
          <p:nvPr/>
        </p:nvSpPr>
        <p:spPr>
          <a:xfrm>
            <a:off x="640080" y="5413248"/>
            <a:ext cx="11064240" cy="1005840"/>
          </a:xfrm>
          <a:prstGeom prst="rect">
            <a:avLst/>
          </a:prstGeom>
          <a:noFill/>
        </p:spPr>
        <p:txBody>
          <a:bodyPr wrap="square" lIns="0" tIns="0" rIns="0" bIns="0">
            <a:spAutoFit/>
          </a:bodyPr>
          <a:lstStyle/>
          <a:p>
            <a:pPr marL="177800" indent="0">
              <a:spcAft>
                <a:spcPts val="130"/>
              </a:spcAft>
              <a:buSzPct val="100000"/>
              <a:buNone/>
            </a:pPr>
            <a:r>
              <a:rPr lang="en-US" sz="1300" dirty="0" b="1">
                <a:solidFill>
                  <a:srgbClr val="000000"/>
                </a:solidFill>
                <a:latin typeface="Calibri" pitchFamily="34" charset="0"/>
                <a:ea typeface="Calibri" pitchFamily="34" charset="-122"/>
                <a:cs typeface="Calibri" pitchFamily="34" charset="-120"/>
              </a:rPr>
              <a:t>What it means. </a:t>
            </a:r>
            <a:r>
              <a:rPr lang="en-US" sz="1300" dirty="0">
                <a:solidFill>
                  <a:srgbClr val="000000"/>
                </a:solidFill>
                <a:latin typeface="Calibri" pitchFamily="34" charset="0"/>
                <a:ea typeface="Calibri" pitchFamily="34" charset="-122"/>
                <a:cs typeface="Calibri" pitchFamily="34" charset="-120"/>
              </a:rPr>
              <a:t>The full sensor + ADC + lookup table is left justifying 3.7 % of the gain, over one fixed setting plus a single comparator.</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The split does not depend on how the two goals are weighted: across 106 weightings, (A) stays 23.4–29.0 % and (B) 1.3–6.4 %, and (A) wins every time.</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5 — re-tuning only pays below ~2.5 nH</a:t>
            </a:r>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_lloop.png"/>
          <p:cNvPicPr>
            <a:picLocks noChangeAspect="1"/>
          </p:cNvPicPr>
          <p:nvPr/>
        </p:nvPicPr>
        <p:blipFill>
          <a:blip r:embed="rId4"/>
          <a:stretch>
            <a:fillRect/>
          </a:stretch>
        </p:blipFill>
        <p:spPr>
          <a:xfrm>
            <a:off x="1938528" y="1234440"/>
            <a:ext cx="8311896" cy="4478392"/>
          </a:xfrm>
          <a:prstGeom prst="rect">
            <a:avLst/>
          </a:prstGeom>
        </p:spPr>
      </p:pic>
      <p:sp>
        <p:nvSpPr>
          <p:cNvPr id="6" name="TextBox 5"/>
          <p:cNvSpPr txBox="1"/>
          <p:nvPr/>
        </p:nvSpPr>
        <p:spPr>
          <a:xfrm>
            <a:off x="640080" y="5815584"/>
            <a:ext cx="10881360" cy="640080"/>
          </a:xfrm>
          <a:prstGeom prst="rect">
            <a:avLst/>
          </a:prstGeom>
          <a:noFill/>
        </p:spPr>
        <p:txBody>
          <a:bodyPr wrap="square" lIns="0" tIns="0" rIns="0" bIns="0">
            <a:spAutoFit/>
          </a:bodyPr>
          <a:lstStyle/>
          <a:p>
            <a:pPr marL="177800" indent="0">
              <a:spcAft>
                <a:spcPts val="0"/>
              </a:spcAft>
              <a:buSzPct val="100000"/>
              <a:buNone/>
            </a:pPr>
            <a:r>
              <a:rPr lang="en-US" sz="1200" dirty="0" b="1">
                <a:solidFill>
                  <a:srgbClr val="000000"/>
                </a:solidFill>
                <a:latin typeface="Calibri" pitchFamily="34" charset="0"/>
                <a:ea typeface="Calibri" pitchFamily="34" charset="-122"/>
                <a:cs typeface="Calibri" pitchFamily="34" charset="-120"/>
              </a:rPr>
              <a:t>The figure. </a:t>
            </a:r>
            <a:r>
              <a:rPr lang="en-US" sz="1200" dirty="0">
                <a:solidFill>
                  <a:srgbClr val="000000"/>
                </a:solidFill>
                <a:latin typeface="Calibri" pitchFamily="34" charset="0"/>
                <a:ea typeface="Calibri" pitchFamily="34" charset="-122"/>
                <a:cs typeface="Calibri" pitchFamily="34" charset="-120"/>
              </a:rPr>
              <a:t>What re-tuning is worth, against the inductance of the power loop. Eight values, 7,200 runs.</a:t>
            </a:r>
          </a:p>
          <a:p>
            <a:pPr marL="177800" indent="0">
              <a:spcAft>
                <a:spcPts val="0"/>
              </a:spcAft>
              <a:buSzPct val="100000"/>
              <a:buNone/>
            </a:pPr>
            <a:r>
              <a:rPr lang="en-US" sz="1200" dirty="0" b="1">
                <a:solidFill>
                  <a:srgbClr val="000000"/>
                </a:solidFill>
                <a:latin typeface="Calibri" pitchFamily="34" charset="0"/>
                <a:ea typeface="Calibri" pitchFamily="34" charset="-122"/>
                <a:cs typeface="Calibri" pitchFamily="34" charset="-120"/>
              </a:rPr>
              <a:t>What it means. </a:t>
            </a:r>
            <a:r>
              <a:rPr lang="en-US" sz="1200" dirty="0">
                <a:solidFill>
                  <a:srgbClr val="000000"/>
                </a:solidFill>
                <a:latin typeface="Calibri" pitchFamily="34" charset="0"/>
                <a:ea typeface="Calibri" pitchFamily="34" charset="-122"/>
                <a:cs typeface="Calibri" pitchFamily="34" charset="-120"/>
              </a:rPr>
              <a:t>It only pays below about 2.5 nH. Loop inductance is board layout, so this is a layout decision, not a device one.</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demo_crosstalk_explained.mp4">
            <a:hlinkClick r:id="" action="ppaction://media"/>
          </p:cNvPr>
          <p:cNvPicPr>
            <a:picLocks noChangeAspect="1"/>
          </p:cNvPicPr>
          <p:nvPr>
            <a:videoFile r:link="rId4"/>
            <p:extLst>
              <p:ext uri="{DAA4B4D4-6D71-4841-9C94-3DE7FCFB9230}">
                <p14:media xmlns:p14="http://schemas.microsoft.com/office/powerpoint/2010/main" r:embed="rId2"/>
              </p:ext>
            </p:extLst>
          </p:nvPr>
        </p:nvPicPr>
        <p:blipFill>
          <a:blip r:embed="rId5"/>
          <a:stretch>
            <a:fillRect/>
          </a:stretch>
        </p:blipFill>
        <p:spPr>
          <a:xfrm>
            <a:off x="640080" y="1417320"/>
            <a:ext cx="6949440" cy="4050791"/>
          </a:xfrm>
          <a:prstGeom prst="rect">
            <a:avLst/>
          </a:prstGeom>
        </p:spPr>
      </p:pic>
      <p:sp>
        <p:nvSpPr>
          <p:cNvPr id="6" name="TextBox 5"/>
          <p:cNvSpPr txBox="1"/>
          <p:nvPr/>
        </p:nvSpPr>
        <p:spPr>
          <a:xfrm>
            <a:off x="640080" y="5623560"/>
            <a:ext cx="6949440" cy="36576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The figure. </a:t>
            </a:r>
            <a:r>
              <a:rPr lang="en-US" sz="1100" dirty="0">
                <a:solidFill>
                  <a:srgbClr val="000000"/>
                </a:solidFill>
                <a:latin typeface="Calibri" pitchFamily="34" charset="0"/>
                <a:ea typeface="Calibri" pitchFamily="34" charset="-122"/>
                <a:cs typeface="Calibri" pitchFamily="34" charset="-120"/>
              </a:rPr>
              <a:t>ngspice waveforms from sim/dpt.cir, the same file every number in this deck comes from. Click to play, 22 s.</a:t>
            </a:r>
          </a:p>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What it means. </a:t>
            </a:r>
            <a:r>
              <a:rPr lang="en-US" sz="1100" dirty="0">
                <a:solidFill>
                  <a:srgbClr val="000000"/>
                </a:solidFill>
                <a:latin typeface="Calibri" pitchFamily="34" charset="0"/>
                <a:ea typeface="Calibri" pitchFamily="34" charset="-122"/>
                <a:cs typeface="Calibri" pitchFamily="34" charset="-120"/>
              </a:rPr>
              <a:t>Left panel crosses the 1.4 V line and the device turns on. Right panel, same circuit with the fix, peaks at −1.18 V.</a:t>
            </a:r>
          </a:p>
        </p:txBody>
      </p:sp>
      <p:sp>
        <p:nvSpPr>
          <p:cNvPr id="7" name="TextBox 6"/>
          <p:cNvSpPr txBox="1"/>
          <p:nvPr/>
        </p:nvSpPr>
        <p:spPr>
          <a:xfrm>
            <a:off x="7909560" y="1417320"/>
            <a:ext cx="3611880" cy="4206240"/>
          </a:xfrm>
          <a:prstGeom prst="rect">
            <a:avLst/>
          </a:prstGeom>
          <a:noFill/>
        </p:spPr>
        <p:txBody>
          <a:bodyPr wrap="square" lIns="0" tIns="0" rIns="0" bIns="0">
            <a:spAutoFit/>
          </a:bodyPr>
          <a:lstStyle/>
          <a:p>
            <a:pPr marL="177800" indent="0">
              <a:spcAft>
                <a:spcPts val="240"/>
              </a:spcAft>
              <a:buSzPct val="100000"/>
              <a:buNone/>
            </a:pPr>
            <a:r>
              <a:rPr lang="en-US" sz="1500" b="1" dirty="0">
                <a:solidFill>
                  <a:srgbClr val="000000"/>
                </a:solidFill>
                <a:latin typeface="Calibri" pitchFamily="34" charset="0"/>
                <a:ea typeface="Calibri" pitchFamily="34" charset="-122"/>
                <a:cs typeface="Calibri" pitchFamily="34" charset="-120"/>
              </a:rPr>
              <a:t>What it shows</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TOP row: the switch node. </a:t>
            </a:r>
            <a:r>
              <a:rPr lang="en-US" sz="1250" dirty="0">
                <a:solidFill>
                  <a:srgbClr val="000000"/>
                </a:solidFill>
                <a:latin typeface="Calibri" pitchFamily="34" charset="0"/>
                <a:ea typeface="Calibri" pitchFamily="34" charset="-122"/>
                <a:cs typeface="Calibri" pitchFamily="34" charset="-120"/>
              </a:rPr>
              <a:t>The low-side device turns on and the voltage collapses from 100 V in a few nanoseconds. That fast drop is the cause.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BOTTOM row: the gate of the OFF device. </a:t>
            </a:r>
            <a:r>
              <a:rPr lang="en-US" sz="1250" dirty="0">
                <a:solidFill>
                  <a:srgbClr val="000000"/>
                </a:solidFill>
                <a:latin typeface="Calibri" pitchFamily="34" charset="0"/>
                <a:ea typeface="Calibri" pitchFamily="34" charset="-122"/>
                <a:cs typeface="Calibri" pitchFamily="34" charset="-120"/>
              </a:rPr>
              <a:t>The fast drop pushes charge through C</a:t>
            </a:r>
            <a:r>
              <a:rPr lang="en-US" sz="1250" dirty="0">
                <a:solidFill>
                  <a:srgbClr val="000000"/>
                </a:solidFill>
                <a:latin typeface="Calibri" pitchFamily="34" charset="0"/>
                <a:ea typeface="Calibri" pitchFamily="34" charset="-122"/>
                <a:cs typeface="Calibri" pitchFamily="34" charset="-120"/>
              </a:rPr>
              <a:t>GD</a:t>
            </a:r>
            <a:r>
              <a:rPr lang="en-US" sz="1250" dirty="0">
                <a:solidFill>
                  <a:srgbClr val="000000"/>
                </a:solidFill>
                <a:latin typeface="Calibri" pitchFamily="34" charset="0"/>
                <a:ea typeface="Calibri" pitchFamily="34" charset="-122"/>
                <a:cs typeface="Calibri" pitchFamily="34" charset="-120"/>
              </a:rPr>
              <a:t> and lifts that gate.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LEFT, failing: </a:t>
            </a:r>
            <a:r>
              <a:rPr lang="en-US" sz="1250" dirty="0">
                <a:solidFill>
                  <a:srgbClr val="000000"/>
                </a:solidFill>
                <a:latin typeface="Calibri" pitchFamily="34" charset="0"/>
                <a:ea typeface="Calibri" pitchFamily="34" charset="-122"/>
                <a:cs typeface="Calibri" pitchFamily="34" charset="-120"/>
              </a:rPr>
              <a:t>the gate reaches +1.65 V, above the 1.4 V line drawn on the plot. The device turns on when it must not.</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RIGHT, shipped: </a:t>
            </a:r>
            <a:r>
              <a:rPr lang="en-US" sz="1250" dirty="0">
                <a:solidFill>
                  <a:srgbClr val="000000"/>
                </a:solidFill>
                <a:latin typeface="Calibri" pitchFamily="34" charset="0"/>
                <a:ea typeface="Calibri" pitchFamily="34" charset="-122"/>
                <a:cs typeface="Calibri" pitchFamily="34" charset="-120"/>
              </a:rPr>
              <a:t>same circuit, same setting, plus the gate clamp and −2 V rail. Peak −1.18 V, a 2.58 V margin.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Both panels are the same simulation; only the clamp and the off rail differ.</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Conclusion &amp; next steps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0">
              <a:spcAft>
                <a:spcPts val="240"/>
              </a:spcAft>
              <a:buSzPct val="100000"/>
              <a:buNone/>
            </a:pPr>
            <a:r>
              <a:rPr lang="en-US" sz="1700" b="1" dirty="0">
                <a:solidFill>
                  <a:srgbClr val="000000"/>
                </a:solidFill>
                <a:latin typeface="Calibri" pitchFamily="34" charset="0"/>
                <a:ea typeface="Calibri" pitchFamily="34" charset="-122"/>
                <a:cs typeface="Calibri" pitchFamily="34" charset="-120"/>
              </a:rPr>
              <a:t>What the data supports</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The converter works: 100 V DC in, 48.6 V DC out at 4.88 A — 236.9 W, 97.6 % efficient.</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Picking the setting well: 25.1 %.   Changing it per operating point: 3.9 %.</a:t>
            </a:r>
          </a:p>
          <a:p>
            <a:pPr marL="177800" indent="-177800">
              <a:spcAft>
                <a:spcPts val="340"/>
              </a:spcAft>
              <a:buSzPct val="100000"/>
              <a:buChar char="•"/>
            </a:pPr>
            <a:r>
              <a:rPr lang="en-US" sz="1600" dirty="0">
                <a:solidFill>
                  <a:srgbClr val="000000"/>
                </a:solidFill>
                <a:latin typeface="Calibri" pitchFamily="34" charset="0"/>
                <a:ea typeface="Calibri" pitchFamily="34" charset="-122"/>
                <a:cs typeface="Calibri" pitchFamily="34" charset="-120"/>
              </a:rPr>
              <a:t>One comparator gets 72 % of that 3.9 %.</a:t>
            </a:r>
          </a:p>
          <a:p>
            <a:pPr marL="177800" indent="-177800">
              <a:spcAft>
                <a:spcPts val="340"/>
              </a:spcAft>
              <a:buSzPct val="100000"/>
              <a:buChar char="•"/>
            </a:pPr>
            <a:r>
              <a:rPr lang="en-US" sz="1600" dirty="0" b="1">
                <a:solidFill>
                  <a:srgbClr val="000000"/>
                </a:solidFill>
                <a:latin typeface="Calibri" pitchFamily="34" charset="0"/>
                <a:ea typeface="Calibri" pitchFamily="34" charset="-122"/>
                <a:cs typeface="Calibri" pitchFamily="34" charset="-120"/>
              </a:rPr>
              <a:t>What to build: </a:t>
            </a:r>
            <a:r>
              <a:rPr lang="en-US" sz="1600" dirty="0">
                <a:solidFill>
                  <a:srgbClr val="000000"/>
                </a:solidFill>
                <a:latin typeface="Calibri" pitchFamily="34" charset="0"/>
                <a:ea typeface="Calibri" pitchFamily="34" charset="-122"/>
                <a:cs typeface="Calibri" pitchFamily="34" charset="-120"/>
              </a:rPr>
              <a:t>one fixed setting plus a light-load comparator — not a sensor, an ADC and a lookup table.</a:t>
            </a:r>
          </a:p>
          <a:p>
            <a:pPr marL="177800" indent="0">
              <a:spcAft>
                <a:spcPts val="240"/>
              </a:spcAft>
              <a:buSzPct val="100000"/>
              <a:buNone/>
            </a:pPr>
            <a:r>
              <a:rPr lang="en-US" sz="1700" dirty="0">
                <a:solidFill>
                  <a:srgbClr val="000000"/>
                </a:solidFill>
                <a:latin typeface="Calibri" pitchFamily="34" charset="0"/>
                <a:ea typeface="Calibri" pitchFamily="34" charset="-122"/>
                <a:cs typeface="Calibri" pitchFamily="34" charset="-120"/>
              </a:rPr>
              <a:t>The FPGA half is real: 20 LUTs and 20 flip-flops, 200 MHz met with 1.996 ns to spare.</a:t>
            </a:r>
          </a:p>
          <a:p>
            <a:pPr marL="177800" indent="-177800">
              <a:spcAft>
                <a:spcPts val="220"/>
              </a:spcAft>
              <a:buSzPct val="100000"/>
              <a:buChar char="•"/>
            </a:pPr>
            <a:r>
              <a:rPr lang="en-US" sz="1600" dirty="0" b="1">
                <a:solidFill>
                  <a:srgbClr val="000000"/>
                </a:solidFill>
                <a:latin typeface="Calibri" pitchFamily="34" charset="0"/>
                <a:ea typeface="Calibri" pitchFamily="34" charset="-122"/>
                <a:cs typeface="Calibri" pitchFamily="34" charset="-120"/>
              </a:rPr>
              <a:t>What is next</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Review-II — close the loop on the converter, then re-run the setting study with it closed.</a:t>
            </a:r>
          </a:p>
          <a:p>
            <a:pPr marL="177800" indent="-177800">
              <a:spcAft>
                <a:spcPts val="0"/>
              </a:spcAft>
              <a:buSzPct val="100000"/>
              <a:buChar char="•"/>
            </a:pPr>
            <a:r>
              <a:rPr lang="en-US" sz="1450" dirty="0">
                <a:solidFill>
                  <a:srgbClr val="000000"/>
                </a:solidFill>
                <a:latin typeface="Calibri" pitchFamily="34" charset="0"/>
                <a:ea typeface="Calibri" pitchFamily="34" charset="-122"/>
                <a:cs typeface="Calibri" pitchFamily="34" charset="-120"/>
              </a:rPr>
              <a:t>Review-III — measure what a two-setting controller saves at the light-load point, where the best dead time differs.</a:t>
            </a:r>
          </a:p>
          <a:p>
            <a:pPr marL="177800" indent="-177800">
              <a:spcAft>
                <a:spcPts val="0"/>
              </a:spcAft>
              <a:buSzPct val="100000"/>
              <a:buChar char="•"/>
            </a:pPr>
            <a:r>
              <a:rPr lang="en-US" sz="1450" dirty="0">
                <a:solidFill>
                  <a:srgbClr val="000000"/>
                </a:solidFill>
                <a:latin typeface="Calibri" pitchFamily="34" charset="0"/>
                <a:ea typeface="Calibri" pitchFamily="34" charset="-122"/>
                <a:cs typeface="Calibri" pitchFamily="34" charset="-120"/>
              </a:rPr>
              <a:t>Every number in this deck is regenerated by a named script, in ngspice or in Vivado.</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(1–15)</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  </a:t>
            </a:r>
            <a:r>
              <a:rPr lang="en-US" sz="900" dirty="0">
                <a:solidFill>
                  <a:srgbClr val="000000"/>
                </a:solidFill>
                <a:latin typeface="Calibri" pitchFamily="34" charset="0"/>
                <a:ea typeface="Calibri" pitchFamily="34" charset="-122"/>
                <a:cs typeface="Calibri" pitchFamily="34" charset="-120"/>
              </a:rPr>
              <a:t xml:space="preserve">Z. Zhang, F. Wang, L. M. Tolbert and B. J. Blalock, “Active Gate Driver for Crosstalk Suppression of SiC Devices in a Phase-Leg Configuration,” IEEE Trans. Power Electron., vol. 29, no. 4, pp. 1986–1997,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  </a:t>
            </a:r>
            <a:r>
              <a:rPr lang="en-US" sz="900" dirty="0">
                <a:solidFill>
                  <a:srgbClr val="000000"/>
                </a:solidFill>
                <a:latin typeface="Calibri" pitchFamily="34" charset="0"/>
                <a:ea typeface="Calibri" pitchFamily="34" charset="-122"/>
                <a:cs typeface="Calibri" pitchFamily="34" charset="-120"/>
              </a:rPr>
              <a:t xml:space="preserve">R. Xie, H. Wang, G. Tang, X. Yang and K. J. Chen, “An Analytical Model for False Turn-On Evaluation of High-Voltage Enhancement-Mode GaN Transistor in Bridge-Leg Configuration,” IEEE Trans. Power Electron., vol. 32, no. 8, pp. 6416–6433, Aug. 2017.</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  </a:t>
            </a:r>
            <a:r>
              <a:rPr lang="en-US" sz="900" dirty="0">
                <a:solidFill>
                  <a:srgbClr val="000000"/>
                </a:solidFill>
                <a:latin typeface="Calibri" pitchFamily="34" charset="0"/>
                <a:ea typeface="Calibri" pitchFamily="34" charset="-122"/>
                <a:cs typeface="Calibri" pitchFamily="34" charset="-120"/>
              </a:rPr>
              <a:t xml:space="preserve">D. Reusch and J. Strydom, “Understanding the Effect of PCB Layout on Circuit Performance in a High-Frequency Gallium-Nitride-Based Point of Load Converter,” IEEE Trans. Power Electron., vol. 29, no. 4, pp. 2008–2015,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[4]  </a:t>
            </a:r>
            <a:r>
              <a:rPr lang="en-US" sz="900" dirty="0">
                <a:solidFill>
                  <a:srgbClr val="000000"/>
                </a:solidFill>
                <a:latin typeface="Calibri" pitchFamily="34" charset="0"/>
                <a:ea typeface="Calibri" pitchFamily="34" charset="-122"/>
                <a:cs typeface="Calibri" pitchFamily="34" charset="-120"/>
              </a:rPr>
              <a:t xml:space="preserve">B. Li, G. Zhang, C. Li, G. Wang, S. Liu and D. Xu, “Crosstalk Suppression Method for GaN-Based Bridge Configuration Using Negative Voltage Self-Recovery Gate Drive,” IEEE Trans. Power Electron., vol. 37, no. 4, pp. 4406–4418,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[5]  </a:t>
            </a:r>
            <a:r>
              <a:rPr lang="en-US" sz="900" dirty="0">
                <a:solidFill>
                  <a:srgbClr val="000000"/>
                </a:solidFill>
                <a:latin typeface="Calibri" pitchFamily="34" charset="0"/>
                <a:ea typeface="Calibri" pitchFamily="34" charset="-122"/>
                <a:cs typeface="Calibri" pitchFamily="34" charset="-120"/>
              </a:rPr>
              <a:t xml:space="preserve">X. Chen, H. Peng, S. Song, Q. Tong and Y. Kang, “A Novel Control Strategy for Optimal Tradeoff between Overshoot and Switching Loss Based on Double Closed-Loop Self-Regulating Active Gate Driver,” IEEE Trans. Power Electron., vol. 39, no. 10, pp. 13033–13043,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[6]  </a:t>
            </a:r>
            <a:r>
              <a:rPr lang="en-US" sz="900" dirty="0">
                <a:solidFill>
                  <a:srgbClr val="000000"/>
                </a:solidFill>
                <a:latin typeface="Calibri" pitchFamily="34" charset="0"/>
                <a:ea typeface="Calibri" pitchFamily="34" charset="-122"/>
                <a:cs typeface="Calibri" pitchFamily="34" charset="-120"/>
              </a:rPr>
              <a:t xml:space="preserve">W. Song, T. Hu, J. Chen, T. Tang, H. Yue and G. Liu, “A Self-Regulating Active Gate Driver of Voltage Overshoot Suppression for SiC MOSFETs Under Variable Load Current Conditions,” IEEE Trans. Power Electron., vol. 40, no. 8, pp. 10623–10634,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[7]  </a:t>
            </a:r>
            <a:r>
              <a:rPr lang="en-US" sz="900" dirty="0">
                <a:solidFill>
                  <a:srgbClr val="000000"/>
                </a:solidFill>
                <a:latin typeface="Calibri" pitchFamily="34" charset="0"/>
                <a:ea typeface="Calibri" pitchFamily="34" charset="-122"/>
                <a:cs typeface="Calibri" pitchFamily="34" charset="-120"/>
              </a:rPr>
              <a:t xml:space="preserve">C.W. Kuo, T.W. Wang, L.C. Chen, C.C. Tu, Y.K. Hsiao and P.H. Chen, “Universal Active Gate Driver IC With Closed-Loop Timing Control and Gate-Sensing Technique for Silicon Carbide Power Devices,” IEEE Trans. Power Electron., vol. 40, no. 4, pp. 5120–5129,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[8]  </a:t>
            </a:r>
            <a:r>
              <a:rPr lang="en-US" sz="900" dirty="0">
                <a:solidFill>
                  <a:srgbClr val="000000"/>
                </a:solidFill>
                <a:latin typeface="Calibri" pitchFamily="34" charset="0"/>
                <a:ea typeface="Calibri" pitchFamily="34" charset="-122"/>
                <a:cs typeface="Calibri" pitchFamily="34" charset="-120"/>
              </a:rPr>
              <a:t xml:space="preserve">G.H. Thuc and C.J. Chen, “An Integrated Driver With Dual-Edge Adaptive Dead-Time Control for GaN-Based Synchronous Buck Converter,” IEEE Trans. Ind. Appl., vol. 60, no. 6, pp. 9157–9170,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[9]  </a:t>
            </a:r>
            <a:r>
              <a:rPr lang="en-US" sz="900" b="1" dirty="0">
                <a:solidFill>
                  <a:srgbClr val="000000"/>
                </a:solidFill>
                <a:latin typeface="Calibri" pitchFamily="34" charset="0"/>
                <a:ea typeface="Calibri" pitchFamily="34" charset="-122"/>
                <a:cs typeface="Calibri" pitchFamily="34" charset="-120"/>
              </a:rPr>
              <a:t xml:space="preserve">BASE PAPER — </a:t>
            </a:r>
            <a:r>
              <a:rPr lang="en-US" sz="900" dirty="0">
                <a:solidFill>
                  <a:srgbClr val="000000"/>
                </a:solidFill>
                <a:latin typeface="Calibri" pitchFamily="34" charset="0"/>
                <a:ea typeface="Calibri" pitchFamily="34" charset="-122"/>
                <a:cs typeface="Calibri" pitchFamily="34" charset="-120"/>
              </a:rPr>
              <a:t xml:space="preserve">H. Takayama, T. Okuda and T. Hikihara, “Digital Active Gate Drive of SiC MOSFETs for Controlling Switching Behavior — Preparation Toward Universal Digitization of Power Switching,” Int. J. Circuit Theory Appl., vol. 50, no. 1, pp. 183–196,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[10]  </a:t>
            </a:r>
            <a:r>
              <a:rPr lang="en-US" sz="900" dirty="0">
                <a:solidFill>
                  <a:srgbClr val="000000"/>
                </a:solidFill>
                <a:latin typeface="Calibri" pitchFamily="34" charset="0"/>
                <a:ea typeface="Calibri" pitchFamily="34" charset="-122"/>
                <a:cs typeface="Calibri" pitchFamily="34" charset="-120"/>
              </a:rPr>
              <a:t xml:space="preserve">W.J. Zhang, J. Yu, Y. Leng, W.T. Cui, G.Q. Deng and W.T. Ng, “A Segmented Gate Driver for E-mode GaN HEMTs with Simple Driving Strength Pattern Control,” in Proc. IEEE 32nd Int. Symp. Power Semicond. Devices ICs (ISPSD), 2020, pp. 102–105.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[11]  </a:t>
            </a:r>
            <a:r>
              <a:rPr lang="en-US" sz="900" dirty="0">
                <a:solidFill>
                  <a:srgbClr val="000000"/>
                </a:solidFill>
                <a:latin typeface="Calibri" pitchFamily="34" charset="0"/>
                <a:ea typeface="Calibri" pitchFamily="34" charset="-122"/>
                <a:cs typeface="Calibri" pitchFamily="34" charset="-120"/>
              </a:rPr>
              <a:t xml:space="preserve">X. Wang, M. Tao, J. Xiao, D. Luo, M. He, Q. Zhou, X. Zhang and M. Wang, “High-Frequency Three-Level Gate Driver for GaN HEMT Bridge Crosstalk Suppression,” IEEE Trans. Power Electron., vol. 39, no. 1, pp. 1343–1352,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[12]  </a:t>
            </a:r>
            <a:r>
              <a:rPr lang="en-US" sz="900" dirty="0">
                <a:solidFill>
                  <a:srgbClr val="000000"/>
                </a:solidFill>
                <a:latin typeface="Calibri" pitchFamily="34" charset="0"/>
                <a:ea typeface="Calibri" pitchFamily="34" charset="-122"/>
                <a:cs typeface="Calibri" pitchFamily="34" charset="-120"/>
              </a:rPr>
              <a:t xml:space="preserve">L. Wang, X. Sun, Y. Yan, M. Ma and D. Xu, “An Integrated Suppression Method of Both Gate-Source Voltage Oscillation and Crosstalk for GaN HEMT Gate Driver,” IEEE Trans. Power Electron., vol. 39, no. 11, pp. 14643–14655,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[13]  </a:t>
            </a:r>
            <a:r>
              <a:rPr lang="en-US" sz="900" dirty="0">
                <a:solidFill>
                  <a:srgbClr val="000000"/>
                </a:solidFill>
                <a:latin typeface="Calibri" pitchFamily="34" charset="0"/>
                <a:ea typeface="Calibri" pitchFamily="34" charset="-122"/>
                <a:cs typeface="Calibri" pitchFamily="34" charset="-120"/>
              </a:rPr>
              <a:t xml:space="preserve">Y. Cai, D. Ye, W. Lv and Z. Chen, “A High-Efficient GaN Driver With Hybrid Adaptive Dead-Time Control and Peak Delay Control for Synchronous Buck Converter,” IEEE Trans. Power Electron., vol. 41, no. 1, pp. 279–290,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[14]  </a:t>
            </a:r>
            <a:r>
              <a:rPr lang="en-US" sz="900" dirty="0">
                <a:solidFill>
                  <a:srgbClr val="000000"/>
                </a:solidFill>
                <a:latin typeface="Calibri" pitchFamily="34" charset="0"/>
                <a:ea typeface="Calibri" pitchFamily="34" charset="-122"/>
                <a:cs typeface="Calibri" pitchFamily="34" charset="-120"/>
              </a:rPr>
              <a:t xml:space="preserve">Y. Zheng, S. Zhao, P. Agarwal, F. Liu, Y. Zhao and A. Mantooth, “A Multi-Level Turn-Off Gate Driver for Crosstalk Noise Suppression of GaN HEMTs,” IEEE Open J. Power Electron., pp. 1–15,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[15]  </a:t>
            </a:r>
            <a:r>
              <a:rPr lang="en-US" sz="900" dirty="0">
                <a:solidFill>
                  <a:srgbClr val="000000"/>
                </a:solidFill>
                <a:latin typeface="Calibri" pitchFamily="34" charset="0"/>
                <a:ea typeface="Calibri" pitchFamily="34" charset="-122"/>
                <a:cs typeface="Calibri" pitchFamily="34" charset="-120"/>
              </a:rPr>
              <a:t xml:space="preserve">M.K. Banda, S. Madichetty, D.M. Natham and S. Koduru, “An Event-Triggered Dual-Polarity Gate Clamp for GaN HEMT Gate Oscillation Suppression,” IEEE Trans. Power Electron., vol. 41, no. 9, pp. 14402–14405, 2026.</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(16–30)</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[16]  </a:t>
            </a:r>
            <a:r>
              <a:rPr lang="en-US" sz="900" dirty="0">
                <a:solidFill>
                  <a:srgbClr val="000000"/>
                </a:solidFill>
                <a:latin typeface="Calibri" pitchFamily="34" charset="0"/>
                <a:ea typeface="Calibri" pitchFamily="34" charset="-122"/>
                <a:cs typeface="Calibri" pitchFamily="34" charset="-120"/>
              </a:rPr>
              <a:t xml:space="preserve">Z. Yuan, H. Li, M. Zhang, Z. Yang, S. Zhao, H. Wang, X. Wang and L. Ding, “Influence of Negative Gate Bias on Crosstalk Spike in SiC MOSFETs Half-Bridge Circuit,” IEEE J. Emerg. Sel. Topics Power Electron., vol. 14, no. 3, pp. 3217–3229,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[17]  </a:t>
            </a:r>
            <a:r>
              <a:rPr lang="en-US" sz="900" dirty="0">
                <a:solidFill>
                  <a:srgbClr val="000000"/>
                </a:solidFill>
                <a:latin typeface="Calibri" pitchFamily="34" charset="0"/>
                <a:ea typeface="Calibri" pitchFamily="34" charset="-122"/>
                <a:cs typeface="Calibri" pitchFamily="34" charset="-120"/>
              </a:rPr>
              <a:t xml:space="preserve">L. Zhang, K. Wang, S. Guo and B. Zhu, “A Gate Driver for Crosstalk Suppression of eGaN HEMT Power Devices,” J. Low Power Electron. Appl., vol. 15, no. 3, pp. 38,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[18]  </a:t>
            </a:r>
            <a:r>
              <a:rPr lang="en-US" sz="900" dirty="0">
                <a:solidFill>
                  <a:srgbClr val="000000"/>
                </a:solidFill>
                <a:latin typeface="Calibri" pitchFamily="34" charset="0"/>
                <a:ea typeface="Calibri" pitchFamily="34" charset="-122"/>
                <a:cs typeface="Calibri" pitchFamily="34" charset="-120"/>
              </a:rPr>
              <a:t xml:space="preserve">J. Wu, “Parallel arrangement of MOSFETs, effective suppression of crosstalk: A new gate driver topology,” iEnergy, vol. 2, no. 3, pp. 163–163,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[19]  </a:t>
            </a:r>
            <a:r>
              <a:rPr lang="en-US" sz="900" dirty="0">
                <a:solidFill>
                  <a:srgbClr val="000000"/>
                </a:solidFill>
                <a:latin typeface="Calibri" pitchFamily="34" charset="0"/>
                <a:ea typeface="Calibri" pitchFamily="34" charset="-122"/>
                <a:cs typeface="Calibri" pitchFamily="34" charset="-120"/>
              </a:rPr>
              <a:t xml:space="preserve">Y. Mikhaylov, G. Buticchi and M. Galea, “A gate driver for parallel connected MOSFETs with crosstalk suppression,” iEnergy, vol. 2, no. 3, pp. 240–250,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[20]  </a:t>
            </a:r>
            <a:r>
              <a:rPr lang="en-US" sz="900" dirty="0">
                <a:solidFill>
                  <a:srgbClr val="000000"/>
                </a:solidFill>
                <a:latin typeface="Calibri" pitchFamily="34" charset="0"/>
                <a:ea typeface="Calibri" pitchFamily="34" charset="-122"/>
                <a:cs typeface="Calibri" pitchFamily="34" charset="-120"/>
              </a:rPr>
              <a:t xml:space="preserve">W. Liu and H. Min, “A Load Adaptive Active Gate Driver with Fast-Switching Three-Level Current Source for Overshoot Suppression in GaN-Based Half-Bridge Converters,” IEEE Trans. Power Electron., pp. 1–8,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[21]  </a:t>
            </a:r>
            <a:r>
              <a:rPr lang="en-US" sz="900" dirty="0">
                <a:solidFill>
                  <a:srgbClr val="000000"/>
                </a:solidFill>
                <a:latin typeface="Calibri" pitchFamily="34" charset="0"/>
                <a:ea typeface="Calibri" pitchFamily="34" charset="-122"/>
                <a:cs typeface="Calibri" pitchFamily="34" charset="-120"/>
              </a:rPr>
              <a:t xml:space="preserve">R. Chen, F. Wang, H. Bai and L.M. Tolbert, “A Simple Gate Driver Circuit for Turn-on Overvoltage Suppression of 10 kV SiC MOSFETs With Temporarily Lowering Gate Voltage During dv/dt,” IEEE Trans. Ind. Electron., pp. 1–6,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[22]  </a:t>
            </a:r>
            <a:r>
              <a:rPr lang="en-US" sz="900" dirty="0">
                <a:solidFill>
                  <a:srgbClr val="000000"/>
                </a:solidFill>
                <a:latin typeface="Calibri" pitchFamily="34" charset="0"/>
                <a:ea typeface="Calibri" pitchFamily="34" charset="-122"/>
                <a:cs typeface="Calibri" pitchFamily="34" charset="-120"/>
              </a:rPr>
              <a:t xml:space="preserve">D. Yu, M. Yang, L. Yin, K. Hu, W. Zhang and Q. Fu, “A Dual-Loop Active Gate Driver With Independent Voltage Slew Rate and Overshoot Control for Switching Loss Optimization of SiC MOSFETs,” IEEE Trans. Ind. Electron., pp. 1–12,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[23]  </a:t>
            </a:r>
            <a:r>
              <a:rPr lang="en-US" sz="900" dirty="0">
                <a:solidFill>
                  <a:srgbClr val="000000"/>
                </a:solidFill>
                <a:latin typeface="Calibri" pitchFamily="34" charset="0"/>
                <a:ea typeface="Calibri" pitchFamily="34" charset="-122"/>
                <a:cs typeface="Calibri" pitchFamily="34" charset="-120"/>
              </a:rPr>
              <a:t xml:space="preserve">P. Xiang, R. Hao, J. Cai and X. You, “An Active Gate Driver of SiC MOSFET Module Based on PCB Rogowski Coil for Optimizing Tradeoff Between Overshoot and Switching Loss,” IEEE Trans. Power Electron., vol. 38, no. 1, pp. 245–260,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[24]  </a:t>
            </a:r>
            <a:r>
              <a:rPr lang="en-US" sz="900" dirty="0">
                <a:solidFill>
                  <a:srgbClr val="000000"/>
                </a:solidFill>
                <a:latin typeface="Calibri" pitchFamily="34" charset="0"/>
                <a:ea typeface="Calibri" pitchFamily="34" charset="-122"/>
                <a:cs typeface="Calibri" pitchFamily="34" charset="-120"/>
              </a:rPr>
              <a:t xml:space="preserve">S. Fukunaga, H. Takayama and T. Hikihara, “Slew rate control of switching transient for SiC MOSFET in boost converter using digital active gate driver,” IET Power Electron., vol. 16, no. 3, pp. 472–482,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[25]  </a:t>
            </a:r>
            <a:r>
              <a:rPr lang="en-US" sz="900" dirty="0">
                <a:solidFill>
                  <a:srgbClr val="000000"/>
                </a:solidFill>
                <a:latin typeface="Calibri" pitchFamily="34" charset="0"/>
                <a:ea typeface="Calibri" pitchFamily="34" charset="-122"/>
                <a:cs typeface="Calibri" pitchFamily="34" charset="-120"/>
              </a:rPr>
              <a:t xml:space="preserve">C. Xu, P. Fu, X. Liao, Z. Zhu and L. Liu, “An Integrated Driver With Real-Time Predictive Dead-Time Optimization Technique for GaN-Based Synchronous Buck Converter,” IEEE J. Emerg. Sel. Topics Power Electron., vol. 13, no. 3, pp. 3173–3183,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[26]  </a:t>
            </a:r>
            <a:r>
              <a:rPr lang="en-US" sz="900" dirty="0">
                <a:solidFill>
                  <a:srgbClr val="000000"/>
                </a:solidFill>
                <a:latin typeface="Calibri" pitchFamily="34" charset="0"/>
                <a:ea typeface="Calibri" pitchFamily="34" charset="-122"/>
                <a:cs typeface="Calibri" pitchFamily="34" charset="-120"/>
              </a:rPr>
              <a:t xml:space="preserve">C. Chen, P. Chiu, Y. Chen, P. Wang and Y. Chang, “An Integrated Driver With Adaptive Dead-Time Control for GaN-Based Synchronous Buck Converter,” IEEE Trans. Circuits Syst. II, vol. 69, no. 2, pp. 539–543,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[27]  </a:t>
            </a:r>
            <a:r>
              <a:rPr lang="en-US" sz="900" dirty="0">
                <a:solidFill>
                  <a:srgbClr val="000000"/>
                </a:solidFill>
                <a:latin typeface="Calibri" pitchFamily="34" charset="0"/>
                <a:ea typeface="Calibri" pitchFamily="34" charset="-122"/>
                <a:cs typeface="Calibri" pitchFamily="34" charset="-120"/>
              </a:rPr>
              <a:t xml:space="preserve">J. Tan, Z. Zhou and G. Zou, “A Programmable Gate Driver Module-Based Multistage Voltage Regulation SiC MOSFET Switching Strategy,” Electronics, vol. 13, no. 22, pp. 4379,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[28]  </a:t>
            </a:r>
            <a:r>
              <a:rPr lang="en-US" sz="900" dirty="0">
                <a:solidFill>
                  <a:srgbClr val="000000"/>
                </a:solidFill>
                <a:latin typeface="Calibri" pitchFamily="34" charset="0"/>
                <a:ea typeface="Calibri" pitchFamily="34" charset="-122"/>
                <a:cs typeface="Calibri" pitchFamily="34" charset="-120"/>
              </a:rPr>
              <a:t xml:space="preserve">C. Chen, P. Wang, S. Li, Y. Chen and Y. Chang, “An Integrated Driver With Bang-Bang Dead-Time Control and Charge Sharing Bootstrap Circuit for GaN Synchronous Buck Converter,” IEEE Trans. Power Electron., vol. 37, no. 8, pp. 9503–9514,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[29]  </a:t>
            </a:r>
            <a:r>
              <a:rPr lang="en-US" sz="900" dirty="0">
                <a:solidFill>
                  <a:srgbClr val="000000"/>
                </a:solidFill>
                <a:latin typeface="Calibri" pitchFamily="34" charset="0"/>
                <a:ea typeface="Calibri" pitchFamily="34" charset="-122"/>
                <a:cs typeface="Calibri" pitchFamily="34" charset="-120"/>
              </a:rPr>
              <a:t xml:space="preserve">G.H. Thuc, M. Tsai, C. Chen, J. Fu, W. Wu and W. Lin, “A Current Source Gate Driver with Dual-Edge Adaptive Slew Rate for GaN Devices,” in Proc. 2026 IEEE Applied Power Electronics Conference and Exposition (APEC),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[30]  </a:t>
            </a:r>
            <a:r>
              <a:rPr lang="en-US" sz="900" dirty="0">
                <a:solidFill>
                  <a:srgbClr val="000000"/>
                </a:solidFill>
                <a:latin typeface="Calibri" pitchFamily="34" charset="0"/>
                <a:ea typeface="Calibri" pitchFamily="34" charset="-122"/>
                <a:cs typeface="Calibri" pitchFamily="34" charset="-120"/>
              </a:rPr>
              <a:t xml:space="preserve">G. Wu, Y. Huang, Y. Chen and C. Chen, “Closed-loop Slew Rate Control of Active Current Source Gate Driver with Digital Implementation for SiC MOSFET,” in Proc. 2025 IEEE Energy Conversion Conference Congress and Exposition (ECCE), 2025.</a:t>
            </a:r>
          </a:p>
          <a:p>
            <a:pPr marL="177800" indent="0">
              <a:spcAft>
                <a:spcPts val="160"/>
              </a:spcAft>
              <a:buSzPct val="100000"/>
              <a:buNone/>
            </a:pPr>
            <a:r>
              <a:rPr lang="en-US" sz="850" dirty="0">
                <a:solidFill>
                  <a:srgbClr val="000000"/>
                </a:solidFill>
                <a:latin typeface="Calibri" pitchFamily="34" charset="0"/>
                <a:ea typeface="Calibri" pitchFamily="34" charset="-122"/>
                <a:cs typeface="Calibri" pitchFamily="34" charset="-120"/>
              </a:rPr>
              <a:t xml:space="preserve">All 30 verified against the publisher record — authors, volume, issue and pages resolved through Crossref by DOI and title, not transcribed by hand.</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same result in LTspice, on the drawn circuit</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ltspice_annotated.png"/>
          <p:cNvPicPr>
            <a:picLocks noChangeAspect="1"/>
          </p:cNvPicPr>
          <p:nvPr/>
        </p:nvPicPr>
        <p:blipFill>
          <a:blip r:embed="rId4"/>
          <a:stretch>
            <a:fillRect/>
          </a:stretch>
        </p:blipFill>
        <p:spPr>
          <a:xfrm>
            <a:off x="1957534" y="1170432"/>
            <a:ext cx="8276626" cy="4389120"/>
          </a:xfrm>
          <a:prstGeom prst="rect">
            <a:avLst/>
          </a:prstGeom>
        </p:spPr>
      </p:pic>
      <p:sp>
        <p:nvSpPr>
          <p:cNvPr id="6" name="TextBox 5"/>
          <p:cNvSpPr txBox="1"/>
          <p:nvPr/>
        </p:nvSpPr>
        <p:spPr>
          <a:xfrm>
            <a:off x="502920" y="5687568"/>
            <a:ext cx="11201400" cy="822960"/>
          </a:xfrm>
          <a:prstGeom prst="rect">
            <a:avLst/>
          </a:prstGeom>
          <a:noFill/>
        </p:spPr>
        <p:txBody>
          <a:bodyPr wrap="square" lIns="0" tIns="0" rIns="0" bIns="0">
            <a:spAutoFit/>
          </a:bodyPr>
          <a:lstStyle/>
          <a:p>
            <a:pPr marL="177800" indent="0">
              <a:spcAft>
                <a:spcPts val="6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figure. </a:t>
            </a:r>
            <a:r>
              <a:rPr lang="en-US" sz="1150" dirty="0">
                <a:solidFill>
                  <a:srgbClr val="000000"/>
                </a:solidFill>
                <a:latin typeface="Calibri" pitchFamily="34" charset="0"/>
                <a:ea typeface="Calibri" pitchFamily="34" charset="-122"/>
                <a:cs typeface="Calibri" pitchFamily="34" charset="-120"/>
              </a:rPr>
              <a:t xml:space="preserve">LTspice's own output, from the schematic in ltspice/. Top: the switch node falling 100 V. Bottom: what that does to the gate of the device that is supposed to be OFF.</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What it means. </a:t>
            </a:r>
            <a:r>
              <a:rPr lang="en-US" sz="1150" dirty="0">
                <a:solidFill>
                  <a:srgbClr val="000000"/>
                </a:solidFill>
                <a:latin typeface="Calibri" pitchFamily="34" charset="0"/>
                <a:ea typeface="Calibri" pitchFamily="34" charset="-122"/>
                <a:cs typeface="Calibri" pitchFamily="34" charset="-120"/>
              </a:rPr>
              <a:t xml:space="preserve">A second simulator, on a drawn circuit, gets +1.6476 V and −1.1769 V where ngspice gets +1.6486 and −1.1757. About a millivolt apart, so the result is the circuit's, not the simulator's.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a GaN HEMT is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gan_1.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687568"/>
            <a:ext cx="11201400" cy="841248"/>
          </a:xfrm>
          <a:prstGeom prst="rect">
            <a:avLst/>
          </a:prstGeom>
          <a:noFill/>
        </p:spPr>
        <p:txBody>
          <a:bodyPr wrap="square" lIns="0" tIns="0" rIns="0" bIns="0">
            <a:spAutoFit/>
          </a:bodyPr>
          <a:lstStyle/>
          <a:p>
            <a:pPr marL="177800" indent="0">
              <a:spcAft>
                <a:spcPts val="6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figure. </a:t>
            </a:r>
            <a:r>
              <a:rPr lang="en-US" sz="1150" dirty="0">
                <a:solidFill>
                  <a:srgbClr val="000000"/>
                </a:solidFill>
                <a:latin typeface="Calibri" pitchFamily="34" charset="0"/>
                <a:ea typeface="Calibri" pitchFamily="34" charset="-122"/>
                <a:cs typeface="Calibri" pitchFamily="34" charset="-120"/>
              </a:rPr>
              <a:t xml:space="preserve">Silicon against gallium nitride, side by side, on the properties that matter for switching.</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What it means. </a:t>
            </a:r>
            <a:r>
              <a:rPr lang="en-US" sz="1150" dirty="0">
                <a:solidFill>
                  <a:srgbClr val="000000"/>
                </a:solidFill>
                <a:latin typeface="Calibri" pitchFamily="34" charset="0"/>
                <a:ea typeface="Calibri" pitchFamily="34" charset="-122"/>
                <a:cs typeface="Calibri" pitchFamily="34" charset="-120"/>
              </a:rPr>
              <a:t xml:space="preserve">GaN holds off the same voltage in a much thinner layer, so there is far less charge to move and it switches in nanoseconds. That speed is the reason to use it.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the GaN HEMT causes the problem we solve</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gan_2.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687568"/>
            <a:ext cx="11201400" cy="841248"/>
          </a:xfrm>
          <a:prstGeom prst="rect">
            <a:avLst/>
          </a:prstGeom>
          <a:noFill/>
        </p:spPr>
        <p:txBody>
          <a:bodyPr wrap="square" lIns="0" tIns="0" rIns="0" bIns="0">
            <a:spAutoFit/>
          </a:bodyPr>
          <a:lstStyle/>
          <a:p>
            <a:pPr marL="177800" indent="0">
              <a:spcAft>
                <a:spcPts val="6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figure. </a:t>
            </a:r>
            <a:r>
              <a:rPr lang="en-US" sz="1150" dirty="0">
                <a:solidFill>
                  <a:srgbClr val="000000"/>
                </a:solidFill>
                <a:latin typeface="Calibri" pitchFamily="34" charset="0"/>
                <a:ea typeface="Calibri" pitchFamily="34" charset="-122"/>
                <a:cs typeface="Calibri" pitchFamily="34" charset="-120"/>
              </a:rPr>
              <a:t xml:space="preserve">Three properties of the device and what each one does inside a half-bridge.</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What it means. </a:t>
            </a:r>
            <a:r>
              <a:rPr lang="en-US" sz="1150" dirty="0">
                <a:solidFill>
                  <a:srgbClr val="000000"/>
                </a:solidFill>
                <a:latin typeface="Calibri" pitchFamily="34" charset="0"/>
                <a:ea typeface="Calibri" pitchFamily="34" charset="-122"/>
                <a:cs typeface="Calibri" pitchFamily="34" charset="-120"/>
              </a:rPr>
              <a:t xml:space="preserve">A 1.4 V threshold, an unavoidable 150 pF path from drain to gate, and no body diode. The fault follows from the device, not from a mistake.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driver's settings, and where 720 comes from</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settings.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687568"/>
            <a:ext cx="11201400" cy="841248"/>
          </a:xfrm>
          <a:prstGeom prst="rect">
            <a:avLst/>
          </a:prstGeom>
          <a:noFill/>
        </p:spPr>
        <p:txBody>
          <a:bodyPr wrap="square" lIns="0" tIns="0" rIns="0" bIns="0">
            <a:spAutoFit/>
          </a:bodyPr>
          <a:lstStyle/>
          <a:p>
            <a:pPr marL="177800" indent="0">
              <a:spcAft>
                <a:spcPts val="6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figure. </a:t>
            </a:r>
            <a:r>
              <a:rPr lang="en-US" sz="1150" dirty="0">
                <a:solidFill>
                  <a:srgbClr val="000000"/>
                </a:solidFill>
                <a:latin typeface="Calibri" pitchFamily="34" charset="0"/>
                <a:ea typeface="Calibri" pitchFamily="34" charset="-122"/>
                <a:cs typeface="Calibri" pitchFamily="34" charset="-120"/>
              </a:rPr>
              <a:t xml:space="preserve">The six fields the gate driver exposes, and the values each one is swept over.</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What it means. </a:t>
            </a:r>
            <a:r>
              <a:rPr lang="en-US" sz="1150" dirty="0">
                <a:solidFill>
                  <a:srgbClr val="000000"/>
                </a:solidFill>
                <a:latin typeface="Calibri" pitchFamily="34" charset="0"/>
                <a:ea typeface="Calibri" pitchFamily="34" charset="-122"/>
                <a:cs typeface="Calibri" pitchFamily="34" charset="-120"/>
              </a:rPr>
              <a:t xml:space="preserve">6 × 2 × 3 × 5 × 2 × 2 = 720 settings. Each is simulated at four operating points, so 2,880 runs in all.</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input — what an operating point is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in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687568"/>
            <a:ext cx="11201400" cy="841248"/>
          </a:xfrm>
          <a:prstGeom prst="rect">
            <a:avLst/>
          </a:prstGeom>
          <a:noFill/>
        </p:spPr>
        <p:txBody>
          <a:bodyPr wrap="square" lIns="0" tIns="0" rIns="0" bIns="0">
            <a:spAutoFit/>
          </a:bodyPr>
          <a:lstStyle/>
          <a:p>
            <a:pPr marL="177800" indent="0">
              <a:spcAft>
                <a:spcPts val="6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figure. </a:t>
            </a:r>
            <a:r>
              <a:rPr lang="en-US" sz="1150" dirty="0">
                <a:solidFill>
                  <a:srgbClr val="000000"/>
                </a:solidFill>
                <a:latin typeface="Calibri" pitchFamily="34" charset="0"/>
                <a:ea typeface="Calibri" pitchFamily="34" charset="-122"/>
                <a:cs typeface="Calibri" pitchFamily="34" charset="-120"/>
              </a:rPr>
              <a:t xml:space="preserve">The four conditions every setting is tested at: bus voltage, load current and junction temperature.</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What it means. </a:t>
            </a:r>
            <a:r>
              <a:rPr lang="en-US" sz="1150" dirty="0">
                <a:solidFill>
                  <a:srgbClr val="000000"/>
                </a:solidFill>
                <a:latin typeface="Calibri" pitchFamily="34" charset="0"/>
                <a:ea typeface="Calibri" pitchFamily="34" charset="-122"/>
                <a:cs typeface="Calibri" pitchFamily="34" charset="-120"/>
              </a:rPr>
              <a:t xml:space="preserve">If the best setting were the same at all four there would be nothing to adapt to. Whether it moves is the question the project answers.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output — what is actually measured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out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687568"/>
            <a:ext cx="11201400" cy="841248"/>
          </a:xfrm>
          <a:prstGeom prst="rect">
            <a:avLst/>
          </a:prstGeom>
          <a:noFill/>
        </p:spPr>
        <p:txBody>
          <a:bodyPr wrap="square" lIns="0" tIns="0" rIns="0" bIns="0">
            <a:spAutoFit/>
          </a:bodyPr>
          <a:lstStyle/>
          <a:p>
            <a:pPr marL="177800" indent="0">
              <a:spcAft>
                <a:spcPts val="6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figure. </a:t>
            </a:r>
            <a:r>
              <a:rPr lang="en-US" sz="1150" dirty="0">
                <a:solidFill>
                  <a:srgbClr val="000000"/>
                </a:solidFill>
                <a:latin typeface="Calibri" pitchFamily="34" charset="0"/>
                <a:ea typeface="Calibri" pitchFamily="34" charset="-122"/>
                <a:cs typeface="Calibri" pitchFamily="34" charset="-120"/>
              </a:rPr>
              <a:t xml:space="preserve">Two things: what the converter delivers, and what each individual simulation reports.</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What it means. </a:t>
            </a:r>
            <a:r>
              <a:rPr lang="en-US" sz="1150" dirty="0">
                <a:solidFill>
                  <a:srgbClr val="000000"/>
                </a:solidFill>
                <a:latin typeface="Calibri" pitchFamily="34" charset="0"/>
                <a:ea typeface="Calibri" pitchFamily="34" charset="-122"/>
                <a:cs typeface="Calibri" pitchFamily="34" charset="-120"/>
              </a:rPr>
              <a:t xml:space="preserve">48.56 V at 4.875 A, 97.62 % efficient. Per run: the peak on the OFF gate, the margin, the switching energy and four more.</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“margin” means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margin.png"/>
          <p:cNvPicPr>
            <a:picLocks noChangeAspect="1"/>
          </p:cNvPicPr>
          <p:nvPr/>
        </p:nvPicPr>
        <p:blipFill>
          <a:blip r:embed="rId4"/>
          <a:stretch>
            <a:fillRect/>
          </a:stretch>
        </p:blipFill>
        <p:spPr>
          <a:xfrm>
            <a:off x="1686402" y="1170432"/>
            <a:ext cx="8818889" cy="4407408"/>
          </a:xfrm>
          <a:prstGeom prst="rect">
            <a:avLst/>
          </a:prstGeom>
        </p:spPr>
      </p:pic>
      <p:sp>
        <p:nvSpPr>
          <p:cNvPr id="6" name="TextBox 5"/>
          <p:cNvSpPr txBox="1"/>
          <p:nvPr/>
        </p:nvSpPr>
        <p:spPr>
          <a:xfrm>
            <a:off x="502920" y="5687568"/>
            <a:ext cx="11201400" cy="841248"/>
          </a:xfrm>
          <a:prstGeom prst="rect">
            <a:avLst/>
          </a:prstGeom>
          <a:noFill/>
        </p:spPr>
        <p:txBody>
          <a:bodyPr wrap="square" lIns="0" tIns="0" rIns="0" bIns="0">
            <a:spAutoFit/>
          </a:bodyPr>
          <a:lstStyle/>
          <a:p>
            <a:pPr marL="177800" indent="0">
              <a:spcAft>
                <a:spcPts val="6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figure. </a:t>
            </a:r>
            <a:r>
              <a:rPr lang="en-US" sz="1150" dirty="0">
                <a:solidFill>
                  <a:srgbClr val="000000"/>
                </a:solidFill>
                <a:latin typeface="Calibri" pitchFamily="34" charset="0"/>
                <a:ea typeface="Calibri" pitchFamily="34" charset="-122"/>
                <a:cs typeface="Calibri" pitchFamily="34" charset="-120"/>
              </a:rPr>
              <a:t xml:space="preserve">How far the OFF device's gate stays below the voltage that would switch it on, for three configurations.</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What it means. </a:t>
            </a:r>
            <a:r>
              <a:rPr lang="en-US" sz="1150" dirty="0">
                <a:solidFill>
                  <a:srgbClr val="000000"/>
                </a:solidFill>
                <a:latin typeface="Calibri" pitchFamily="34" charset="0"/>
                <a:ea typeface="Calibri" pitchFamily="34" charset="-122"/>
                <a:cs typeface="Calibri" pitchFamily="34" charset="-120"/>
              </a:rPr>
              <a:t xml:space="preserve">Positive is safe, negative is a fault. Without the fix it is −0.249 V; with the clamp and the −2 V rail it is +2.576 V.</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 — ngspice and LTspice, running</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DEMO-VIDEO.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1417320" y="1188720"/>
            <a:ext cx="9326880" cy="4160520"/>
          </a:xfrm>
          <a:prstGeom prst="rect">
            <a:avLst/>
          </a:prstGeom>
        </p:spPr>
      </p:pic>
      <p:sp>
        <p:nvSpPr>
          <p:cNvPr id="6" name="TextBox 5"/>
          <p:cNvSpPr txBox="1"/>
          <p:nvPr/>
        </p:nvSpPr>
        <p:spPr>
          <a:xfrm>
            <a:off x="502920" y="5577840"/>
            <a:ext cx="11201400" cy="841248"/>
          </a:xfrm>
          <a:prstGeom prst="rect">
            <a:avLst/>
          </a:prstGeom>
          <a:noFill/>
        </p:spPr>
        <p:txBody>
          <a:bodyPr wrap="square" lIns="0" tIns="0" rIns="0" bIns="0">
            <a:spAutoFit/>
          </a:bodyPr>
          <a:lstStyle/>
          <a:p>
            <a:pPr marL="177800" indent="0">
              <a:spcAft>
                <a:spcPts val="6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figure. </a:t>
            </a:r>
            <a:r>
              <a:rPr lang="en-US" sz="1150" dirty="0">
                <a:solidFill>
                  <a:srgbClr val="000000"/>
                </a:solidFill>
                <a:latin typeface="Calibri" pitchFamily="34" charset="0"/>
                <a:ea typeface="Calibri" pitchFamily="34" charset="-122"/>
                <a:cs typeface="Calibri" pitchFamily="34" charset="-120"/>
              </a:rPr>
              <a:t xml:space="preserve">Two minutes recorded on the project laptop. The converter in ngspice, the crosstalk fault and its fix, the named cases, the Verilog controller, then LTspice opening the schematic and running it.</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What it means. </a:t>
            </a:r>
            <a:r>
              <a:rPr lang="en-US" sz="1150" dirty="0">
                <a:solidFill>
                  <a:srgbClr val="000000"/>
                </a:solidFill>
                <a:latin typeface="Calibri" pitchFamily="34" charset="0"/>
                <a:ea typeface="Calibri" pitchFamily="34" charset="-122"/>
                <a:cs typeface="Calibri" pitchFamily="34" charset="-120"/>
              </a:rPr>
              <a:t xml:space="preserve">Every number in this deck appears in that recording, produced by a tool while the clock in the corner runs. Click the frame to play.</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Thank you</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2103120"/>
            <a:ext cx="10881360" cy="2926080"/>
          </a:xfrm>
          <a:prstGeom prst="rect">
            <a:avLst/>
          </a:prstGeom>
          <a:noFill/>
        </p:spPr>
        <p:txBody>
          <a:bodyPr wrap="square" lIns="0" tIns="0" rIns="0" bIns="0">
            <a:spAutoFit/>
          </a:bodyPr>
          <a:lstStyle/>
          <a:p>
            <a:pPr marL="177800" indent="0">
              <a:spcAft>
                <a:spcPts val="400"/>
              </a:spcAft>
              <a:buSzPct val="100000"/>
              <a:buNone/>
            </a:pPr>
            <a:r>
              <a:rPr lang="en-US" sz="2600" b="1" dirty="0">
                <a:solidFill>
                  <a:srgbClr val="000000"/>
                </a:solidFill>
                <a:latin typeface="Calibri" pitchFamily="34" charset="0"/>
                <a:ea typeface="Calibri" pitchFamily="34" charset="-122"/>
                <a:cs typeface="Calibri" pitchFamily="34" charset="-120"/>
              </a:rPr>
              <a:t xml:space="preserve">GaN Based DC–DC Power Converter with an Improved Gate Driver</a:t>
            </a:r>
          </a:p>
          <a:p>
            <a:pPr marL="177800" indent="0">
              <a:spcAft>
                <a:spcPts val="240"/>
              </a:spcAft>
              <a:buSzPct val="100000"/>
              <a:buNone/>
            </a:pPr>
            <a:r>
              <a:rPr lang="en-US" sz="1500" dirty="0">
                <a:solidFill>
                  <a:srgbClr val="000000"/>
                </a:solidFill>
                <a:latin typeface="Calibri" pitchFamily="34" charset="0"/>
                <a:ea typeface="Calibri" pitchFamily="34" charset="-122"/>
                <a:cs typeface="Calibri" pitchFamily="34" charset="-120"/>
              </a:rPr>
              <a:t xml:space="preserve">Amritha S  23BEC1368     ·     Sanjay Kumar  23BEC1447     ·     Aamir Abdullah  23BPS1197</a:t>
            </a:r>
          </a:p>
          <a:p>
            <a:pPr marL="177800" indent="0">
              <a:spcAft>
                <a:spcPts val="400"/>
              </a:spcAft>
              <a:buSzPct val="100000"/>
              <a:buNone/>
            </a:pPr>
            <a:r>
              <a:rPr lang="en-US" sz="1500" dirty="0">
                <a:solidFill>
                  <a:srgbClr val="000000"/>
                </a:solidFill>
                <a:latin typeface="Calibri" pitchFamily="34" charset="0"/>
                <a:ea typeface="Calibri" pitchFamily="34" charset="-122"/>
                <a:cs typeface="Calibri" pitchFamily="34" charset="-120"/>
              </a:rPr>
              <a:t xml:space="preserve">Guide: Dr. Bindu  —  SENSE, VIT Chennai</a:t>
            </a:r>
          </a:p>
          <a:p>
            <a:pPr marL="177800" indent="0">
              <a:spcAft>
                <a:spcPts val="0"/>
              </a:spcAft>
              <a:buSzPct val="100000"/>
              <a:buNone/>
            </a:pPr>
            <a:r>
              <a:rPr lang="en-US" sz="1400" dirty="0">
                <a:solidFill>
                  <a:srgbClr val="000000"/>
                </a:solidFill>
                <a:latin typeface="Calibri" pitchFamily="34" charset="0"/>
                <a:ea typeface="Calibri" pitchFamily="34" charset="-122"/>
                <a:cs typeface="Calibri" pitchFamily="34" charset="-120"/>
              </a:rPr>
              <a:t xml:space="preserve">Everything in this deck runs on request: </a:t>
            </a:r>
            <a:r>
              <a:rPr lang="en-US" sz="1400" b="1" dirty="0">
                <a:solidFill>
                  <a:srgbClr val="000000"/>
                </a:solidFill>
                <a:latin typeface="Calibri" pitchFamily="34" charset="0"/>
                <a:ea typeface="Calibri" pitchFamily="34" charset="-122"/>
                <a:cs typeface="Calibri" pitchFamily="34" charset="-120"/>
              </a:rPr>
              <a:t xml:space="preserve">github.com/Amritha902/gan-driver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496</Words>
  <Application>Microsoft Macintosh PowerPoint</Application>
  <PresentationFormat>Widescreen</PresentationFormat>
  <Paragraphs>89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2</cp:revision>
  <dcterms:created xsi:type="dcterms:W3CDTF">2026-08-27T09:57:11Z</dcterms:created>
  <dcterms:modified xsi:type="dcterms:W3CDTF">2026-08-27T10:07:08Z</dcterms:modified>
</cp:coreProperties>
</file>