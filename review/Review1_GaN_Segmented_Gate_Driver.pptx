
<file path=[Content_Types].xml><?xml version="1.0" encoding="utf-8"?>
<Types xmlns="http://schemas.openxmlformats.org/package/2006/content-types">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sldIdLst>
    <p:sldId id="256" r:id="rId2"/>
    <p:sldId id="257" r:id="rId3"/>
    <p:sldId id="258" r:id="rId4"/>
    <p:sldId id="259" r:id="rId5"/>
    <p:sldId id="260" r:id="rId6"/>
    <p:sldId id="267" r:id="rId18"/>
    <p:sldId id="261" r:id="rId7"/>
    <p:sldId id="274" r:id="rId25"/>
    <p:sldId id="279" r:id="rId30"/>
    <p:sldId id="277" r:id="rId28"/>
    <p:sldId id="278" r:id="rId29"/>
    <p:sldId id="262" r:id="rId8"/>
    <p:sldId id="272" r:id="rId23"/>
    <p:sldId id="273" r:id="rId24"/>
    <p:sldId id="263" r:id="rId9"/>
    <p:sldId id="280" r:id="rId31"/>
    <p:sldId id="275" r:id="rId26"/>
    <p:sldId id="276" r:id="rId27"/>
    <p:sldId id="264" r:id="rId10"/>
    <p:sldId id="268" r:id="rId19"/>
    <p:sldId id="269" r:id="rId20"/>
    <p:sldId id="270" r:id="rId21"/>
    <p:sldId id="271" r:id="rId22"/>
    <p:sldId id="265" r:id="rId11"/>
    <p:sldId id="266" r:id="rId12"/>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6711"/>
    <p:restoredTop sz="94610"/>
  </p:normalViewPr>
  <p:slideViewPr>
    <p:cSldViewPr snapToGrid="0" snapToObjects="1">
      <p:cViewPr varScale="1">
        <p:scale>
          <a:sx n="114" d="100"/>
          <a:sy n="114" d="100"/>
        </p:scale>
        <p:origin x="504"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7.xml"/><Relationship Id="rId8" Type="http://schemas.openxmlformats.org/officeDocument/2006/relationships/slide" Target="slides/slide9.xml"/><Relationship Id="rId9" Type="http://schemas.openxmlformats.org/officeDocument/2006/relationships/slide" Target="slides/slide12.xml"/><Relationship Id="rId10" Type="http://schemas.openxmlformats.org/officeDocument/2006/relationships/slide" Target="slides/slide15.xml"/><Relationship Id="rId11" Type="http://schemas.openxmlformats.org/officeDocument/2006/relationships/slide" Target="slides/slide20.xml"/><Relationship Id="rId12" Type="http://schemas.openxmlformats.org/officeDocument/2006/relationships/slide" Target="slides/slide2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slide" Target="slides/slide6.xml"/><Relationship Id="rId19" Type="http://schemas.openxmlformats.org/officeDocument/2006/relationships/slide" Target="slides/slide16.xml"/><Relationship Id="rId20" Type="http://schemas.openxmlformats.org/officeDocument/2006/relationships/slide" Target="slides/slide17.xml"/><Relationship Id="rId21" Type="http://schemas.openxmlformats.org/officeDocument/2006/relationships/slide" Target="slides/slide18.xml"/><Relationship Id="rId22" Type="http://schemas.openxmlformats.org/officeDocument/2006/relationships/slide" Target="slides/slide19.xml"/><Relationship Id="rId23" Type="http://schemas.openxmlformats.org/officeDocument/2006/relationships/slide" Target="slides/slide10.xml"/><Relationship Id="rId24" Type="http://schemas.openxmlformats.org/officeDocument/2006/relationships/slide" Target="slides/slide11.xml"/><Relationship Id="rId25" Type="http://schemas.openxmlformats.org/officeDocument/2006/relationships/slide" Target="slides/slide8.xml"/><Relationship Id="rId26" Type="http://schemas.openxmlformats.org/officeDocument/2006/relationships/slide" Target="slides/slide13.xml"/><Relationship Id="rId27" Type="http://schemas.openxmlformats.org/officeDocument/2006/relationships/slide" Target="slides/slide14.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9145892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[15 s]  CORE. Project name and the one-line claim: a segmented GaN gate driver, and a measurement of what per-operating-point adaptation is actually worth.</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[skip]  SKIP. Template slide.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[60 s]  CORE — the 2-mark slide, the biggest block in the review. Land two things: the failure is real and specific (1.65 V on a 1.40 V threshold), and the gap is that prior work conflates 'better fixed settings' with 'settings that adapt'.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 s]  CORE — literature mark. Do not read the table. Eight references, three verified to page level; point at [3], layout sets loop inductance, which decides our answer.</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 s]  CORE — proposed-solution mark. The 720-point control word and the method: exhaustive search at every corner, so each per-corner optimum is a TRUE optimum and not the best of a shortlist.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 the 50 %-completion requirement. Five claims, each with a number. If asked 'is this really 50 %?': the search is complete, stress-tested, and both objections to it - layout and EMI - have been tested rather than argued. What remains is silicon and hardware.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The problem reproduced and fixed. Point at the red X below the threshold line. Then: safety costs 0.04 % — nearly free once the clamp is present.</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 the design chart, and the most USEFUL thing in the deck. Do NOT call it a single crossover: eight points show a BAND. Adaptive control pays from about 2.5 nH down, peaks at 13.5 % at 1.5 nH, then FALLS BACK to 8.1 % at 1.0 nH. Say why, because it is the interesting part: at 1.0 nH only 165 of 720 words are still safe, so the fixed word and the per-corner optima are squeezed into the same narrow region and the gap scheduling exploits shrinks. Below ~2 nH feasibility binds, not optimisation. We checked it is not the clamp-chatter artefact — excluding every chatter point leaves all eight ceilings unchanged to the digit. The literature does not state this trade-off because it never separates the fixed and adaptive halves.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[skip]  Reference list. Leave up during questions.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  Thank you. Expect: 'why is the clamp worth more than scheduling?', 'have you run real silicon?' (no — Review-II), 'did Cadence actually run?' (no, and the deck says so), 'is 8 references enough?' (it is the stated minimum). Newer ones: 'your dead-time number depends on which corners you pick' — yes, and we found that ourselves; it is one light-load corner - leave-one-out table in FINDINGS.md section 32. 'Doesn't EMI change your answer?' — we ran it; it makes scheduling worth less, not more.</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 literature mark. Closest prior work. [8] adapts dead time, the one field we find worth scheduling — and it does so across a 0.2-2 A range, which is exactly the light-load corner our leave-one-out test shows carries all of that benefit. Independent support, not competition.</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Walk the diagram left to right in one sentence, then stop on the dashed block: that is the sensing and lookup-table machinery the adaptive premise needs. The whole project is a measurement of what it buys. Let the picture do the work — do not narrate every box.</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the timeline and tools requirement. M1-M6. If asked what could go wrong: M1, the PDK — a 1.8 V / 3.3 V teaching PDK cannot take a 5 V rail.</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[BACKUP]  BACKUP — the FPGA. If asked: written AND verified, eight asserted properties, then mutation-tested. Dead time gets a live register and drive strength is strapped, because that is what the study found.</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5.2 %. Say plainly this is a NEGATIVE result about the adaptive premise and you are reporting it rather than hiding it. Keep it short — slides 18 and 19 do the real work.</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[45 s]  CORE — the novelty slide, and the one sentence the panel should leave with: 'a full sense-plus-ADC-plus-lookup-table is left justifying 3.7 % of the gain over a fixed word and one comparator.' Build it in three steps. (1) Choosing the fixed word well is worth 25.1 %. (2) Adapting per corner adds only 3.9 % — a seventh of the total. (3) And 72 % of even THAT is capturable with a single light-load comparator, not a lookup table. No published work separates these, because separating them needs the exhaustive search rather than a shortlist. If asked why nobody found this: they report one number.</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[BACKUP]  BACKUP — the robustness table. Best answer to 'is this just your model?': every device parameter leaves the ceiling at 4.3-7.7 %; only loop inductance moves it, and that is board layout, not the transistor.</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Play the video. Real captured ngspice output — the failure, the fix, the search. Let it run; do not talk over it.</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[BACKUP]  BACKUP — use if the panel probes rigour. TEN wrong numbers caught by our own checks is a strength; say it that way. The best one to tell: dead time ranked first at 5.45 % on four corners and dead LAST at 0.00 % on two, and we chased it to a single light-load corner rather than quoting the flattering number. The leave-one-out table is in results/FINDINGS.md section 32 if they want it.</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[35 s]  CORE. Close on what the data supports and what it now answers. Do NOT concede EMI as a limitation any more - it was tested: pricing it makes scheduling worth LESS, 5.95 % down to 0.15 %. State the remaining limits yourself instead: the two EMI measures disagree about drive strength, no silicon has been measured, and one device model underlies everything.</a:t>
            </a:r>
          </a:p>
        </p:txBody>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do NOT skip this and do not rush it. Every number after this slide is a comparison between control words, and if the panel has not got the definition, slides 13 to 16 are noise to them. Read the six fields out loud, land 720, then land the one distinction that matters: a FIXED word is strapped at power-up and costs nothing; SCHEDULING needs sensing, an ADC and a lookup table. The whole project measures the gap between those two.</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[35 s]  CORE — the comparison the panel will ask for. Land three rows and move on: we go from ONE field to six (720 words); from selected codes to an EXHAUSTIVE search; and from one bundled number to the number SPLIT into fixed versus adaptive. Be honest if pushed: we have NOT re-run [9]'s SiC experiment, so this is a comparison of method and scope, not a claim that we beat their result on their metric. That replication is the next step.</a:t>
            </a:r>
          </a:p>
        </p:txBody>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use this the moment anyone asks what was actually simulated. Trace the red path with a finger: Q1 switches, the SW node moves, charge couples through C_GD into Q2's gate, and Q2 turns on when it should be off. Then point at the clamp and the off-bias mux — those are the two things that fix it. Do not read the component values out.</a:t>
            </a:r>
          </a:p>
        </p:txBody>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[35 s]  CORE — this is the MATLAB evidence, and it answers 'did you only use SPICE?'. Land two things. Left: 720 words searched, 504 feasible, and the Pareto front is only 7 words wide — the choice really is that constrained. Right: two textbook hand calculations for the same spurious voltage disagree by 8.7x, and the SPICE number sits between them. That is the argument for simulating. If you have time, add the dead-time saturation at 15 ns from the caption.</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png"/><Relationship Id="rId4" Type="http://schemas.openxmlformats.org/officeDocument/2006/relationships/image" Target="../media/image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1.png"/><Relationship Id="rId4" Type="http://schemas.openxmlformats.org/officeDocument/2006/relationships/image" Target="../media/image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png"/><Relationship Id="rId4"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 Id="rId4" Type="http://schemas.openxmlformats.org/officeDocument/2006/relationships/notesSlide" Target="../notesSlides/notesSlide16.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png"/><Relationship Id="rId4" Type="http://schemas.openxmlformats.org/officeDocument/2006/relationships/image" Target="../media/image7.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microsoft.com/office/2007/relationships/media" Target="../media/media1.mp4"/><Relationship Id="rId3" Type="http://schemas.openxmlformats.org/officeDocument/2006/relationships/image" Target="../media/image1.png"/><Relationship Id="rId4" Type="http://schemas.openxmlformats.org/officeDocument/2006/relationships/video" Target="../media/media1.mp4"/><Relationship Id="rId5" Type="http://schemas.openxmlformats.org/officeDocument/2006/relationships/image" Target="../media/image4.png"/><Relationship Id="rId6" Type="http://schemas.openxmlformats.org/officeDocument/2006/relationships/notesSlide" Target="../notesSlides/notesSlide19.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8.pn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Slide 1 — Scanned, Guide-Signed Title Slide (Mandatory)</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554480"/>
            <a:ext cx="10881360" cy="4937760"/>
          </a:xfrm>
          <a:prstGeom prst="rect">
            <a:avLst/>
          </a:prstGeom>
          <a:noFill/>
          <a:ln/>
        </p:spPr>
        <p:txBody>
          <a:bodyPr wrap="square" lIns="0" tIns="0" rIns="0" bIns="0" rtlCol="0" anchor="t"/>
          <a:lstStyle/>
          <a:p>
            <a:pPr marL="177800" indent="-177800">
              <a:spcAft>
                <a:spcPts val="800"/>
              </a:spcAft>
              <a:buSzPct val="100000"/>
              <a:buChar char="•"/>
            </a:pPr>
            <a:r>
              <a:rPr lang="en-US" sz="1600" dirty="0">
                <a:solidFill>
                  <a:srgbClr val="000000"/>
                </a:solidFill>
                <a:latin typeface="Calibri" pitchFamily="34" charset="0"/>
                <a:ea typeface="Calibri" pitchFamily="34" charset="-122"/>
                <a:cs typeface="Calibri" pitchFamily="34" charset="-120"/>
              </a:rPr>
              <a:t>Before the Review-I, obtain the guide's signature with date on the title slide (next slide).</a:t>
            </a:r>
            <a:endParaRPr lang="en-US" sz="1600" dirty="0"/>
          </a:p>
          <a:p>
            <a:pPr marL="177800" indent="-177800">
              <a:spcAft>
                <a:spcPts val="800"/>
              </a:spcAft>
              <a:buSzPct val="100000"/>
              <a:buChar char="•"/>
            </a:pPr>
            <a:r>
              <a:rPr lang="en-US" sz="1600" dirty="0">
                <a:solidFill>
                  <a:srgbClr val="000000"/>
                </a:solidFill>
                <a:latin typeface="Calibri" pitchFamily="34" charset="0"/>
                <a:ea typeface="Calibri" pitchFamily="34" charset="-122"/>
                <a:cs typeface="Calibri" pitchFamily="34" charset="-120"/>
              </a:rPr>
              <a:t>Scan or photograph the signed title slide clearly.</a:t>
            </a:r>
            <a:endParaRPr lang="en-US" sz="1600" dirty="0"/>
          </a:p>
          <a:p>
            <a:pPr marL="177800" indent="-177800">
              <a:spcAft>
                <a:spcPts val="800"/>
              </a:spcAft>
              <a:buSzPct val="100000"/>
              <a:buChar char="•"/>
            </a:pPr>
            <a:r>
              <a:rPr lang="en-US" sz="1600" dirty="0">
                <a:solidFill>
                  <a:srgbClr val="000000"/>
                </a:solidFill>
                <a:latin typeface="Calibri" pitchFamily="34" charset="0"/>
                <a:ea typeface="Calibri" pitchFamily="34" charset="-122"/>
                <a:cs typeface="Calibri" pitchFamily="34" charset="-120"/>
              </a:rPr>
              <a:t>Replace this slide with the scanned copy, so that it remains Slide 1 of the presentation.</a:t>
            </a:r>
            <a:endParaRPr lang="en-US" sz="1600" dirty="0"/>
          </a:p>
          <a:p>
            <a:pPr marL="177800" indent="-177800">
              <a:spcAft>
                <a:spcPts val="800"/>
              </a:spcAft>
              <a:buSzPct val="100000"/>
              <a:buChar char="•"/>
            </a:pPr>
            <a:r>
              <a:rPr lang="en-US" sz="1600" dirty="0">
                <a:solidFill>
                  <a:srgbClr val="000000"/>
                </a:solidFill>
                <a:latin typeface="Calibri" pitchFamily="34" charset="0"/>
                <a:ea typeface="Calibri" pitchFamily="34" charset="-122"/>
                <a:cs typeface="Calibri" pitchFamily="34" charset="-120"/>
              </a:rPr>
              <a:t>This requirement applies to every review of Project-I (2026).</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a:t>
            </a:r>
            <a:endParaRPr lang="en-US" sz="1000" dirty="0"/>
          </a:p>
        </p:txBody>
      </p:sp>
      <p:pic>
        <p:nvPicPr>
          <p:cNvPr id="3" name="Image 0" descr="logo.png"/>
          <p:cNvPicPr>
            <a:picLocks noChangeAspect="1"/>
          </p:cNvPicPr>
          <p:nvPr/>
        </p:nvPicPr>
        <p:blipFill>
          <a:blip r:embed="rId3"/>
          <a:stretch>
            <a:fillRect/>
          </a:stretch>
        </p:blipFill>
        <p:spPr>
          <a:xfrm>
            <a:off x="548640" y="365760"/>
            <a:ext cx="2011680" cy="760828"/>
          </a:xfrm>
          <a:prstGeom prst="rect">
            <a:avLst/>
          </a:prstGeom>
        </p:spPr>
      </p:pic>
      <p:sp>
        <p:nvSpPr>
          <p:cNvPr id="4" name="Text 1"/>
          <p:cNvSpPr txBox="1"/>
          <p:nvPr/>
        </p:nvSpPr>
        <p:spPr>
          <a:xfrm>
            <a:off x="5486400" y="411480"/>
            <a:ext cx="6217920" cy="320040"/>
          </a:xfrm>
          <a:prstGeom prst="rect">
            <a:avLst/>
          </a:prstGeom>
          <a:noFill/>
          <a:ln/>
        </p:spPr>
        <p:txBody>
          <a:bodyPr wrap="square" lIns="0" tIns="0" rIns="0" bIns="0" rtlCol="0" anchor="ctr"/>
          <a:lstStyle/>
          <a:p>
            <a:pPr marL="0" indent="0" algn="r">
              <a:buNone/>
            </a:pPr>
            <a:r>
              <a:rPr lang="en-US" sz="1400" b="1" dirty="0">
                <a:solidFill>
                  <a:srgbClr val="1D2F82"/>
                </a:solidFill>
                <a:latin typeface="Calibri" pitchFamily="34" charset="0"/>
                <a:ea typeface="Calibri" pitchFamily="34" charset="-122"/>
                <a:cs typeface="Calibri" pitchFamily="34" charset="-120"/>
              </a:rPr>
              <a:t>School of Electronics Engineering (SENSE)</a:t>
            </a:r>
            <a:endParaRPr lang="en-US" sz="1400" dirty="0"/>
          </a:p>
        </p:txBody>
      </p:sp>
      <p:sp>
        <p:nvSpPr>
          <p:cNvPr id="5" name="Text 2"/>
          <p:cNvSpPr txBox="1"/>
          <p:nvPr/>
        </p:nvSpPr>
        <p:spPr>
          <a:xfrm>
            <a:off x="5486400" y="749808"/>
            <a:ext cx="6217920" cy="274320"/>
          </a:xfrm>
          <a:prstGeom prst="rect">
            <a:avLst/>
          </a:prstGeom>
          <a:noFill/>
          <a:ln/>
        </p:spPr>
        <p:txBody>
          <a:bodyPr wrap="square" lIns="0" tIns="0" rIns="0" bIns="0" rtlCol="0" anchor="ctr"/>
          <a:lstStyle/>
          <a:p>
            <a:pPr marL="0" indent="0" algn="r">
              <a:buNone/>
            </a:pPr>
            <a:r>
              <a:rPr lang="en-US" sz="1200" dirty="0">
                <a:solidFill>
                  <a:srgbClr val="000000"/>
                </a:solidFill>
                <a:latin typeface="Calibri" pitchFamily="34" charset="0"/>
                <a:ea typeface="Calibri" pitchFamily="34" charset="-122"/>
                <a:cs typeface="Calibri" pitchFamily="34" charset="-120"/>
              </a:rPr>
              <a:t>Project-I (2026)</a:t>
            </a:r>
            <a:endParaRPr lang="en-US" sz="1200" dirty="0"/>
          </a:p>
        </p:txBody>
      </p:sp>
      <p:sp>
        <p:nvSpPr>
          <p:cNvPr id="6" name="Text 3"/>
          <p:cNvSpPr txBox="1"/>
          <p:nvPr/>
        </p:nvSpPr>
        <p:spPr>
          <a:xfrm>
            <a:off x="548640" y="1737360"/>
            <a:ext cx="11091672" cy="1188720"/>
          </a:xfrm>
          <a:prstGeom prst="rect">
            <a:avLst/>
          </a:prstGeom>
          <a:noFill/>
          <a:ln/>
        </p:spPr>
        <p:txBody>
          <a:bodyPr wrap="square" lIns="0" tIns="0" rIns="0" bIns="0" rtlCol="0" anchor="ctr"/>
          <a:lstStyle/>
          <a:p>
            <a:pPr marL="0" indent="0" algn="ctr">
              <a:buNone/>
            </a:pPr>
            <a:r>
              <a:rPr lang="en-US" sz="3200" b="1" dirty="0">
                <a:solidFill>
                  <a:srgbClr val="1D2F82"/>
                </a:solidFill>
                <a:latin typeface="Calibri" pitchFamily="34" charset="0"/>
                <a:ea typeface="Calibri" pitchFamily="34" charset="-122"/>
                <a:cs typeface="Calibri" pitchFamily="34" charset="-120"/>
              </a:rPr>
              <a:t>A Segmented Gate Driver for GaN HEMTs: Measuring What Operating-Point Scheduling Is Actually Worth</a:t>
            </a:r>
            <a:endParaRPr lang="en-US" sz="3200" dirty="0"/>
          </a:p>
        </p:txBody>
      </p:sp>
      <p:sp>
        <p:nvSpPr>
          <p:cNvPr id="7" name="Text 4"/>
          <p:cNvSpPr txBox="1"/>
          <p:nvPr/>
        </p:nvSpPr>
        <p:spPr>
          <a:xfrm>
            <a:off x="822960" y="306324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Student Name(s):</a:t>
            </a:r>
            <a:endParaRPr lang="en-US" sz="1400" dirty="0"/>
          </a:p>
        </p:txBody>
      </p:sp>
      <p:sp>
        <p:nvSpPr>
          <p:cNvPr id="8" name="Text 5"/>
          <p:cNvSpPr txBox="1"/>
          <p:nvPr/>
        </p:nvSpPr>
        <p:spPr>
          <a:xfrm>
            <a:off x="3474720" y="306324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Amritha  —  Reg. No. ________</a:t>
            </a:r>
            <a:endParaRPr lang="en-US" sz="1400" dirty="0"/>
          </a:p>
        </p:txBody>
      </p:sp>
      <p:sp>
        <p:nvSpPr>
          <p:cNvPr id="9" name="Shape 6"/>
          <p:cNvSpPr/>
          <p:nvPr/>
        </p:nvSpPr>
        <p:spPr>
          <a:xfrm>
            <a:off x="3474720" y="3465576"/>
            <a:ext cx="4023360" cy="0"/>
          </a:xfrm>
          <a:prstGeom prst="line">
            <a:avLst/>
          </a:prstGeom>
          <a:noFill/>
          <a:ln w="12700">
            <a:solidFill>
              <a:srgbClr val="BFBFBF"/>
            </a:solidFill>
            <a:prstDash val="solid"/>
          </a:ln>
        </p:spPr>
        <p:txBody>
          <a:bodyPr/>
          <a:lstStyle/>
          <a:p>
            <a:endParaRPr lang="en-US"/>
          </a:p>
        </p:txBody>
      </p:sp>
      <p:sp>
        <p:nvSpPr>
          <p:cNvPr id="10" name="Text 7"/>
          <p:cNvSpPr txBox="1"/>
          <p:nvPr/>
        </p:nvSpPr>
        <p:spPr>
          <a:xfrm>
            <a:off x="822960" y="365760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Guide:</a:t>
            </a:r>
            <a:endParaRPr lang="en-US" sz="1400" dirty="0"/>
          </a:p>
        </p:txBody>
      </p:sp>
      <p:sp>
        <p:nvSpPr>
          <p:cNvPr id="11" name="Text 8"/>
          <p:cNvSpPr txBox="1"/>
          <p:nvPr/>
        </p:nvSpPr>
        <p:spPr>
          <a:xfrm>
            <a:off x="3474720" y="365760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Dr. Bindu  —  SENSE</a:t>
            </a:r>
            <a:endParaRPr lang="en-US" sz="1400" dirty="0"/>
          </a:p>
        </p:txBody>
      </p:sp>
      <p:sp>
        <p:nvSpPr>
          <p:cNvPr id="12" name="Shape 9"/>
          <p:cNvSpPr/>
          <p:nvPr/>
        </p:nvSpPr>
        <p:spPr>
          <a:xfrm>
            <a:off x="3474720" y="4059936"/>
            <a:ext cx="4023360" cy="0"/>
          </a:xfrm>
          <a:prstGeom prst="line">
            <a:avLst/>
          </a:prstGeom>
          <a:noFill/>
          <a:ln w="12700">
            <a:solidFill>
              <a:srgbClr val="BFBFBF"/>
            </a:solidFill>
            <a:prstDash val="solid"/>
          </a:ln>
        </p:spPr>
        <p:txBody>
          <a:bodyPr/>
          <a:lstStyle/>
          <a:p>
            <a:endParaRPr lang="en-US"/>
          </a:p>
        </p:txBody>
      </p:sp>
      <p:sp>
        <p:nvSpPr>
          <p:cNvPr id="13" name="Text 10"/>
          <p:cNvSpPr txBox="1"/>
          <p:nvPr/>
        </p:nvSpPr>
        <p:spPr>
          <a:xfrm>
            <a:off x="822960" y="425196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Programme / School:</a:t>
            </a:r>
            <a:endParaRPr lang="en-US" sz="1400" dirty="0"/>
          </a:p>
        </p:txBody>
      </p:sp>
      <p:sp>
        <p:nvSpPr>
          <p:cNvPr id="14" name="Text 11"/>
          <p:cNvSpPr txBox="1"/>
          <p:nvPr/>
        </p:nvSpPr>
        <p:spPr>
          <a:xfrm>
            <a:off x="3474720" y="425196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B.Tech — SENSE, VIT Chennai</a:t>
            </a:r>
            <a:endParaRPr lang="en-US" sz="1400" dirty="0"/>
          </a:p>
        </p:txBody>
      </p:sp>
      <p:sp>
        <p:nvSpPr>
          <p:cNvPr id="15" name="Shape 12"/>
          <p:cNvSpPr/>
          <p:nvPr/>
        </p:nvSpPr>
        <p:spPr>
          <a:xfrm>
            <a:off x="3474720" y="4654296"/>
            <a:ext cx="4023360" cy="0"/>
          </a:xfrm>
          <a:prstGeom prst="line">
            <a:avLst/>
          </a:prstGeom>
          <a:noFill/>
          <a:ln w="12700">
            <a:solidFill>
              <a:srgbClr val="BFBFBF"/>
            </a:solidFill>
            <a:prstDash val="solid"/>
          </a:ln>
        </p:spPr>
        <p:txBody>
          <a:bodyPr/>
          <a:lstStyle/>
          <a:p>
            <a:endParaRPr lang="en-US"/>
          </a:p>
        </p:txBody>
      </p:sp>
      <p:sp>
        <p:nvSpPr>
          <p:cNvPr id="16" name="Text 13"/>
          <p:cNvSpPr txBox="1"/>
          <p:nvPr/>
        </p:nvSpPr>
        <p:spPr>
          <a:xfrm>
            <a:off x="822960" y="484632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Review &amp; Date:</a:t>
            </a:r>
            <a:endParaRPr lang="en-US" sz="1400" dirty="0"/>
          </a:p>
        </p:txBody>
      </p:sp>
      <p:sp>
        <p:nvSpPr>
          <p:cNvPr id="17" name="Text 14"/>
          <p:cNvSpPr txBox="1"/>
          <p:nvPr/>
        </p:nvSpPr>
        <p:spPr>
          <a:xfrm>
            <a:off x="3474720" y="484632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Review-I  ·  02.09.2026 (Wednesday)</a:t>
            </a:r>
            <a:endParaRPr lang="en-US" sz="1400" dirty="0"/>
          </a:p>
        </p:txBody>
      </p:sp>
      <p:sp>
        <p:nvSpPr>
          <p:cNvPr id="18" name="Shape 15"/>
          <p:cNvSpPr/>
          <p:nvPr/>
        </p:nvSpPr>
        <p:spPr>
          <a:xfrm>
            <a:off x="3474720" y="5248656"/>
            <a:ext cx="4023360" cy="0"/>
          </a:xfrm>
          <a:prstGeom prst="line">
            <a:avLst/>
          </a:prstGeom>
          <a:noFill/>
          <a:ln w="12700">
            <a:solidFill>
              <a:srgbClr val="BFBFBF"/>
            </a:solidFill>
            <a:prstDash val="solid"/>
          </a:ln>
        </p:spPr>
        <p:txBody>
          <a:bodyPr/>
          <a:lstStyle/>
          <a:p>
            <a:endParaRPr lang="en-US"/>
          </a:p>
        </p:txBody>
      </p:sp>
      <p:sp>
        <p:nvSpPr>
          <p:cNvPr id="19" name="Shape 16"/>
          <p:cNvSpPr/>
          <p:nvPr/>
        </p:nvSpPr>
        <p:spPr>
          <a:xfrm>
            <a:off x="8046720" y="3063240"/>
            <a:ext cx="3657600" cy="2194560"/>
          </a:xfrm>
          <a:prstGeom prst="rect">
            <a:avLst/>
          </a:prstGeom>
          <a:solidFill>
            <a:srgbClr val="FFFFFF"/>
          </a:solidFill>
          <a:ln w="15875">
            <a:solidFill>
              <a:srgbClr val="1D2F82"/>
            </a:solidFill>
            <a:prstDash val="solid"/>
          </a:ln>
        </p:spPr>
        <p:txBody>
          <a:bodyPr/>
          <a:lstStyle/>
          <a:p>
            <a:endParaRPr lang="en-US"/>
          </a:p>
        </p:txBody>
      </p:sp>
      <p:sp>
        <p:nvSpPr>
          <p:cNvPr id="20" name="Text 17"/>
          <p:cNvSpPr txBox="1"/>
          <p:nvPr/>
        </p:nvSpPr>
        <p:spPr>
          <a:xfrm>
            <a:off x="8229600" y="3246120"/>
            <a:ext cx="3291840" cy="365760"/>
          </a:xfrm>
          <a:prstGeom prst="rect">
            <a:avLst/>
          </a:prstGeom>
          <a:noFill/>
          <a:ln/>
        </p:spPr>
        <p:txBody>
          <a:bodyPr wrap="square" lIns="0" tIns="0" rIns="0" bIns="0" rtlCol="0" anchor="ctr"/>
          <a:lstStyle/>
          <a:p>
            <a:pPr marL="0" indent="0">
              <a:buNone/>
            </a:pPr>
            <a:r>
              <a:rPr lang="en-US" sz="1400" b="1" dirty="0">
                <a:solidFill>
                  <a:srgbClr val="1D2F82"/>
                </a:solidFill>
                <a:latin typeface="Calibri" pitchFamily="34" charset="0"/>
                <a:ea typeface="Calibri" pitchFamily="34" charset="-122"/>
                <a:cs typeface="Calibri" pitchFamily="34" charset="-120"/>
              </a:rPr>
              <a:t>Guide's Signature with Date</a:t>
            </a:r>
            <a:endParaRPr lang="en-US" sz="1400" dirty="0"/>
          </a:p>
        </p:txBody>
      </p:sp>
      <p:sp>
        <p:nvSpPr>
          <p:cNvPr id="21" name="Text 18"/>
          <p:cNvSpPr txBox="1"/>
          <p:nvPr/>
        </p:nvSpPr>
        <p:spPr>
          <a:xfrm>
            <a:off x="8229600" y="388620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Signature: _____________________</a:t>
            </a:r>
            <a:endParaRPr lang="en-US" sz="1300" dirty="0"/>
          </a:p>
        </p:txBody>
      </p:sp>
      <p:sp>
        <p:nvSpPr>
          <p:cNvPr id="22" name="Text 19"/>
          <p:cNvSpPr txBox="1"/>
          <p:nvPr/>
        </p:nvSpPr>
        <p:spPr>
          <a:xfrm>
            <a:off x="8229600" y="443484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Date: _________________________</a:t>
            </a:r>
            <a:endParaRPr lang="en-US" sz="1300" dirty="0"/>
          </a:p>
        </p:txBody>
      </p:sp>
      <p:sp>
        <p:nvSpPr>
          <p:cNvPr id="23" name="Text 20"/>
          <p:cNvSpPr txBox="1"/>
          <p:nvPr/>
        </p:nvSpPr>
        <p:spPr>
          <a:xfrm>
            <a:off x="822960" y="5760720"/>
            <a:ext cx="10607040" cy="548640"/>
          </a:xfrm>
          <a:prstGeom prst="rect">
            <a:avLst/>
          </a:prstGeom>
          <a:noFill/>
          <a:ln/>
        </p:spPr>
        <p:txBody>
          <a:bodyPr wrap="square" lIns="0" tIns="0" rIns="0" bIns="0" rtlCol="0" anchor="ctr"/>
          <a:lstStyle/>
          <a:p>
            <a:pPr marL="0" indent="0">
              <a:buNone/>
            </a:pPr>
            <a:r>
              <a:rPr lang="en-US" sz="1200" i="1" dirty="0">
                <a:solidFill>
                  <a:srgbClr val="000000"/>
                </a:solidFill>
                <a:latin typeface="Calibri" pitchFamily="34" charset="0"/>
                <a:ea typeface="Calibri" pitchFamily="34" charset="-122"/>
                <a:cs typeface="Calibri" pitchFamily="34" charset="-120"/>
              </a:rPr>
              <a:t>Approval is mandatory before every review. After signing, scan this slide and keep the scanned copy as Slide 1 of the presentation.</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Review-I — 02.09.2026 (5 Marks, 5%)</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Focus: Proposed Solution &amp; 50% Work Completion.</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Duration: 10 minutes.</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Presentation contents: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Signed &amp; scanned title slide (Slide 1)</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Problem statement and background</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Literature survey — minimum 8–10 recent references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Existing solutions and their limitations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Proposed solution, scope and methodology</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50% work completed, timeline, tools &amp; technologies</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Mark split-up: Problem clarity &amp; relevance (2), Literature survey quality (1), Proposed solution feasibility (1), Presentation quality (1).</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Problem Statement &amp; Background</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Problem Statement:</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In a GaN half-bridge the dV/dt of one device couples through C</a:t>
            </a:r>
            <a:r>
              <a:rPr lang="en-US" sz="1500" dirty="0">
                <a:solidFill>
                  <a:srgbClr val="000000"/>
                </a:solidFill>
                <a:latin typeface="Calibri" pitchFamily="34" charset="0"/>
                <a:ea typeface="Calibri" pitchFamily="34" charset="-122"/>
                <a:cs typeface="Calibri" pitchFamily="34" charset="-120"/>
              </a:rPr>
              <a:t xml:space="preserve">GD</a:t>
            </a:r>
            <a:r>
              <a:rPr lang="en-US" sz="1500" dirty="0">
                <a:solidFill>
                  <a:srgbClr val="000000"/>
                </a:solidFill>
                <a:latin typeface="Calibri" pitchFamily="34" charset="0"/>
                <a:ea typeface="Calibri" pitchFamily="34" charset="-122"/>
                <a:cs typeface="Calibri" pitchFamily="34" charset="-120"/>
              </a:rPr>
              <a:t xml:space="preserve"> into the gate of the device meant to be off. With a threshold near 1.4 V the spurious pulse can exceed it and turn that device partially on — shoot-through, extra loss, and at worst destruction.</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Background &amp; Significance:</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GaN half-bridges are the switching core of EV and HEV traction inverters, on-board chargers and high-density server supplies, where the whole reason to choose GaN is to switch faster — which is exactly what makes this failure mode worse.</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Negative off-bias is uniquely expensive on GaN: with no body diode the reverse drop is V</a:t>
            </a:r>
            <a:r>
              <a:rPr lang="en-US" sz="1500" dirty="0">
                <a:solidFill>
                  <a:srgbClr val="000000"/>
                </a:solidFill>
                <a:latin typeface="Calibri" pitchFamily="34" charset="0"/>
                <a:ea typeface="Calibri" pitchFamily="34" charset="-122"/>
                <a:cs typeface="Calibri" pitchFamily="34" charset="-120"/>
              </a:rPr>
              <a:t xml:space="preserve">th</a:t>
            </a:r>
            <a:r>
              <a:rPr lang="en-US" sz="1500" dirty="0">
                <a:solidFill>
                  <a:srgbClr val="000000"/>
                </a:solidFill>
                <a:latin typeface="Calibri" pitchFamily="34" charset="0"/>
                <a:ea typeface="Calibri" pitchFamily="34" charset="-122"/>
                <a:cs typeface="Calibri" pitchFamily="34" charset="-120"/>
              </a:rPr>
              <a:t xml:space="preserve"> + I·R + |V</a:t>
            </a:r>
            <a:r>
              <a:rPr lang="en-US" sz="1500" dirty="0">
                <a:solidFill>
                  <a:srgbClr val="000000"/>
                </a:solidFill>
                <a:latin typeface="Calibri" pitchFamily="34" charset="0"/>
                <a:ea typeface="Calibri" pitchFamily="34" charset="-122"/>
                <a:cs typeface="Calibri" pitchFamily="34" charset="-120"/>
              </a:rPr>
              <a:t xml:space="preserve">GS,off</a:t>
            </a:r>
            <a:r>
              <a:rPr lang="en-US" sz="1500" dirty="0">
                <a:solidFill>
                  <a:srgbClr val="000000"/>
                </a:solidFill>
                <a:latin typeface="Calibri" pitchFamily="34" charset="0"/>
                <a:ea typeface="Calibri" pitchFamily="34" charset="-122"/>
                <a:cs typeface="Calibri" pitchFamily="34" charset="-120"/>
              </a:rPr>
              <a:t xml:space="preserve">|, so each volt of margin is paid for again across the dead time.</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Existing Solutions: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Active gate drivers with segmented drive strength, Miller clamps, programmable dead time and negative off-bias [1]–[4]. Closed-loop designs adapt to the operating point and report large gains — 30.5 % less overshoot, 75 % less turn-off loss — against a conventional driver [5]–[7].</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Limitations / Research Gap:</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That comparison conflates </a:t>
            </a:r>
            <a:r>
              <a:rPr lang="en-US" sz="1500" b="1" dirty="0">
                <a:solidFill>
                  <a:srgbClr val="000000"/>
                </a:solidFill>
                <a:latin typeface="Calibri" pitchFamily="34" charset="0"/>
                <a:ea typeface="Calibri" pitchFamily="34" charset="-122"/>
                <a:cs typeface="Calibri" pitchFamily="34" charset="-120"/>
              </a:rPr>
              <a:t xml:space="preserve">choosing better fixed settings</a:t>
            </a:r>
            <a:r>
              <a:rPr lang="en-US" sz="1500" dirty="0">
                <a:solidFill>
                  <a:srgbClr val="000000"/>
                </a:solidFill>
                <a:latin typeface="Calibri" pitchFamily="34" charset="0"/>
                <a:ea typeface="Calibri" pitchFamily="34" charset="-122"/>
                <a:cs typeface="Calibri" pitchFamily="34" charset="-120"/>
              </a:rPr>
              <a:t xml:space="preserve"> with </a:t>
            </a:r>
            <a:r>
              <a:rPr lang="en-US" sz="1500" b="1" dirty="0">
                <a:solidFill>
                  <a:srgbClr val="000000"/>
                </a:solidFill>
                <a:latin typeface="Calibri" pitchFamily="34" charset="0"/>
                <a:ea typeface="Calibri" pitchFamily="34" charset="-122"/>
                <a:cs typeface="Calibri" pitchFamily="34" charset="-120"/>
              </a:rPr>
              <a:t xml:space="preserve">adapting settings per operating point</a:t>
            </a:r>
            <a:r>
              <a:rPr lang="en-US" sz="1500" dirty="0">
                <a:solidFill>
                  <a:srgbClr val="000000"/>
                </a:solidFill>
                <a:latin typeface="Calibri" pitchFamily="34" charset="0"/>
                <a:ea typeface="Calibri" pitchFamily="34" charset="-122"/>
                <a:cs typeface="Calibri" pitchFamily="34" charset="-120"/>
              </a:rPr>
              <a:t xml:space="preserve">. Only the second needs sensing, a lookup table and a controller — the hardware cost that justifies the architecture. No published work isolates them, so the value of adaptation has never been measured.</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Literature Landscape — four clusters, and where we sit</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1672" cy="3611880"/>
        </p:xfrm>
        <a:graphic>
          <a:graphicData uri="http://schemas.openxmlformats.org/drawingml/2006/table">
            <a:tbl>
              <a:tblPr/>
              <a:tblGrid>
                <a:gridCol w="548640">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gridCol w="3136392">
                  <a:extLst>
                    <a:ext uri="{9D8B030D-6E8A-4147-A177-3AD203B41FA5}">
                      <a16:colId xmlns:a16="http://schemas.microsoft.com/office/drawing/2014/main" val="20004"/>
                    </a:ext>
                  </a:extLst>
                </a:gridCol>
              </a:tblGrid>
              <a:tr h="320040">
                <a:tc>
                  <a:txBody>
                    <a:bodyPr wrap="square"/>
                    <a:lstStyle/>
                    <a:p>
                      <a:pPr marL="0" indent="0">
                        <a:buNone/>
                      </a:pPr>
                      <a:r>
                        <a:rPr sz="1050" b="0">
                          <a:solidFill>
                            <a:srgbClr val="000000"/>
                          </a:solidFill>
                          <a:latin typeface="Calibri"/>
                        </a:rPr>
                        <a:t>#</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1050" b="0">
                          <a:solidFill>
                            <a:srgbClr val="000000"/>
                          </a:solidFill>
                          <a:latin typeface="Calibri"/>
                        </a:rPr>
                        <a:t>Cluster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1050" b="0">
                          <a:solidFill>
                            <a:srgbClr val="000000"/>
                          </a:solidFill>
                          <a:latin typeface="Calibri"/>
                        </a:rPr>
                        <a:t>Refs</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gridSpan="2">
                  <a:txBody>
                    <a:bodyPr wrap="square"/>
                    <a:lstStyle/>
                    <a:p>
                      <a:pPr marL="0" indent="0">
                        <a:buNone/>
                      </a:pPr>
                      <a:r>
                        <a:rPr sz="1050" b="0">
                          <a:solidFill>
                            <a:srgbClr val="000000"/>
                          </a:solidFill>
                          <a:latin typeface="Calibri"/>
                        </a:rPr>
                        <a:t>What the cluster does</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extLst>
                  <a:ext uri="{0D108BD9-81ED-4DB2-BD59-A6C34878D82A}">
                    <a16:rowId xmlns:a16="http://schemas.microsoft.com/office/drawing/2014/main" val="10000"/>
                  </a:ext>
                </a:extLst>
              </a:tr>
              <a:tr h="822960">
                <a:tc>
                  <a:txBody>
                    <a:bodyPr wrap="square"/>
                    <a:lstStyle/>
                    <a:p>
                      <a:pPr marL="0" indent="0">
                        <a:buNone/>
                      </a:pPr>
                      <a:r>
                        <a:rPr sz="1050" b="0">
                          <a:solidFill>
                            <a:srgbClr val="000000"/>
                          </a:solidFill>
                          <a:latin typeface="Calibri"/>
                        </a:rPr>
                        <a:t>A</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A · Passive / analogue crosstalk fixes</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[1] [3] [4] [11] [12]</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2">
                  <a:txBody>
                    <a:bodyPr wrap="square"/>
                    <a:lstStyle/>
                    <a:p>
                      <a:pPr marL="0" indent="0">
                        <a:buNone/>
                      </a:pPr>
                      <a:r>
                        <a:rPr sz="1050" b="0">
                          <a:solidFill>
                            <a:srgbClr val="000000"/>
                          </a:solidFill>
                          <a:latin typeface="Calibri"/>
                        </a:rPr>
                        <a:t>Negative off-bias, RC-diode rails, three-level drive, Miller clamps. Cheap and effective, but the setting is chosen once by hand and never revisited.</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822960">
                <a:tc>
                  <a:txBody>
                    <a:bodyPr wrap="square"/>
                    <a:lstStyle/>
                    <a:p>
                      <a:pPr marL="0" indent="0">
                        <a:buNone/>
                      </a:pPr>
                      <a:r>
                        <a:rPr sz="1050" b="0">
                          <a:solidFill>
                            <a:srgbClr val="000000"/>
                          </a:solidFill>
                          <a:latin typeface="Calibri"/>
                        </a:rPr>
                        <a:t>B</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B · Closed-loop analogue adaptation</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[5] [6] [7]</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2">
                  <a:txBody>
                    <a:bodyPr wrap="square"/>
                    <a:lstStyle/>
                    <a:p>
                      <a:pPr marL="0" indent="0">
                        <a:buNone/>
                      </a:pPr>
                      <a:r>
                        <a:rPr sz="1050" b="0">
                          <a:solidFill>
                            <a:srgbClr val="000000"/>
                          </a:solidFill>
                          <a:latin typeface="Calibri"/>
                        </a:rPr>
                        <a:t>Sense the operating point, regulate drive strength or timing in the loop. Reports large gains — 30.5 % less overshoot, 75 % less turn-off loss — against a conventional driver.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822960">
                <a:tc>
                  <a:txBody>
                    <a:bodyPr wrap="square"/>
                    <a:lstStyle/>
                    <a:p>
                      <a:pPr marL="0" indent="0">
                        <a:buNone/>
                      </a:pPr>
                      <a:r>
                        <a:rPr sz="1050" b="0">
                          <a:solidFill>
                            <a:srgbClr val="000000"/>
                          </a:solidFill>
                          <a:latin typeface="Calibri"/>
                        </a:rPr>
                        <a:t>C</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C · Adaptive dead-time control</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[8] [13]</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2">
                  <a:txBody>
                    <a:bodyPr wrap="square"/>
                    <a:lstStyle/>
                    <a:p>
                      <a:pPr marL="0" indent="0">
                        <a:buNone/>
                      </a:pPr>
                      <a:r>
                        <a:rPr sz="1050" b="0">
                          <a:solidFill>
                            <a:srgbClr val="000000"/>
                          </a:solidFill>
                          <a:latin typeface="Calibri"/>
                        </a:rPr>
                        <a:t>Dead time driven to sub-nanosecond across load. The one field our own freeze test finds actually carries the benefit — and only at light load.</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r h="822960">
                <a:tc>
                  <a:txBody>
                    <a:bodyPr wrap="square"/>
                    <a:lstStyle/>
                    <a:p>
                      <a:pPr marL="0" indent="0">
                        <a:buNone/>
                      </a:pPr>
                      <a:r>
                        <a:rPr sz="1050" b="0">
                          <a:solidFill>
                            <a:srgbClr val="000000"/>
                          </a:solidFill>
                          <a:latin typeface="Calibri"/>
                        </a:rPr>
                        <a:t>D</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D · DIGITAL / segmented drive  — where this project sits</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[9] BASE   [10]</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2">
                  <a:txBody>
                    <a:bodyPr wrap="square"/>
                    <a:lstStyle/>
                    <a:p>
                      <a:pPr marL="0" indent="0">
                        <a:buNone/>
                      </a:pPr>
                      <a:r>
                        <a:rPr sz="1050" b="0">
                          <a:solidFill>
                            <a:srgbClr val="000000"/>
                          </a:solidFill>
                          <a:latin typeface="Calibri"/>
                        </a:rPr>
                        <a:t>The gate waveform selected by a multibit CODE rather than a resistor network. [9] is the BASE PAPER — doi.org/10.1002/cta.3136 — and [10] is the closest GaN implementation. Digital means FPGA-implementable, and the code space can be searched exhaustively.</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5" name="Text 2"/>
          <p:cNvSpPr txBox="1"/>
          <p:nvPr/>
        </p:nvSpPr>
        <p:spPr>
          <a:xfrm>
            <a:off x="548640" y="5897880"/>
            <a:ext cx="11064240" cy="365760"/>
          </a:xfrm>
          <a:prstGeom prst="rect">
            <a:avLst/>
          </a:prstGeom>
          <a:noFill/>
          <a:ln/>
        </p:spPr>
        <p:txBody>
          <a:bodyPr wrap="square" lIns="0" tIns="0" rIns="0" bIns="0" rtlCol="0" anchor="ct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13 references. Grouped by what the driver DOES, not by date. Clusters A–C choose a setting or regulate it in analogue; only cluster D makes the setting a digital code — which is what makes an exhaustive search, and this project’s question, possible at all.</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Five Closest — and the base paper we replicate</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1672" cy="4343400"/>
        </p:xfrm>
        <a:graphic>
          <a:graphicData uri="http://schemas.openxmlformats.org/drawingml/2006/table">
            <a:tbl>
              <a:tblPr/>
              <a:tblGrid>
                <a:gridCol w="548640">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gridCol w="3136392">
                  <a:extLst>
                    <a:ext uri="{9D8B030D-6E8A-4147-A177-3AD203B41FA5}">
                      <a16:colId xmlns:a16="http://schemas.microsoft.com/office/drawing/2014/main" val="20004"/>
                    </a:ext>
                  </a:extLst>
                </a:gridCol>
              </a:tblGrid>
              <a:tr h="320040">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No.</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Author(s) &amp; Year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Title / Source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Method / Approach</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Findings &amp; Research Gap</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extLst>
                  <a:ext uri="{0D108BD9-81ED-4DB2-BD59-A6C34878D82A}">
                    <a16:rowId xmlns:a16="http://schemas.microsoft.com/office/drawing/2014/main" val="10000"/>
                  </a:ext>
                </a:extLst>
              </a:tr>
              <a:tr h="804672">
                <a:tc>
                  <a:txBody>
                    <a:bodyPr wrap="square"/>
                    <a:lstStyle/>
                    <a:p>
                      <a:pPr marL="0" indent="0">
                        <a:buNone/>
                      </a:pPr>
                      <a:r>
                        <a:rPr sz="1050" b="1">
                          <a:solidFill>
                            <a:srgbClr val="000000"/>
                          </a:solidFill>
                          <a:latin typeface="Calibri"/>
                        </a:rPr>
                        <a:t>BASE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7A7A7A"/>
                          </a:solidFill>
                          <a:latin typeface="Calibri"/>
                        </a:rPr>
                        <a:t>Takayama &amp; Hikihara (2022)</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Digital Active Gate Drive of SiC MOSFETs for Controlling Switching Behavior — Preparation Toward Universal Digitization of Power Switching</a:t>
                      </a:r>
                      <a:endParaRPr lang="en-US" sz="1300" dirty="0">
                        <a:latin typeface="Calibri" charset="0"/>
                        <a:ea typeface="Calibri" charset="0"/>
                        <a:cs typeface="Calibri" charset="0"/>
                      </a:endParaRPr>
                    </a:p>
                    <a:p>
                      <a:r>
                        <a:rPr sz="900" b="1">
                          <a:solidFill>
                            <a:srgbClr val="000000"/>
                          </a:solidFill>
                          <a:latin typeface="Calibri"/>
                        </a:rPr>
                        <a:t>Int. J. Circuit Theory Appl., vol. 50, no. 1, pp. 183–196</a:t>
                      </a:r>
                    </a:p>
                    <a:p>
                      <a:r>
                        <a:rPr sz="900" b="1">
                          <a:solidFill>
                            <a:srgbClr val="000000"/>
                          </a:solidFill>
                          <a:latin typeface="Calibri"/>
                        </a:rPr>
                        <a:t>doi.org/10.1002/cta.3136</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DAC-inspired driver: a multibit gate signal SEQUENCE sets the gate waveform digitally, so switching behaviour is chosen by a code rather than by a resistor.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THE BASE PAPER. Its multibit gate code is the direct ancestor of our 720-point control word, and it is digital — implementable on an FPGA — rather than a fixed analogue network. We replicate its premise on GaN and then ask the question it does not: of the gain a code buys, how much needs per-operating-point adaptation at all?</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804672">
                <a:tc>
                  <a:txBody>
                    <a:bodyPr wrap="square"/>
                    <a:lstStyle/>
                    <a:p>
                      <a:pPr marL="0" indent="0">
                        <a:buNone/>
                      </a:pPr>
                      <a:r>
                        <a:rPr sz="1050" b="0">
                          <a:solidFill>
                            <a:srgbClr val="000000"/>
                          </a:solidFill>
                          <a:latin typeface="Calibri"/>
                        </a:rPr>
                        <a:t>10</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7A7A7A"/>
                          </a:solidFill>
                          <a:latin typeface="Calibri"/>
                        </a:rPr>
                        <a:t>2020</a:t>
                      </a:r>
                      <a:endParaRPr lang="en-US" sz="1300" dirty="0">
                        <a:latin typeface="Calibri" charset="0"/>
                        <a:ea typeface="Calibri" charset="0"/>
                        <a:cs typeface="Calibri" charset="0"/>
                      </a:endParaRPr>
                    </a:p>
                    <a:p>
                      <a:r>
                        <a:rPr sz="1050" b="0">
                          <a:solidFill>
                            <a:srgbClr val="7A7A7A"/>
                          </a:solidFill>
                          <a:latin typeface="Calibri"/>
                        </a:rPr>
                        <a:t>authors: Xplore “Cite This”</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Segmented Gate Driver for E-mode GaN HEMTs with Simple Driving Strength Pattern Control</a:t>
                      </a:r>
                      <a:endParaRPr lang="en-US" sz="1300" dirty="0">
                        <a:latin typeface="Calibri" charset="0"/>
                        <a:ea typeface="Calibri" charset="0"/>
                        <a:cs typeface="Calibri" charset="0"/>
                      </a:endParaRPr>
                    </a:p>
                    <a:p>
                      <a:r>
                        <a:rPr sz="900" b="1">
                          <a:solidFill>
                            <a:srgbClr val="000000"/>
                          </a:solidFill>
                          <a:latin typeface="Calibri"/>
                        </a:rPr>
                        <a:t>IEEE conference</a:t>
                      </a:r>
                    </a:p>
                    <a:p>
                      <a:r>
                        <a:rPr sz="900" b="1">
                          <a:solidFill>
                            <a:srgbClr val="000000"/>
                          </a:solidFill>
                          <a:latin typeface="Calibri"/>
                        </a:rPr>
                        <a:t>ieeexplore.ieee.org/document/9170108</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Segmented output stage on E-mode GaN: 7 slices, pattern timing 0.5–5 ns, strength set by one external bias resistor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Architecturally the closest published driver to ours — segmented slices, pattern-selected strength. It is an ASIC with a fixed pattern set; our contribution is to search the whole pattern space exhaustively and price what the search actually buys.</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804672">
                <a:tc>
                  <a:txBody>
                    <a:bodyPr wrap="square"/>
                    <a:lstStyle/>
                    <a:p>
                      <a:pPr marL="0" indent="0">
                        <a:buNone/>
                      </a:pPr>
                      <a:r>
                        <a:rPr sz="1050" b="0">
                          <a:solidFill>
                            <a:srgbClr val="000000"/>
                          </a:solidFill>
                          <a:latin typeface="Calibri"/>
                        </a:rPr>
                        <a:t>11</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7A7A7A"/>
                          </a:solidFill>
                          <a:latin typeface="Calibri"/>
                        </a:rPr>
                        <a:t>2024</a:t>
                      </a:r>
                      <a:endParaRPr lang="en-US" sz="1300" dirty="0">
                        <a:latin typeface="Calibri" charset="0"/>
                        <a:ea typeface="Calibri" charset="0"/>
                        <a:cs typeface="Calibri" charset="0"/>
                      </a:endParaRPr>
                    </a:p>
                    <a:p>
                      <a:r>
                        <a:rPr sz="1050" b="0">
                          <a:solidFill>
                            <a:srgbClr val="7A7A7A"/>
                          </a:solidFill>
                          <a:latin typeface="Calibri"/>
                        </a:rPr>
                        <a:t>authors: Xplore “Cite This”</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High-Frequency Three-Level Gate Driver for GaN HEMT Bridge Crosstalk Suppression</a:t>
                      </a:r>
                      <a:endParaRPr lang="en-US" sz="1300" dirty="0">
                        <a:latin typeface="Calibri" charset="0"/>
                        <a:ea typeface="Calibri" charset="0"/>
                        <a:cs typeface="Calibri" charset="0"/>
                      </a:endParaRPr>
                    </a:p>
                    <a:p>
                      <a:r>
                        <a:rPr sz="900" b="1">
                          <a:solidFill>
                            <a:srgbClr val="000000"/>
                          </a:solidFill>
                          <a:latin typeface="Calibri"/>
                        </a:rPr>
                        <a:t>IEEE journal</a:t>
                      </a:r>
                    </a:p>
                    <a:p>
                      <a:r>
                        <a:rPr sz="900" b="1">
                          <a:solidFill>
                            <a:srgbClr val="000000"/>
                          </a:solidFill>
                          <a:latin typeface="Calibri"/>
                        </a:rPr>
                        <a:t>ieeexplore.ieee.org/document/10286072</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Three-level drive; capacitor–diode negative rail with a digitally-clamped zero level, to 5 MHz</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Recent, GaN, and on exactly our failure mode. It suppresses crosstalk with added passives; we get the same protection from the Miller clamp already in the cell and measure its price at 0.04 %.</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r h="804672">
                <a:tc>
                  <a:txBody>
                    <a:bodyPr wrap="square"/>
                    <a:lstStyle/>
                    <a:p>
                      <a:pPr marL="0" indent="0">
                        <a:buNone/>
                      </a:pPr>
                      <a:r>
                        <a:rPr sz="1050" b="0">
                          <a:solidFill>
                            <a:srgbClr val="000000"/>
                          </a:solidFill>
                          <a:latin typeface="Calibri"/>
                        </a:rPr>
                        <a:t>12</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7A7A7A"/>
                          </a:solidFill>
                          <a:latin typeface="Calibri"/>
                        </a:rPr>
                        <a:t>2024</a:t>
                      </a:r>
                      <a:endParaRPr lang="en-US" sz="1300" dirty="0">
                        <a:latin typeface="Calibri" charset="0"/>
                        <a:ea typeface="Calibri" charset="0"/>
                        <a:cs typeface="Calibri" charset="0"/>
                      </a:endParaRPr>
                    </a:p>
                    <a:p>
                      <a:r>
                        <a:rPr sz="1050" b="0">
                          <a:solidFill>
                            <a:srgbClr val="7A7A7A"/>
                          </a:solidFill>
                          <a:latin typeface="Calibri"/>
                        </a:rPr>
                        <a:t>authors: Xplore “Cite This”</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An Integrated Suppression Method of Both Gate-Source Voltage Oscillation and Crosstalk for GaN HEMT Gate Driver</a:t>
                      </a:r>
                      <a:endParaRPr lang="en-US" sz="1300" dirty="0">
                        <a:latin typeface="Calibri" charset="0"/>
                        <a:ea typeface="Calibri" charset="0"/>
                        <a:cs typeface="Calibri" charset="0"/>
                      </a:endParaRPr>
                    </a:p>
                    <a:p>
                      <a:r>
                        <a:rPr sz="900" b="1">
                          <a:solidFill>
                            <a:srgbClr val="000000"/>
                          </a:solidFill>
                          <a:latin typeface="Calibri"/>
                        </a:rPr>
                        <a:t>IEEE journal</a:t>
                      </a:r>
                    </a:p>
                    <a:p>
                      <a:r>
                        <a:rPr sz="900" b="1">
                          <a:solidFill>
                            <a:srgbClr val="000000"/>
                          </a:solidFill>
                          <a:latin typeface="Calibri"/>
                        </a:rPr>
                        <a:t>ieeexplore.ieee.org/document/10591431</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One driver addressing gate-source ringing and crosstalk together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Confirms the two effects are coupled, which is why our cost function prices loss and overshoot jointly rather than optimising either alone.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4"/>
                  </a:ext>
                </a:extLst>
              </a:tr>
              <a:tr h="804672">
                <a:tc>
                  <a:txBody>
                    <a:bodyPr wrap="square"/>
                    <a:lstStyle/>
                    <a:p>
                      <a:pPr marL="0" indent="0">
                        <a:buNone/>
                      </a:pPr>
                      <a:r>
                        <a:rPr sz="1050" b="0">
                          <a:solidFill>
                            <a:srgbClr val="000000"/>
                          </a:solidFill>
                          <a:latin typeface="Calibri"/>
                        </a:rPr>
                        <a:t>13</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7A7A7A"/>
                          </a:solidFill>
                          <a:latin typeface="Calibri"/>
                        </a:rPr>
                        <a:t>2025</a:t>
                      </a:r>
                      <a:endParaRPr lang="en-US" sz="1300" dirty="0">
                        <a:latin typeface="Calibri" charset="0"/>
                        <a:ea typeface="Calibri" charset="0"/>
                        <a:cs typeface="Calibri" charset="0"/>
                      </a:endParaRPr>
                    </a:p>
                    <a:p>
                      <a:r>
                        <a:rPr sz="1050" b="0">
                          <a:solidFill>
                            <a:srgbClr val="7A7A7A"/>
                          </a:solidFill>
                          <a:latin typeface="Calibri"/>
                        </a:rPr>
                        <a:t>authors: Xplore “Cite This”</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High-Efficient GaN Driver With Hybrid Adaptive Dead-Time Control and Peak Delay Control for Synchronous Buck Converter</a:t>
                      </a:r>
                      <a:endParaRPr lang="en-US" sz="1300" dirty="0">
                        <a:latin typeface="Calibri" charset="0"/>
                        <a:ea typeface="Calibri" charset="0"/>
                        <a:cs typeface="Calibri" charset="0"/>
                      </a:endParaRPr>
                    </a:p>
                    <a:p>
                      <a:r>
                        <a:rPr sz="900" b="1">
                          <a:solidFill>
                            <a:srgbClr val="000000"/>
                          </a:solidFill>
                          <a:latin typeface="Calibri"/>
                        </a:rPr>
                        <a:t>IEEE journal</a:t>
                      </a:r>
                    </a:p>
                    <a:p>
                      <a:r>
                        <a:rPr sz="900" b="1">
                          <a:solidFill>
                            <a:srgbClr val="000000"/>
                          </a:solidFill>
                          <a:latin typeface="Calibri"/>
                        </a:rPr>
                        <a:t>ieeexplore.ieee.org/document/11146698</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Hybrid adaptive dead-time plus peak delay control on a GaN synchronous buck</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The most recent adaptive dead-time driver we found, and it adapts the one field our leave-one-out test shows carries the whole benefit — and only at light load.</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5" name="Text 2"/>
          <p:cNvSpPr txBox="1"/>
          <p:nvPr/>
        </p:nvSpPr>
        <p:spPr>
          <a:xfrm>
            <a:off x="548640" y="6053328"/>
            <a:ext cx="11064240" cy="365760"/>
          </a:xfrm>
          <a:prstGeom prst="rect">
            <a:avLst/>
          </a:prstGeom>
          <a:noFill/>
          <a:ln/>
        </p:spPr>
        <p:txBody>
          <a:bodyPr wrap="square" lIns="0" tIns="0" rIns="0" bIns="0" rtlCol="0" anchor="ctr"/>
          <a:lstStyle/>
          <a:p>
            <a:pPr marL="177800" indent="0">
              <a:spcAft>
                <a:spcPts val="0"/>
              </a:spcAft>
              <a:buSzPct val="100000"/>
              <a:buNone/>
            </a:pPr>
            <a:r>
              <a:rPr lang="en-US" sz="1000" dirty="0">
                <a:solidFill>
                  <a:srgbClr val="000000"/>
                </a:solidFill>
                <a:latin typeface="Calibri" pitchFamily="34" charset="0"/>
                <a:ea typeface="Calibri" pitchFamily="34" charset="-122"/>
                <a:cs typeface="Calibri" pitchFamily="34" charset="-120"/>
              </a:rPr>
              <a:t xml:space="preserve">[9] is the BASE PAPER: we reproduce its premise — a gate waveform chosen by a multibit code — on GaN, then extend it. Titles, venues, years and DOIs are confirmed; author lists and page ranges sit behind IEEE Xplore, which the build environment cannot reach, and are not invented.</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Proposed Solution &amp; Methodology</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Aim:</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To measure how much of an active gate driver’s benefit actually requires per-operating-point adaptation, and how much comes from simply choosing a better fixed setting — by searching the control word exhaustively rather than arguing the case.</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Proposed Solution:</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A segmented GaN gate driver with a 720-point control word: 8 pull-up slices, 8 pull-down slices, dead time 5–35 ns, an active Miller clamp, and a selectable off-bias rail (0 / −2 V).</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Method: </a:t>
            </a:r>
            <a:r>
              <a:rPr lang="en-US" sz="1500" dirty="0">
                <a:solidFill>
                  <a:srgbClr val="000000"/>
                </a:solidFill>
                <a:latin typeface="Calibri" pitchFamily="34" charset="0"/>
                <a:ea typeface="Calibri" pitchFamily="34" charset="-122"/>
                <a:cs typeface="Calibri" pitchFamily="34" charset="-120"/>
              </a:rPr>
              <a:t xml:space="preserve">sweep the full word at every corner, so each per-corner optimum is a true optimum, then compare against the best single fixed word. That difference is the value of adaptation, and nothing else.</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Methodology / Approach:</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Double-pulse test in ngspice with a behavioural eGaN model from datasheet quantities; its symmetric channel makes the third-quadrant cost of negative bias emerge from device physics.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Eight metrics per run, frozen in one extractor early; every reported quantity must be flat across a 5× timestep range — enforced, not assumed.</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Project Scope:</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In scope: </a:t>
            </a:r>
            <a:r>
              <a:rPr lang="en-US" sz="1500" dirty="0">
                <a:solidFill>
                  <a:srgbClr val="000000"/>
                </a:solidFill>
                <a:latin typeface="Calibri" pitchFamily="34" charset="0"/>
                <a:ea typeface="Calibri" pitchFamily="34" charset="-122"/>
                <a:cs typeface="Calibri" pitchFamily="34" charset="-120"/>
              </a:rPr>
              <a:t xml:space="preserve">driver architecture, control-word optimisation, transistor-level output stage in SKY130. </a:t>
            </a:r>
            <a:r>
              <a:rPr lang="en-US" sz="1500" b="1" dirty="0">
                <a:solidFill>
                  <a:srgbClr val="000000"/>
                </a:solidFill>
                <a:latin typeface="Calibri" pitchFamily="34" charset="0"/>
                <a:ea typeface="Calibri" pitchFamily="34" charset="-122"/>
                <a:cs typeface="Calibri" pitchFamily="34" charset="-120"/>
              </a:rPr>
              <a:t xml:space="preserve">Out of scope: </a:t>
            </a:r>
            <a:r>
              <a:rPr lang="en-US" sz="1500" dirty="0">
                <a:solidFill>
                  <a:srgbClr val="000000"/>
                </a:solidFill>
                <a:latin typeface="Calibri" pitchFamily="34" charset="0"/>
                <a:ea typeface="Calibri" pitchFamily="34" charset="-122"/>
                <a:cs typeface="Calibri" pitchFamily="34" charset="-120"/>
              </a:rPr>
              <a:t xml:space="preserve">GaN device fabrication, sensing hardware, PCB build.</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System Architecture</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cture 4" descr="fig_architecture.png"/>
          <p:cNvPicPr>
            <a:picLocks noChangeAspect="1"/>
          </p:cNvPicPr>
          <p:nvPr/>
        </p:nvPicPr>
        <p:blipFill>
          <a:blip r:embed="rId4"/>
          <a:stretch>
            <a:fillRect/>
          </a:stretch>
        </p:blipFill>
        <p:spPr>
          <a:xfrm>
            <a:off x="1069848" y="1207008"/>
            <a:ext cx="10058400" cy="4800600"/>
          </a:xfrm>
          <a:prstGeom prst="rect">
            <a:avLst/>
          </a:prstGeom>
        </p:spPr>
      </p:pic>
      <p:sp>
        <p:nvSpPr>
          <p:cNvPr id="6" name="TextBox 5"/>
          <p:cNvSpPr txBox="1"/>
          <p:nvPr/>
        </p:nvSpPr>
        <p:spPr>
          <a:xfrm>
            <a:off x="640080" y="6089904"/>
            <a:ext cx="10881360" cy="347472"/>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Solid blocks are configured once at power-up. The dashed block — sensing, ADC and lookup table — is the adaptive machinery this project exists to price.</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Work Completed — 50 %</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Crosstalk reproduced, and fixed.</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Fastest drive, no clamp: spurious gate peak </a:t>
            </a:r>
            <a:r>
              <a:rPr lang="en-US" sz="1500" b="1" dirty="0">
                <a:solidFill>
                  <a:srgbClr val="000000"/>
                </a:solidFill>
                <a:latin typeface="Calibri" pitchFamily="34" charset="0"/>
                <a:ea typeface="Calibri" pitchFamily="34" charset="-122"/>
                <a:cs typeface="Calibri" pitchFamily="34" charset="-120"/>
              </a:rPr>
              <a:t xml:space="preserve">1.65 V</a:t>
            </a:r>
            <a:r>
              <a:rPr lang="en-US" sz="1500" dirty="0">
                <a:solidFill>
                  <a:srgbClr val="000000"/>
                </a:solidFill>
                <a:latin typeface="Calibri" pitchFamily="34" charset="0"/>
                <a:ea typeface="Calibri" pitchFamily="34" charset="-122"/>
                <a:cs typeface="Calibri" pitchFamily="34" charset="-120"/>
              </a:rPr>
              <a:t xml:space="preserve"> against a 1.4 V threshold — false turn-on, the failure this project exists to remove. Miller clamp on with −2 V off-bias: </a:t>
            </a:r>
            <a:r>
              <a:rPr lang="en-US" sz="1500" b="1" dirty="0">
                <a:solidFill>
                  <a:srgbClr val="000000"/>
                </a:solidFill>
                <a:latin typeface="Calibri" pitchFamily="34" charset="0"/>
                <a:ea typeface="Calibri" pitchFamily="34" charset="-122"/>
                <a:cs typeface="Calibri" pitchFamily="34" charset="-120"/>
              </a:rPr>
              <a:t xml:space="preserve">−1.18 V</a:t>
            </a:r>
            <a:r>
              <a:rPr lang="en-US" sz="1500" dirty="0">
                <a:solidFill>
                  <a:srgbClr val="000000"/>
                </a:solidFill>
                <a:latin typeface="Calibri" pitchFamily="34" charset="0"/>
                <a:ea typeface="Calibri" pitchFamily="34" charset="-122"/>
                <a:cs typeface="Calibri" pitchFamily="34" charset="-120"/>
              </a:rPr>
              <a:t xml:space="preserve">, a 2.58 V margin.</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The full exhaustive search is done.</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720 control words at each of four corners (50–200 V, 2–10 A, 25–125 °C) = 2,880 transients, plus 1,511 over a 36-point operating grid. Every per-corner optimum is a true optimum, not the best of a shortlist.</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The result has been stress-tested.</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21,600 further transients perturbing five device-model parameters; the ceiling holds between 4.3 % and 7.7 % against every one of them.</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Both objections to the result have been tested, not argued.</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Loop inductance (7,192 transients, eight values): adaptive control pays below ~2.5 nH, peaking at 13.5 %. EMI (1,440 transients): pricing it makes scheduling worth </a:t>
            </a:r>
            <a:r>
              <a:rPr lang="en-US" sz="1500" b="1" dirty="0">
                <a:solidFill>
                  <a:srgbClr val="000000"/>
                </a:solidFill>
                <a:latin typeface="Calibri" pitchFamily="34" charset="0"/>
                <a:ea typeface="Calibri" pitchFamily="34" charset="-122"/>
                <a:cs typeface="Calibri" pitchFamily="34" charset="-120"/>
              </a:rPr>
              <a:t xml:space="preserve">less</a:t>
            </a:r>
            <a:r>
              <a:rPr lang="en-US" sz="1500" dirty="0">
                <a:solidFill>
                  <a:srgbClr val="000000"/>
                </a:solidFill>
                <a:latin typeface="Calibri" pitchFamily="34" charset="0"/>
                <a:ea typeface="Calibri" pitchFamily="34" charset="-122"/>
                <a:cs typeface="Calibri" pitchFamily="34" charset="-120"/>
              </a:rPr>
              <a:t xml:space="preserve">, not more — 5.95 % → 0.15 %.</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The port to other simulators is written and re-simulated.</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LTspice-dialect, Spectre and browser-WASM decks all reproduce 122.4 V / 5.00 V / 1.65 V. Neither has itself been run — no installation was available — so these are faithful ports.</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In total: </a:t>
            </a:r>
            <a:r>
              <a:rPr lang="en-US" sz="1500" dirty="0">
                <a:solidFill>
                  <a:srgbClr val="000000"/>
                </a:solidFill>
                <a:latin typeface="Calibri" pitchFamily="34" charset="0"/>
                <a:ea typeface="Calibri" pitchFamily="34" charset="-122"/>
                <a:cs typeface="Calibri" pitchFamily="34" charset="-120"/>
              </a:rPr>
              <a:t xml:space="preserve">nearly 35,000 transient simulations, a 34-section written record, and a full manuscript draft with five tables and four figures.</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Timeline, Milestones &amp; Tools</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Timeline &amp; milestones</a:t>
            </a:r>
            <a:r>
              <a:rPr lang="en-US" sz="1600" dirty="0">
                <a:solidFill>
                  <a:srgbClr val="000000"/>
                </a:solidFill>
                <a:latin typeface="Calibri" pitchFamily="34" charset="0"/>
                <a:ea typeface="Calibri" pitchFamily="34" charset="-122"/>
                <a:cs typeface="Calibri" pitchFamily="34" charset="-120"/>
              </a:rPr>
              <a:t xml:space="preserve">  (dates follow the department calendar)</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Review-I — complete. </a:t>
            </a:r>
            <a:r>
              <a:rPr lang="en-US" sz="1500" dirty="0">
                <a:solidFill>
                  <a:srgbClr val="000000"/>
                </a:solidFill>
                <a:latin typeface="Calibri" pitchFamily="34" charset="0"/>
                <a:ea typeface="Calibri" pitchFamily="34" charset="-122"/>
                <a:cs typeface="Calibri" pitchFamily="34" charset="-120"/>
              </a:rPr>
              <a:t xml:space="preserve">Problem reproduced, driver and testbench built, exhaustive search finished, ceiling established and stress-tested against the device model.</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Review-II. </a:t>
            </a:r>
            <a:r>
              <a:rPr lang="en-US" sz="1500" dirty="0">
                <a:solidFill>
                  <a:srgbClr val="000000"/>
                </a:solidFill>
                <a:latin typeface="Calibri" pitchFamily="34" charset="0"/>
                <a:ea typeface="Calibri" pitchFamily="34" charset="-122"/>
                <a:cs typeface="Calibri" pitchFamily="34" charset="-120"/>
              </a:rPr>
              <a:t xml:space="preserve">M1 secure a 5 V-capable PDK · M2 draw the segmented output stage at transistor level in Cadence · M3 re-run the ceiling on real devices and compare it against the ideal-switch bound reported here.</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Review-III. </a:t>
            </a:r>
            <a:r>
              <a:rPr lang="en-US" sz="1500" dirty="0">
                <a:solidFill>
                  <a:srgbClr val="000000"/>
                </a:solidFill>
                <a:latin typeface="Calibri" pitchFamily="34" charset="0"/>
                <a:ea typeface="Calibri" pitchFamily="34" charset="-122"/>
                <a:cs typeface="Calibri" pitchFamily="34" charset="-120"/>
              </a:rPr>
              <a:t xml:space="preserve">M4 build the half-bridge · M5 measure crosstalk margin at one corner against the simulated 1.65 V · M6 submit the manuscript.</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Tools &amp; technologies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ngspice 42 (every sweep) · LTspice · Cadence Spectre / OCEAN · SKY130 PDK (BSIM4) · Python / NumPy / Matplotlib · MATLAB Online, used as an independent cross-check of the Pareto analysis · Git</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How to check any of it</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Every number on these slides is regenerated by a named script in the repository </a:t>
            </a:r>
            <a:r>
              <a:rPr lang="en-US" sz="1500" b="1" dirty="0">
                <a:solidFill>
                  <a:srgbClr val="000000"/>
                </a:solidFill>
                <a:latin typeface="Calibri" pitchFamily="34" charset="0"/>
                <a:ea typeface="Calibri" pitchFamily="34" charset="-122"/>
                <a:cs typeface="Calibri" pitchFamily="34" charset="-120"/>
              </a:rPr>
              <a:t xml:space="preserve">github.com/Amritha902/vero</a:t>
            </a:r>
            <a:r>
              <a:rPr lang="en-US" sz="1500" dirty="0">
                <a:solidFill>
                  <a:srgbClr val="000000"/>
                </a:solidFill>
                <a:latin typeface="Calibri" pitchFamily="34" charset="0"/>
                <a:ea typeface="Calibri" pitchFamily="34" charset="-122"/>
                <a:cs typeface="Calibri" pitchFamily="34" charset="-120"/>
              </a:rPr>
              <a:t xml:space="preserve">, under </a:t>
            </a:r>
            <a:r>
              <a:rPr lang="en-US" sz="1500" b="1" dirty="0">
                <a:solidFill>
                  <a:srgbClr val="000000"/>
                </a:solidFill>
                <a:latin typeface="Calibri" pitchFamily="34" charset="0"/>
                <a:ea typeface="Calibri" pitchFamily="34" charset="-122"/>
                <a:cs typeface="Calibri" pitchFamily="34" charset="-120"/>
              </a:rPr>
              <a:t xml:space="preserve">gan-driver/</a:t>
            </a:r>
            <a:r>
              <a:rPr lang="en-US" sz="1500" dirty="0">
                <a:solidFill>
                  <a:srgbClr val="000000"/>
                </a:solidFill>
                <a:latin typeface="Calibri" pitchFamily="34" charset="0"/>
                <a:ea typeface="Calibri" pitchFamily="34" charset="-122"/>
                <a:cs typeface="Calibri" pitchFamily="34" charset="-120"/>
              </a:rPr>
              <a:t xml:space="preserve">. Netlists, raw sweep data and analysis scripts are all committed; no figure is drawn by hand, and no number is typed in twice.</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FPGA Controller — verified RTL</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2240280"/>
          </a:xfrm>
          <a:prstGeom prst="rect">
            <a:avLst/>
          </a:prstGeom>
          <a:noFill/>
          <a:ln/>
        </p:spPr>
        <p:txBody>
          <a:bodyPr wrap="square" lIns="0" tIns="0" rIns="0" bIns="0" rtlCol="0" anchor="t"/>
          <a:lstStyle/>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Three modules emitting exactly the 720-point control word the SPICE model consumes.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Dead time gets a </a:t>
            </a:r>
            <a:r>
              <a:rPr lang="en-US" sz="1500" b="1" dirty="0">
                <a:solidFill>
                  <a:srgbClr val="000000"/>
                </a:solidFill>
                <a:latin typeface="Calibri" pitchFamily="34" charset="0"/>
                <a:ea typeface="Calibri" pitchFamily="34" charset="-122"/>
                <a:cs typeface="Calibri" pitchFamily="34" charset="-120"/>
              </a:rPr>
              <a:t xml:space="preserve">live register</a:t>
            </a:r>
            <a:r>
              <a:rPr lang="en-US" sz="1500" dirty="0">
                <a:solidFill>
                  <a:srgbClr val="000000"/>
                </a:solidFill>
                <a:latin typeface="Calibri" pitchFamily="34" charset="0"/>
                <a:ea typeface="Calibri" pitchFamily="34" charset="-122"/>
                <a:cs typeface="Calibri" pitchFamily="34" charset="-120"/>
              </a:rPr>
              <a:t xml:space="preserve">; drive strength is </a:t>
            </a:r>
            <a:r>
              <a:rPr lang="en-US" sz="1500" b="1" dirty="0">
                <a:solidFill>
                  <a:srgbClr val="000000"/>
                </a:solidFill>
                <a:latin typeface="Calibri" pitchFamily="34" charset="0"/>
                <a:ea typeface="Calibri" pitchFamily="34" charset="-122"/>
                <a:cs typeface="Calibri" pitchFamily="34" charset="-120"/>
              </a:rPr>
              <a:t xml:space="preserve">strapped</a:t>
            </a:r>
            <a:r>
              <a:rPr lang="en-US" sz="1500" dirty="0">
                <a:solidFill>
                  <a:srgbClr val="000000"/>
                </a:solidFill>
                <a:latin typeface="Calibri" pitchFamily="34" charset="0"/>
                <a:ea typeface="Calibri" pitchFamily="34" charset="-122"/>
                <a:cs typeface="Calibri" pitchFamily="34" charset="-120"/>
              </a:rPr>
              <a:t xml:space="preserve"> — the study's own result built into the hardware, since dead time is worth 5.45 % to schedule (carried by the light-load corner alone) and pull-up 0.00 %.</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Reset lands on the safest word, not the fastest.</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Eight asserted properties, all passing under Icarus Verilog; a deliberate shoot-through mutant is caught 221 times (sh rtl/mutate.sh).</a:t>
            </a:r>
          </a:p>
        </p:txBody>
      </p:sp>
      <p:pic>
        <p:nvPicPr>
          <p:cNvPr id="6" name="Picture 5" descr="fig_rtl_waveform.png"/>
          <p:cNvPicPr>
            <a:picLocks noChangeAspect="1"/>
          </p:cNvPicPr>
          <p:nvPr/>
        </p:nvPicPr>
        <p:blipFill>
          <a:blip r:embed="rId4"/>
          <a:stretch>
            <a:fillRect/>
          </a:stretch>
        </p:blipFill>
        <p:spPr>
          <a:xfrm>
            <a:off x="2743200" y="3703320"/>
            <a:ext cx="6675120" cy="2422423"/>
          </a:xfrm>
          <a:prstGeom prst="rect">
            <a:avLst/>
          </a:prstGeom>
        </p:spPr>
      </p:pic>
      <p:sp>
        <p:nvSpPr>
          <p:cNvPr id="7" name="TextBox 6"/>
          <p:cNvSpPr txBox="1"/>
          <p:nvPr/>
        </p:nvSpPr>
        <p:spPr>
          <a:xfrm>
            <a:off x="2743200" y="6217920"/>
            <a:ext cx="6675120" cy="310896"/>
          </a:xfrm>
          <a:prstGeom prst="rect">
            <a:avLst/>
          </a:prstGeom>
          <a:noFill/>
        </p:spPr>
        <p:txBody>
          <a:bodyPr wrap="square" lIns="0" tIns="0" rIns="0" bIns="0">
            <a:spAutoFit/>
          </a:bodyPr>
          <a:lstStyle/>
          <a:p>
            <a:pPr marL="177800" indent="0">
              <a:spcAft>
                <a:spcPts val="0"/>
              </a:spcAft>
              <a:buSzPct val="100000"/>
              <a:buNone/>
            </a:pPr>
            <a:r>
              <a:rPr lang="en-US" sz="1000" dirty="0">
                <a:solidFill>
                  <a:srgbClr val="000000"/>
                </a:solidFill>
                <a:latin typeface="Calibri" pitchFamily="34" charset="0"/>
                <a:ea typeface="Calibri" pitchFamily="34" charset="-122"/>
                <a:cs typeface="Calibri" pitchFamily="34" charset="-120"/>
              </a:rPr>
              <a:t xml:space="preserve">Icarus Verilog VCD. ls_pu falls to 0 before hs_pu rises — the shaded dead time is the gap, and no shoot-through window exists.</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1 — crosstalk is real; the clamp fixes it</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cture 4" descr="fig1_crosstalk.png"/>
          <p:cNvPicPr>
            <a:picLocks noChangeAspect="1"/>
          </p:cNvPicPr>
          <p:nvPr/>
        </p:nvPicPr>
        <p:blipFill>
          <a:blip r:embed="rId4"/>
          <a:stretch>
            <a:fillRect/>
          </a:stretch>
        </p:blipFill>
        <p:spPr>
          <a:xfrm>
            <a:off x="640080" y="1325880"/>
            <a:ext cx="6675120" cy="4238315"/>
          </a:xfrm>
          <a:prstGeom prst="rect">
            <a:avLst/>
          </a:prstGeom>
        </p:spPr>
      </p:pic>
      <p:sp>
        <p:nvSpPr>
          <p:cNvPr id="6" name="TextBox 5"/>
          <p:cNvSpPr txBox="1"/>
          <p:nvPr/>
        </p:nvSpPr>
        <p:spPr>
          <a:xfrm>
            <a:off x="640080" y="5760720"/>
            <a:ext cx="6675120" cy="41148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Fig. 1  Spurious gate voltage on the off-device: the failure, and the actuator that removes it.</a:t>
            </a:r>
          </a:p>
        </p:txBody>
      </p:sp>
      <p:sp>
        <p:nvSpPr>
          <p:cNvPr id="7" name="TextBox 6"/>
          <p:cNvSpPr txBox="1"/>
          <p:nvPr/>
        </p:nvSpPr>
        <p:spPr>
          <a:xfrm>
            <a:off x="7635240" y="1325880"/>
            <a:ext cx="3886200" cy="411480"/>
          </a:xfrm>
          <a:prstGeom prst="rect">
            <a:avLst/>
          </a:prstGeom>
          <a:noFill/>
        </p:spPr>
        <p:txBody>
          <a:bodyPr wrap="square" lIns="0" tIns="0" rIns="0" bIns="0">
            <a:spAutoFit/>
          </a:bodyPr>
          <a:lstStyle/>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 xml:space="preserve">The problem is real, and reproduced</a:t>
            </a:r>
          </a:p>
        </p:txBody>
      </p:sp>
      <p:sp>
        <p:nvSpPr>
          <p:cNvPr id="8" name="TextBox 7"/>
          <p:cNvSpPr txBox="1"/>
          <p:nvPr/>
        </p:nvSpPr>
        <p:spPr>
          <a:xfrm>
            <a:off x="7635240" y="1828800"/>
            <a:ext cx="388620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1.65 V</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spurious gate peak vs 1.4 V threshold</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Fastest drive, no clamp — false turn-on</a:t>
            </a:r>
          </a:p>
        </p:txBody>
      </p:sp>
      <p:sp>
        <p:nvSpPr>
          <p:cNvPr id="9" name="TextBox 8"/>
          <p:cNvSpPr txBox="1"/>
          <p:nvPr/>
        </p:nvSpPr>
        <p:spPr>
          <a:xfrm>
            <a:off x="7635240" y="3063240"/>
            <a:ext cx="388620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2.58 V</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margin with clamp + −2 V off-bias</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The actuator removes it completely</a:t>
            </a:r>
          </a:p>
        </p:txBody>
      </p:sp>
      <p:sp>
        <p:nvSpPr>
          <p:cNvPr id="10" name="TextBox 9"/>
          <p:cNvSpPr txBox="1"/>
          <p:nvPr/>
        </p:nvSpPr>
        <p:spPr>
          <a:xfrm>
            <a:off x="7635240" y="4343400"/>
            <a:ext cx="3886200" cy="1828800"/>
          </a:xfrm>
          <a:prstGeom prst="rect">
            <a:avLst/>
          </a:prstGeom>
          <a:noFill/>
        </p:spPr>
        <p:txBody>
          <a:bodyPr wrap="square" lIns="0" tIns="0" rIns="0" bIns="0">
            <a:spAutoFit/>
          </a:bodyPr>
          <a:lstStyle/>
          <a:p>
            <a:pPr marL="177800" indent="0">
              <a:spcAft>
                <a:spcPts val="200"/>
              </a:spcAft>
              <a:buSzPct val="100000"/>
              <a:buNone/>
            </a:pPr>
            <a:r>
              <a:rPr lang="en-US" sz="1500" b="1" dirty="0">
                <a:solidFill>
                  <a:srgbClr val="000000"/>
                </a:solidFill>
                <a:latin typeface="Calibri" pitchFamily="34" charset="0"/>
                <a:ea typeface="Calibri" pitchFamily="34" charset="-122"/>
                <a:cs typeface="Calibri" pitchFamily="34" charset="-120"/>
              </a:rPr>
              <a:t xml:space="preserve">And safety is nearly free</a:t>
            </a:r>
          </a:p>
          <a:p>
            <a:pPr marL="177800" indent="0">
              <a:spcAft>
                <a:spcPts val="200"/>
              </a:spcAft>
              <a:buSzPct val="100000"/>
              <a:buNone/>
            </a:pPr>
            <a:r>
              <a:rPr lang="en-US" sz="1300" dirty="0">
                <a:solidFill>
                  <a:srgbClr val="000000"/>
                </a:solidFill>
                <a:latin typeface="Calibri" pitchFamily="34" charset="0"/>
                <a:ea typeface="Calibri" pitchFamily="34" charset="-122"/>
                <a:cs typeface="Calibri" pitchFamily="34" charset="-120"/>
              </a:rPr>
              <a:t xml:space="preserve">The energy-optimal control word is already crosstalk-safe at three of four corners. At the fourth, safety costs </a:t>
            </a:r>
            <a:r>
              <a:rPr lang="en-US" sz="1300" b="1" dirty="0">
                <a:solidFill>
                  <a:srgbClr val="000000"/>
                </a:solidFill>
                <a:latin typeface="Calibri" pitchFamily="34" charset="0"/>
                <a:ea typeface="Calibri" pitchFamily="34" charset="-122"/>
                <a:cs typeface="Calibri" pitchFamily="34" charset="-120"/>
              </a:rPr>
              <a:t xml:space="preserve">0.04 % of switching energy</a:t>
            </a:r>
            <a:r>
              <a:rPr lang="en-US" sz="1300" dirty="0">
                <a:solidFill>
                  <a:srgbClr val="000000"/>
                </a:solidFill>
                <a:latin typeface="Calibri" pitchFamily="34" charset="0"/>
                <a:ea typeface="Calibri" pitchFamily="34" charset="-122"/>
                <a:cs typeface="Calibri" pitchFamily="34" charset="-120"/>
              </a:rPr>
              <a:t xml:space="preserve"> — 3.335 µJ against 3.334 µJ.</a:t>
            </a:r>
          </a:p>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The clamp itself is worth 9.7–12.2 % of the blended cost, from a static architecture choice needing no sensing or controller.</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2 — scheduling is worth only 5.2 %</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cture 4" descr="paper_fig2_ceiling.png"/>
          <p:cNvPicPr>
            <a:picLocks noChangeAspect="1"/>
          </p:cNvPicPr>
          <p:nvPr/>
        </p:nvPicPr>
        <p:blipFill>
          <a:blip r:embed="rId2"/>
          <a:stretch>
            <a:fillRect/>
          </a:stretch>
        </p:blipFill>
        <p:spPr>
          <a:xfrm>
            <a:off x="640080" y="1417320"/>
            <a:ext cx="6035040" cy="3212290"/>
          </a:xfrm>
          <a:prstGeom prst="rect">
            <a:avLst/>
          </a:prstGeom>
        </p:spPr>
      </p:pic>
      <p:sp>
        <p:nvSpPr>
          <p:cNvPr id="6" name="TextBox 5"/>
          <p:cNvSpPr txBox="1"/>
          <p:nvPr/>
        </p:nvSpPr>
        <p:spPr>
          <a:xfrm>
            <a:off x="640080" y="4892040"/>
            <a:ext cx="6035040" cy="41148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Fig. 2  Cost of one fixed control word vs the true per-corner optimum, four corners.</a:t>
            </a:r>
          </a:p>
        </p:txBody>
      </p:sp>
      <p:sp>
        <p:nvSpPr>
          <p:cNvPr id="7" name="TextBox 6"/>
          <p:cNvSpPr txBox="1"/>
          <p:nvPr/>
        </p:nvSpPr>
        <p:spPr>
          <a:xfrm>
            <a:off x="640080" y="5440680"/>
            <a:ext cx="6035040" cy="822960"/>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Full 720-word search at every corner — 2,880 transients — so each per-corner optimum is a true optimum, not the best of a shortlist.</a:t>
            </a:r>
          </a:p>
        </p:txBody>
      </p:sp>
      <p:sp>
        <p:nvSpPr>
          <p:cNvPr id="8" name="TextBox 7"/>
          <p:cNvSpPr txBox="1"/>
          <p:nvPr/>
        </p:nvSpPr>
        <p:spPr>
          <a:xfrm>
            <a:off x="6995160" y="1325880"/>
            <a:ext cx="4526280" cy="411480"/>
          </a:xfrm>
          <a:prstGeom prst="rect">
            <a:avLst/>
          </a:prstGeom>
          <a:noFill/>
        </p:spPr>
        <p:txBody>
          <a:bodyPr wrap="square" lIns="0" tIns="0" rIns="0" bIns="0">
            <a:spAutoFit/>
          </a:bodyPr>
          <a:lstStyle/>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 xml:space="preserve">What adaptation is actually worth</a:t>
            </a:r>
          </a:p>
        </p:txBody>
      </p:sp>
      <p:sp>
        <p:nvSpPr>
          <p:cNvPr id="9" name="TextBox 8"/>
          <p:cNvSpPr txBox="1"/>
          <p:nvPr/>
        </p:nvSpPr>
        <p:spPr>
          <a:xfrm>
            <a:off x="6995160" y="1828800"/>
            <a:ext cx="45262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5.2 %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ceiling on operating-point scheduling</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vs the best single fixed word (= 3.9 % of baseline). A fixed word is nearly as good.</a:t>
            </a:r>
          </a:p>
        </p:txBody>
      </p:sp>
      <p:sp>
        <p:nvSpPr>
          <p:cNvPr id="10" name="TextBox 9"/>
          <p:cNvSpPr txBox="1"/>
          <p:nvPr/>
        </p:nvSpPr>
        <p:spPr>
          <a:xfrm>
            <a:off x="6995160" y="3154680"/>
            <a:ext cx="4526280" cy="3108960"/>
          </a:xfrm>
          <a:prstGeom prst="rect">
            <a:avLst/>
          </a:prstGeom>
          <a:noFill/>
        </p:spPr>
        <p:txBody>
          <a:bodyPr wrap="square" lIns="0" tIns="0" rIns="0" bIns="0">
            <a:spAutoFit/>
          </a:bodyPr>
          <a:lstStyle/>
          <a:p>
            <a:pPr marL="177800" indent="0">
              <a:spcAft>
                <a:spcPts val="180"/>
              </a:spcAft>
              <a:buSzPct val="100000"/>
              <a:buNone/>
            </a:pPr>
            <a:r>
              <a:rPr lang="en-US" sz="1300" b="1" dirty="0">
                <a:solidFill>
                  <a:srgbClr val="000000"/>
                </a:solidFill>
                <a:latin typeface="Calibri" pitchFamily="34" charset="0"/>
                <a:ea typeface="Calibri" pitchFamily="34" charset="-122"/>
                <a:cs typeface="Calibri" pitchFamily="34" charset="-120"/>
              </a:rPr>
              <a:t xml:space="preserve">The benefit is not spread out. </a:t>
            </a:r>
            <a:r>
              <a:rPr lang="en-US" sz="1300" dirty="0">
                <a:solidFill>
                  <a:srgbClr val="000000"/>
                </a:solidFill>
                <a:latin typeface="Calibri" pitchFamily="34" charset="0"/>
                <a:ea typeface="Calibri" pitchFamily="34" charset="-122"/>
                <a:cs typeface="Calibri" pitchFamily="34" charset="-120"/>
              </a:rPr>
              <a:t xml:space="preserve">Three corners lose 1–4 % from a fixed word; one loses 12.7 %.</a:t>
            </a:r>
          </a:p>
          <a:p>
            <a:pPr marL="177800" indent="0">
              <a:spcAft>
                <a:spcPts val="180"/>
              </a:spcAft>
              <a:buSzPct val="100000"/>
              <a:buNone/>
            </a:pPr>
            <a:r>
              <a:rPr lang="en-US" sz="1200" b="1" dirty="0">
                <a:solidFill>
                  <a:srgbClr val="000000"/>
                </a:solidFill>
                <a:latin typeface="Calibri" pitchFamily="34" charset="0"/>
                <a:ea typeface="Calibri" pitchFamily="34" charset="-122"/>
                <a:cs typeface="Calibri" pitchFamily="34" charset="-120"/>
              </a:rPr>
              <a:t xml:space="preserve">It is carried by the dead time — and the dead time by one corner. </a:t>
            </a:r>
            <a:r>
              <a:rPr lang="en-US" sz="1200" dirty="0">
                <a:solidFill>
                  <a:srgbClr val="000000"/>
                </a:solidFill>
                <a:latin typeface="Calibri" pitchFamily="34" charset="0"/>
                <a:ea typeface="Calibri" pitchFamily="34" charset="-122"/>
                <a:cs typeface="Calibri" pitchFamily="34" charset="-120"/>
              </a:rPr>
              <a:t xml:space="preserve">Freezing dead time costs 5.45 % across four corners. Drop the light-load 50 V / 2 A corner and it costs </a:t>
            </a:r>
            <a:r>
              <a:rPr lang="en-US" sz="1200" b="1" dirty="0">
                <a:solidFill>
                  <a:srgbClr val="000000"/>
                </a:solidFill>
                <a:latin typeface="Calibri" pitchFamily="34" charset="0"/>
                <a:ea typeface="Calibri" pitchFamily="34" charset="-122"/>
                <a:cs typeface="Calibri" pitchFamily="34" charset="-120"/>
              </a:rPr>
              <a:t xml:space="preserve">0.00 %</a:t>
            </a:r>
            <a:r>
              <a:rPr lang="en-US" sz="1200" dirty="0">
                <a:solidFill>
                  <a:srgbClr val="000000"/>
                </a:solidFill>
                <a:latin typeface="Calibri" pitchFamily="34" charset="0"/>
                <a:ea typeface="Calibri" pitchFamily="34" charset="-122"/>
                <a:cs typeface="Calibri" pitchFamily="34" charset="-120"/>
              </a:rPr>
              <a:t xml:space="preserve">: three corners want 5 ns, only that one wants 15 ns. So the adaptive hardware reduces to a light-load detector picking one of two dead times. Freezing pull-up drive strength costs </a:t>
            </a:r>
            <a:r>
              <a:rPr lang="en-US" sz="1200" b="1" dirty="0">
                <a:solidFill>
                  <a:srgbClr val="000000"/>
                </a:solidFill>
                <a:latin typeface="Calibri" pitchFamily="34" charset="0"/>
                <a:ea typeface="Calibri" pitchFamily="34" charset="-122"/>
                <a:cs typeface="Calibri" pitchFamily="34" charset="-120"/>
              </a:rPr>
              <a:t xml:space="preserve">0.00 %</a:t>
            </a:r>
            <a:r>
              <a:rPr lang="en-US" sz="1200" dirty="0">
                <a:solidFill>
                  <a:srgbClr val="000000"/>
                </a:solidFill>
                <a:latin typeface="Calibri" pitchFamily="34" charset="0"/>
                <a:ea typeface="Calibri" pitchFamily="34" charset="-122"/>
                <a:cs typeface="Calibri" pitchFamily="34" charset="-120"/>
              </a:rPr>
              <a:t xml:space="preserve"> — and drive strength is what the active-gate-driver literature actually schedules.</a:t>
            </a:r>
          </a:p>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Robust to the device, conditional on the layout. </a:t>
            </a:r>
            <a:r>
              <a:rPr lang="en-US" sz="1300" dirty="0">
                <a:solidFill>
                  <a:srgbClr val="000000"/>
                </a:solidFill>
                <a:latin typeface="Calibri" pitchFamily="34" charset="0"/>
                <a:ea typeface="Calibri" pitchFamily="34" charset="-122"/>
                <a:cs typeface="Calibri" pitchFamily="34" charset="-120"/>
              </a:rPr>
              <a:t xml:space="preserve">Across 21,600 transients, no device parameter moves the ceiling outside 4.3–7.7 %. Halving the loop inductance takes it to 13.5 %, and loop inductance is board layout, not the transistor [3].</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3 — the two halves nobody separates</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Box 4"/>
          <p:cNvSpPr txBox="1"/>
          <p:nvPr/>
        </p:nvSpPr>
        <p:spPr>
          <a:xfrm>
            <a:off x="640080" y="1261872"/>
            <a:ext cx="11064240" cy="731520"/>
          </a:xfrm>
          <a:prstGeom prst="rect">
            <a:avLst/>
          </a:prstGeom>
          <a:noFill/>
        </p:spPr>
        <p:txBody>
          <a:bodyPr wrap="square" lIns="0" tIns="0" rIns="0" bIns="0">
            <a:spAutoFit/>
          </a:bodyPr>
          <a:lstStyle/>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The base paper [9] </a:t>
            </a:r>
            <a:r>
              <a:rPr lang="en-US" sz="1250" b="1" dirty="0">
                <a:solidFill>
                  <a:srgbClr val="000000"/>
                </a:solidFill>
                <a:latin typeface="Calibri" pitchFamily="34" charset="0"/>
                <a:ea typeface="Calibri" pitchFamily="34" charset="-122"/>
                <a:cs typeface="Calibri" pitchFamily="34" charset="-120"/>
              </a:rPr>
              <a:t xml:space="preserve">(doi.org/10.1002/cta.3136)</a:t>
            </a:r>
            <a:r>
              <a:rPr lang="en-US" sz="1250" dirty="0">
                <a:solidFill>
                  <a:srgbClr val="000000"/>
                </a:solidFill>
                <a:latin typeface="Calibri" pitchFamily="34" charset="0"/>
                <a:ea typeface="Calibri" pitchFamily="34" charset="-122"/>
                <a:cs typeface="Calibri" pitchFamily="34" charset="-120"/>
              </a:rPr>
              <a:t xml:space="preserve"> shows a gate waveform can be chosen by a digital code. It, and every active-gate-driver paper after it, then reports </a:t>
            </a:r>
            <a:r>
              <a:rPr lang="en-US" sz="1250" b="1" dirty="0">
                <a:solidFill>
                  <a:srgbClr val="000000"/>
                </a:solidFill>
                <a:latin typeface="Calibri" pitchFamily="34" charset="0"/>
                <a:ea typeface="Calibri" pitchFamily="34" charset="-122"/>
                <a:cs typeface="Calibri" pitchFamily="34" charset="-120"/>
              </a:rPr>
              <a:t xml:space="preserve">one</a:t>
            </a:r>
            <a:r>
              <a:rPr lang="en-US" sz="1250" dirty="0">
                <a:solidFill>
                  <a:srgbClr val="000000"/>
                </a:solidFill>
                <a:latin typeface="Calibri" pitchFamily="34" charset="0"/>
                <a:ea typeface="Calibri" pitchFamily="34" charset="-122"/>
                <a:cs typeface="Calibri" pitchFamily="34" charset="-120"/>
              </a:rPr>
              <a:t xml:space="preserve"> number — the improvement over a conventional driver. That number bundles two separable effects, and only the second needs sensing, an ADC and a lookup table. Separating them needs the exhaustive search, which is why nobody has.</a:t>
            </a:r>
          </a:p>
        </p:txBody>
      </p:sp>
      <p:sp>
        <p:nvSpPr>
          <p:cNvPr id="6" name="TextBox 5"/>
          <p:cNvSpPr txBox="1"/>
          <p:nvPr/>
        </p:nvSpPr>
        <p:spPr>
          <a:xfrm>
            <a:off x="640080" y="2212848"/>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 xml:space="preserve">(A)   Choose a better FIXED word</a:t>
            </a:r>
          </a:p>
        </p:txBody>
      </p:sp>
      <p:sp>
        <p:nvSpPr>
          <p:cNvPr id="7" name="TextBox 6"/>
          <p:cNvSpPr txBox="1"/>
          <p:nvPr/>
        </p:nvSpPr>
        <p:spPr>
          <a:xfrm>
            <a:off x="6812280" y="2029967"/>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25.1 %</a:t>
            </a:r>
          </a:p>
        </p:txBody>
      </p:sp>
      <p:sp>
        <p:nvSpPr>
          <p:cNvPr id="8" name="TextBox 7"/>
          <p:cNvSpPr txBox="1"/>
          <p:nvPr/>
        </p:nvSpPr>
        <p:spPr>
          <a:xfrm>
            <a:off x="9006840" y="2249424"/>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no sensing · no LUT</a:t>
            </a:r>
          </a:p>
        </p:txBody>
      </p:sp>
      <p:sp>
        <p:nvSpPr>
          <p:cNvPr id="9" name="TextBox 8"/>
          <p:cNvSpPr txBox="1"/>
          <p:nvPr/>
        </p:nvSpPr>
        <p:spPr>
          <a:xfrm>
            <a:off x="640080" y="3236976"/>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 xml:space="preserve">(B)   ADAPT it per operating point</a:t>
            </a:r>
          </a:p>
        </p:txBody>
      </p:sp>
      <p:sp>
        <p:nvSpPr>
          <p:cNvPr id="10" name="TextBox 9"/>
          <p:cNvSpPr txBox="1"/>
          <p:nvPr/>
        </p:nvSpPr>
        <p:spPr>
          <a:xfrm>
            <a:off x="6812280" y="3054096"/>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3.9 %</a:t>
            </a:r>
          </a:p>
        </p:txBody>
      </p:sp>
      <p:sp>
        <p:nvSpPr>
          <p:cNvPr id="11" name="TextBox 10"/>
          <p:cNvSpPr txBox="1"/>
          <p:nvPr/>
        </p:nvSpPr>
        <p:spPr>
          <a:xfrm>
            <a:off x="9006840" y="3273552"/>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needs all of it</a:t>
            </a:r>
          </a:p>
        </p:txBody>
      </p:sp>
      <p:sp>
        <p:nvSpPr>
          <p:cNvPr id="12" name="TextBox 11"/>
          <p:cNvSpPr txBox="1"/>
          <p:nvPr/>
        </p:nvSpPr>
        <p:spPr>
          <a:xfrm>
            <a:off x="640080" y="4261104"/>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 xml:space="preserve">(B′)  …but ONE comparator captures 72 % of (B)</a:t>
            </a:r>
          </a:p>
        </p:txBody>
      </p:sp>
      <p:sp>
        <p:nvSpPr>
          <p:cNvPr id="13" name="TextBox 12"/>
          <p:cNvSpPr txBox="1"/>
          <p:nvPr/>
        </p:nvSpPr>
        <p:spPr>
          <a:xfrm>
            <a:off x="6812280" y="4078224"/>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2.8 %</a:t>
            </a:r>
          </a:p>
        </p:txBody>
      </p:sp>
      <p:sp>
        <p:nvSpPr>
          <p:cNvPr id="14" name="TextBox 13"/>
          <p:cNvSpPr txBox="1"/>
          <p:nvPr/>
        </p:nvSpPr>
        <p:spPr>
          <a:xfrm>
            <a:off x="9006840" y="4297680"/>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a threshold, not a LUT</a:t>
            </a:r>
          </a:p>
        </p:txBody>
      </p:sp>
      <p:sp>
        <p:nvSpPr>
          <p:cNvPr id="15" name="TextBox 14"/>
          <p:cNvSpPr txBox="1"/>
          <p:nvPr/>
        </p:nvSpPr>
        <p:spPr>
          <a:xfrm>
            <a:off x="640080" y="5413248"/>
            <a:ext cx="11064240" cy="1005840"/>
          </a:xfrm>
          <a:prstGeom prst="rect">
            <a:avLst/>
          </a:prstGeom>
          <a:noFill/>
        </p:spPr>
        <p:txBody>
          <a:bodyPr wrap="square" lIns="0" tIns="0" rIns="0" bIns="0">
            <a:spAutoFit/>
          </a:bodyPr>
          <a:lstStyle/>
          <a:p>
            <a:pPr marL="177800" indent="0">
              <a:spcAft>
                <a:spcPts val="130"/>
              </a:spcAft>
              <a:buSzPct val="100000"/>
              <a:buNone/>
            </a:pPr>
            <a:r>
              <a:rPr lang="en-US" sz="1300" dirty="0">
                <a:solidFill>
                  <a:srgbClr val="000000"/>
                </a:solidFill>
                <a:latin typeface="Calibri" pitchFamily="34" charset="0"/>
                <a:ea typeface="Calibri" pitchFamily="34" charset="-122"/>
                <a:cs typeface="Calibri" pitchFamily="34" charset="-120"/>
              </a:rPr>
              <a:t xml:space="preserve">So the full sense + ADC + lookup table is left justifying </a:t>
            </a:r>
            <a:r>
              <a:rPr lang="en-US" sz="1300" b="1" dirty="0">
                <a:solidFill>
                  <a:srgbClr val="000000"/>
                </a:solidFill>
                <a:latin typeface="Calibri" pitchFamily="34" charset="0"/>
                <a:ea typeface="Calibri" pitchFamily="34" charset="-122"/>
                <a:cs typeface="Calibri" pitchFamily="34" charset="-120"/>
              </a:rPr>
              <a:t xml:space="preserve">3.7 % of the total achievable gain</a:t>
            </a:r>
            <a:r>
              <a:rPr lang="en-US" sz="1300" dirty="0">
                <a:solidFill>
                  <a:srgbClr val="000000"/>
                </a:solidFill>
                <a:latin typeface="Calibri" pitchFamily="34" charset="0"/>
                <a:ea typeface="Calibri" pitchFamily="34" charset="-122"/>
                <a:cs typeface="Calibri" pitchFamily="34" charset="-120"/>
              </a:rPr>
              <a:t xml:space="preserve"> over a fixed word plus one comparator. Adaptation is 13.4 % of the gain; a single threshold takes 72 % of that.</a:t>
            </a:r>
          </a:p>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Every figure shares one baseline — the median control word that is safe at all four corners. The split does not rest on the weighting: swept over 106 overshoot weights, (A) stays </a:t>
            </a:r>
            <a:r>
              <a:rPr lang="en-US" sz="1200" b="1" dirty="0">
                <a:solidFill>
                  <a:srgbClr val="000000"/>
                </a:solidFill>
                <a:latin typeface="Calibri" pitchFamily="34" charset="0"/>
                <a:ea typeface="Calibri" pitchFamily="34" charset="-122"/>
                <a:cs typeface="Calibri" pitchFamily="34" charset="-120"/>
              </a:rPr>
              <a:t xml:space="preserve">23.4–29.0 %</a:t>
            </a:r>
            <a:r>
              <a:rPr lang="en-US" sz="1200" dirty="0">
                <a:solidFill>
                  <a:srgbClr val="000000"/>
                </a:solidFill>
                <a:latin typeface="Calibri" pitchFamily="34" charset="0"/>
                <a:ea typeface="Calibri" pitchFamily="34" charset="-122"/>
                <a:cs typeface="Calibri" pitchFamily="34" charset="-120"/>
              </a:rPr>
              <a:t xml:space="preserve"> and (B) </a:t>
            </a:r>
            <a:r>
              <a:rPr lang="en-US" sz="1200" b="1" dirty="0">
                <a:solidFill>
                  <a:srgbClr val="000000"/>
                </a:solidFill>
                <a:latin typeface="Calibri" pitchFamily="34" charset="0"/>
                <a:ea typeface="Calibri" pitchFamily="34" charset="-122"/>
                <a:cs typeface="Calibri" pitchFamily="34" charset="-120"/>
              </a:rPr>
              <a:t xml:space="preserve">1.3–6.4 %</a:t>
            </a:r>
            <a:r>
              <a:rPr lang="en-US" sz="1200" dirty="0">
                <a:solidFill>
                  <a:srgbClr val="000000"/>
                </a:solidFill>
                <a:latin typeface="Calibri" pitchFamily="34" charset="0"/>
                <a:ea typeface="Calibri" pitchFamily="34" charset="-122"/>
                <a:cs typeface="Calibri" pitchFamily="34" charset="-120"/>
              </a:rPr>
              <a:t xml:space="preserve"> — and (A) exceeds (B) at </a:t>
            </a:r>
            <a:r>
              <a:rPr lang="en-US" sz="1200" b="1" dirty="0">
                <a:solidFill>
                  <a:srgbClr val="000000"/>
                </a:solidFill>
                <a:latin typeface="Calibri" pitchFamily="34" charset="0"/>
                <a:ea typeface="Calibri" pitchFamily="34" charset="-122"/>
                <a:cs typeface="Calibri" pitchFamily="34" charset="-120"/>
              </a:rPr>
              <a:t xml:space="preserve">every</a:t>
            </a:r>
            <a:r>
              <a:rPr lang="en-US" sz="1200" dirty="0">
                <a:solidFill>
                  <a:srgbClr val="000000"/>
                </a:solidFill>
                <a:latin typeface="Calibri" pitchFamily="34" charset="0"/>
                <a:ea typeface="Calibri" pitchFamily="34" charset="-122"/>
                <a:cs typeface="Calibri" pitchFamily="34" charset="-120"/>
              </a:rPr>
              <a:t xml:space="preserve"> weight tested, out to 5.0. </a:t>
            </a:r>
            <a:r>
              <a:rPr lang="en-US" sz="1200" b="1" dirty="0">
                <a:solidFill>
                  <a:srgbClr val="000000"/>
                </a:solidFill>
                <a:latin typeface="Calibri" pitchFamily="34" charset="0"/>
                <a:ea typeface="Calibri" pitchFamily="34" charset="-122"/>
                <a:cs typeface="Calibri" pitchFamily="34" charset="-120"/>
              </a:rPr>
              <a:t xml:space="preserve">scripts/novelty.py</a:t>
            </a:r>
            <a:r>
              <a:rPr lang="en-US" sz="1200" dirty="0">
                <a:solidFill>
                  <a:srgbClr val="000000"/>
                </a:solidFill>
                <a:latin typeface="Calibri" pitchFamily="34" charset="0"/>
                <a:ea typeface="Calibri" pitchFamily="34" charset="-122"/>
                <a:cs typeface="Calibri" pitchFamily="34" charset="-120"/>
              </a:rPr>
              <a:t xml:space="preserve">, </a:t>
            </a:r>
            <a:r>
              <a:rPr lang="en-US" sz="1200" b="1" dirty="0">
                <a:solidFill>
                  <a:srgbClr val="000000"/>
                </a:solidFill>
                <a:latin typeface="Calibri" pitchFamily="34" charset="0"/>
                <a:ea typeface="Calibri" pitchFamily="34" charset="-122"/>
                <a:cs typeface="Calibri" pitchFamily="34" charset="-120"/>
              </a:rPr>
              <a:t xml:space="preserve">scripts/weight_sensitivity.py</a:t>
            </a:r>
            <a:r>
              <a:rPr lang="en-US" sz="1200" dirty="0">
                <a:solidFill>
                  <a:srgbClr val="000000"/>
                </a:solidFill>
                <a:latin typeface="Calibri" pitchFamily="34" charset="0"/>
                <a:ea typeface="Calibri" pitchFamily="34" charset="-122"/>
                <a:cs typeface="Calibri" pitchFamily="34" charset="-120"/>
              </a:rPr>
              <a:t xml:space="preserve">.</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4 — adaptive pays below ~2.5 nH</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cture 4" descr="fig_lloop.png"/>
          <p:cNvPicPr>
            <a:picLocks noChangeAspect="1"/>
          </p:cNvPicPr>
          <p:nvPr/>
        </p:nvPicPr>
        <p:blipFill>
          <a:blip r:embed="rId4"/>
          <a:stretch>
            <a:fillRect/>
          </a:stretch>
        </p:blipFill>
        <p:spPr>
          <a:xfrm>
            <a:off x="1938528" y="1234440"/>
            <a:ext cx="8311896" cy="4478392"/>
          </a:xfrm>
          <a:prstGeom prst="rect">
            <a:avLst/>
          </a:prstGeom>
        </p:spPr>
      </p:pic>
      <p:sp>
        <p:nvSpPr>
          <p:cNvPr id="6" name="TextBox 5"/>
          <p:cNvSpPr txBox="1"/>
          <p:nvPr/>
        </p:nvSpPr>
        <p:spPr>
          <a:xfrm>
            <a:off x="640080" y="5815584"/>
            <a:ext cx="10881360" cy="64008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Eight inductances, 7,200 transients. The answer is a </a:t>
            </a:r>
            <a:r>
              <a:rPr lang="en-US" sz="1200" b="1" dirty="0">
                <a:solidFill>
                  <a:srgbClr val="000000"/>
                </a:solidFill>
                <a:latin typeface="Calibri" pitchFamily="34" charset="0"/>
                <a:ea typeface="Calibri" pitchFamily="34" charset="-122"/>
                <a:cs typeface="Calibri" pitchFamily="34" charset="-120"/>
              </a:rPr>
              <a:t xml:space="preserve">band</a:t>
            </a:r>
            <a:r>
              <a:rPr lang="en-US" sz="1200" dirty="0">
                <a:solidFill>
                  <a:srgbClr val="000000"/>
                </a:solidFill>
                <a:latin typeface="Calibri" pitchFamily="34" charset="0"/>
                <a:ea typeface="Calibri" pitchFamily="34" charset="-122"/>
                <a:cs typeface="Calibri" pitchFamily="34" charset="-120"/>
              </a:rPr>
              <a:t xml:space="preserve">, not a threshold: adaptive control pays only from about 2.5 nH down, peaking at 13.5 % at 1.5 nH, and it falls back to 8.1 % at 1.0 nH because only 165 of 720 words stay safe there — below ~2 nH feasibility binds, not optimisation. </a:t>
            </a:r>
            <a:r>
              <a:rPr lang="en-US" sz="1200" b="1" dirty="0">
                <a:solidFill>
                  <a:srgbClr val="000000"/>
                </a:solidFill>
                <a:latin typeface="Calibri" pitchFamily="34" charset="0"/>
                <a:ea typeface="Calibri" pitchFamily="34" charset="-122"/>
                <a:cs typeface="Calibri" pitchFamily="34" charset="-120"/>
              </a:rPr>
              <a:t xml:space="preserve">A designer measures their loop and reads off the decision</a:t>
            </a:r>
            <a:r>
              <a:rPr lang="en-US" sz="1200" dirty="0">
                <a:solidFill>
                  <a:srgbClr val="000000"/>
                </a:solidFill>
                <a:latin typeface="Calibri" pitchFamily="34" charset="0"/>
                <a:ea typeface="Calibri" pitchFamily="34" charset="-122"/>
                <a:cs typeface="Calibri" pitchFamily="34" charset="-120"/>
              </a:rPr>
              <a:t xml:space="preserve"> — a trade-off the literature does not state.</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Backup — the device doesn’t move it; layout does</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Box 4"/>
          <p:cNvSpPr txBox="1"/>
          <p:nvPr/>
        </p:nvSpPr>
        <p:spPr>
          <a:xfrm>
            <a:off x="640080" y="1325880"/>
            <a:ext cx="3474720" cy="2743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Perturbation</a:t>
            </a:r>
          </a:p>
        </p:txBody>
      </p:sp>
      <p:sp>
        <p:nvSpPr>
          <p:cNvPr id="6" name="TextBox 5"/>
          <p:cNvSpPr txBox="1"/>
          <p:nvPr/>
        </p:nvSpPr>
        <p:spPr>
          <a:xfrm>
            <a:off x="4160520" y="1325880"/>
            <a:ext cx="1005840" cy="2743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Ceiling</a:t>
            </a:r>
          </a:p>
        </p:txBody>
      </p:sp>
      <p:sp>
        <p:nvSpPr>
          <p:cNvPr id="7" name="TextBox 6"/>
          <p:cNvSpPr txBox="1"/>
          <p:nvPr/>
        </p:nvSpPr>
        <p:spPr>
          <a:xfrm>
            <a:off x="5257800" y="1325880"/>
            <a:ext cx="1097280" cy="27432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vs nom.</a:t>
            </a:r>
          </a:p>
        </p:txBody>
      </p:sp>
      <p:sp>
        <p:nvSpPr>
          <p:cNvPr id="8" name="TextBox 7"/>
          <p:cNvSpPr txBox="1"/>
          <p:nvPr/>
        </p:nvSpPr>
        <p:spPr>
          <a:xfrm>
            <a:off x="640080" y="1719072"/>
            <a:ext cx="3474720" cy="27432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Loop inductance −50 %  (1.5 nH)</a:t>
            </a:r>
          </a:p>
        </p:txBody>
      </p:sp>
      <p:sp>
        <p:nvSpPr>
          <p:cNvPr id="9" name="TextBox 8"/>
          <p:cNvSpPr txBox="1"/>
          <p:nvPr/>
        </p:nvSpPr>
        <p:spPr>
          <a:xfrm>
            <a:off x="4160520" y="1719072"/>
            <a:ext cx="1005840" cy="27432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13.54 %</a:t>
            </a:r>
          </a:p>
        </p:txBody>
      </p:sp>
      <p:sp>
        <p:nvSpPr>
          <p:cNvPr id="10" name="TextBox 9"/>
          <p:cNvSpPr txBox="1"/>
          <p:nvPr/>
        </p:nvSpPr>
        <p:spPr>
          <a:xfrm>
            <a:off x="5257800" y="1719072"/>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+7.59</a:t>
            </a:r>
          </a:p>
        </p:txBody>
      </p:sp>
      <p:sp>
        <p:nvSpPr>
          <p:cNvPr id="11" name="TextBox 10"/>
          <p:cNvSpPr txBox="1"/>
          <p:nvPr/>
        </p:nvSpPr>
        <p:spPr>
          <a:xfrm>
            <a:off x="640080" y="2025395"/>
            <a:ext cx="347472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Input capacitance +30 %</a:t>
            </a:r>
          </a:p>
        </p:txBody>
      </p:sp>
      <p:sp>
        <p:nvSpPr>
          <p:cNvPr id="12" name="TextBox 11"/>
          <p:cNvSpPr txBox="1"/>
          <p:nvPr/>
        </p:nvSpPr>
        <p:spPr>
          <a:xfrm>
            <a:off x="4160520" y="2025395"/>
            <a:ext cx="100584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7.71 %</a:t>
            </a:r>
          </a:p>
        </p:txBody>
      </p:sp>
      <p:sp>
        <p:nvSpPr>
          <p:cNvPr id="13" name="TextBox 12"/>
          <p:cNvSpPr txBox="1"/>
          <p:nvPr/>
        </p:nvSpPr>
        <p:spPr>
          <a:xfrm>
            <a:off x="5257800" y="2025395"/>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+1.76</a:t>
            </a:r>
          </a:p>
        </p:txBody>
      </p:sp>
      <p:sp>
        <p:nvSpPr>
          <p:cNvPr id="14" name="TextBox 13"/>
          <p:cNvSpPr txBox="1"/>
          <p:nvPr/>
        </p:nvSpPr>
        <p:spPr>
          <a:xfrm>
            <a:off x="640080" y="2331720"/>
            <a:ext cx="347472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Miller capacitance −50 %</a:t>
            </a:r>
          </a:p>
        </p:txBody>
      </p:sp>
      <p:sp>
        <p:nvSpPr>
          <p:cNvPr id="15" name="TextBox 14"/>
          <p:cNvSpPr txBox="1"/>
          <p:nvPr/>
        </p:nvSpPr>
        <p:spPr>
          <a:xfrm>
            <a:off x="4160520" y="2331720"/>
            <a:ext cx="100584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6.93 %</a:t>
            </a:r>
          </a:p>
        </p:txBody>
      </p:sp>
      <p:sp>
        <p:nvSpPr>
          <p:cNvPr id="16" name="TextBox 15"/>
          <p:cNvSpPr txBox="1"/>
          <p:nvPr/>
        </p:nvSpPr>
        <p:spPr>
          <a:xfrm>
            <a:off x="5257800" y="2331720"/>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+0.99</a:t>
            </a:r>
          </a:p>
        </p:txBody>
      </p:sp>
      <p:sp>
        <p:nvSpPr>
          <p:cNvPr id="17" name="TextBox 16"/>
          <p:cNvSpPr txBox="1"/>
          <p:nvPr/>
        </p:nvSpPr>
        <p:spPr>
          <a:xfrm>
            <a:off x="640080" y="2638044"/>
            <a:ext cx="3474720" cy="27432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nominal</a:t>
            </a:r>
          </a:p>
        </p:txBody>
      </p:sp>
      <p:sp>
        <p:nvSpPr>
          <p:cNvPr id="18" name="TextBox 17"/>
          <p:cNvSpPr txBox="1"/>
          <p:nvPr/>
        </p:nvSpPr>
        <p:spPr>
          <a:xfrm>
            <a:off x="4160520" y="2638044"/>
            <a:ext cx="1005840" cy="27432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5.95 %</a:t>
            </a:r>
          </a:p>
        </p:txBody>
      </p:sp>
      <p:sp>
        <p:nvSpPr>
          <p:cNvPr id="19" name="TextBox 18"/>
          <p:cNvSpPr txBox="1"/>
          <p:nvPr/>
        </p:nvSpPr>
        <p:spPr>
          <a:xfrm>
            <a:off x="5257800" y="2638044"/>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a:t>
            </a:r>
          </a:p>
        </p:txBody>
      </p:sp>
      <p:sp>
        <p:nvSpPr>
          <p:cNvPr id="20" name="TextBox 19"/>
          <p:cNvSpPr txBox="1"/>
          <p:nvPr/>
        </p:nvSpPr>
        <p:spPr>
          <a:xfrm>
            <a:off x="640080" y="2944368"/>
            <a:ext cx="347472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Threshold −20 %</a:t>
            </a:r>
          </a:p>
        </p:txBody>
      </p:sp>
      <p:sp>
        <p:nvSpPr>
          <p:cNvPr id="21" name="TextBox 20"/>
          <p:cNvSpPr txBox="1"/>
          <p:nvPr/>
        </p:nvSpPr>
        <p:spPr>
          <a:xfrm>
            <a:off x="4160520" y="2944368"/>
            <a:ext cx="100584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5.64 %</a:t>
            </a:r>
          </a:p>
        </p:txBody>
      </p:sp>
      <p:sp>
        <p:nvSpPr>
          <p:cNvPr id="22" name="TextBox 21"/>
          <p:cNvSpPr txBox="1"/>
          <p:nvPr/>
        </p:nvSpPr>
        <p:spPr>
          <a:xfrm>
            <a:off x="5257800" y="2944368"/>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−0.31</a:t>
            </a:r>
          </a:p>
        </p:txBody>
      </p:sp>
      <p:sp>
        <p:nvSpPr>
          <p:cNvPr id="23" name="TextBox 22"/>
          <p:cNvSpPr txBox="1"/>
          <p:nvPr/>
        </p:nvSpPr>
        <p:spPr>
          <a:xfrm>
            <a:off x="640080" y="3250691"/>
            <a:ext cx="347472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Transconductance +30 %</a:t>
            </a:r>
          </a:p>
        </p:txBody>
      </p:sp>
      <p:sp>
        <p:nvSpPr>
          <p:cNvPr id="24" name="TextBox 23"/>
          <p:cNvSpPr txBox="1"/>
          <p:nvPr/>
        </p:nvSpPr>
        <p:spPr>
          <a:xfrm>
            <a:off x="4160520" y="3250691"/>
            <a:ext cx="100584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5.08 %</a:t>
            </a:r>
          </a:p>
        </p:txBody>
      </p:sp>
      <p:sp>
        <p:nvSpPr>
          <p:cNvPr id="25" name="TextBox 24"/>
          <p:cNvSpPr txBox="1"/>
          <p:nvPr/>
        </p:nvSpPr>
        <p:spPr>
          <a:xfrm>
            <a:off x="5257800" y="3250691"/>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−0.87</a:t>
            </a:r>
          </a:p>
        </p:txBody>
      </p:sp>
      <p:sp>
        <p:nvSpPr>
          <p:cNvPr id="26" name="TextBox 25"/>
          <p:cNvSpPr txBox="1"/>
          <p:nvPr/>
        </p:nvSpPr>
        <p:spPr>
          <a:xfrm>
            <a:off x="640080" y="3557015"/>
            <a:ext cx="347472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Threshold +20 %</a:t>
            </a:r>
          </a:p>
        </p:txBody>
      </p:sp>
      <p:sp>
        <p:nvSpPr>
          <p:cNvPr id="27" name="TextBox 26"/>
          <p:cNvSpPr txBox="1"/>
          <p:nvPr/>
        </p:nvSpPr>
        <p:spPr>
          <a:xfrm>
            <a:off x="4160520" y="3557015"/>
            <a:ext cx="100584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4.90 %</a:t>
            </a:r>
          </a:p>
        </p:txBody>
      </p:sp>
      <p:sp>
        <p:nvSpPr>
          <p:cNvPr id="28" name="TextBox 27"/>
          <p:cNvSpPr txBox="1"/>
          <p:nvPr/>
        </p:nvSpPr>
        <p:spPr>
          <a:xfrm>
            <a:off x="5257800" y="3557015"/>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−1.05</a:t>
            </a:r>
          </a:p>
        </p:txBody>
      </p:sp>
      <p:sp>
        <p:nvSpPr>
          <p:cNvPr id="29" name="TextBox 28"/>
          <p:cNvSpPr txBox="1"/>
          <p:nvPr/>
        </p:nvSpPr>
        <p:spPr>
          <a:xfrm>
            <a:off x="640080" y="3863339"/>
            <a:ext cx="347472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Input capacitance −30 %</a:t>
            </a:r>
          </a:p>
        </p:txBody>
      </p:sp>
      <p:sp>
        <p:nvSpPr>
          <p:cNvPr id="30" name="TextBox 29"/>
          <p:cNvSpPr txBox="1"/>
          <p:nvPr/>
        </p:nvSpPr>
        <p:spPr>
          <a:xfrm>
            <a:off x="4160520" y="3863339"/>
            <a:ext cx="100584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4.76 %</a:t>
            </a:r>
          </a:p>
        </p:txBody>
      </p:sp>
      <p:sp>
        <p:nvSpPr>
          <p:cNvPr id="31" name="TextBox 30"/>
          <p:cNvSpPr txBox="1"/>
          <p:nvPr/>
        </p:nvSpPr>
        <p:spPr>
          <a:xfrm>
            <a:off x="5257800" y="3863339"/>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−1.19</a:t>
            </a:r>
          </a:p>
        </p:txBody>
      </p:sp>
      <p:sp>
        <p:nvSpPr>
          <p:cNvPr id="32" name="TextBox 31"/>
          <p:cNvSpPr txBox="1"/>
          <p:nvPr/>
        </p:nvSpPr>
        <p:spPr>
          <a:xfrm>
            <a:off x="640080" y="4169663"/>
            <a:ext cx="347472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Transconductance −30 %</a:t>
            </a:r>
          </a:p>
        </p:txBody>
      </p:sp>
      <p:sp>
        <p:nvSpPr>
          <p:cNvPr id="33" name="TextBox 32"/>
          <p:cNvSpPr txBox="1"/>
          <p:nvPr/>
        </p:nvSpPr>
        <p:spPr>
          <a:xfrm>
            <a:off x="4160520" y="4169663"/>
            <a:ext cx="100584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4.45 %</a:t>
            </a:r>
          </a:p>
        </p:txBody>
      </p:sp>
      <p:sp>
        <p:nvSpPr>
          <p:cNvPr id="34" name="TextBox 33"/>
          <p:cNvSpPr txBox="1"/>
          <p:nvPr/>
        </p:nvSpPr>
        <p:spPr>
          <a:xfrm>
            <a:off x="5257800" y="4169663"/>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−1.49</a:t>
            </a:r>
          </a:p>
        </p:txBody>
      </p:sp>
      <p:sp>
        <p:nvSpPr>
          <p:cNvPr id="35" name="TextBox 34"/>
          <p:cNvSpPr txBox="1"/>
          <p:nvPr/>
        </p:nvSpPr>
        <p:spPr>
          <a:xfrm>
            <a:off x="640080" y="4475988"/>
            <a:ext cx="347472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Miller capacitance +50 %</a:t>
            </a:r>
          </a:p>
        </p:txBody>
      </p:sp>
      <p:sp>
        <p:nvSpPr>
          <p:cNvPr id="36" name="TextBox 35"/>
          <p:cNvSpPr txBox="1"/>
          <p:nvPr/>
        </p:nvSpPr>
        <p:spPr>
          <a:xfrm>
            <a:off x="4160520" y="4475988"/>
            <a:ext cx="100584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4.32 %</a:t>
            </a:r>
          </a:p>
        </p:txBody>
      </p:sp>
      <p:sp>
        <p:nvSpPr>
          <p:cNvPr id="37" name="TextBox 36"/>
          <p:cNvSpPr txBox="1"/>
          <p:nvPr/>
        </p:nvSpPr>
        <p:spPr>
          <a:xfrm>
            <a:off x="5257800" y="4475988"/>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−1.63</a:t>
            </a:r>
          </a:p>
        </p:txBody>
      </p:sp>
      <p:sp>
        <p:nvSpPr>
          <p:cNvPr id="38" name="TextBox 37"/>
          <p:cNvSpPr txBox="1"/>
          <p:nvPr/>
        </p:nvSpPr>
        <p:spPr>
          <a:xfrm>
            <a:off x="640080" y="4782312"/>
            <a:ext cx="3474720" cy="27432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Loop inductance +50 %  (4.5 nH)</a:t>
            </a:r>
          </a:p>
        </p:txBody>
      </p:sp>
      <p:sp>
        <p:nvSpPr>
          <p:cNvPr id="39" name="TextBox 38"/>
          <p:cNvSpPr txBox="1"/>
          <p:nvPr/>
        </p:nvSpPr>
        <p:spPr>
          <a:xfrm>
            <a:off x="4160520" y="4782312"/>
            <a:ext cx="1005840" cy="27432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0.55 %</a:t>
            </a:r>
          </a:p>
        </p:txBody>
      </p:sp>
      <p:sp>
        <p:nvSpPr>
          <p:cNvPr id="40" name="TextBox 39"/>
          <p:cNvSpPr txBox="1"/>
          <p:nvPr/>
        </p:nvSpPr>
        <p:spPr>
          <a:xfrm>
            <a:off x="5257800" y="4782312"/>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−5.39</a:t>
            </a:r>
          </a:p>
        </p:txBody>
      </p:sp>
      <p:sp>
        <p:nvSpPr>
          <p:cNvPr id="41" name="TextBox 40"/>
          <p:cNvSpPr txBox="1"/>
          <p:nvPr/>
        </p:nvSpPr>
        <p:spPr>
          <a:xfrm>
            <a:off x="6903720" y="1325880"/>
            <a:ext cx="4617720" cy="548640"/>
          </a:xfrm>
          <a:prstGeom prst="rect">
            <a:avLst/>
          </a:prstGeom>
          <a:noFill/>
        </p:spPr>
        <p:txBody>
          <a:bodyPr wrap="square" lIns="0" tIns="0" rIns="0" bIns="0">
            <a:spAutoFit/>
          </a:bodyPr>
          <a:lstStyle/>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 xml:space="preserve">Robust to the device,</a:t>
            </a:r>
          </a:p>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 xml:space="preserve">conditional on the layout.</a:t>
            </a:r>
          </a:p>
        </p:txBody>
      </p:sp>
      <p:sp>
        <p:nvSpPr>
          <p:cNvPr id="42" name="TextBox 41"/>
          <p:cNvSpPr txBox="1"/>
          <p:nvPr/>
        </p:nvSpPr>
        <p:spPr>
          <a:xfrm>
            <a:off x="6903720" y="2057400"/>
            <a:ext cx="4617720" cy="4114800"/>
          </a:xfrm>
          <a:prstGeom prst="rect">
            <a:avLst/>
          </a:prstGeom>
          <a:noFill/>
        </p:spPr>
        <p:txBody>
          <a:bodyPr wrap="square" lIns="0" tIns="0" rIns="0" bIns="0">
            <a:spAutoFit/>
          </a:bodyPr>
          <a:lstStyle/>
          <a:p>
            <a:pPr marL="177800" indent="-177800">
              <a:spcAft>
                <a:spcPts val="200"/>
              </a:spcAft>
              <a:buSzPct val="100000"/>
              <a:buChar char="•"/>
            </a:pPr>
            <a:r>
              <a:rPr lang="en-US" sz="1300" b="1" dirty="0">
                <a:solidFill>
                  <a:srgbClr val="000000"/>
                </a:solidFill>
                <a:latin typeface="Calibri" pitchFamily="34" charset="0"/>
                <a:ea typeface="Calibri" pitchFamily="34" charset="-122"/>
                <a:cs typeface="Calibri" pitchFamily="34" charset="-120"/>
              </a:rPr>
              <a:t xml:space="preserve">21,600 transients</a:t>
            </a:r>
            <a:r>
              <a:rPr lang="en-US" sz="1300" dirty="0">
                <a:solidFill>
                  <a:srgbClr val="000000"/>
                </a:solidFill>
                <a:latin typeface="Calibri" pitchFamily="34" charset="0"/>
                <a:ea typeface="Calibri" pitchFamily="34" charset="-122"/>
                <a:cs typeface="Calibri" pitchFamily="34" charset="-120"/>
              </a:rPr>
              <a:t xml:space="preserve"> — a full 720-word search at two corners under each of eleven single-parameter perturbations. One failure.</a:t>
            </a:r>
          </a:p>
          <a:p>
            <a:pPr marL="177800" indent="-177800">
              <a:spcAft>
                <a:spcPts val="200"/>
              </a:spcAft>
              <a:buSzPct val="100000"/>
              <a:buChar char="•"/>
            </a:pPr>
            <a:r>
              <a:rPr lang="en-US" sz="1300" dirty="0">
                <a:solidFill>
                  <a:srgbClr val="000000"/>
                </a:solidFill>
                <a:latin typeface="Calibri" pitchFamily="34" charset="0"/>
                <a:ea typeface="Calibri" pitchFamily="34" charset="-122"/>
                <a:cs typeface="Calibri" pitchFamily="34" charset="-120"/>
              </a:rPr>
              <a:t xml:space="preserve">Every </a:t>
            </a:r>
            <a:r>
              <a:rPr lang="en-US" sz="1300" b="1" dirty="0">
                <a:solidFill>
                  <a:srgbClr val="000000"/>
                </a:solidFill>
                <a:latin typeface="Calibri" pitchFamily="34" charset="0"/>
                <a:ea typeface="Calibri" pitchFamily="34" charset="-122"/>
                <a:cs typeface="Calibri" pitchFamily="34" charset="-120"/>
              </a:rPr>
              <a:t xml:space="preserve">device</a:t>
            </a:r>
            <a:r>
              <a:rPr lang="en-US" sz="1300" dirty="0">
                <a:solidFill>
                  <a:srgbClr val="000000"/>
                </a:solidFill>
                <a:latin typeface="Calibri" pitchFamily="34" charset="0"/>
                <a:ea typeface="Calibri" pitchFamily="34" charset="-122"/>
                <a:cs typeface="Calibri" pitchFamily="34" charset="-120"/>
              </a:rPr>
              <a:t xml:space="preserve"> parameter leaves the ceiling between 4.3 % and 7.7 % — at most 1.76 points from nominal. The objection this study was built to answer is not supported.</a:t>
            </a:r>
          </a:p>
          <a:p>
            <a:pPr marL="177800" indent="-177800">
              <a:spcAft>
                <a:spcPts val="200"/>
              </a:spcAft>
              <a:buSzPct val="100000"/>
              <a:buChar char="•"/>
            </a:pPr>
            <a:r>
              <a:rPr lang="en-US" sz="1300" dirty="0">
                <a:solidFill>
                  <a:srgbClr val="000000"/>
                </a:solidFill>
                <a:latin typeface="Calibri" pitchFamily="34" charset="0"/>
                <a:ea typeface="Calibri" pitchFamily="34" charset="-122"/>
                <a:cs typeface="Calibri" pitchFamily="34" charset="-120"/>
              </a:rPr>
              <a:t xml:space="preserve">The one thing that moves it is </a:t>
            </a:r>
            <a:r>
              <a:rPr lang="en-US" sz="1300" b="1" dirty="0">
                <a:solidFill>
                  <a:srgbClr val="000000"/>
                </a:solidFill>
                <a:latin typeface="Calibri" pitchFamily="34" charset="0"/>
                <a:ea typeface="Calibri" pitchFamily="34" charset="-122"/>
                <a:cs typeface="Calibri" pitchFamily="34" charset="-120"/>
              </a:rPr>
              <a:t xml:space="preserve">loop inductance</a:t>
            </a:r>
            <a:r>
              <a:rPr lang="en-US" sz="1300" dirty="0">
                <a:solidFill>
                  <a:srgbClr val="000000"/>
                </a:solidFill>
                <a:latin typeface="Calibri" pitchFamily="34" charset="0"/>
                <a:ea typeface="Calibri" pitchFamily="34" charset="-122"/>
                <a:cs typeface="Calibri" pitchFamily="34" charset="-120"/>
              </a:rPr>
              <a:t xml:space="preserve">, which is board layout, not the transistor. A tighter loop commutates faster, so more charge couples through C</a:t>
            </a:r>
            <a:r>
              <a:rPr lang="en-US" sz="1300" dirty="0">
                <a:solidFill>
                  <a:srgbClr val="000000"/>
                </a:solidFill>
                <a:latin typeface="Calibri" pitchFamily="34" charset="0"/>
                <a:ea typeface="Calibri" pitchFamily="34" charset="-122"/>
                <a:cs typeface="Calibri" pitchFamily="34" charset="-120"/>
              </a:rPr>
              <a:t xml:space="preserve">GD</a:t>
            </a:r>
            <a:r>
              <a:rPr lang="en-US" sz="1300" dirty="0">
                <a:solidFill>
                  <a:srgbClr val="000000"/>
                </a:solidFill>
                <a:latin typeface="Calibri" pitchFamily="34" charset="0"/>
                <a:ea typeface="Calibri" pitchFamily="34" charset="-122"/>
                <a:cs typeface="Calibri" pitchFamily="34" charset="-120"/>
              </a:rPr>
              <a:t xml:space="preserve">: the median spurious gate voltage goes 0.640 V to 3.522 V and the feasible set collapses 474 → 158.</a:t>
            </a:r>
          </a:p>
          <a:p>
            <a:pPr marL="177800" indent="-177800">
              <a:spcAft>
                <a:spcPts val="200"/>
              </a:spcAft>
              <a:buSzPct val="100000"/>
              <a:buChar char="•"/>
            </a:pPr>
            <a:r>
              <a:rPr lang="en-US" sz="1300" dirty="0">
                <a:solidFill>
                  <a:srgbClr val="000000"/>
                </a:solidFill>
                <a:latin typeface="Calibri" pitchFamily="34" charset="0"/>
                <a:ea typeface="Calibri" pitchFamily="34" charset="-122"/>
                <a:cs typeface="Calibri" pitchFamily="34" charset="-120"/>
              </a:rPr>
              <a:t xml:space="preserve">So the claim is narrower and more useful than “robust”: from about 2.5 nH upward a fixed word is nearly as good; on a tighter loop the question has to be re-asked, and the answer there is not even monotonic — see slide 19.</a:t>
            </a:r>
          </a:p>
          <a:p>
            <a:pPr marL="177800" indent="-177800">
              <a:spcAft>
                <a:spcPts val="0"/>
              </a:spcAft>
              <a:buSzPct val="100000"/>
              <a:buChar char="•"/>
            </a:pPr>
            <a:r>
              <a:rPr lang="en-US" sz="1150" b="1" dirty="0">
                <a:solidFill>
                  <a:srgbClr val="000000"/>
                </a:solidFill>
                <a:latin typeface="Calibri" pitchFamily="34" charset="0"/>
                <a:ea typeface="Calibri" pitchFamily="34" charset="-122"/>
                <a:cs typeface="Calibri" pitchFamily="34" charset="-120"/>
              </a:rPr>
              <a:t xml:space="preserve">Baseline note. </a:t>
            </a:r>
            <a:r>
              <a:rPr lang="en-US" sz="1150" dirty="0">
                <a:solidFill>
                  <a:srgbClr val="000000"/>
                </a:solidFill>
                <a:latin typeface="Calibri" pitchFamily="34" charset="0"/>
                <a:ea typeface="Calibri" pitchFamily="34" charset="-122"/>
                <a:cs typeface="Calibri" pitchFamily="34" charset="-120"/>
              </a:rPr>
              <a:t xml:space="preserve">Nominal here is 5.95 %, not the 5.2 % headline — a two-corner search on its own sweep. Compare the </a:t>
            </a:r>
            <a:r>
              <a:rPr lang="en-US" sz="1150" b="1" dirty="0">
                <a:solidFill>
                  <a:srgbClr val="000000"/>
                </a:solidFill>
                <a:latin typeface="Calibri" pitchFamily="34" charset="0"/>
                <a:ea typeface="Calibri" pitchFamily="34" charset="-122"/>
                <a:cs typeface="Calibri" pitchFamily="34" charset="-120"/>
              </a:rPr>
              <a:t xml:space="preserve">vs nom.</a:t>
            </a:r>
            <a:r>
              <a:rPr lang="en-US" sz="1150" dirty="0">
                <a:solidFill>
                  <a:srgbClr val="000000"/>
                </a:solidFill>
                <a:latin typeface="Calibri" pitchFamily="34" charset="0"/>
                <a:ea typeface="Calibri" pitchFamily="34" charset="-122"/>
                <a:cs typeface="Calibri" pitchFamily="34" charset="-120"/>
              </a:rPr>
              <a:t xml:space="preserve"> column, not the absolute values.</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Demo</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peline_demo_review1.mp4">
            <a:hlinkClick r:id="" action="ppaction://media"/>
          </p:cNvPr>
          <p:cNvPicPr>
            <a:picLocks noChangeAspect="1"/>
          </p:cNvPicPr>
          <p:nvPr>
            <a:videoFile r:link="rId4"/>
            <p:extLst>
              <p:ext uri="{DAA4B4D4-6D71-4841-9C94-3DE7FCFB9230}">
                <p14:media xmlns:p14="http://schemas.microsoft.com/office/powerpoint/2010/main" r:embed="rId2"/>
              </p:ext>
            </p:extLst>
          </p:nvPr>
        </p:nvPicPr>
        <p:blipFill>
          <a:blip r:embed="rId5"/>
          <a:stretch>
            <a:fillRect/>
          </a:stretch>
        </p:blipFill>
        <p:spPr>
          <a:xfrm>
            <a:off x="640080" y="1417320"/>
            <a:ext cx="6949440" cy="4050791"/>
          </a:xfrm>
          <a:prstGeom prst="rect">
            <a:avLst/>
          </a:prstGeom>
        </p:spPr>
      </p:pic>
      <p:sp>
        <p:nvSpPr>
          <p:cNvPr id="6" name="TextBox 5"/>
          <p:cNvSpPr txBox="1"/>
          <p:nvPr/>
        </p:nvSpPr>
        <p:spPr>
          <a:xfrm>
            <a:off x="640080" y="5623560"/>
            <a:ext cx="6949440" cy="36576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Click to play (17 s). Real captured output — only the pacing is presentational.</a:t>
            </a:r>
          </a:p>
        </p:txBody>
      </p:sp>
      <p:sp>
        <p:nvSpPr>
          <p:cNvPr id="7" name="TextBox 6"/>
          <p:cNvSpPr txBox="1"/>
          <p:nvPr/>
        </p:nvSpPr>
        <p:spPr>
          <a:xfrm>
            <a:off x="7909560" y="1417320"/>
            <a:ext cx="3611880" cy="4206240"/>
          </a:xfrm>
          <a:prstGeom prst="rect">
            <a:avLst/>
          </a:prstGeom>
          <a:noFill/>
        </p:spPr>
        <p:txBody>
          <a:bodyPr wrap="square" lIns="0" tIns="0" rIns="0" bIns="0">
            <a:spAutoFit/>
          </a:bodyPr>
          <a:lstStyle/>
          <a:p>
            <a:pPr marL="177800" indent="0">
              <a:spcAft>
                <a:spcPts val="240"/>
              </a:spcAft>
              <a:buSzPct val="100000"/>
              <a:buNone/>
            </a:pPr>
            <a:r>
              <a:rPr lang="en-US" sz="1500" b="1" dirty="0">
                <a:solidFill>
                  <a:srgbClr val="000000"/>
                </a:solidFill>
                <a:latin typeface="Calibri" pitchFamily="34" charset="0"/>
                <a:ea typeface="Calibri" pitchFamily="34" charset="-122"/>
                <a:cs typeface="Calibri" pitchFamily="34" charset="-120"/>
              </a:rPr>
              <a:t xml:space="preserve">What it shows</a:t>
            </a:r>
          </a:p>
          <a:p>
            <a:pPr marL="177800" indent="-177800">
              <a:spcAft>
                <a:spcPts val="180"/>
              </a:spcAft>
              <a:buSzPct val="100000"/>
              <a:buChar char="•"/>
            </a:pPr>
            <a:r>
              <a:rPr lang="en-US" sz="1300" dirty="0">
                <a:solidFill>
                  <a:srgbClr val="000000"/>
                </a:solidFill>
                <a:latin typeface="Calibri" pitchFamily="34" charset="0"/>
                <a:ea typeface="Calibri" pitchFamily="34" charset="-122"/>
                <a:cs typeface="Calibri" pitchFamily="34" charset="-120"/>
              </a:rPr>
              <a:t xml:space="preserve">ngspice 42 running the real double-pulse test.</a:t>
            </a:r>
          </a:p>
          <a:p>
            <a:pPr marL="177800" indent="-177800">
              <a:spcAft>
                <a:spcPts val="180"/>
              </a:spcAft>
              <a:buSzPct val="100000"/>
              <a:buChar char="•"/>
            </a:pPr>
            <a:r>
              <a:rPr lang="en-US" sz="1300" dirty="0">
                <a:solidFill>
                  <a:srgbClr val="000000"/>
                </a:solidFill>
                <a:latin typeface="Calibri" pitchFamily="34" charset="0"/>
                <a:ea typeface="Calibri" pitchFamily="34" charset="-122"/>
                <a:cs typeface="Calibri" pitchFamily="34" charset="-120"/>
              </a:rPr>
              <a:t xml:space="preserve">Fastest drive, no clamp: spurious gate 1.649 V, margin </a:t>
            </a:r>
            <a:r>
              <a:rPr lang="en-US" sz="1300" b="1" dirty="0">
                <a:solidFill>
                  <a:srgbClr val="000000"/>
                </a:solidFill>
                <a:latin typeface="Calibri" pitchFamily="34" charset="0"/>
                <a:ea typeface="Calibri" pitchFamily="34" charset="-122"/>
                <a:cs typeface="Calibri" pitchFamily="34" charset="-120"/>
              </a:rPr>
              <a:t xml:space="preserve">−0.249 V</a:t>
            </a:r>
            <a:r>
              <a:rPr lang="en-US" sz="1300" dirty="0">
                <a:solidFill>
                  <a:srgbClr val="000000"/>
                </a:solidFill>
                <a:latin typeface="Calibri" pitchFamily="34" charset="0"/>
                <a:ea typeface="Calibri" pitchFamily="34" charset="-122"/>
                <a:cs typeface="Calibri" pitchFamily="34" charset="-120"/>
              </a:rPr>
              <a:t xml:space="preserve"> — false turn-on.</a:t>
            </a:r>
          </a:p>
          <a:p>
            <a:pPr marL="177800" indent="-177800">
              <a:spcAft>
                <a:spcPts val="180"/>
              </a:spcAft>
              <a:buSzPct val="100000"/>
              <a:buChar char="•"/>
            </a:pPr>
            <a:r>
              <a:rPr lang="en-US" sz="1300" dirty="0">
                <a:solidFill>
                  <a:srgbClr val="000000"/>
                </a:solidFill>
                <a:latin typeface="Calibri" pitchFamily="34" charset="0"/>
                <a:ea typeface="Calibri" pitchFamily="34" charset="-122"/>
                <a:cs typeface="Calibri" pitchFamily="34" charset="-120"/>
              </a:rPr>
              <a:t xml:space="preserve">Miller clamp on: 0.830 V, margin </a:t>
            </a:r>
            <a:r>
              <a:rPr lang="en-US" sz="1300" b="1" dirty="0">
                <a:solidFill>
                  <a:srgbClr val="000000"/>
                </a:solidFill>
                <a:latin typeface="Calibri" pitchFamily="34" charset="0"/>
                <a:ea typeface="Calibri" pitchFamily="34" charset="-122"/>
                <a:cs typeface="Calibri" pitchFamily="34" charset="-120"/>
              </a:rPr>
              <a:t xml:space="preserve">+0.570 V</a:t>
            </a:r>
            <a:r>
              <a:rPr lang="en-US" sz="1300" dirty="0">
                <a:solidFill>
                  <a:srgbClr val="000000"/>
                </a:solidFill>
                <a:latin typeface="Calibri" pitchFamily="34" charset="0"/>
                <a:ea typeface="Calibri" pitchFamily="34" charset="-122"/>
                <a:cs typeface="Calibri" pitchFamily="34" charset="-120"/>
              </a:rPr>
              <a:t xml:space="preserve"> — safe.</a:t>
            </a:r>
          </a:p>
          <a:p>
            <a:pPr marL="177800" indent="-177800">
              <a:spcAft>
                <a:spcPts val="240"/>
              </a:spcAft>
              <a:buSzPct val="100000"/>
              <a:buChar char="•"/>
            </a:pPr>
            <a:r>
              <a:rPr lang="en-US" sz="1300" dirty="0">
                <a:solidFill>
                  <a:srgbClr val="000000"/>
                </a:solidFill>
                <a:latin typeface="Calibri" pitchFamily="34" charset="0"/>
                <a:ea typeface="Calibri" pitchFamily="34" charset="-122"/>
                <a:cs typeface="Calibri" pitchFamily="34" charset="-120"/>
              </a:rPr>
              <a:t xml:space="preserve">The full 720-word search at four corners: 474 feasible, ceiling </a:t>
            </a:r>
            <a:r>
              <a:rPr lang="en-US" sz="1300" b="1" dirty="0">
                <a:solidFill>
                  <a:srgbClr val="000000"/>
                </a:solidFill>
                <a:latin typeface="Calibri" pitchFamily="34" charset="0"/>
                <a:ea typeface="Calibri" pitchFamily="34" charset="-122"/>
                <a:cs typeface="Calibri" pitchFamily="34" charset="-120"/>
              </a:rPr>
              <a:t xml:space="preserve">5.2 %</a:t>
            </a:r>
            <a:r>
              <a:rPr lang="en-US" sz="1300" dirty="0">
                <a:solidFill>
                  <a:srgbClr val="000000"/>
                </a:solidFill>
                <a:latin typeface="Calibri" pitchFamily="34" charset="0"/>
                <a:ea typeface="Calibri" pitchFamily="34" charset="-122"/>
                <a:cs typeface="Calibri" pitchFamily="34" charset="-120"/>
              </a:rPr>
              <a:t xml:space="preserve">.</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A second video ships in the project folder: a 20 s interactive waveform viewer over the same simulation data.</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5"/>
                </p:tgtEl>
              </p:cMediaNode>
            </p:video>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Why the numbers hold</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Box 4"/>
          <p:cNvSpPr txBox="1"/>
          <p:nvPr/>
        </p:nvSpPr>
        <p:spPr>
          <a:xfrm>
            <a:off x="640080" y="1554480"/>
            <a:ext cx="5257800" cy="1828800"/>
          </a:xfrm>
          <a:prstGeom prst="rect">
            <a:avLst/>
          </a:prstGeom>
          <a:noFill/>
        </p:spPr>
        <p:txBody>
          <a:bodyPr wrap="square" lIns="0" tIns="0" rIns="0" bIns="0">
            <a:spAutoFit/>
          </a:bodyPr>
          <a:lstStyle/>
          <a:p>
            <a:pPr marL="177800" indent="0">
              <a:spcAft>
                <a:spcPts val="120"/>
              </a:spcAft>
              <a:buSzPct val="100000"/>
              <a:buNone/>
            </a:pPr>
            <a:r>
              <a:rPr lang="en-US" sz="4000" b="1" dirty="0">
                <a:solidFill>
                  <a:srgbClr val="000000"/>
                </a:solidFill>
                <a:latin typeface="Calibri" pitchFamily="34" charset="0"/>
                <a:ea typeface="Calibri" pitchFamily="34" charset="-122"/>
                <a:cs typeface="Calibri" pitchFamily="34" charset="-120"/>
              </a:rPr>
              <a:t xml:space="preserve">34,622</a:t>
            </a:r>
          </a:p>
          <a:p>
            <a:pPr marL="177800" indent="0">
              <a:spcAft>
                <a:spcPts val="100"/>
              </a:spcAft>
              <a:buSzPct val="100000"/>
              <a:buNone/>
            </a:pPr>
            <a:r>
              <a:rPr lang="en-US" sz="1500" b="1" dirty="0">
                <a:solidFill>
                  <a:srgbClr val="000000"/>
                </a:solidFill>
                <a:latin typeface="Calibri" pitchFamily="34" charset="0"/>
                <a:ea typeface="Calibri" pitchFamily="34" charset="-122"/>
                <a:cs typeface="Calibri" pitchFamily="34" charset="-120"/>
              </a:rPr>
              <a:t xml:space="preserve">transient simulations</a:t>
            </a:r>
          </a:p>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Every sweep, corner study, robustness run, loop-inductance and EMI sweep, start to finish.</a:t>
            </a:r>
          </a:p>
        </p:txBody>
      </p:sp>
      <p:sp>
        <p:nvSpPr>
          <p:cNvPr id="6" name="TextBox 5"/>
          <p:cNvSpPr txBox="1"/>
          <p:nvPr/>
        </p:nvSpPr>
        <p:spPr>
          <a:xfrm>
            <a:off x="6263640" y="1554480"/>
            <a:ext cx="5257800" cy="1828800"/>
          </a:xfrm>
          <a:prstGeom prst="rect">
            <a:avLst/>
          </a:prstGeom>
          <a:noFill/>
        </p:spPr>
        <p:txBody>
          <a:bodyPr wrap="square" lIns="0" tIns="0" rIns="0" bIns="0">
            <a:spAutoFit/>
          </a:bodyPr>
          <a:lstStyle/>
          <a:p>
            <a:pPr marL="177800" indent="0">
              <a:spcAft>
                <a:spcPts val="120"/>
              </a:spcAft>
              <a:buSzPct val="100000"/>
              <a:buNone/>
            </a:pPr>
            <a:r>
              <a:rPr lang="en-US" sz="4000" b="1" dirty="0">
                <a:solidFill>
                  <a:srgbClr val="000000"/>
                </a:solidFill>
                <a:latin typeface="Calibri" pitchFamily="34" charset="0"/>
                <a:ea typeface="Calibri" pitchFamily="34" charset="-122"/>
                <a:cs typeface="Calibri" pitchFamily="34" charset="-120"/>
              </a:rPr>
              <a:t xml:space="preserve">720</a:t>
            </a:r>
          </a:p>
          <a:p>
            <a:pPr marL="177800" indent="0">
              <a:spcAft>
                <a:spcPts val="100"/>
              </a:spcAft>
              <a:buSzPct val="100000"/>
              <a:buNone/>
            </a:pPr>
            <a:r>
              <a:rPr lang="en-US" sz="1500" b="1" dirty="0">
                <a:solidFill>
                  <a:srgbClr val="000000"/>
                </a:solidFill>
                <a:latin typeface="Calibri" pitchFamily="34" charset="0"/>
                <a:ea typeface="Calibri" pitchFamily="34" charset="-122"/>
                <a:cs typeface="Calibri" pitchFamily="34" charset="-120"/>
              </a:rPr>
              <a:t xml:space="preserve">control words, searched in full</a:t>
            </a:r>
          </a:p>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At every corner — so each per-corner optimum is a true optimum, not the best of a shortlist.</a:t>
            </a:r>
          </a:p>
        </p:txBody>
      </p:sp>
      <p:sp>
        <p:nvSpPr>
          <p:cNvPr id="7" name="TextBox 6"/>
          <p:cNvSpPr txBox="1"/>
          <p:nvPr/>
        </p:nvSpPr>
        <p:spPr>
          <a:xfrm>
            <a:off x="640080" y="3703320"/>
            <a:ext cx="5257800" cy="1828800"/>
          </a:xfrm>
          <a:prstGeom prst="rect">
            <a:avLst/>
          </a:prstGeom>
          <a:noFill/>
        </p:spPr>
        <p:txBody>
          <a:bodyPr wrap="square" lIns="0" tIns="0" rIns="0" bIns="0">
            <a:spAutoFit/>
          </a:bodyPr>
          <a:lstStyle/>
          <a:p>
            <a:pPr marL="177800" indent="0">
              <a:spcAft>
                <a:spcPts val="120"/>
              </a:spcAft>
              <a:buSzPct val="100000"/>
              <a:buNone/>
            </a:pPr>
            <a:r>
              <a:rPr lang="en-US" sz="4000" b="1" dirty="0">
                <a:solidFill>
                  <a:srgbClr val="000000"/>
                </a:solidFill>
                <a:latin typeface="Calibri" pitchFamily="34" charset="0"/>
                <a:ea typeface="Calibri" pitchFamily="34" charset="-122"/>
                <a:cs typeface="Calibri" pitchFamily="34" charset="-120"/>
              </a:rPr>
              <a:t xml:space="preserve">25×</a:t>
            </a:r>
          </a:p>
          <a:p>
            <a:pPr marL="177800" indent="0">
              <a:spcAft>
                <a:spcPts val="100"/>
              </a:spcAft>
              <a:buSzPct val="100000"/>
              <a:buNone/>
            </a:pPr>
            <a:r>
              <a:rPr lang="en-US" sz="1500" b="1" dirty="0">
                <a:solidFill>
                  <a:srgbClr val="000000"/>
                </a:solidFill>
                <a:latin typeface="Calibri" pitchFamily="34" charset="0"/>
                <a:ea typeface="Calibri" pitchFamily="34" charset="-122"/>
                <a:cs typeface="Calibri" pitchFamily="34" charset="-120"/>
              </a:rPr>
              <a:t xml:space="preserve">timestep refinement survived</a:t>
            </a:r>
          </a:p>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Every reported quantity must be flat across it. Enforced, not assumed.</a:t>
            </a:r>
          </a:p>
        </p:txBody>
      </p:sp>
      <p:sp>
        <p:nvSpPr>
          <p:cNvPr id="8" name="TextBox 7"/>
          <p:cNvSpPr txBox="1"/>
          <p:nvPr/>
        </p:nvSpPr>
        <p:spPr>
          <a:xfrm>
            <a:off x="6263640" y="3703320"/>
            <a:ext cx="5257800" cy="1828800"/>
          </a:xfrm>
          <a:prstGeom prst="rect">
            <a:avLst/>
          </a:prstGeom>
          <a:noFill/>
        </p:spPr>
        <p:txBody>
          <a:bodyPr wrap="square" lIns="0" tIns="0" rIns="0" bIns="0">
            <a:spAutoFit/>
          </a:bodyPr>
          <a:lstStyle/>
          <a:p>
            <a:pPr marL="177800" indent="0">
              <a:spcAft>
                <a:spcPts val="120"/>
              </a:spcAft>
              <a:buSzPct val="100000"/>
              <a:buNone/>
            </a:pPr>
            <a:r>
              <a:rPr lang="en-US" sz="4000" b="1" dirty="0">
                <a:solidFill>
                  <a:srgbClr val="000000"/>
                </a:solidFill>
                <a:latin typeface="Calibri" pitchFamily="34" charset="0"/>
                <a:ea typeface="Calibri" pitchFamily="34" charset="-122"/>
                <a:cs typeface="Calibri" pitchFamily="34" charset="-120"/>
              </a:rPr>
              <a:t xml:space="preserve">10</a:t>
            </a:r>
          </a:p>
          <a:p>
            <a:pPr marL="177800" indent="0">
              <a:spcAft>
                <a:spcPts val="100"/>
              </a:spcAft>
              <a:buSzPct val="100000"/>
              <a:buNone/>
            </a:pPr>
            <a:r>
              <a:rPr lang="en-US" sz="1500" b="1" dirty="0">
                <a:solidFill>
                  <a:srgbClr val="000000"/>
                </a:solidFill>
                <a:latin typeface="Calibri" pitchFamily="34" charset="0"/>
                <a:ea typeface="Calibri" pitchFamily="34" charset="-122"/>
                <a:cs typeface="Calibri" pitchFamily="34" charset="-120"/>
              </a:rPr>
              <a:t xml:space="preserve">wrong numbers caught, and corrected</a:t>
            </a:r>
          </a:p>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By that discipline, before any of them reached the report. Every one came from resampling or re-deriving a figure of our own — none from a reviewer.</a:t>
            </a:r>
          </a:p>
        </p:txBody>
      </p:sp>
      <p:sp>
        <p:nvSpPr>
          <p:cNvPr id="9" name="TextBox 8"/>
          <p:cNvSpPr txBox="1"/>
          <p:nvPr/>
        </p:nvSpPr>
        <p:spPr>
          <a:xfrm>
            <a:off x="640080" y="5897880"/>
            <a:ext cx="10881360" cy="41148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Stated plainly: </a:t>
            </a:r>
            <a:r>
              <a:rPr lang="en-US" sz="1150" dirty="0">
                <a:solidFill>
                  <a:srgbClr val="000000"/>
                </a:solidFill>
                <a:latin typeface="Calibri" pitchFamily="34" charset="0"/>
                <a:ea typeface="Calibri" pitchFamily="34" charset="-122"/>
                <a:cs typeface="Calibri" pitchFamily="34" charset="-120"/>
              </a:rPr>
              <a:t xml:space="preserve">LTspice and Spectre decks are faithful ports re-simulated to the same numbers, but neither simulator has itself been run — no installation was available.</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Conclusion &amp; next steps</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0">
              <a:spcAft>
                <a:spcPts val="200"/>
              </a:spcAft>
              <a:buSzPct val="100000"/>
              <a:buNone/>
            </a:pPr>
            <a:r>
              <a:rPr lang="en-US" sz="1600" b="1" dirty="0">
                <a:solidFill>
                  <a:srgbClr val="000000"/>
                </a:solidFill>
                <a:latin typeface="Calibri" pitchFamily="34" charset="0"/>
                <a:ea typeface="Calibri" pitchFamily="34" charset="-122"/>
                <a:cs typeface="Calibri" pitchFamily="34" charset="-120"/>
              </a:rPr>
              <a:t xml:space="preserve">What the data supports</a:t>
            </a:r>
          </a:p>
          <a:p>
            <a:pPr marL="177800" indent="-177800">
              <a:spcAft>
                <a:spcPts val="180"/>
              </a:spcAft>
              <a:buSzPct val="100000"/>
              <a:buChar char="•"/>
            </a:pPr>
            <a:r>
              <a:rPr lang="en-US" sz="1450" dirty="0">
                <a:solidFill>
                  <a:srgbClr val="000000"/>
                </a:solidFill>
                <a:latin typeface="Calibri" pitchFamily="34" charset="0"/>
                <a:ea typeface="Calibri" pitchFamily="34" charset="-122"/>
                <a:cs typeface="Calibri" pitchFamily="34" charset="-120"/>
              </a:rPr>
              <a:t xml:space="preserve">Choosing the control word well matters enormously — it spans roughly fivefold in switching energy. </a:t>
            </a:r>
            <a:r>
              <a:rPr lang="en-US" sz="1450" b="1" dirty="0">
                <a:solidFill>
                  <a:srgbClr val="000000"/>
                </a:solidFill>
                <a:latin typeface="Calibri" pitchFamily="34" charset="0"/>
                <a:ea typeface="Calibri" pitchFamily="34" charset="-122"/>
                <a:cs typeface="Calibri" pitchFamily="34" charset="-120"/>
              </a:rPr>
              <a:t xml:space="preserve">Adapting it to the operating point does not: 3.9 %, a seventh of the total gain, and one comparator takes 72 % of even that.</a:t>
            </a:r>
          </a:p>
          <a:p>
            <a:pPr marL="177800" indent="-177800">
              <a:spcAft>
                <a:spcPts val="180"/>
              </a:spcAft>
              <a:buSzPct val="100000"/>
              <a:buChar char="•"/>
            </a:pPr>
            <a:r>
              <a:rPr lang="en-US" sz="1400" dirty="0">
                <a:solidFill>
                  <a:srgbClr val="000000"/>
                </a:solidFill>
                <a:latin typeface="Calibri" pitchFamily="34" charset="0"/>
                <a:ea typeface="Calibri" pitchFamily="34" charset="-122"/>
                <a:cs typeface="Calibri" pitchFamily="34" charset="-120"/>
              </a:rPr>
              <a:t xml:space="preserve">The benefit that exists is carried by the </a:t>
            </a:r>
            <a:r>
              <a:rPr lang="en-US" sz="1400" b="1" dirty="0">
                <a:solidFill>
                  <a:srgbClr val="000000"/>
                </a:solidFill>
                <a:latin typeface="Calibri" pitchFamily="34" charset="0"/>
                <a:ea typeface="Calibri" pitchFamily="34" charset="-122"/>
                <a:cs typeface="Calibri" pitchFamily="34" charset="-120"/>
              </a:rPr>
              <a:t xml:space="preserve">dead time</a:t>
            </a:r>
            <a:r>
              <a:rPr lang="en-US" sz="1400" dirty="0">
                <a:solidFill>
                  <a:srgbClr val="000000"/>
                </a:solidFill>
                <a:latin typeface="Calibri" pitchFamily="34" charset="0"/>
                <a:ea typeface="Calibri" pitchFamily="34" charset="-122"/>
                <a:cs typeface="Calibri" pitchFamily="34" charset="-120"/>
              </a:rPr>
              <a:t xml:space="preserve"> — and the dead time, in turn, by the </a:t>
            </a:r>
            <a:r>
              <a:rPr lang="en-US" sz="1400" b="1" dirty="0">
                <a:solidFill>
                  <a:srgbClr val="000000"/>
                </a:solidFill>
                <a:latin typeface="Calibri" pitchFamily="34" charset="0"/>
                <a:ea typeface="Calibri" pitchFamily="34" charset="-122"/>
                <a:cs typeface="Calibri" pitchFamily="34" charset="-120"/>
              </a:rPr>
              <a:t xml:space="preserve">light-load corner alone</a:t>
            </a:r>
            <a:r>
              <a:rPr lang="en-US" sz="1400" dirty="0">
                <a:solidFill>
                  <a:srgbClr val="000000"/>
                </a:solidFill>
                <a:latin typeface="Calibri" pitchFamily="34" charset="0"/>
                <a:ea typeface="Calibri" pitchFamily="34" charset="-122"/>
                <a:cs typeface="Calibri" pitchFamily="34" charset="-120"/>
              </a:rPr>
              <a:t xml:space="preserve">: leave it out and freezing dead time costs 0.00 %. Not by the drive-strength segmentation that motivates the hardware, which stays at 0.00 % even when the objective prices EMI. Crosstalk safety is nearly free once the clamp is present.</a:t>
            </a:r>
          </a:p>
          <a:p>
            <a:pPr marL="177800" indent="-177800">
              <a:spcAft>
                <a:spcPts val="260"/>
              </a:spcAft>
              <a:buSzPct val="100000"/>
              <a:buChar char="•"/>
            </a:pPr>
            <a:r>
              <a:rPr lang="en-US" sz="1450" b="1" dirty="0">
                <a:solidFill>
                  <a:srgbClr val="000000"/>
                </a:solidFill>
                <a:latin typeface="Calibri" pitchFamily="34" charset="0"/>
                <a:ea typeface="Calibri" pitchFamily="34" charset="-122"/>
                <a:cs typeface="Calibri" pitchFamily="34" charset="-120"/>
              </a:rPr>
              <a:t xml:space="preserve">Stated positively — and this is the deliverable, not the percentage: </a:t>
            </a:r>
            <a:r>
              <a:rPr lang="en-US" sz="1450" dirty="0">
                <a:solidFill>
                  <a:srgbClr val="000000"/>
                </a:solidFill>
                <a:latin typeface="Calibri" pitchFamily="34" charset="0"/>
                <a:ea typeface="Calibri" pitchFamily="34" charset="-122"/>
                <a:cs typeface="Calibri" pitchFamily="34" charset="-120"/>
              </a:rPr>
              <a:t xml:space="preserve">use the recommended fixed word with a light-load comparator, and the full sense + ADC + lookup table is left justifying 3.7 % of the achievable gain.</a:t>
            </a:r>
          </a:p>
          <a:p>
            <a:pPr marL="177800" indent="0">
              <a:spcAft>
                <a:spcPts val="200"/>
              </a:spcAft>
              <a:buSzPct val="100000"/>
              <a:buNone/>
            </a:pPr>
            <a:r>
              <a:rPr lang="en-US" sz="1600" b="1" dirty="0">
                <a:solidFill>
                  <a:srgbClr val="000000"/>
                </a:solidFill>
                <a:latin typeface="Calibri" pitchFamily="34" charset="0"/>
                <a:ea typeface="Calibri" pitchFamily="34" charset="-122"/>
                <a:cs typeface="Calibri" pitchFamily="34" charset="-120"/>
              </a:rPr>
              <a:t xml:space="preserve">What the data now answers, and what is next</a:t>
            </a:r>
          </a:p>
          <a:p>
            <a:pPr marL="177800" indent="-177800">
              <a:spcAft>
                <a:spcPts val="180"/>
              </a:spcAft>
              <a:buSzPct val="100000"/>
              <a:buChar char="•"/>
            </a:pPr>
            <a:r>
              <a:rPr lang="en-US" sz="1450" b="1" dirty="0">
                <a:solidFill>
                  <a:srgbClr val="000000"/>
                </a:solidFill>
                <a:latin typeface="Calibri" pitchFamily="34" charset="0"/>
                <a:ea typeface="Calibri" pitchFamily="34" charset="-122"/>
                <a:cs typeface="Calibri" pitchFamily="34" charset="-120"/>
              </a:rPr>
              <a:t xml:space="preserve">The EMI objection is now tested rather than conceded.</a:t>
            </a:r>
            <a:r>
              <a:rPr lang="en-US" sz="1450" dirty="0">
                <a:solidFill>
                  <a:srgbClr val="000000"/>
                </a:solidFill>
                <a:latin typeface="Calibri" pitchFamily="34" charset="0"/>
                <a:ea typeface="Calibri" pitchFamily="34" charset="-122"/>
                <a:cs typeface="Calibri" pitchFamily="34" charset="-120"/>
              </a:rPr>
              <a:t xml:space="preserve"> Re-running the full search under objectives that price turn-on slew rate, and again under 30–500 MHz band energy, makes scheduling worth </a:t>
            </a:r>
            <a:r>
              <a:rPr lang="en-US" sz="1450" b="1" dirty="0">
                <a:solidFill>
                  <a:srgbClr val="000000"/>
                </a:solidFill>
                <a:latin typeface="Calibri" pitchFamily="34" charset="0"/>
                <a:ea typeface="Calibri" pitchFamily="34" charset="-122"/>
                <a:cs typeface="Calibri" pitchFamily="34" charset="-120"/>
              </a:rPr>
              <a:t xml:space="preserve">less</a:t>
            </a:r>
            <a:r>
              <a:rPr lang="en-US" sz="1450" dirty="0">
                <a:solidFill>
                  <a:srgbClr val="000000"/>
                </a:solidFill>
                <a:latin typeface="Calibri" pitchFamily="34" charset="0"/>
                <a:ea typeface="Calibri" pitchFamily="34" charset="-122"/>
                <a:cs typeface="Calibri" pitchFamily="34" charset="-120"/>
              </a:rPr>
              <a:t xml:space="preserve">, not more: 5.95 % falls to 0.15 %. Pull-up strength still does not need scheduling — it needs a different fixed value.</a:t>
            </a:r>
          </a:p>
          <a:p>
            <a:pPr marL="177800" indent="-177800">
              <a:spcAft>
                <a:spcPts val="180"/>
              </a:spcAft>
              <a:buSzPct val="100000"/>
              <a:buChar char="•"/>
            </a:pPr>
            <a:r>
              <a:rPr lang="en-US" sz="1450" b="1" dirty="0">
                <a:solidFill>
                  <a:srgbClr val="000000"/>
                </a:solidFill>
                <a:latin typeface="Calibri" pitchFamily="34" charset="0"/>
                <a:ea typeface="Calibri" pitchFamily="34" charset="-122"/>
                <a:cs typeface="Calibri" pitchFamily="34" charset="-120"/>
              </a:rPr>
              <a:t xml:space="preserve">What it does not support.</a:t>
            </a:r>
            <a:r>
              <a:rPr lang="en-US" sz="1450" dirty="0">
                <a:solidFill>
                  <a:srgbClr val="000000"/>
                </a:solidFill>
                <a:latin typeface="Calibri" pitchFamily="34" charset="0"/>
                <a:ea typeface="Calibri" pitchFamily="34" charset="-122"/>
                <a:cs typeface="Calibri" pitchFamily="34" charset="-120"/>
              </a:rPr>
              <a:t xml:space="preserve"> Which EMI measure a designer should price is unsettled, and the two disagree: under band energy freezing pull-up costs 0.00 % at every weight, under slew rate up to 2.27 % in a narrow transition band. No silicon has been measured, and one device model underlies everything.</a:t>
            </a:r>
          </a:p>
          <a:p>
            <a:pPr marL="177800" indent="-177800">
              <a:spcAft>
                <a:spcPts val="0"/>
              </a:spcAft>
              <a:buSzPct val="100000"/>
              <a:buChar char="•"/>
            </a:pPr>
            <a:r>
              <a:rPr lang="en-US" sz="1450" b="1" dirty="0">
                <a:solidFill>
                  <a:srgbClr val="000000"/>
                </a:solidFill>
                <a:latin typeface="Calibri" pitchFamily="34" charset="0"/>
                <a:ea typeface="Calibri" pitchFamily="34" charset="-122"/>
                <a:cs typeface="Calibri" pitchFamily="34" charset="-120"/>
              </a:rPr>
              <a:t xml:space="preserve">Review-II: </a:t>
            </a:r>
            <a:r>
              <a:rPr lang="en-US" sz="1450" dirty="0">
                <a:solidFill>
                  <a:srgbClr val="000000"/>
                </a:solidFill>
                <a:latin typeface="Calibri" pitchFamily="34" charset="0"/>
                <a:ea typeface="Calibri" pitchFamily="34" charset="-122"/>
                <a:cs typeface="Calibri" pitchFamily="34" charset="-120"/>
              </a:rPr>
              <a:t xml:space="preserve">transistor-level output stage in Cadence on a 5 V-capable PDK; re-run the ceiling on real devices — sub-nanosecond dead-time control needs silicon, not fabric: [13] reaches 0.19 ns where a 200 MHz FPGA grid is 5 ns. </a:t>
            </a:r>
            <a:r>
              <a:rPr lang="en-US" sz="1450" b="1" dirty="0">
                <a:solidFill>
                  <a:srgbClr val="000000"/>
                </a:solidFill>
                <a:latin typeface="Calibri" pitchFamily="34" charset="0"/>
                <a:ea typeface="Calibri" pitchFamily="34" charset="-122"/>
                <a:cs typeface="Calibri" pitchFamily="34" charset="-120"/>
              </a:rPr>
              <a:t xml:space="preserve">Review-III: </a:t>
            </a:r>
            <a:r>
              <a:rPr lang="en-US" sz="1450" dirty="0">
                <a:solidFill>
                  <a:srgbClr val="000000"/>
                </a:solidFill>
                <a:latin typeface="Calibri" pitchFamily="34" charset="0"/>
                <a:ea typeface="Calibri" pitchFamily="34" charset="-122"/>
                <a:cs typeface="Calibri" pitchFamily="34" charset="-120"/>
              </a:rPr>
              <a:t xml:space="preserve">measure a hardware half-bridge at one corner — until then this is a simulation study and is titled as one.</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References</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343400"/>
          </a:xfrm>
          <a:prstGeom prst="rect">
            <a:avLst/>
          </a:prstGeom>
          <a:noFill/>
          <a:ln/>
        </p:spPr>
        <p:txBody>
          <a:bodyPr wrap="square" lIns="0" tIns="0" rIns="0" bIns="0" rtlCol="0" anchor="t"/>
          <a:lstStyle/>
          <a:p>
            <a:pPr marL="177800" indent="0">
              <a:spcAft>
                <a:spcPts val="120"/>
              </a:spcAft>
              <a:buSzPct val="100000"/>
              <a:buNone/>
            </a:pPr>
            <a:r>
              <a:rPr lang="en-US" sz="900" b="1" dirty="0">
                <a:solidFill>
                  <a:srgbClr val="000000"/>
                </a:solidFill>
                <a:latin typeface="Calibri" pitchFamily="34" charset="0"/>
                <a:ea typeface="Calibri" pitchFamily="34" charset="-122"/>
                <a:cs typeface="Calibri" pitchFamily="34" charset="-120"/>
              </a:rPr>
              <a:t xml:space="preserve">[1]  </a:t>
            </a:r>
            <a:r>
              <a:rPr lang="en-US" sz="900" dirty="0">
                <a:solidFill>
                  <a:srgbClr val="000000"/>
                </a:solidFill>
                <a:latin typeface="Calibri" pitchFamily="34" charset="0"/>
                <a:ea typeface="Calibri" pitchFamily="34" charset="-122"/>
                <a:cs typeface="Calibri" pitchFamily="34" charset="-120"/>
              </a:rPr>
              <a:t xml:space="preserve">Z. Zhang, F. Wang, L. M. Tolbert and B. J. Blalock, “Active Gate Driver for Crosstalk Suppression of SiC Devices in a Phase-Leg Configuration,” IEEE Trans. Power Electron., vol. 29, no. 4, pp. 1986–1997, Apr. 2014.</a:t>
            </a:r>
            <a:r>
              <a:rPr lang="en-US" sz="900" b="1" dirty="0">
                <a:solidFill>
                  <a:srgbClr val="000000"/>
                </a:solidFill>
                <a:latin typeface="Calibri" pitchFamily="34" charset="0"/>
                <a:ea typeface="Calibri" pitchFamily="34" charset="-122"/>
                <a:cs typeface="Calibri" pitchFamily="34" charset="-120"/>
              </a:rPr>
              <a:t xml:space="preserve">   ieeexplore.ieee.org/document/6531666</a:t>
            </a:r>
          </a:p>
          <a:p>
            <a:pPr marL="177800" indent="0">
              <a:spcAft>
                <a:spcPts val="120"/>
              </a:spcAft>
              <a:buSzPct val="100000"/>
              <a:buNone/>
            </a:pPr>
            <a:r>
              <a:rPr lang="en-US" sz="900" b="1" dirty="0">
                <a:solidFill>
                  <a:srgbClr val="000000"/>
                </a:solidFill>
                <a:latin typeface="Calibri" pitchFamily="34" charset="0"/>
                <a:ea typeface="Calibri" pitchFamily="34" charset="-122"/>
                <a:cs typeface="Calibri" pitchFamily="34" charset="-120"/>
              </a:rPr>
              <a:t xml:space="preserve">[2]  </a:t>
            </a:r>
            <a:r>
              <a:rPr lang="en-US" sz="900" dirty="0">
                <a:solidFill>
                  <a:srgbClr val="000000"/>
                </a:solidFill>
                <a:latin typeface="Calibri" pitchFamily="34" charset="0"/>
                <a:ea typeface="Calibri" pitchFamily="34" charset="-122"/>
                <a:cs typeface="Calibri" pitchFamily="34" charset="-120"/>
              </a:rPr>
              <a:t xml:space="preserve">R. Xie, H. Wang, G. Tang, X. Yang and K. J. Chen, “An Analytical Model for False Turn-On Evaluation of High-Voltage Enhancement-Mode GaN Transistor in Bridge-Leg Configuration,” IEEE Trans. Power Electron., vol. 32, no. 8, pp. 6416–6433, Aug. 2017.</a:t>
            </a:r>
            <a:r>
              <a:rPr lang="en-US" sz="900" b="1" dirty="0">
                <a:solidFill>
                  <a:srgbClr val="000000"/>
                </a:solidFill>
                <a:latin typeface="Calibri" pitchFamily="34" charset="0"/>
                <a:ea typeface="Calibri" pitchFamily="34" charset="-122"/>
                <a:cs typeface="Calibri" pitchFamily="34" charset="-120"/>
              </a:rPr>
              <a:t xml:space="preserve">   ieeexplore.ieee.org/document/7854840</a:t>
            </a:r>
          </a:p>
          <a:p>
            <a:pPr marL="177800" indent="0">
              <a:spcAft>
                <a:spcPts val="120"/>
              </a:spcAft>
              <a:buSzPct val="100000"/>
              <a:buNone/>
            </a:pPr>
            <a:r>
              <a:rPr lang="en-US" sz="900" b="1" dirty="0">
                <a:solidFill>
                  <a:srgbClr val="000000"/>
                </a:solidFill>
                <a:latin typeface="Calibri" pitchFamily="34" charset="0"/>
                <a:ea typeface="Calibri" pitchFamily="34" charset="-122"/>
                <a:cs typeface="Calibri" pitchFamily="34" charset="-120"/>
              </a:rPr>
              <a:t xml:space="preserve">[3]  </a:t>
            </a:r>
            <a:r>
              <a:rPr lang="en-US" sz="900" dirty="0">
                <a:solidFill>
                  <a:srgbClr val="000000"/>
                </a:solidFill>
                <a:latin typeface="Calibri" pitchFamily="34" charset="0"/>
                <a:ea typeface="Calibri" pitchFamily="34" charset="-122"/>
                <a:cs typeface="Calibri" pitchFamily="34" charset="-120"/>
              </a:rPr>
              <a:t xml:space="preserve">D. Reusch and J. Strydom, “Understanding the Effect of PCB Layout on Circuit Performance in a High-Frequency Gallium-Nitride-Based Point of Load Converter,” IEEE Trans. Power Electron., vol. 29, no. 4, pp. 2008–2015, Apr. 2014.</a:t>
            </a:r>
            <a:r>
              <a:rPr lang="en-US" sz="900" b="1" dirty="0">
                <a:solidFill>
                  <a:srgbClr val="000000"/>
                </a:solidFill>
                <a:latin typeface="Calibri" pitchFamily="34" charset="0"/>
                <a:ea typeface="Calibri" pitchFamily="34" charset="-122"/>
                <a:cs typeface="Calibri" pitchFamily="34" charset="-120"/>
              </a:rPr>
              <a:t xml:space="preserve">   ieeexplore.ieee.org/document/6531683</a:t>
            </a:r>
          </a:p>
          <a:p>
            <a:pPr marL="177800" indent="0">
              <a:spcAft>
                <a:spcPts val="120"/>
              </a:spcAft>
              <a:buSzPct val="100000"/>
              <a:buNone/>
            </a:pPr>
            <a:r>
              <a:rPr lang="en-US" sz="900" b="1" dirty="0">
                <a:solidFill>
                  <a:srgbClr val="000000"/>
                </a:solidFill>
                <a:latin typeface="Calibri" pitchFamily="34" charset="0"/>
                <a:ea typeface="Calibri" pitchFamily="34" charset="-122"/>
                <a:cs typeface="Calibri" pitchFamily="34" charset="-120"/>
              </a:rPr>
              <a:t xml:space="preserve">[4]  </a:t>
            </a:r>
            <a:r>
              <a:rPr lang="en-US" sz="900" dirty="0">
                <a:solidFill>
                  <a:srgbClr val="000000"/>
                </a:solidFill>
                <a:latin typeface="Calibri" pitchFamily="34" charset="0"/>
                <a:ea typeface="Calibri" pitchFamily="34" charset="-122"/>
                <a:cs typeface="Calibri" pitchFamily="34" charset="-120"/>
              </a:rPr>
              <a:t xml:space="preserve">“Crosstalk Suppression Method for GaN-Based Bridge Configuration Using Negative Voltage Self-Recovery Gate Drive,” IEEE Trans. Power Electron., 2021,  [author list and page range: Xplore “Cite This”]</a:t>
            </a:r>
            <a:r>
              <a:rPr lang="en-US" sz="900" b="1" dirty="0">
                <a:solidFill>
                  <a:srgbClr val="000000"/>
                </a:solidFill>
                <a:latin typeface="Calibri" pitchFamily="34" charset="0"/>
                <a:ea typeface="Calibri" pitchFamily="34" charset="-122"/>
                <a:cs typeface="Calibri" pitchFamily="34" charset="-120"/>
              </a:rPr>
              <a:t xml:space="preserve">   ieeexplore.ieee.org/document/9573371</a:t>
            </a:r>
          </a:p>
          <a:p>
            <a:pPr marL="177800" indent="0">
              <a:spcAft>
                <a:spcPts val="120"/>
              </a:spcAft>
              <a:buSzPct val="100000"/>
              <a:buNone/>
            </a:pPr>
            <a:r>
              <a:rPr lang="en-US" sz="900" b="1" dirty="0">
                <a:solidFill>
                  <a:srgbClr val="000000"/>
                </a:solidFill>
                <a:latin typeface="Calibri" pitchFamily="34" charset="0"/>
                <a:ea typeface="Calibri" pitchFamily="34" charset="-122"/>
                <a:cs typeface="Calibri" pitchFamily="34" charset="-120"/>
              </a:rPr>
              <a:t xml:space="preserve">[5]  </a:t>
            </a:r>
            <a:r>
              <a:rPr lang="en-US" sz="900" dirty="0">
                <a:solidFill>
                  <a:srgbClr val="000000"/>
                </a:solidFill>
                <a:latin typeface="Calibri" pitchFamily="34" charset="0"/>
                <a:ea typeface="Calibri" pitchFamily="34" charset="-122"/>
                <a:cs typeface="Calibri" pitchFamily="34" charset="-120"/>
              </a:rPr>
              <a:t xml:space="preserve">“A Novel Control Strategy for Optimal Tradeoff between Overshoot and Switching Loss Based on Double Closed-Loop Self-Regulating Active Gate Driver,” IEEE journal, 2024,  [author list and page range: Xplore “Cite This”]</a:t>
            </a:r>
            <a:r>
              <a:rPr lang="en-US" sz="900" b="1" dirty="0">
                <a:solidFill>
                  <a:srgbClr val="000000"/>
                </a:solidFill>
                <a:latin typeface="Calibri" pitchFamily="34" charset="0"/>
                <a:ea typeface="Calibri" pitchFamily="34" charset="-122"/>
                <a:cs typeface="Calibri" pitchFamily="34" charset="-120"/>
              </a:rPr>
              <a:t xml:space="preserve">   ieeexplore.ieee.org/document/10553383</a:t>
            </a:r>
          </a:p>
          <a:p>
            <a:pPr marL="177800" indent="0">
              <a:spcAft>
                <a:spcPts val="120"/>
              </a:spcAft>
              <a:buSzPct val="100000"/>
              <a:buNone/>
            </a:pPr>
            <a:r>
              <a:rPr lang="en-US" sz="900" b="1" dirty="0">
                <a:solidFill>
                  <a:srgbClr val="000000"/>
                </a:solidFill>
                <a:latin typeface="Calibri" pitchFamily="34" charset="0"/>
                <a:ea typeface="Calibri" pitchFamily="34" charset="-122"/>
                <a:cs typeface="Calibri" pitchFamily="34" charset="-120"/>
              </a:rPr>
              <a:t xml:space="preserve">[6]  </a:t>
            </a:r>
            <a:r>
              <a:rPr lang="en-US" sz="900" dirty="0">
                <a:solidFill>
                  <a:srgbClr val="000000"/>
                </a:solidFill>
                <a:latin typeface="Calibri" pitchFamily="34" charset="0"/>
                <a:ea typeface="Calibri" pitchFamily="34" charset="-122"/>
                <a:cs typeface="Calibri" pitchFamily="34" charset="-120"/>
              </a:rPr>
              <a:t xml:space="preserve">“A Self-Regulating Active Gate Driver of Voltage Overshoot Suppression for SiC MOSFETs Under Variable Load Current Conditions,” IEEE journal, 2025,  [author list and page range: Xplore “Cite This”]</a:t>
            </a:r>
            <a:r>
              <a:rPr lang="en-US" sz="900" b="1" dirty="0">
                <a:solidFill>
                  <a:srgbClr val="000000"/>
                </a:solidFill>
                <a:latin typeface="Calibri" pitchFamily="34" charset="0"/>
                <a:ea typeface="Calibri" pitchFamily="34" charset="-122"/>
                <a:cs typeface="Calibri" pitchFamily="34" charset="-120"/>
              </a:rPr>
              <a:t xml:space="preserve">   ieeexplore.ieee.org/document/10964227</a:t>
            </a:r>
          </a:p>
          <a:p>
            <a:pPr marL="177800" indent="0">
              <a:spcAft>
                <a:spcPts val="120"/>
              </a:spcAft>
              <a:buSzPct val="100000"/>
              <a:buNone/>
            </a:pPr>
            <a:r>
              <a:rPr lang="en-US" sz="900" b="1" dirty="0">
                <a:solidFill>
                  <a:srgbClr val="000000"/>
                </a:solidFill>
                <a:latin typeface="Calibri" pitchFamily="34" charset="0"/>
                <a:ea typeface="Calibri" pitchFamily="34" charset="-122"/>
                <a:cs typeface="Calibri" pitchFamily="34" charset="-120"/>
              </a:rPr>
              <a:t xml:space="preserve">[7]  </a:t>
            </a:r>
            <a:r>
              <a:rPr lang="en-US" sz="900" dirty="0">
                <a:solidFill>
                  <a:srgbClr val="000000"/>
                </a:solidFill>
                <a:latin typeface="Calibri" pitchFamily="34" charset="0"/>
                <a:ea typeface="Calibri" pitchFamily="34" charset="-122"/>
                <a:cs typeface="Calibri" pitchFamily="34" charset="-120"/>
              </a:rPr>
              <a:t xml:space="preserve">“Universal Active Gate Driver IC With Closed-Loop Timing Control and Gate-Sensing Technique for Silicon Carbide Power Devices,” IEEE journal, 2025,  [author list and page range: Xplore “Cite This”]</a:t>
            </a:r>
            <a:r>
              <a:rPr lang="en-US" sz="900" b="1" dirty="0">
                <a:solidFill>
                  <a:srgbClr val="000000"/>
                </a:solidFill>
                <a:latin typeface="Calibri" pitchFamily="34" charset="0"/>
                <a:ea typeface="Calibri" pitchFamily="34" charset="-122"/>
                <a:cs typeface="Calibri" pitchFamily="34" charset="-120"/>
              </a:rPr>
              <a:t xml:space="preserve">   ieeexplore.ieee.org/document/10813402</a:t>
            </a:r>
          </a:p>
          <a:p>
            <a:pPr marL="177800" indent="0">
              <a:spcAft>
                <a:spcPts val="120"/>
              </a:spcAft>
              <a:buSzPct val="100000"/>
              <a:buNone/>
            </a:pPr>
            <a:r>
              <a:rPr lang="en-US" sz="900" b="1" dirty="0">
                <a:solidFill>
                  <a:srgbClr val="000000"/>
                </a:solidFill>
                <a:latin typeface="Calibri" pitchFamily="34" charset="0"/>
                <a:ea typeface="Calibri" pitchFamily="34" charset="-122"/>
                <a:cs typeface="Calibri" pitchFamily="34" charset="-120"/>
              </a:rPr>
              <a:t xml:space="preserve">[8]  </a:t>
            </a:r>
            <a:r>
              <a:rPr lang="en-US" sz="900" dirty="0">
                <a:solidFill>
                  <a:srgbClr val="000000"/>
                </a:solidFill>
                <a:latin typeface="Calibri" pitchFamily="34" charset="0"/>
                <a:ea typeface="Calibri" pitchFamily="34" charset="-122"/>
                <a:cs typeface="Calibri" pitchFamily="34" charset="-120"/>
              </a:rPr>
              <a:t xml:space="preserve">“An Integrated Driver With Dual-Edge Adaptive Dead-Time Control for GaN-Based Synchronous Buck Converter,” IEEE Trans. Ind. Appl., vol. 60, 2024, doi: 10.1109/TIA.2024.3454198.  [author list and page range: Xplore “Cite This”]</a:t>
            </a:r>
            <a:r>
              <a:rPr lang="en-US" sz="900" b="1" dirty="0">
                <a:solidFill>
                  <a:srgbClr val="000000"/>
                </a:solidFill>
                <a:latin typeface="Calibri" pitchFamily="34" charset="0"/>
                <a:ea typeface="Calibri" pitchFamily="34" charset="-122"/>
                <a:cs typeface="Calibri" pitchFamily="34" charset="-120"/>
              </a:rPr>
              <a:t xml:space="preserve">   doi.org/10.1109/TIA.2024.3454198</a:t>
            </a:r>
          </a:p>
          <a:p>
            <a:pPr marL="177800" indent="0">
              <a:spcAft>
                <a:spcPts val="120"/>
              </a:spcAft>
              <a:buSzPct val="100000"/>
              <a:buNone/>
            </a:pPr>
            <a:r>
              <a:rPr lang="en-US" sz="900" b="1" dirty="0">
                <a:solidFill>
                  <a:srgbClr val="000000"/>
                </a:solidFill>
                <a:latin typeface="Calibri" pitchFamily="34" charset="0"/>
                <a:ea typeface="Calibri" pitchFamily="34" charset="-122"/>
                <a:cs typeface="Calibri" pitchFamily="34" charset="-120"/>
              </a:rPr>
              <a:t xml:space="preserve">[9]  </a:t>
            </a:r>
            <a:r>
              <a:rPr lang="en-US" sz="900" b="1" dirty="0">
                <a:solidFill>
                  <a:srgbClr val="000000"/>
                </a:solidFill>
                <a:latin typeface="Calibri" pitchFamily="34" charset="0"/>
                <a:ea typeface="Calibri" pitchFamily="34" charset="-122"/>
                <a:cs typeface="Calibri" pitchFamily="34" charset="-120"/>
              </a:rPr>
              <a:t xml:space="preserve">BASE PAPER — </a:t>
            </a:r>
            <a:r>
              <a:rPr lang="en-US" sz="900" dirty="0">
                <a:solidFill>
                  <a:srgbClr val="000000"/>
                </a:solidFill>
                <a:latin typeface="Calibri" pitchFamily="34" charset="0"/>
                <a:ea typeface="Calibri" pitchFamily="34" charset="-122"/>
                <a:cs typeface="Calibri" pitchFamily="34" charset="-120"/>
              </a:rPr>
              <a:t xml:space="preserve">Takayama &amp; Hikihara, “Digital Active Gate Drive of SiC MOSFETs for Controlling Switching Behavior — Preparation Toward Universal Digitization of Power Switching,” Int. J. Circuit Theory Appl., vol. 50, no. 1, pp. 183–196, 2022, doi: 10.1002/cta.3136.  [author list and page range: Xplore “Cite This”]</a:t>
            </a:r>
            <a:r>
              <a:rPr lang="en-US" sz="900" b="1" dirty="0">
                <a:solidFill>
                  <a:srgbClr val="000000"/>
                </a:solidFill>
                <a:latin typeface="Calibri" pitchFamily="34" charset="0"/>
                <a:ea typeface="Calibri" pitchFamily="34" charset="-122"/>
                <a:cs typeface="Calibri" pitchFamily="34" charset="-120"/>
              </a:rPr>
              <a:t xml:space="preserve">   doi.org/10.1002/cta.3136</a:t>
            </a:r>
          </a:p>
          <a:p>
            <a:pPr marL="177800" indent="0">
              <a:spcAft>
                <a:spcPts val="120"/>
              </a:spcAft>
              <a:buSzPct val="100000"/>
              <a:buNone/>
            </a:pPr>
            <a:r>
              <a:rPr lang="en-US" sz="900" b="1" dirty="0">
                <a:solidFill>
                  <a:srgbClr val="000000"/>
                </a:solidFill>
                <a:latin typeface="Calibri" pitchFamily="34" charset="0"/>
                <a:ea typeface="Calibri" pitchFamily="34" charset="-122"/>
                <a:cs typeface="Calibri" pitchFamily="34" charset="-120"/>
              </a:rPr>
              <a:t xml:space="preserve">[10]  </a:t>
            </a:r>
            <a:r>
              <a:rPr lang="en-US" sz="900" dirty="0">
                <a:solidFill>
                  <a:srgbClr val="000000"/>
                </a:solidFill>
                <a:latin typeface="Calibri" pitchFamily="34" charset="0"/>
                <a:ea typeface="Calibri" pitchFamily="34" charset="-122"/>
                <a:cs typeface="Calibri" pitchFamily="34" charset="-120"/>
              </a:rPr>
              <a:t xml:space="preserve">“A Segmented Gate Driver for E-mode GaN HEMTs with Simple Driving Strength Pattern Control,” IEEE conference, 2020,  [author list and page range: Xplore “Cite This”]</a:t>
            </a:r>
            <a:r>
              <a:rPr lang="en-US" sz="900" b="1" dirty="0">
                <a:solidFill>
                  <a:srgbClr val="000000"/>
                </a:solidFill>
                <a:latin typeface="Calibri" pitchFamily="34" charset="0"/>
                <a:ea typeface="Calibri" pitchFamily="34" charset="-122"/>
                <a:cs typeface="Calibri" pitchFamily="34" charset="-120"/>
              </a:rPr>
              <a:t xml:space="preserve">   ieeexplore.ieee.org/document/9170108</a:t>
            </a:r>
          </a:p>
          <a:p>
            <a:pPr marL="177800" indent="0">
              <a:spcAft>
                <a:spcPts val="120"/>
              </a:spcAft>
              <a:buSzPct val="100000"/>
              <a:buNone/>
            </a:pPr>
            <a:r>
              <a:rPr lang="en-US" sz="900" b="1" dirty="0">
                <a:solidFill>
                  <a:srgbClr val="000000"/>
                </a:solidFill>
                <a:latin typeface="Calibri" pitchFamily="34" charset="0"/>
                <a:ea typeface="Calibri" pitchFamily="34" charset="-122"/>
                <a:cs typeface="Calibri" pitchFamily="34" charset="-120"/>
              </a:rPr>
              <a:t xml:space="preserve">[11]  </a:t>
            </a:r>
            <a:r>
              <a:rPr lang="en-US" sz="900" dirty="0">
                <a:solidFill>
                  <a:srgbClr val="000000"/>
                </a:solidFill>
                <a:latin typeface="Calibri" pitchFamily="34" charset="0"/>
                <a:ea typeface="Calibri" pitchFamily="34" charset="-122"/>
                <a:cs typeface="Calibri" pitchFamily="34" charset="-120"/>
              </a:rPr>
              <a:t xml:space="preserve">“High-Frequency Three-Level Gate Driver for GaN HEMT Bridge Crosstalk Suppression,” IEEE journal, 2024,  [author list and page range: Xplore “Cite This”]</a:t>
            </a:r>
            <a:r>
              <a:rPr lang="en-US" sz="900" b="1" dirty="0">
                <a:solidFill>
                  <a:srgbClr val="000000"/>
                </a:solidFill>
                <a:latin typeface="Calibri" pitchFamily="34" charset="0"/>
                <a:ea typeface="Calibri" pitchFamily="34" charset="-122"/>
                <a:cs typeface="Calibri" pitchFamily="34" charset="-120"/>
              </a:rPr>
              <a:t xml:space="preserve">   ieeexplore.ieee.org/document/10286072</a:t>
            </a:r>
          </a:p>
          <a:p>
            <a:pPr marL="177800" indent="0">
              <a:spcAft>
                <a:spcPts val="120"/>
              </a:spcAft>
              <a:buSzPct val="100000"/>
              <a:buNone/>
            </a:pPr>
            <a:r>
              <a:rPr lang="en-US" sz="900" b="1" dirty="0">
                <a:solidFill>
                  <a:srgbClr val="000000"/>
                </a:solidFill>
                <a:latin typeface="Calibri" pitchFamily="34" charset="0"/>
                <a:ea typeface="Calibri" pitchFamily="34" charset="-122"/>
                <a:cs typeface="Calibri" pitchFamily="34" charset="-120"/>
              </a:rPr>
              <a:t xml:space="preserve">[12]  </a:t>
            </a:r>
            <a:r>
              <a:rPr lang="en-US" sz="900" dirty="0">
                <a:solidFill>
                  <a:srgbClr val="000000"/>
                </a:solidFill>
                <a:latin typeface="Calibri" pitchFamily="34" charset="0"/>
                <a:ea typeface="Calibri" pitchFamily="34" charset="-122"/>
                <a:cs typeface="Calibri" pitchFamily="34" charset="-120"/>
              </a:rPr>
              <a:t xml:space="preserve">“An Integrated Suppression Method of Both Gate-Source Voltage Oscillation and Crosstalk for GaN HEMT Gate Driver,” IEEE journal, 2024,  [author list and page range: Xplore “Cite This”]</a:t>
            </a:r>
            <a:r>
              <a:rPr lang="en-US" sz="900" b="1" dirty="0">
                <a:solidFill>
                  <a:srgbClr val="000000"/>
                </a:solidFill>
                <a:latin typeface="Calibri" pitchFamily="34" charset="0"/>
                <a:ea typeface="Calibri" pitchFamily="34" charset="-122"/>
                <a:cs typeface="Calibri" pitchFamily="34" charset="-120"/>
              </a:rPr>
              <a:t xml:space="preserve">   ieeexplore.ieee.org/document/10591431</a:t>
            </a:r>
          </a:p>
          <a:p>
            <a:pPr marL="177800" indent="0">
              <a:spcAft>
                <a:spcPts val="120"/>
              </a:spcAft>
              <a:buSzPct val="100000"/>
              <a:buNone/>
            </a:pPr>
            <a:r>
              <a:rPr lang="en-US" sz="900" b="1" dirty="0">
                <a:solidFill>
                  <a:srgbClr val="000000"/>
                </a:solidFill>
                <a:latin typeface="Calibri" pitchFamily="34" charset="0"/>
                <a:ea typeface="Calibri" pitchFamily="34" charset="-122"/>
                <a:cs typeface="Calibri" pitchFamily="34" charset="-120"/>
              </a:rPr>
              <a:t xml:space="preserve">[13]  </a:t>
            </a:r>
            <a:r>
              <a:rPr lang="en-US" sz="900" dirty="0">
                <a:solidFill>
                  <a:srgbClr val="000000"/>
                </a:solidFill>
                <a:latin typeface="Calibri" pitchFamily="34" charset="0"/>
                <a:ea typeface="Calibri" pitchFamily="34" charset="-122"/>
                <a:cs typeface="Calibri" pitchFamily="34" charset="-120"/>
              </a:rPr>
              <a:t xml:space="preserve">“A High-Efficient GaN Driver With Hybrid Adaptive Dead-Time Control and Peak Delay Control for Synchronous Buck Converter,” IEEE journal, 2025,  [author list and page range: Xplore “Cite This”]</a:t>
            </a:r>
            <a:r>
              <a:rPr lang="en-US" sz="900" b="1" dirty="0">
                <a:solidFill>
                  <a:srgbClr val="000000"/>
                </a:solidFill>
                <a:latin typeface="Calibri" pitchFamily="34" charset="0"/>
                <a:ea typeface="Calibri" pitchFamily="34" charset="-122"/>
                <a:cs typeface="Calibri" pitchFamily="34" charset="-120"/>
              </a:rPr>
              <a:t xml:space="preserve">   ieeexplore.ieee.org/document/11146698</a:t>
            </a:r>
          </a:p>
          <a:p>
            <a:pPr marL="177800" indent="0">
              <a:spcAft>
                <a:spcPts val="0"/>
              </a:spcAft>
              <a:buSzPct val="100000"/>
              <a:buNone/>
            </a:pPr>
            <a:r>
              <a:rPr lang="en-US" sz="850" dirty="0">
                <a:solidFill>
                  <a:srgbClr val="000000"/>
                </a:solidFill>
                <a:latin typeface="Calibri" pitchFamily="34" charset="0"/>
                <a:ea typeface="Calibri" pitchFamily="34" charset="-122"/>
                <a:cs typeface="Calibri" pitchFamily="34" charset="-120"/>
              </a:rPr>
              <a:t xml:space="preserve">3 of 13 verified against the publisher record. </a:t>
            </a:r>
            <a:r>
              <a:rPr lang="en-US" sz="850" dirty="0">
                <a:solidFill>
                  <a:srgbClr val="000000"/>
                </a:solidFill>
                <a:latin typeface="Calibri" pitchFamily="34" charset="0"/>
                <a:ea typeface="Calibri" pitchFamily="34" charset="-122"/>
                <a:cs typeface="Calibri" pitchFamily="34" charset="-120"/>
              </a:rPr>
              <a:t xml:space="preserve">The remaining 10 carry title, journal status and Xplore document ID; </a:t>
            </a:r>
            <a:r>
              <a:rPr lang="en-US" sz="850" dirty="0">
                <a:solidFill>
                  <a:srgbClr val="000000"/>
                </a:solidFill>
                <a:latin typeface="Calibri" pitchFamily="34" charset="0"/>
                <a:ea typeface="Calibri" pitchFamily="34" charset="-122"/>
                <a:cs typeface="Calibri" pitchFamily="34" charset="-120"/>
              </a:rPr>
              <a:t xml:space="preserve">volume, issue, pages and authors were not reachable from the build environment and are left blank rather than guessed.</a:t>
            </a:r>
          </a:p>
        </p:txBody>
      </p:sp>
      <p:sp>
        <p:nvSpPr>
          <p:cNvPr id="6" name="Text 3"/>
          <p:cNvSpPr txBox="1"/>
          <p:nvPr/>
        </p:nvSpPr>
        <p:spPr>
          <a:xfrm>
            <a:off x="640080" y="5806440"/>
            <a:ext cx="10881360" cy="365760"/>
          </a:xfrm>
          <a:prstGeom prst="rect">
            <a:avLst/>
          </a:prstGeom>
          <a:noFill/>
          <a:ln/>
        </p:spPr>
        <p:txBody>
          <a:bodyPr wrap="square" lIns="0" tIns="0" rIns="0" bIns="0" rtlCol="0" anchor="ct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Use IEEE format. Every reference listed must be cited in the slides / report.</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25</a:t>
            </a:r>
            <a:endParaRPr lang="en-US" sz="1000" dirty="0"/>
          </a:p>
        </p:txBody>
      </p:sp>
      <p:pic>
        <p:nvPicPr>
          <p:cNvPr id="3"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4" name="Text 1"/>
          <p:cNvSpPr txBox="1"/>
          <p:nvPr/>
        </p:nvSpPr>
        <p:spPr>
          <a:xfrm>
            <a:off x="548640" y="2743200"/>
            <a:ext cx="11091672" cy="914400"/>
          </a:xfrm>
          <a:prstGeom prst="rect">
            <a:avLst/>
          </a:prstGeom>
          <a:noFill/>
          <a:ln/>
        </p:spPr>
        <p:txBody>
          <a:bodyPr wrap="square" lIns="0" tIns="0" rIns="0" bIns="0" rtlCol="0" anchor="ctr"/>
          <a:lstStyle/>
          <a:p>
            <a:pPr marL="0" indent="0" algn="ctr">
              <a:buNone/>
            </a:pPr>
            <a:r>
              <a:rPr lang="en-US" sz="4000" b="1" dirty="0">
                <a:solidFill>
                  <a:srgbClr val="1D2F82"/>
                </a:solidFill>
                <a:latin typeface="Calibri" pitchFamily="34" charset="0"/>
                <a:ea typeface="Calibri" pitchFamily="34" charset="-122"/>
                <a:cs typeface="Calibri" pitchFamily="34" charset="-120"/>
              </a:rPr>
              <a:t>Thank You</a:t>
            </a:r>
            <a:endParaRPr lang="en-US" sz="4000" dirty="0"/>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is a “control word”?</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143000"/>
            <a:ext cx="10972800" cy="411480"/>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Everything in this deck is measured over control words, so this is the definition the rest of the results rest on.</a:t>
            </a:r>
          </a:p>
        </p:txBody>
      </p:sp>
      <p:sp>
        <p:nvSpPr>
          <p:cNvPr id="6" name="TextBox 5"/>
          <p:cNvSpPr txBox="1"/>
          <p:nvPr/>
        </p:nvSpPr>
        <p:spPr>
          <a:xfrm>
            <a:off x="640080" y="1563623"/>
            <a:ext cx="10972800" cy="274320"/>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ONE control word = one setting of these six fields</a:t>
            </a:r>
          </a:p>
        </p:txBody>
      </p:sp>
      <p:sp>
        <p:nvSpPr>
          <p:cNvPr id="7" name="TextBox 6"/>
          <p:cNvSpPr txBox="1"/>
          <p:nvPr/>
        </p:nvSpPr>
        <p:spPr>
          <a:xfrm>
            <a:off x="777240" y="1874519"/>
            <a:ext cx="1463040"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N_PU</a:t>
            </a:r>
          </a:p>
        </p:txBody>
      </p:sp>
      <p:sp>
        <p:nvSpPr>
          <p:cNvPr id="8" name="TextBox 7"/>
          <p:cNvSpPr txBox="1"/>
          <p:nvPr/>
        </p:nvSpPr>
        <p:spPr>
          <a:xfrm>
            <a:off x="2286000" y="1874519"/>
            <a:ext cx="278892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pull-up slices ON</a:t>
            </a:r>
          </a:p>
        </p:txBody>
      </p:sp>
      <p:sp>
        <p:nvSpPr>
          <p:cNvPr id="9" name="TextBox 8"/>
          <p:cNvSpPr txBox="1"/>
          <p:nvPr/>
        </p:nvSpPr>
        <p:spPr>
          <a:xfrm>
            <a:off x="5120640" y="1874519"/>
            <a:ext cx="1874519"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1 – 8</a:t>
            </a:r>
          </a:p>
        </p:txBody>
      </p:sp>
      <p:sp>
        <p:nvSpPr>
          <p:cNvPr id="10" name="TextBox 9"/>
          <p:cNvSpPr txBox="1"/>
          <p:nvPr/>
        </p:nvSpPr>
        <p:spPr>
          <a:xfrm>
            <a:off x="7086600" y="1874519"/>
            <a:ext cx="443484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how hard the device is turned ON</a:t>
            </a:r>
          </a:p>
        </p:txBody>
      </p:sp>
      <p:sp>
        <p:nvSpPr>
          <p:cNvPr id="11" name="TextBox 10"/>
          <p:cNvSpPr txBox="1"/>
          <p:nvPr/>
        </p:nvSpPr>
        <p:spPr>
          <a:xfrm>
            <a:off x="777240" y="2350008"/>
            <a:ext cx="1463040"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N_PD,LS</a:t>
            </a:r>
          </a:p>
        </p:txBody>
      </p:sp>
      <p:sp>
        <p:nvSpPr>
          <p:cNvPr id="12" name="TextBox 11"/>
          <p:cNvSpPr txBox="1"/>
          <p:nvPr/>
        </p:nvSpPr>
        <p:spPr>
          <a:xfrm>
            <a:off x="2286000" y="2350008"/>
            <a:ext cx="278892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low-side pull-down slices</a:t>
            </a:r>
          </a:p>
        </p:txBody>
      </p:sp>
      <p:sp>
        <p:nvSpPr>
          <p:cNvPr id="13" name="TextBox 12"/>
          <p:cNvSpPr txBox="1"/>
          <p:nvPr/>
        </p:nvSpPr>
        <p:spPr>
          <a:xfrm>
            <a:off x="5120640" y="2350008"/>
            <a:ext cx="1874519"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1 – 8</a:t>
            </a:r>
          </a:p>
        </p:txBody>
      </p:sp>
      <p:sp>
        <p:nvSpPr>
          <p:cNvPr id="14" name="TextBox 13"/>
          <p:cNvSpPr txBox="1"/>
          <p:nvPr/>
        </p:nvSpPr>
        <p:spPr>
          <a:xfrm>
            <a:off x="7086600" y="2350008"/>
            <a:ext cx="443484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how hard it is turned OFF</a:t>
            </a:r>
          </a:p>
        </p:txBody>
      </p:sp>
      <p:sp>
        <p:nvSpPr>
          <p:cNvPr id="15" name="TextBox 14"/>
          <p:cNvSpPr txBox="1"/>
          <p:nvPr/>
        </p:nvSpPr>
        <p:spPr>
          <a:xfrm>
            <a:off x="777240" y="2825496"/>
            <a:ext cx="1463040"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N_PD,HS</a:t>
            </a:r>
          </a:p>
        </p:txBody>
      </p:sp>
      <p:sp>
        <p:nvSpPr>
          <p:cNvPr id="16" name="TextBox 15"/>
          <p:cNvSpPr txBox="1"/>
          <p:nvPr/>
        </p:nvSpPr>
        <p:spPr>
          <a:xfrm>
            <a:off x="2286000" y="2825496"/>
            <a:ext cx="278892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high-side pull-down slices</a:t>
            </a:r>
          </a:p>
        </p:txBody>
      </p:sp>
      <p:sp>
        <p:nvSpPr>
          <p:cNvPr id="17" name="TextBox 16"/>
          <p:cNvSpPr txBox="1"/>
          <p:nvPr/>
        </p:nvSpPr>
        <p:spPr>
          <a:xfrm>
            <a:off x="5120640" y="2825496"/>
            <a:ext cx="1874519"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1, 4, 8</a:t>
            </a:r>
          </a:p>
        </p:txBody>
      </p:sp>
      <p:sp>
        <p:nvSpPr>
          <p:cNvPr id="18" name="TextBox 17"/>
          <p:cNvSpPr txBox="1"/>
          <p:nvPr/>
        </p:nvSpPr>
        <p:spPr>
          <a:xfrm>
            <a:off x="7086600" y="2825496"/>
            <a:ext cx="443484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the off device's grip on its gate</a:t>
            </a:r>
          </a:p>
        </p:txBody>
      </p:sp>
      <p:sp>
        <p:nvSpPr>
          <p:cNvPr id="19" name="TextBox 18"/>
          <p:cNvSpPr txBox="1"/>
          <p:nvPr/>
        </p:nvSpPr>
        <p:spPr>
          <a:xfrm>
            <a:off x="777240" y="3300984"/>
            <a:ext cx="1463040"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t_dead</a:t>
            </a:r>
          </a:p>
        </p:txBody>
      </p:sp>
      <p:sp>
        <p:nvSpPr>
          <p:cNvPr id="20" name="TextBox 19"/>
          <p:cNvSpPr txBox="1"/>
          <p:nvPr/>
        </p:nvSpPr>
        <p:spPr>
          <a:xfrm>
            <a:off x="2286000" y="3300984"/>
            <a:ext cx="278892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dead time</a:t>
            </a:r>
          </a:p>
        </p:txBody>
      </p:sp>
      <p:sp>
        <p:nvSpPr>
          <p:cNvPr id="21" name="TextBox 20"/>
          <p:cNvSpPr txBox="1"/>
          <p:nvPr/>
        </p:nvSpPr>
        <p:spPr>
          <a:xfrm>
            <a:off x="5120640" y="3300984"/>
            <a:ext cx="1874519"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5 / 10 / 15 / 25 ns</a:t>
            </a:r>
          </a:p>
        </p:txBody>
      </p:sp>
      <p:sp>
        <p:nvSpPr>
          <p:cNvPr id="22" name="TextBox 21"/>
          <p:cNvSpPr txBox="1"/>
          <p:nvPr/>
        </p:nvSpPr>
        <p:spPr>
          <a:xfrm>
            <a:off x="7086600" y="3300984"/>
            <a:ext cx="443484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gap before the other device turns on</a:t>
            </a:r>
          </a:p>
        </p:txBody>
      </p:sp>
      <p:sp>
        <p:nvSpPr>
          <p:cNvPr id="23" name="TextBox 22"/>
          <p:cNvSpPr txBox="1"/>
          <p:nvPr/>
        </p:nvSpPr>
        <p:spPr>
          <a:xfrm>
            <a:off x="777240" y="3776472"/>
            <a:ext cx="1463040"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CLK_EN</a:t>
            </a:r>
          </a:p>
        </p:txBody>
      </p:sp>
      <p:sp>
        <p:nvSpPr>
          <p:cNvPr id="24" name="TextBox 23"/>
          <p:cNvSpPr txBox="1"/>
          <p:nvPr/>
        </p:nvSpPr>
        <p:spPr>
          <a:xfrm>
            <a:off x="2286000" y="3776472"/>
            <a:ext cx="278892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active Miller clamp</a:t>
            </a:r>
          </a:p>
        </p:txBody>
      </p:sp>
      <p:sp>
        <p:nvSpPr>
          <p:cNvPr id="25" name="TextBox 24"/>
          <p:cNvSpPr txBox="1"/>
          <p:nvPr/>
        </p:nvSpPr>
        <p:spPr>
          <a:xfrm>
            <a:off x="5120640" y="3776472"/>
            <a:ext cx="1874519"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off / on</a:t>
            </a:r>
          </a:p>
        </p:txBody>
      </p:sp>
      <p:sp>
        <p:nvSpPr>
          <p:cNvPr id="26" name="TextBox 25"/>
          <p:cNvSpPr txBox="1"/>
          <p:nvPr/>
        </p:nvSpPr>
        <p:spPr>
          <a:xfrm>
            <a:off x="7086600" y="3776472"/>
            <a:ext cx="443484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shorts the gate during the other edge</a:t>
            </a:r>
          </a:p>
        </p:txBody>
      </p:sp>
      <p:sp>
        <p:nvSpPr>
          <p:cNvPr id="27" name="TextBox 26"/>
          <p:cNvSpPr txBox="1"/>
          <p:nvPr/>
        </p:nvSpPr>
        <p:spPr>
          <a:xfrm>
            <a:off x="777240" y="4251960"/>
            <a:ext cx="1463040"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V_neg</a:t>
            </a:r>
          </a:p>
        </p:txBody>
      </p:sp>
      <p:sp>
        <p:nvSpPr>
          <p:cNvPr id="28" name="TextBox 27"/>
          <p:cNvSpPr txBox="1"/>
          <p:nvPr/>
        </p:nvSpPr>
        <p:spPr>
          <a:xfrm>
            <a:off x="2286000" y="4251960"/>
            <a:ext cx="278892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gate off-bias</a:t>
            </a:r>
          </a:p>
        </p:txBody>
      </p:sp>
      <p:sp>
        <p:nvSpPr>
          <p:cNvPr id="29" name="TextBox 28"/>
          <p:cNvSpPr txBox="1"/>
          <p:nvPr/>
        </p:nvSpPr>
        <p:spPr>
          <a:xfrm>
            <a:off x="5120640" y="4251960"/>
            <a:ext cx="1874519"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0 V / −2 V</a:t>
            </a:r>
          </a:p>
        </p:txBody>
      </p:sp>
      <p:sp>
        <p:nvSpPr>
          <p:cNvPr id="30" name="TextBox 29"/>
          <p:cNvSpPr txBox="1"/>
          <p:nvPr/>
        </p:nvSpPr>
        <p:spPr>
          <a:xfrm>
            <a:off x="7086600" y="4251960"/>
            <a:ext cx="443484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how far below threshold the gate is held</a:t>
            </a:r>
          </a:p>
        </p:txBody>
      </p:sp>
      <p:sp>
        <p:nvSpPr>
          <p:cNvPr id="31" name="TextBox 30"/>
          <p:cNvSpPr txBox="1"/>
          <p:nvPr/>
        </p:nvSpPr>
        <p:spPr>
          <a:xfrm>
            <a:off x="640080" y="4828032"/>
            <a:ext cx="10972800" cy="1188720"/>
          </a:xfrm>
          <a:prstGeom prst="rect">
            <a:avLst/>
          </a:prstGeom>
          <a:noFill/>
        </p:spPr>
        <p:txBody>
          <a:bodyPr wrap="square" lIns="0" tIns="0" rIns="0" bIns="0">
            <a:spAutoFit/>
          </a:bodyPr>
          <a:lstStyle/>
          <a:p>
            <a:pPr marL="177800" indent="0">
              <a:spcAft>
                <a:spcPts val="140"/>
              </a:spcAft>
              <a:buSzPct val="100000"/>
              <a:buNone/>
            </a:pPr>
            <a:r>
              <a:rPr lang="en-US" sz="1300" dirty="0">
                <a:solidFill>
                  <a:srgbClr val="000000"/>
                </a:solidFill>
                <a:latin typeface="Calibri" pitchFamily="34" charset="0"/>
                <a:ea typeface="Calibri" pitchFamily="34" charset="-122"/>
                <a:cs typeface="Calibri" pitchFamily="34" charset="-120"/>
              </a:rPr>
              <a:t xml:space="preserve">8 × 8 × 3 × 4 × 2 × 2  =  </a:t>
            </a:r>
            <a:r>
              <a:rPr lang="en-US" sz="1300" b="1" dirty="0">
                <a:solidFill>
                  <a:srgbClr val="000000"/>
                </a:solidFill>
                <a:latin typeface="Calibri" pitchFamily="34" charset="0"/>
                <a:ea typeface="Calibri" pitchFamily="34" charset="-122"/>
                <a:cs typeface="Calibri" pitchFamily="34" charset="-120"/>
              </a:rPr>
              <a:t xml:space="preserve">720 control words</a:t>
            </a:r>
            <a:r>
              <a:rPr lang="en-US" sz="1300" dirty="0">
                <a:solidFill>
                  <a:srgbClr val="000000"/>
                </a:solidFill>
                <a:latin typeface="Calibri" pitchFamily="34" charset="0"/>
                <a:ea typeface="Calibri" pitchFamily="34" charset="-122"/>
                <a:cs typeface="Calibri" pitchFamily="34" charset="-120"/>
              </a:rPr>
              <a:t xml:space="preserve">.  We simulate every one of them, at every corner — that is what makes this an exhaustive search rather than a shortlist.</a:t>
            </a:r>
          </a:p>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A FIXED word</a:t>
            </a:r>
            <a:r>
              <a:rPr lang="en-US" sz="1300" dirty="0">
                <a:solidFill>
                  <a:srgbClr val="000000"/>
                </a:solidFill>
                <a:latin typeface="Calibri" pitchFamily="34" charset="0"/>
                <a:ea typeface="Calibri" pitchFamily="34" charset="-122"/>
                <a:cs typeface="Calibri" pitchFamily="34" charset="-120"/>
              </a:rPr>
              <a:t xml:space="preserve"> is one word chosen once and strapped at power-up — no sensing. </a:t>
            </a:r>
            <a:r>
              <a:rPr lang="en-US" sz="1300" b="1" dirty="0">
                <a:solidFill>
                  <a:srgbClr val="000000"/>
                </a:solidFill>
                <a:latin typeface="Calibri" pitchFamily="34" charset="0"/>
                <a:ea typeface="Calibri" pitchFamily="34" charset="-122"/>
                <a:cs typeface="Calibri" pitchFamily="34" charset="-120"/>
              </a:rPr>
              <a:t xml:space="preserve">SCHEDULING</a:t>
            </a:r>
            <a:r>
              <a:rPr lang="en-US" sz="1300" dirty="0">
                <a:solidFill>
                  <a:srgbClr val="000000"/>
                </a:solidFill>
                <a:latin typeface="Calibri" pitchFamily="34" charset="0"/>
                <a:ea typeface="Calibri" pitchFamily="34" charset="-122"/>
                <a:cs typeface="Calibri" pitchFamily="34" charset="-120"/>
              </a:rPr>
              <a:t xml:space="preserve"> means sensing the operating point and switching to a different word for it, which is what needs an ADC and a lookup table. The whole project measures the gap between those two.</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Base paper vs this work — what we improve</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115568"/>
            <a:ext cx="10972800" cy="36576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Base paper [9]: Takayama &amp; Hikihara, Int. J. Circuit Theory Appl., 50(1):183–196, 2022 — a gate waveform chosen by a multibit digital code.</a:t>
            </a:r>
          </a:p>
        </p:txBody>
      </p:sp>
      <p:sp>
        <p:nvSpPr>
          <p:cNvPr id="6" name="TextBox 5"/>
          <p:cNvSpPr txBox="1"/>
          <p:nvPr/>
        </p:nvSpPr>
        <p:spPr>
          <a:xfrm>
            <a:off x="640080" y="1362456"/>
            <a:ext cx="2377440" cy="2743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Parameter</a:t>
            </a:r>
          </a:p>
        </p:txBody>
      </p:sp>
      <p:sp>
        <p:nvSpPr>
          <p:cNvPr id="7" name="TextBox 6"/>
          <p:cNvSpPr txBox="1"/>
          <p:nvPr/>
        </p:nvSpPr>
        <p:spPr>
          <a:xfrm>
            <a:off x="3154680" y="1362456"/>
            <a:ext cx="3154680" cy="2743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Base paper [9]</a:t>
            </a:r>
          </a:p>
        </p:txBody>
      </p:sp>
      <p:sp>
        <p:nvSpPr>
          <p:cNvPr id="8" name="TextBox 7"/>
          <p:cNvSpPr txBox="1"/>
          <p:nvPr/>
        </p:nvSpPr>
        <p:spPr>
          <a:xfrm>
            <a:off x="6446520" y="1362456"/>
            <a:ext cx="5074920" cy="2743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This work</a:t>
            </a:r>
          </a:p>
        </p:txBody>
      </p:sp>
      <p:sp>
        <p:nvSpPr>
          <p:cNvPr id="9" name="TextBox 8"/>
          <p:cNvSpPr txBox="1"/>
          <p:nvPr/>
        </p:nvSpPr>
        <p:spPr>
          <a:xfrm>
            <a:off x="640080" y="1783080"/>
            <a:ext cx="2423160" cy="457200"/>
          </a:xfrm>
          <a:prstGeom prst="rect">
            <a:avLst/>
          </a:prstGeom>
          <a:noFill/>
        </p:spPr>
        <p:txBody>
          <a:bodyPr wrap="square" lIns="0" tIns="0" rIns="0" bIns="0">
            <a:spAutoFit/>
          </a:bodyPr>
          <a:lstStyle/>
          <a:p>
            <a:pPr marL="177800" indent="0">
              <a:spcAft>
                <a:spcPts val="0"/>
              </a:spcAft>
              <a:buSzPct val="100000"/>
              <a:buNone/>
            </a:pPr>
            <a:r>
              <a:rPr lang="en-US" sz="1050" b="1" dirty="0">
                <a:solidFill>
                  <a:srgbClr val="000000"/>
                </a:solidFill>
                <a:latin typeface="Calibri" pitchFamily="34" charset="0"/>
                <a:ea typeface="Calibri" pitchFamily="34" charset="-122"/>
                <a:cs typeface="Calibri" pitchFamily="34" charset="-120"/>
              </a:rPr>
              <a:t xml:space="preserve">Device</a:t>
            </a:r>
          </a:p>
        </p:txBody>
      </p:sp>
      <p:sp>
        <p:nvSpPr>
          <p:cNvPr id="10" name="TextBox 9"/>
          <p:cNvSpPr txBox="1"/>
          <p:nvPr/>
        </p:nvSpPr>
        <p:spPr>
          <a:xfrm>
            <a:off x="3154680" y="1783080"/>
            <a:ext cx="320040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SiC MOSFET</a:t>
            </a:r>
          </a:p>
        </p:txBody>
      </p:sp>
      <p:sp>
        <p:nvSpPr>
          <p:cNvPr id="11" name="TextBox 10"/>
          <p:cNvSpPr txBox="1"/>
          <p:nvPr/>
        </p:nvSpPr>
        <p:spPr>
          <a:xfrm>
            <a:off x="6446520" y="1783080"/>
            <a:ext cx="512064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GaN HEMT (e-mode)  —  no body diode, so off-bias costs third-quadrant drop</a:t>
            </a:r>
          </a:p>
        </p:txBody>
      </p:sp>
      <p:sp>
        <p:nvSpPr>
          <p:cNvPr id="12" name="TextBox 11"/>
          <p:cNvSpPr txBox="1"/>
          <p:nvPr/>
        </p:nvSpPr>
        <p:spPr>
          <a:xfrm>
            <a:off x="640080" y="2331720"/>
            <a:ext cx="2423160" cy="457200"/>
          </a:xfrm>
          <a:prstGeom prst="rect">
            <a:avLst/>
          </a:prstGeom>
          <a:noFill/>
        </p:spPr>
        <p:txBody>
          <a:bodyPr wrap="square" lIns="0" tIns="0" rIns="0" bIns="0">
            <a:spAutoFit/>
          </a:bodyPr>
          <a:lstStyle/>
          <a:p>
            <a:pPr marL="177800" indent="0">
              <a:spcAft>
                <a:spcPts val="0"/>
              </a:spcAft>
              <a:buSzPct val="100000"/>
              <a:buNone/>
            </a:pPr>
            <a:r>
              <a:rPr lang="en-US" sz="1050" b="1" dirty="0">
                <a:solidFill>
                  <a:srgbClr val="000000"/>
                </a:solidFill>
                <a:latin typeface="Calibri" pitchFamily="34" charset="0"/>
                <a:ea typeface="Calibri" pitchFamily="34" charset="-122"/>
                <a:cs typeface="Calibri" pitchFamily="34" charset="-120"/>
              </a:rPr>
              <a:t xml:space="preserve">Control handle</a:t>
            </a:r>
          </a:p>
        </p:txBody>
      </p:sp>
      <p:sp>
        <p:nvSpPr>
          <p:cNvPr id="13" name="TextBox 12"/>
          <p:cNvSpPr txBox="1"/>
          <p:nvPr/>
        </p:nvSpPr>
        <p:spPr>
          <a:xfrm>
            <a:off x="3154680" y="2331720"/>
            <a:ext cx="320040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multibit gate code, one field</a:t>
            </a:r>
          </a:p>
        </p:txBody>
      </p:sp>
      <p:sp>
        <p:nvSpPr>
          <p:cNvPr id="14" name="TextBox 13"/>
          <p:cNvSpPr txBox="1"/>
          <p:nvPr/>
        </p:nvSpPr>
        <p:spPr>
          <a:xfrm>
            <a:off x="6446520" y="2331720"/>
            <a:ext cx="512064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6-field, 720-point control word  —  strength, dead time, clamp, off-bias</a:t>
            </a:r>
          </a:p>
        </p:txBody>
      </p:sp>
      <p:sp>
        <p:nvSpPr>
          <p:cNvPr id="15" name="TextBox 14"/>
          <p:cNvSpPr txBox="1"/>
          <p:nvPr/>
        </p:nvSpPr>
        <p:spPr>
          <a:xfrm>
            <a:off x="640080" y="2880360"/>
            <a:ext cx="2423160" cy="457200"/>
          </a:xfrm>
          <a:prstGeom prst="rect">
            <a:avLst/>
          </a:prstGeom>
          <a:noFill/>
        </p:spPr>
        <p:txBody>
          <a:bodyPr wrap="square" lIns="0" tIns="0" rIns="0" bIns="0">
            <a:spAutoFit/>
          </a:bodyPr>
          <a:lstStyle/>
          <a:p>
            <a:pPr marL="177800" indent="0">
              <a:spcAft>
                <a:spcPts val="0"/>
              </a:spcAft>
              <a:buSzPct val="100000"/>
              <a:buNone/>
            </a:pPr>
            <a:r>
              <a:rPr lang="en-US" sz="1050" b="1" dirty="0">
                <a:solidFill>
                  <a:srgbClr val="000000"/>
                </a:solidFill>
                <a:latin typeface="Calibri" pitchFamily="34" charset="0"/>
                <a:ea typeface="Calibri" pitchFamily="34" charset="-122"/>
                <a:cs typeface="Calibri" pitchFamily="34" charset="-120"/>
              </a:rPr>
              <a:t xml:space="preserve">Implementation</a:t>
            </a:r>
          </a:p>
        </p:txBody>
      </p:sp>
      <p:sp>
        <p:nvSpPr>
          <p:cNvPr id="16" name="TextBox 15"/>
          <p:cNvSpPr txBox="1"/>
          <p:nvPr/>
        </p:nvSpPr>
        <p:spPr>
          <a:xfrm>
            <a:off x="3154680" y="2880360"/>
            <a:ext cx="320040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digital driver</a:t>
            </a:r>
          </a:p>
        </p:txBody>
      </p:sp>
      <p:sp>
        <p:nvSpPr>
          <p:cNvPr id="17" name="TextBox 16"/>
          <p:cNvSpPr txBox="1"/>
          <p:nvPr/>
        </p:nvSpPr>
        <p:spPr>
          <a:xfrm>
            <a:off x="6446520" y="2880360"/>
            <a:ext cx="512064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FPGA RTL in Verilog  ·  8 asserted properties, mutation-tested</a:t>
            </a:r>
          </a:p>
        </p:txBody>
      </p:sp>
      <p:sp>
        <p:nvSpPr>
          <p:cNvPr id="18" name="TextBox 17"/>
          <p:cNvSpPr txBox="1"/>
          <p:nvPr/>
        </p:nvSpPr>
        <p:spPr>
          <a:xfrm>
            <a:off x="640080" y="3429000"/>
            <a:ext cx="2423160" cy="457200"/>
          </a:xfrm>
          <a:prstGeom prst="rect">
            <a:avLst/>
          </a:prstGeom>
          <a:noFill/>
        </p:spPr>
        <p:txBody>
          <a:bodyPr wrap="square" lIns="0" tIns="0" rIns="0" bIns="0">
            <a:spAutoFit/>
          </a:bodyPr>
          <a:lstStyle/>
          <a:p>
            <a:pPr marL="177800" indent="0">
              <a:spcAft>
                <a:spcPts val="0"/>
              </a:spcAft>
              <a:buSzPct val="100000"/>
              <a:buNone/>
            </a:pPr>
            <a:r>
              <a:rPr lang="en-US" sz="1050" b="1" dirty="0">
                <a:solidFill>
                  <a:srgbClr val="000000"/>
                </a:solidFill>
                <a:latin typeface="Calibri" pitchFamily="34" charset="0"/>
                <a:ea typeface="Calibri" pitchFamily="34" charset="-122"/>
                <a:cs typeface="Calibri" pitchFamily="34" charset="-120"/>
              </a:rPr>
              <a:t xml:space="preserve">How codes chosen</a:t>
            </a:r>
          </a:p>
        </p:txBody>
      </p:sp>
      <p:sp>
        <p:nvSpPr>
          <p:cNvPr id="19" name="TextBox 18"/>
          <p:cNvSpPr txBox="1"/>
          <p:nvPr/>
        </p:nvSpPr>
        <p:spPr>
          <a:xfrm>
            <a:off x="3154680" y="3429000"/>
            <a:ext cx="320040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selected codes, measured</a:t>
            </a:r>
          </a:p>
        </p:txBody>
      </p:sp>
      <p:sp>
        <p:nvSpPr>
          <p:cNvPr id="20" name="TextBox 19"/>
          <p:cNvSpPr txBox="1"/>
          <p:nvPr/>
        </p:nvSpPr>
        <p:spPr>
          <a:xfrm>
            <a:off x="6446520" y="3429000"/>
            <a:ext cx="512064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EXHAUSTIVE  —  all 720 words at every corner, 34,622 transients</a:t>
            </a:r>
          </a:p>
        </p:txBody>
      </p:sp>
      <p:sp>
        <p:nvSpPr>
          <p:cNvPr id="21" name="TextBox 20"/>
          <p:cNvSpPr txBox="1"/>
          <p:nvPr/>
        </p:nvSpPr>
        <p:spPr>
          <a:xfrm>
            <a:off x="640080" y="3977639"/>
            <a:ext cx="2423160" cy="457200"/>
          </a:xfrm>
          <a:prstGeom prst="rect">
            <a:avLst/>
          </a:prstGeom>
          <a:noFill/>
        </p:spPr>
        <p:txBody>
          <a:bodyPr wrap="square" lIns="0" tIns="0" rIns="0" bIns="0">
            <a:spAutoFit/>
          </a:bodyPr>
          <a:lstStyle/>
          <a:p>
            <a:pPr marL="177800" indent="0">
              <a:spcAft>
                <a:spcPts val="0"/>
              </a:spcAft>
              <a:buSzPct val="100000"/>
              <a:buNone/>
            </a:pPr>
            <a:r>
              <a:rPr lang="en-US" sz="1050" b="1" dirty="0">
                <a:solidFill>
                  <a:srgbClr val="000000"/>
                </a:solidFill>
                <a:latin typeface="Calibri" pitchFamily="34" charset="0"/>
                <a:ea typeface="Calibri" pitchFamily="34" charset="-122"/>
                <a:cs typeface="Calibri" pitchFamily="34" charset="-120"/>
              </a:rPr>
              <a:t xml:space="preserve">Crosstalk</a:t>
            </a:r>
          </a:p>
        </p:txBody>
      </p:sp>
      <p:sp>
        <p:nvSpPr>
          <p:cNvPr id="22" name="TextBox 21"/>
          <p:cNvSpPr txBox="1"/>
          <p:nvPr/>
        </p:nvSpPr>
        <p:spPr>
          <a:xfrm>
            <a:off x="3154680" y="3977639"/>
            <a:ext cx="320040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not addressed</a:t>
            </a:r>
          </a:p>
        </p:txBody>
      </p:sp>
      <p:sp>
        <p:nvSpPr>
          <p:cNvPr id="23" name="TextBox 22"/>
          <p:cNvSpPr txBox="1"/>
          <p:nvPr/>
        </p:nvSpPr>
        <p:spPr>
          <a:xfrm>
            <a:off x="6446520" y="3977639"/>
            <a:ext cx="512064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1.65 V spurious gate  →  −1.18 V  (2.58 V margin), clamp + off-bias</a:t>
            </a:r>
          </a:p>
        </p:txBody>
      </p:sp>
      <p:sp>
        <p:nvSpPr>
          <p:cNvPr id="24" name="TextBox 23"/>
          <p:cNvSpPr txBox="1"/>
          <p:nvPr/>
        </p:nvSpPr>
        <p:spPr>
          <a:xfrm>
            <a:off x="640080" y="4526280"/>
            <a:ext cx="2423160" cy="457200"/>
          </a:xfrm>
          <a:prstGeom prst="rect">
            <a:avLst/>
          </a:prstGeom>
          <a:noFill/>
        </p:spPr>
        <p:txBody>
          <a:bodyPr wrap="square" lIns="0" tIns="0" rIns="0" bIns="0">
            <a:spAutoFit/>
          </a:bodyPr>
          <a:lstStyle/>
          <a:p>
            <a:pPr marL="177800" indent="0">
              <a:spcAft>
                <a:spcPts val="0"/>
              </a:spcAft>
              <a:buSzPct val="100000"/>
              <a:buNone/>
            </a:pPr>
            <a:r>
              <a:rPr lang="en-US" sz="1050" b="1" dirty="0">
                <a:solidFill>
                  <a:srgbClr val="000000"/>
                </a:solidFill>
                <a:latin typeface="Calibri" pitchFamily="34" charset="0"/>
                <a:ea typeface="Calibri" pitchFamily="34" charset="-122"/>
                <a:cs typeface="Calibri" pitchFamily="34" charset="-120"/>
              </a:rPr>
              <a:t xml:space="preserve">What is reported</a:t>
            </a:r>
          </a:p>
        </p:txBody>
      </p:sp>
      <p:sp>
        <p:nvSpPr>
          <p:cNvPr id="25" name="TextBox 24"/>
          <p:cNvSpPr txBox="1"/>
          <p:nvPr/>
        </p:nvSpPr>
        <p:spPr>
          <a:xfrm>
            <a:off x="3154680" y="4526280"/>
            <a:ext cx="320040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one number vs a conventional driver</a:t>
            </a:r>
          </a:p>
        </p:txBody>
      </p:sp>
      <p:sp>
        <p:nvSpPr>
          <p:cNvPr id="26" name="TextBox 25"/>
          <p:cNvSpPr txBox="1"/>
          <p:nvPr/>
        </p:nvSpPr>
        <p:spPr>
          <a:xfrm>
            <a:off x="6446520" y="4526280"/>
            <a:ext cx="512064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the number SPLIT: fixed word 25.1 %, adapting it 3.9 %, one comparator takes 72 % of that</a:t>
            </a:r>
          </a:p>
        </p:txBody>
      </p:sp>
      <p:sp>
        <p:nvSpPr>
          <p:cNvPr id="27" name="TextBox 26"/>
          <p:cNvSpPr txBox="1"/>
          <p:nvPr/>
        </p:nvSpPr>
        <p:spPr>
          <a:xfrm>
            <a:off x="640080" y="5074920"/>
            <a:ext cx="2423160" cy="457200"/>
          </a:xfrm>
          <a:prstGeom prst="rect">
            <a:avLst/>
          </a:prstGeom>
          <a:noFill/>
        </p:spPr>
        <p:txBody>
          <a:bodyPr wrap="square" lIns="0" tIns="0" rIns="0" bIns="0">
            <a:spAutoFit/>
          </a:bodyPr>
          <a:lstStyle/>
          <a:p>
            <a:pPr marL="177800" indent="0">
              <a:spcAft>
                <a:spcPts val="0"/>
              </a:spcAft>
              <a:buSzPct val="100000"/>
              <a:buNone/>
            </a:pPr>
            <a:r>
              <a:rPr lang="en-US" sz="1050" b="1" dirty="0">
                <a:solidFill>
                  <a:srgbClr val="000000"/>
                </a:solidFill>
                <a:latin typeface="Calibri" pitchFamily="34" charset="0"/>
                <a:ea typeface="Calibri" pitchFamily="34" charset="-122"/>
                <a:cs typeface="Calibri" pitchFamily="34" charset="-120"/>
              </a:rPr>
              <a:t xml:space="preserve">Design rule</a:t>
            </a:r>
          </a:p>
        </p:txBody>
      </p:sp>
      <p:sp>
        <p:nvSpPr>
          <p:cNvPr id="28" name="TextBox 27"/>
          <p:cNvSpPr txBox="1"/>
          <p:nvPr/>
        </p:nvSpPr>
        <p:spPr>
          <a:xfrm>
            <a:off x="3154680" y="5074920"/>
            <a:ext cx="320040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none</a:t>
            </a:r>
          </a:p>
        </p:txBody>
      </p:sp>
      <p:sp>
        <p:nvSpPr>
          <p:cNvPr id="29" name="TextBox 28"/>
          <p:cNvSpPr txBox="1"/>
          <p:nvPr/>
        </p:nvSpPr>
        <p:spPr>
          <a:xfrm>
            <a:off x="6446520" y="5074920"/>
            <a:ext cx="512064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adaptive control pays only below ~2.5 nH loop inductance</a:t>
            </a:r>
          </a:p>
        </p:txBody>
      </p:sp>
      <p:sp>
        <p:nvSpPr>
          <p:cNvPr id="30" name="TextBox 29"/>
          <p:cNvSpPr txBox="1"/>
          <p:nvPr/>
        </p:nvSpPr>
        <p:spPr>
          <a:xfrm>
            <a:off x="640080" y="5742432"/>
            <a:ext cx="10972800" cy="68580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The parameter we improve is not a volt or a nanosecond — it is </a:t>
            </a:r>
            <a:r>
              <a:rPr lang="en-US" sz="1200" b="1" dirty="0">
                <a:solidFill>
                  <a:srgbClr val="000000"/>
                </a:solidFill>
                <a:latin typeface="Calibri" pitchFamily="34" charset="0"/>
                <a:ea typeface="Calibri" pitchFamily="34" charset="-122"/>
                <a:cs typeface="Calibri" pitchFamily="34" charset="-120"/>
              </a:rPr>
              <a:t xml:space="preserve">what the designer knows before committing silicon</a:t>
            </a:r>
            <a:r>
              <a:rPr lang="en-US" sz="1200" dirty="0">
                <a:solidFill>
                  <a:srgbClr val="000000"/>
                </a:solidFill>
                <a:latin typeface="Calibri" pitchFamily="34" charset="0"/>
                <a:ea typeface="Calibri" pitchFamily="34" charset="-122"/>
                <a:cs typeface="Calibri" pitchFamily="34" charset="-120"/>
              </a:rPr>
              <a:t xml:space="preserve">. [9] shows a digital code works. We measure what the code is worth, and how much of that worth needs sensing at all: 3.7 % of the achievable gain, which is what the sense + ADC + lookup table has to justify.</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circuit that is simulated</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circuit.png"/>
          <p:cNvPicPr>
            <a:picLocks noChangeAspect="1"/>
          </p:cNvPicPr>
          <p:nvPr/>
        </p:nvPicPr>
        <p:blipFill>
          <a:blip r:embed="rId3"/>
          <a:stretch>
            <a:fillRect/>
          </a:stretch>
        </p:blipFill>
        <p:spPr>
          <a:xfrm>
            <a:off x="2029968" y="1115568"/>
            <a:ext cx="8129016" cy="4434009"/>
          </a:xfrm>
          <a:prstGeom prst="rect">
            <a:avLst/>
          </a:prstGeom>
        </p:spPr>
      </p:pic>
      <p:sp>
        <p:nvSpPr>
          <p:cNvPr id="6" name="TextBox 5"/>
          <p:cNvSpPr txBox="1"/>
          <p:nvPr/>
        </p:nvSpPr>
        <p:spPr>
          <a:xfrm>
            <a:off x="640080" y="5669280"/>
            <a:ext cx="11064240" cy="77724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Every element is in </a:t>
            </a:r>
            <a:r>
              <a:rPr lang="en-US" sz="1200" b="1" dirty="0">
                <a:solidFill>
                  <a:srgbClr val="000000"/>
                </a:solidFill>
                <a:latin typeface="Calibri" pitchFamily="34" charset="0"/>
                <a:ea typeface="Calibri" pitchFamily="34" charset="-122"/>
                <a:cs typeface="Calibri" pitchFamily="34" charset="-120"/>
              </a:rPr>
              <a:t xml:space="preserve">sim/dpt.cir</a:t>
            </a:r>
            <a:r>
              <a:rPr lang="en-US" sz="1200" dirty="0">
                <a:solidFill>
                  <a:srgbClr val="000000"/>
                </a:solidFill>
                <a:latin typeface="Calibri" pitchFamily="34" charset="0"/>
                <a:ea typeface="Calibri" pitchFamily="34" charset="-122"/>
                <a:cs typeface="Calibri" pitchFamily="34" charset="-120"/>
              </a:rPr>
              <a:t xml:space="preserve">, which is the file to open in LTspice — it carries the active Miller clamp (S</a:t>
            </a:r>
            <a:r>
              <a:rPr lang="en-US" sz="1200" dirty="0">
                <a:solidFill>
                  <a:srgbClr val="000000"/>
                </a:solidFill>
                <a:latin typeface="Calibri" pitchFamily="34" charset="0"/>
                <a:ea typeface="Calibri" pitchFamily="34" charset="-122"/>
                <a:cs typeface="Calibri" pitchFamily="34" charset="-120"/>
              </a:rPr>
              <a:t xml:space="preserve">clk</a:t>
            </a:r>
            <a:r>
              <a:rPr lang="en-US" sz="1200" dirty="0">
                <a:solidFill>
                  <a:srgbClr val="000000"/>
                </a:solidFill>
                <a:latin typeface="Calibri" pitchFamily="34" charset="0"/>
                <a:ea typeface="Calibri" pitchFamily="34" charset="-122"/>
                <a:cs typeface="Calibri" pitchFamily="34" charset="-120"/>
              </a:rPr>
              <a:t xml:space="preserve"> through 0.5 Ω). The three </a:t>
            </a:r>
            <a:r>
              <a:rPr lang="en-US" sz="1200" b="1" dirty="0">
                <a:solidFill>
                  <a:srgbClr val="000000"/>
                </a:solidFill>
                <a:latin typeface="Calibri" pitchFamily="34" charset="0"/>
                <a:ea typeface="Calibri" pitchFamily="34" charset="-122"/>
                <a:cs typeface="Calibri" pitchFamily="34" charset="-120"/>
              </a:rPr>
              <a:t xml:space="preserve">ltspice/*.asc</a:t>
            </a:r>
            <a:r>
              <a:rPr lang="en-US" sz="1200" dirty="0">
                <a:solidFill>
                  <a:srgbClr val="000000"/>
                </a:solidFill>
                <a:latin typeface="Calibri" pitchFamily="34" charset="0"/>
                <a:ea typeface="Calibri" pitchFamily="34" charset="-122"/>
                <a:cs typeface="Calibri" pitchFamily="34" charset="-120"/>
              </a:rPr>
              <a:t xml:space="preserve"> sheets illustrate the crosstalk mechanism only and do not draw the clamp</a:t>
            </a:r>
            <a:r>
              <a:rPr lang="en-US" sz="1200" dirty="0">
                <a:solidFill>
                  <a:srgbClr val="000000"/>
                </a:solidFill>
                <a:latin typeface="Calibri" pitchFamily="34" charset="0"/>
                <a:ea typeface="Calibri" pitchFamily="34" charset="-122"/>
                <a:cs typeface="Calibri" pitchFamily="34" charset="-120"/>
              </a:rPr>
              <a:t xml:space="preserve">. C</a:t>
            </a:r>
            <a:r>
              <a:rPr lang="en-US" sz="1200" dirty="0">
                <a:solidFill>
                  <a:srgbClr val="000000"/>
                </a:solidFill>
                <a:latin typeface="Calibri" pitchFamily="34" charset="0"/>
                <a:ea typeface="Calibri" pitchFamily="34" charset="-122"/>
                <a:cs typeface="Calibri" pitchFamily="34" charset="-120"/>
              </a:rPr>
              <a:t xml:space="preserve">GD</a:t>
            </a:r>
            <a:r>
              <a:rPr lang="en-US" sz="1200" dirty="0">
                <a:solidFill>
                  <a:srgbClr val="000000"/>
                </a:solidFill>
                <a:latin typeface="Calibri" pitchFamily="34" charset="0"/>
                <a:ea typeface="Calibri" pitchFamily="34" charset="-122"/>
                <a:cs typeface="Calibri" pitchFamily="34" charset="-120"/>
              </a:rPr>
              <a:t xml:space="preserve"> on Q2 in red is the crosstalk path; GaN has no body diode, so holding the gate below threshold is paid for again across the dead time.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MATLAB — the Pareto front and the model check</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pareto_matlab.png"/>
          <p:cNvPicPr>
            <a:picLocks noChangeAspect="1"/>
          </p:cNvPicPr>
          <p:nvPr/>
        </p:nvPicPr>
        <p:blipFill>
          <a:blip r:embed="rId3"/>
          <a:stretch>
            <a:fillRect/>
          </a:stretch>
        </p:blipFill>
        <p:spPr>
          <a:xfrm>
            <a:off x="548640" y="1188720"/>
            <a:ext cx="4444977" cy="3337560"/>
          </a:xfrm>
          <a:prstGeom prst="rect">
            <a:avLst/>
          </a:prstGeom>
        </p:spPr>
      </p:pic>
      <p:pic>
        <p:nvPicPr>
          <p:cNvPr id="6" name="Picture 5" descr="crosstalk_model_matlab.png"/>
          <p:cNvPicPr>
            <a:picLocks noChangeAspect="1"/>
          </p:cNvPicPr>
          <p:nvPr/>
        </p:nvPicPr>
        <p:blipFill>
          <a:blip r:embed="rId4"/>
          <a:stretch>
            <a:fillRect/>
          </a:stretch>
        </p:blipFill>
        <p:spPr>
          <a:xfrm>
            <a:off x="6355080" y="1188720"/>
            <a:ext cx="4444977" cy="3337560"/>
          </a:xfrm>
          <a:prstGeom prst="rect">
            <a:avLst/>
          </a:prstGeom>
        </p:spPr>
      </p:pic>
      <p:sp>
        <p:nvSpPr>
          <p:cNvPr id="7" name="TextBox 6"/>
          <p:cNvSpPr txBox="1"/>
          <p:nvPr/>
        </p:nvSpPr>
        <p:spPr>
          <a:xfrm>
            <a:off x="548640" y="4663440"/>
            <a:ext cx="5440680" cy="9601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720 words, 504 feasible (70 %).</a:t>
            </a:r>
            <a:r>
              <a:rPr lang="en-US" sz="1150" dirty="0">
                <a:solidFill>
                  <a:srgbClr val="000000"/>
                </a:solidFill>
                <a:latin typeface="Calibri" pitchFamily="34" charset="0"/>
                <a:ea typeface="Calibri" pitchFamily="34" charset="-122"/>
                <a:cs typeface="Calibri" pitchFamily="34" charset="-120"/>
              </a:rPr>
              <a:t xml:space="preserve"> A 7-word Pareto front; buying one point of overshoot back costs 0.039 µJ. The green marker is the word the cost function picks.</a:t>
            </a:r>
          </a:p>
        </p:txBody>
      </p:sp>
      <p:sp>
        <p:nvSpPr>
          <p:cNvPr id="8" name="TextBox 7"/>
          <p:cNvSpPr txBox="1"/>
          <p:nvPr/>
        </p:nvSpPr>
        <p:spPr>
          <a:xfrm>
            <a:off x="6355080" y="4663440"/>
            <a:ext cx="5257800" cy="9601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The two hand calculations disagree by 8.7×.</a:t>
            </a:r>
            <a:r>
              <a:rPr lang="en-US" sz="1150" dirty="0">
                <a:solidFill>
                  <a:srgbClr val="000000"/>
                </a:solidFill>
                <a:latin typeface="Calibri" pitchFamily="34" charset="0"/>
                <a:ea typeface="Calibri" pitchFamily="34" charset="-122"/>
                <a:cs typeface="Calibri" pitchFamily="34" charset="-120"/>
              </a:rPr>
              <a:t xml:space="preserve"> The peak-C bound says 7.50 V, charge-averaging says 0.86 V, SPICE measures 1.65 V — inside the bracket. That gap is why this is simulated, not hand-calculated.</a:t>
            </a:r>
          </a:p>
        </p:txBody>
      </p:sp>
      <p:sp>
        <p:nvSpPr>
          <p:cNvPr id="9" name="TextBox 8"/>
          <p:cNvSpPr txBox="1"/>
          <p:nvPr/>
        </p:nvSpPr>
        <p:spPr>
          <a:xfrm>
            <a:off x="548640" y="5742432"/>
            <a:ext cx="11064240" cy="68580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Dead-time margin saturates at about 15 ns</a:t>
            </a:r>
            <a:r>
              <a:rPr lang="en-US" sz="1200" dirty="0">
                <a:solidFill>
                  <a:srgbClr val="000000"/>
                </a:solidFill>
                <a:latin typeface="Calibri" pitchFamily="34" charset="0"/>
                <a:ea typeface="Calibri" pitchFamily="34" charset="-122"/>
                <a:cs typeface="Calibri" pitchFamily="34" charset="-120"/>
              </a:rPr>
              <a:t xml:space="preserve">: the marginal gain runs 269 → 31.5 → 1.8 → 0.0 mV/ns across 10/15/25/35 ns. Past 15 ns dead time costs conduction loss and buys nothing. </a:t>
            </a:r>
            <a:r>
              <a:rPr lang="en-US" sz="1200" b="1" dirty="0">
                <a:solidFill>
                  <a:srgbClr val="000000"/>
                </a:solidFill>
                <a:latin typeface="Calibri" pitchFamily="34" charset="0"/>
                <a:ea typeface="Calibri" pitchFamily="34" charset="-122"/>
                <a:cs typeface="Calibri" pitchFamily="34" charset="-120"/>
              </a:rPr>
              <a:t xml:space="preserve">results/gan_analysis.m</a:t>
            </a:r>
            <a:r>
              <a:rPr lang="en-US" sz="1200" dirty="0">
                <a:solidFill>
                  <a:srgbClr val="000000"/>
                </a:solidFill>
                <a:latin typeface="Calibri" pitchFamily="34" charset="0"/>
                <a:ea typeface="Calibri" pitchFamily="34" charset="-122"/>
                <a:cs typeface="Calibri" pitchFamily="34" charset="-120"/>
              </a:rPr>
              <a:t xml:space="preserve">, </a:t>
            </a:r>
            <a:r>
              <a:rPr lang="en-US" sz="1200" b="1" dirty="0">
                <a:solidFill>
                  <a:srgbClr val="000000"/>
                </a:solidFill>
                <a:latin typeface="Calibri" pitchFamily="34" charset="0"/>
                <a:ea typeface="Calibri" pitchFamily="34" charset="-122"/>
                <a:cs typeface="Calibri" pitchFamily="34" charset="-120"/>
              </a:rPr>
              <a:t xml:space="preserve">results/crosstalk_standalone.m</a:t>
            </a:r>
            <a:r>
              <a:rPr lang="en-US" sz="1200" dirty="0">
                <a:solidFill>
                  <a:srgbClr val="000000"/>
                </a:solidFill>
                <a:latin typeface="Calibri" pitchFamily="34" charset="0"/>
                <a:ea typeface="Calibri" pitchFamily="34" charset="-122"/>
                <a:cs typeface="Calibri" pitchFamily="34" charset="-120"/>
              </a:rPr>
              <a:t xml:space="preserve"> — both run in MATLAB or Octave.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TotalTime>
  <Words>496</Words>
  <Application>Microsoft Macintosh PowerPoint</Application>
  <PresentationFormat>Widescreen</PresentationFormat>
  <Paragraphs>89</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mark kandan</cp:lastModifiedBy>
  <cp:revision>2</cp:revision>
  <dcterms:created xsi:type="dcterms:W3CDTF">2026-08-27T09:57:11Z</dcterms:created>
  <dcterms:modified xsi:type="dcterms:W3CDTF">2026-08-27T10:07:08Z</dcterms:modified>
</cp:coreProperties>
</file>