
<file path=[Content_Types].xml><?xml version="1.0" encoding="utf-8"?>
<Types xmlns="http://schemas.openxmlformats.org/package/2006/content-types">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85" r:id="rId36"/>
    <p:sldId id="259" r:id="rId5"/>
    <p:sldId id="260" r:id="rId6"/>
    <p:sldId id="267" r:id="rId18"/>
    <p:sldId id="283" r:id="rId34"/>
    <p:sldId id="286" r:id="rId37"/>
    <p:sldId id="261" r:id="rId7"/>
    <p:sldId id="281" r:id="rId32"/>
    <p:sldId id="274" r:id="rId25"/>
    <p:sldId id="279" r:id="rId30"/>
    <p:sldId id="277" r:id="rId28"/>
    <p:sldId id="284" r:id="rId35"/>
    <p:sldId id="278" r:id="rId29"/>
    <p:sldId id="262" r:id="rId8"/>
    <p:sldId id="272" r:id="rId23"/>
    <p:sldId id="282" r:id="rId33"/>
    <p:sldId id="273" r:id="rId24"/>
    <p:sldId id="287" r:id="rId38"/>
    <p:sldId id="263" r:id="rId9"/>
    <p:sldId id="280" r:id="rId31"/>
    <p:sldId id="275" r:id="rId26"/>
    <p:sldId id="276" r:id="rId27"/>
    <p:sldId id="264" r:id="rId10"/>
    <p:sldId id="268" r:id="rId19"/>
    <p:sldId id="269" r:id="rId20"/>
    <p:sldId id="270" r:id="rId21"/>
    <p:sldId id="288" r:id="rId39"/>
    <p:sldId id="271" r:id="rId22"/>
    <p:sldId id="265" r:id="rId11"/>
    <p:sldId id="289" r:id="rId40"/>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711"/>
    <p:restoredTop sz="94610"/>
  </p:normalViewPr>
  <p:slideViewPr>
    <p:cSldViewPr snapToGrid="0" snapToObjects="1">
      <p:cViewPr varScale="1">
        <p:scale>
          <a:sx n="114" d="100"/>
          <a:sy n="114"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7.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5.xml"/><Relationship Id="rId11" Type="http://schemas.openxmlformats.org/officeDocument/2006/relationships/slide" Target="slides/slide20.xml"/><Relationship Id="rId12" Type="http://schemas.openxmlformats.org/officeDocument/2006/relationships/slide" Target="slides/slide2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6.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8.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45892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[15 s]  CORE. Project name and the one-line claim: a segmented GaN gate driver, and a measurement of what per-operating-point adaptation is actually worth.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SKIP. Template slide.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[60 s]  CORE — the 2-mark slide, the biggest block in the review. Land two things: the failure is real and specific (1.65 V on a 1.40 V threshold), and the gap is that prior work conflates 'better fixed settings' with 'settings that adapt'.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literature mark. Do not read the table. Eight references, three verified to page level; point at [3], layout sets loop inductance, which decides our answer.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[30 s]  CORE — proposed-solution mark. The 720-point control word and the method: exhaustive search at every corner, so each per-corner optimum is a TRUE optimum and not the best of a shortlist.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50 %-completion requirement. Five claims, each with a number. If asked 'is this really 50 %?': the search is complete, stress-tested, and both objections to it - layout and EMI - have been tested rather than argued. What remains is silicon and hardware.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The problem reproduced and fixed. Point at the red X below the threshold line. Then: safety costs 0.04 % — nearly free once the clamp is present.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[40 s]  CORE — the design chart, and the most USEFUL thing in the deck. Do NOT call it a single crossover: eight points show a BAND. Adaptive control pays from about 2.5 nH down, peaks at 13.5 % at 1.5 nH, then FALLS BACK to 8.1 % at 1.0 nH. Say why, because it is the interesting part: at 1.0 nH only 165 of 720 words are still safe, so the fixed word and the per-corner optima are squeezed into the same narrow region and the gap scheduling exploits shrinks. Below ~2 nH feasibility binds, not optimisation. We checked it is not the clamp-chatter artefact — excluding every chatter point leaves all eight ceilings unchanged to the digit. The literature does not state this trade-off because it never separates the fixed and adaptive halves.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[skip]  Reference list. Leave up during questions.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Thank you. Expect: 'why is the clamp worth more than scheduling?', 'have you run real silicon?' (no — Review-II), 'did Cadence actually run?' (no, and the deck says so), 'is 8 references enough?' (it is the stated minimum). Newer ones: 'your dead-time number depends on which corners you pick' — yes, and we found that ourselves; it is one light-load corner - leave-one-out table in FINDINGS.md section 32. 'Doesn't EMI change your answer?' — we ran it; it makes scheduling worth less, not more.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 literature mark. Closest prior work. [8] adapts dead time, the one field we find worth scheduling — and it does so across a 0.2-2 A range, which is exactly the light-load corner our leave-one-out test shows carries all of that benefit. Independent support, not competition.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Walk the diagram left to right in one sentence, then stop on the dashed block: that is the sensing and lookup-table machinery the adaptive premise needs. The whole project is a measurement of what it buys. Let the picture do the work — do not narrate every box.</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the timeline and tools requirement. M1-M6. If asked what could go wrong: M1, the PDK — a 1.8 V / 3.3 V teaching PDK cannot take a 5 V rail.</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FPGA. If asked: written AND verified, eight asserted properties, then mutation-tested. Dead time gets a live register and drive strength is strapped, because that is what the study found.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5.2 %. Say plainly this is a NEGATIVE result about the adaptive premise and you are reporting it rather than hiding it. Keep it short — slides 18 and 19 do the real work.</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[45 s]  CORE — the novelty slide, and the one sentence the panel should leave with: 'a full sense-plus-ADC-plus-lookup-table is left justifying 3.7 % of the gain over a fixed word and one comparator.' Build it in three steps. (1) Choosing the fixed word well is worth 25.1 %. (2) Adapting per corner adds only 3.9 % — a seventh of the total. (3) And 72 % of even THAT is capturable with a single light-load comparator, not a lookup table. No published work separates these, because separating them needs the exhaustive search rather than a shortlist. If asked why nobody found this: they report one number.</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the robustness table. Best answer to 'is this just your model?': every device parameter leaves the ceiling at 4.3-7.7 %; only loop inductance moves it, and that is board layout, not the transistor.</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[25 s]  CORE. Play the video. Real captured ngspice output — the failure, the fix, the search. Let it run; do not talk over it.</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[BACKUP]  BACKUP — use if the panel probes rigour. TEN wrong numbers caught by our own checks is a strength; say it that way. The best one to tell: dead time ranked first at 5.45 % on four corners and dead LAST at 0.00 % on two, and we chased it to a single light-load corner rather than quoting the flattering number. The leave-one-out table is in results/FINDINGS.md section 32 if they want it.</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Close on what the data supports and what it now answers. Do NOT concede EMI as a limitation any more - it was tested: pricing it makes scheduling worth LESS, 5.95 % down to 0.15 %. State the remaining limits yourself instead: the two EMI measures disagree about drive strength, no silicon has been measured, and one device model underlies everything.</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do NOT skip this and do not rush it. Every number after this slide is a comparison between control words, and if the panel has not got the definition, slides 13 to 16 are noise to them. Read the six fields out loud, land 720, then land the one distinction that matters: a FIXED word is strapped at power-up and costs nothing; SCHEDULING needs sensing, an ADC and a lookup table. The whole project measures the gap between those two.</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the comparison the panel will ask for. Land three rows and move on: we go from ONE field to six (720 words); from selected codes to an EXHAUSTIVE search; and from one bundled number to the number SPLIT into fixed versus adaptive. Be honest if pushed: we have NOT re-run [9]'s SiC experiment, so this is a comparison of method and scope, not a claim that we beat their result on their metric. That replication is the next step.</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[30 s]  CORE — use this the moment anyone asks what was actually simulated. Trace the red path with a finger: Q1 switches, the SW node moves, charge couples through C_GD into Q2's gate, and Q2 turns on when it should be off. Then point at the clamp and the off-bias mux — those are the two things that fix it. Do not read the component values out.</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99" name="Notes Placeholder"/>
          <p:cNvSpPr>
            <a:spLocks noGrp="1"/>
          </p:cNvSpPr>
          <p:nvPr>
            <p:ph type="body" idx="1"/>
          </p:nvPr>
        </p:nvSpPr>
        <p:spPr/>
        <p:txBody>
          <a:bodyPr/>
          <a:lstStyle/>
          <a:p>
            <a:r>
              <a:t>[35 s]  CORE — this is the MATLAB evidence, and it answers 'did you only use SPICE?'. Land two things. Left: 720 words searched, 504 feasible, and the Pareto front is only 7 words wide — the choice really is that constrained. Right: two textbook hand calculations for the same spurious voltage disagree by 8.7x, and the SPICE number sits between them. That is the argument for simulating. If you have time, add the dead-time saturation at 15 ns from the caption.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 Id="rId4"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microsoft.com/office/2007/relationships/media" Target="../media/media1.mp4"/><Relationship Id="rId3" Type="http://schemas.openxmlformats.org/officeDocument/2006/relationships/image" Target="../media/image1.png"/><Relationship Id="rId4" Type="http://schemas.openxmlformats.org/officeDocument/2006/relationships/video" Target="../media/media1.mp4"/><Relationship Id="rId5" Type="http://schemas.openxmlformats.org/officeDocument/2006/relationships/image" Target="../media/image4.png"/><Relationship Id="rId6" Type="http://schemas.openxmlformats.org/officeDocument/2006/relationships/notesSlide" Target="../notesSlides/notesSlide1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6.png"/><Relationship Id="rId4"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a:t>
            </a:r>
            <a:endParaRPr lang="en-US" sz="1000" dirty="0"/>
          </a:p>
        </p:txBody>
      </p:sp>
      <p:sp>
        <p:nvSpPr>
          <p:cNvPr id="3" name="Text 1"/>
          <p:cNvSpPr txBox="1"/>
          <p:nvPr/>
        </p:nvSpPr>
        <p:spPr>
          <a:xfrm>
            <a:off x="548640" y="320040"/>
            <a:ext cx="9601200" cy="9144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Slide 1 — Scanned, Guide-Signed Title Slide (Mandatory)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554480"/>
            <a:ext cx="10881360" cy="4828032"/>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Before the Review-I, obtain the guide's signature with date on the title slide (next slide).</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Scan or photograph the signed title slide clearly.</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Replace this slide with the scanned copy, so that it remains Slide 1 of the presentation.</a:t>
            </a:r>
            <a:endParaRPr lang="en-US" sz="1600" dirty="0"/>
          </a:p>
          <a:p>
            <a:pPr marL="177800" indent="-177800">
              <a:spcAft>
                <a:spcPts val="800"/>
              </a:spcAft>
              <a:buSzPct val="100000"/>
              <a:buChar char="•"/>
            </a:pPr>
            <a:r>
              <a:rPr lang="en-US" sz="1600" dirty="0">
                <a:solidFill>
                  <a:srgbClr val="000000"/>
                </a:solidFill>
                <a:latin typeface="Calibri" pitchFamily="34" charset="0"/>
                <a:ea typeface="Calibri" pitchFamily="34" charset="-122"/>
                <a:cs typeface="Calibri" pitchFamily="34" charset="-120"/>
              </a:rPr>
              <a:t>This requirement applies to every review of Project-I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a:t>
            </a:r>
            <a:endParaRPr lang="en-US" sz="1000" dirty="0"/>
          </a:p>
        </p:txBody>
      </p:sp>
      <p:pic>
        <p:nvPicPr>
          <p:cNvPr id="3" name="Image 0" descr="logo.png"/>
          <p:cNvPicPr>
            <a:picLocks noChangeAspect="1"/>
          </p:cNvPicPr>
          <p:nvPr/>
        </p:nvPicPr>
        <p:blipFill>
          <a:blip r:embed="rId3"/>
          <a:stretch>
            <a:fillRect/>
          </a:stretch>
        </p:blipFill>
        <p:spPr>
          <a:xfrm>
            <a:off x="548640" y="365760"/>
            <a:ext cx="2011680" cy="760828"/>
          </a:xfrm>
          <a:prstGeom prst="rect">
            <a:avLst/>
          </a:prstGeom>
        </p:spPr>
      </p:pic>
      <p:sp>
        <p:nvSpPr>
          <p:cNvPr id="4" name="Text 1"/>
          <p:cNvSpPr txBox="1"/>
          <p:nvPr/>
        </p:nvSpPr>
        <p:spPr>
          <a:xfrm>
            <a:off x="5486400" y="411480"/>
            <a:ext cx="6217920" cy="320040"/>
          </a:xfrm>
          <a:prstGeom prst="rect">
            <a:avLst/>
          </a:prstGeom>
          <a:noFill/>
          <a:ln/>
        </p:spPr>
        <p:txBody>
          <a:bodyPr wrap="square" lIns="0" tIns="0" rIns="0" bIns="0" rtlCol="0" anchor="ctr"/>
          <a:lstStyle/>
          <a:p>
            <a:pPr marL="0" indent="0" algn="r">
              <a:buNone/>
            </a:pPr>
            <a:r>
              <a:rPr lang="en-US" sz="1400" b="1" dirty="0">
                <a:solidFill>
                  <a:srgbClr val="1D2F82"/>
                </a:solidFill>
                <a:latin typeface="Calibri" pitchFamily="34" charset="0"/>
                <a:ea typeface="Calibri" pitchFamily="34" charset="-122"/>
                <a:cs typeface="Calibri" pitchFamily="34" charset="-120"/>
              </a:rPr>
              <a:t>School of Electronics Engineering (SENSE)</a:t>
            </a:r>
            <a:endParaRPr lang="en-US" sz="1400" dirty="0"/>
          </a:p>
        </p:txBody>
      </p:sp>
      <p:sp>
        <p:nvSpPr>
          <p:cNvPr id="5" name="Text 2"/>
          <p:cNvSpPr txBox="1"/>
          <p:nvPr/>
        </p:nvSpPr>
        <p:spPr>
          <a:xfrm>
            <a:off x="5486400" y="749808"/>
            <a:ext cx="6217920" cy="274320"/>
          </a:xfrm>
          <a:prstGeom prst="rect">
            <a:avLst/>
          </a:prstGeom>
          <a:noFill/>
          <a:ln/>
        </p:spPr>
        <p:txBody>
          <a:bodyPr wrap="square" lIns="0" tIns="0" rIns="0" bIns="0" rtlCol="0" anchor="ctr"/>
          <a:lstStyle/>
          <a:p>
            <a:pPr marL="0" indent="0" algn="r">
              <a:buNone/>
            </a:pPr>
            <a:r>
              <a:rPr lang="en-US" sz="1200" dirty="0">
                <a:solidFill>
                  <a:srgbClr val="000000"/>
                </a:solidFill>
                <a:latin typeface="Calibri" pitchFamily="34" charset="0"/>
                <a:ea typeface="Calibri" pitchFamily="34" charset="-122"/>
                <a:cs typeface="Calibri" pitchFamily="34" charset="-120"/>
              </a:rPr>
              <a:t>Project-I (2026)</a:t>
            </a:r>
            <a:endParaRPr lang="en-US" sz="1200" dirty="0"/>
          </a:p>
        </p:txBody>
      </p:sp>
      <p:sp>
        <p:nvSpPr>
          <p:cNvPr id="6" name="Text 3"/>
          <p:cNvSpPr txBox="1"/>
          <p:nvPr/>
        </p:nvSpPr>
        <p:spPr>
          <a:xfrm>
            <a:off x="548640" y="1737360"/>
            <a:ext cx="11091672" cy="1188720"/>
          </a:xfrm>
          <a:prstGeom prst="rect">
            <a:avLst/>
          </a:prstGeom>
          <a:noFill/>
          <a:ln/>
        </p:spPr>
        <p:txBody>
          <a:bodyPr wrap="square" lIns="0" tIns="0" rIns="0" bIns="0" rtlCol="0" anchor="ctr"/>
          <a:lstStyle/>
          <a:p>
            <a:pPr marL="0" indent="0" algn="ctr">
              <a:buNone/>
            </a:pPr>
            <a:r>
              <a:rPr lang="en-US" sz="3200" b="1" dirty="0">
                <a:solidFill>
                  <a:srgbClr val="1D2F82"/>
                </a:solidFill>
                <a:latin typeface="Calibri" pitchFamily="34" charset="0"/>
                <a:ea typeface="Calibri" pitchFamily="34" charset="-122"/>
                <a:cs typeface="Calibri" pitchFamily="34" charset="-120"/>
              </a:rPr>
              <a:t>A Segmented Gate Driver for GaN HEMTs: Measuring What Operating-Point Scheduling Is Actually Worth</a:t>
            </a:r>
            <a:endParaRPr lang="en-US" sz="3200" dirty="0"/>
          </a:p>
        </p:txBody>
      </p:sp>
      <p:sp>
        <p:nvSpPr>
          <p:cNvPr id="7" name="Text 4"/>
          <p:cNvSpPr txBox="1"/>
          <p:nvPr/>
        </p:nvSpPr>
        <p:spPr>
          <a:xfrm>
            <a:off x="822960" y="306324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Student Name(s):</a:t>
            </a:r>
            <a:endParaRPr lang="en-US" sz="1400" dirty="0"/>
          </a:p>
        </p:txBody>
      </p:sp>
      <p:sp>
        <p:nvSpPr>
          <p:cNvPr id="8" name="Text 5"/>
          <p:cNvSpPr txBox="1"/>
          <p:nvPr/>
        </p:nvSpPr>
        <p:spPr>
          <a:xfrm>
            <a:off x="3474720" y="3063240"/>
            <a:ext cx="4617720" cy="384048"/>
          </a:xfrm>
          <a:prstGeom prst="rect">
            <a:avLst/>
          </a:prstGeom>
          <a:noFill/>
          <a:ln/>
        </p:spPr>
        <p:txBody>
          <a:bodyPr wrap="square" lIns="0" tIns="0" rIns="0" bIns="0" rtlCol="0" anchor="ctr"/>
          <a:lstStyle/>
          <a:p>
            <a:pPr marL="0" indent="0">
              <a:buNone/>
            </a:pPr>
            <a:r>
              <a:rPr lang="en-US" sz="950" dirty="0">
                <a:solidFill>
                  <a:srgbClr val="000000"/>
                </a:solidFill>
                <a:latin typeface="Calibri" pitchFamily="34" charset="0"/>
                <a:ea typeface="Calibri" pitchFamily="34" charset="-122"/>
                <a:cs typeface="Calibri" pitchFamily="34" charset="-120"/>
              </a:rPr>
              <a:t>Sanjay Kumar 23BEC1447  ·  Aamir Abdullah 23BPS1197  ·  Amritha S 23BEC1368</a:t>
            </a:r>
            <a:endParaRPr lang="en-US" sz="1400" dirty="0"/>
          </a:p>
        </p:txBody>
      </p:sp>
      <p:sp>
        <p:nvSpPr>
          <p:cNvPr id="9" name="Shape 6"/>
          <p:cNvSpPr/>
          <p:nvPr/>
        </p:nvSpPr>
        <p:spPr>
          <a:xfrm>
            <a:off x="3474720" y="3465576"/>
            <a:ext cx="4023360" cy="0"/>
          </a:xfrm>
          <a:prstGeom prst="line">
            <a:avLst/>
          </a:prstGeom>
          <a:noFill/>
          <a:ln w="12700">
            <a:solidFill>
              <a:srgbClr val="BFBFBF"/>
            </a:solidFill>
            <a:prstDash val="solid"/>
          </a:ln>
        </p:spPr>
        <p:txBody>
          <a:bodyPr/>
          <a:lstStyle/>
          <a:p>
            <a:endParaRPr lang="en-US"/>
          </a:p>
        </p:txBody>
      </p:sp>
      <p:sp>
        <p:nvSpPr>
          <p:cNvPr id="10" name="Text 7"/>
          <p:cNvSpPr txBox="1"/>
          <p:nvPr/>
        </p:nvSpPr>
        <p:spPr>
          <a:xfrm>
            <a:off x="822960" y="365760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Guide:</a:t>
            </a:r>
            <a:endParaRPr lang="en-US" sz="1400" dirty="0"/>
          </a:p>
        </p:txBody>
      </p:sp>
      <p:sp>
        <p:nvSpPr>
          <p:cNvPr id="11" name="Text 8"/>
          <p:cNvSpPr txBox="1"/>
          <p:nvPr/>
        </p:nvSpPr>
        <p:spPr>
          <a:xfrm>
            <a:off x="3474720" y="365760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Dr. Bindu  —  SENSE</a:t>
            </a:r>
            <a:endParaRPr lang="en-US" sz="1400" dirty="0"/>
          </a:p>
        </p:txBody>
      </p:sp>
      <p:sp>
        <p:nvSpPr>
          <p:cNvPr id="12" name="Shape 9"/>
          <p:cNvSpPr/>
          <p:nvPr/>
        </p:nvSpPr>
        <p:spPr>
          <a:xfrm>
            <a:off x="3474720" y="4059936"/>
            <a:ext cx="4023360" cy="0"/>
          </a:xfrm>
          <a:prstGeom prst="line">
            <a:avLst/>
          </a:prstGeom>
          <a:noFill/>
          <a:ln w="12700">
            <a:solidFill>
              <a:srgbClr val="BFBFBF"/>
            </a:solidFill>
            <a:prstDash val="solid"/>
          </a:ln>
        </p:spPr>
        <p:txBody>
          <a:bodyPr/>
          <a:lstStyle/>
          <a:p>
            <a:endParaRPr lang="en-US"/>
          </a:p>
        </p:txBody>
      </p:sp>
      <p:sp>
        <p:nvSpPr>
          <p:cNvPr id="13" name="Text 10"/>
          <p:cNvSpPr txBox="1"/>
          <p:nvPr/>
        </p:nvSpPr>
        <p:spPr>
          <a:xfrm>
            <a:off x="822960" y="425196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Programme / School:</a:t>
            </a:r>
            <a:endParaRPr lang="en-US" sz="1400" dirty="0"/>
          </a:p>
        </p:txBody>
      </p:sp>
      <p:sp>
        <p:nvSpPr>
          <p:cNvPr id="14" name="Text 11"/>
          <p:cNvSpPr txBox="1"/>
          <p:nvPr/>
        </p:nvSpPr>
        <p:spPr>
          <a:xfrm>
            <a:off x="3474720" y="425196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B.Tech — SENSE, VIT Chennai</a:t>
            </a:r>
            <a:endParaRPr lang="en-US" sz="1400" dirty="0"/>
          </a:p>
        </p:txBody>
      </p:sp>
      <p:sp>
        <p:nvSpPr>
          <p:cNvPr id="15" name="Shape 12"/>
          <p:cNvSpPr/>
          <p:nvPr/>
        </p:nvSpPr>
        <p:spPr>
          <a:xfrm>
            <a:off x="3474720" y="4654296"/>
            <a:ext cx="4023360" cy="0"/>
          </a:xfrm>
          <a:prstGeom prst="line">
            <a:avLst/>
          </a:prstGeom>
          <a:noFill/>
          <a:ln w="12700">
            <a:solidFill>
              <a:srgbClr val="BFBFBF"/>
            </a:solidFill>
            <a:prstDash val="solid"/>
          </a:ln>
        </p:spPr>
        <p:txBody>
          <a:bodyPr/>
          <a:lstStyle/>
          <a:p>
            <a:endParaRPr lang="en-US"/>
          </a:p>
        </p:txBody>
      </p:sp>
      <p:sp>
        <p:nvSpPr>
          <p:cNvPr id="16" name="Text 13"/>
          <p:cNvSpPr txBox="1"/>
          <p:nvPr/>
        </p:nvSpPr>
        <p:spPr>
          <a:xfrm>
            <a:off x="822960" y="4846320"/>
            <a:ext cx="2560320" cy="384048"/>
          </a:xfrm>
          <a:prstGeom prst="rect">
            <a:avLst/>
          </a:prstGeom>
          <a:noFill/>
          <a:ln/>
        </p:spPr>
        <p:txBody>
          <a:bodyPr wrap="square" lIns="0" tIns="0" rIns="0" bIns="0" rtlCol="0" anchor="ctr"/>
          <a:lstStyle/>
          <a:p>
            <a:pPr marL="0" indent="0">
              <a:buNone/>
            </a:pPr>
            <a:r>
              <a:rPr lang="en-US" sz="1400" b="1" dirty="0">
                <a:solidFill>
                  <a:srgbClr val="000000"/>
                </a:solidFill>
                <a:latin typeface="Calibri" pitchFamily="34" charset="0"/>
                <a:ea typeface="Calibri" pitchFamily="34" charset="-122"/>
                <a:cs typeface="Calibri" pitchFamily="34" charset="-120"/>
              </a:rPr>
              <a:t>Review &amp; Date:</a:t>
            </a:r>
            <a:endParaRPr lang="en-US" sz="1400" dirty="0"/>
          </a:p>
        </p:txBody>
      </p:sp>
      <p:sp>
        <p:nvSpPr>
          <p:cNvPr id="17" name="Text 14"/>
          <p:cNvSpPr txBox="1"/>
          <p:nvPr/>
        </p:nvSpPr>
        <p:spPr>
          <a:xfrm>
            <a:off x="3474720" y="4846320"/>
            <a:ext cx="4023360" cy="384048"/>
          </a:xfrm>
          <a:prstGeom prst="rect">
            <a:avLst/>
          </a:prstGeom>
          <a:noFill/>
          <a:ln/>
        </p:spPr>
        <p:txBody>
          <a:bodyPr wrap="square" lIns="0" tIns="0" rIns="0" bIns="0" rtlCol="0" anchor="ctr"/>
          <a:lstStyle/>
          <a:p>
            <a:pPr marL="0" indent="0">
              <a:buNone/>
            </a:pPr>
            <a:r>
              <a:rPr lang="en-US" sz="1400" dirty="0">
                <a:solidFill>
                  <a:srgbClr val="000000"/>
                </a:solidFill>
                <a:latin typeface="Calibri" pitchFamily="34" charset="0"/>
                <a:ea typeface="Calibri" pitchFamily="34" charset="-122"/>
                <a:cs typeface="Calibri" pitchFamily="34" charset="-120"/>
              </a:rPr>
              <a:t>Review-I  ·  09.09.2026 (Wednesday)</a:t>
            </a:r>
            <a:endParaRPr lang="en-US" sz="1400" dirty="0"/>
          </a:p>
        </p:txBody>
      </p:sp>
      <p:sp>
        <p:nvSpPr>
          <p:cNvPr id="18" name="Shape 15"/>
          <p:cNvSpPr/>
          <p:nvPr/>
        </p:nvSpPr>
        <p:spPr>
          <a:xfrm>
            <a:off x="3474720" y="5248656"/>
            <a:ext cx="4023360" cy="0"/>
          </a:xfrm>
          <a:prstGeom prst="line">
            <a:avLst/>
          </a:prstGeom>
          <a:noFill/>
          <a:ln w="12700">
            <a:solidFill>
              <a:srgbClr val="BFBFBF"/>
            </a:solidFill>
            <a:prstDash val="solid"/>
          </a:ln>
        </p:spPr>
        <p:txBody>
          <a:bodyPr/>
          <a:lstStyle/>
          <a:p>
            <a:endParaRPr lang="en-US"/>
          </a:p>
        </p:txBody>
      </p:sp>
      <p:sp>
        <p:nvSpPr>
          <p:cNvPr id="19" name="Shape 16"/>
          <p:cNvSpPr/>
          <p:nvPr/>
        </p:nvSpPr>
        <p:spPr>
          <a:xfrm>
            <a:off x="8046720" y="3063240"/>
            <a:ext cx="3657600" cy="2194560"/>
          </a:xfrm>
          <a:prstGeom prst="rect">
            <a:avLst/>
          </a:prstGeom>
          <a:solidFill>
            <a:srgbClr val="FFFFFF"/>
          </a:solidFill>
          <a:ln w="15875">
            <a:solidFill>
              <a:srgbClr val="1D2F82"/>
            </a:solidFill>
            <a:prstDash val="solid"/>
          </a:ln>
        </p:spPr>
        <p:txBody>
          <a:bodyPr/>
          <a:lstStyle/>
          <a:p>
            <a:endParaRPr lang="en-US"/>
          </a:p>
        </p:txBody>
      </p:sp>
      <p:sp>
        <p:nvSpPr>
          <p:cNvPr id="20" name="Text 17"/>
          <p:cNvSpPr txBox="1"/>
          <p:nvPr/>
        </p:nvSpPr>
        <p:spPr>
          <a:xfrm>
            <a:off x="8229600" y="3246120"/>
            <a:ext cx="3291840" cy="365760"/>
          </a:xfrm>
          <a:prstGeom prst="rect">
            <a:avLst/>
          </a:prstGeom>
          <a:noFill/>
          <a:ln/>
        </p:spPr>
        <p:txBody>
          <a:bodyPr wrap="square" lIns="0" tIns="0" rIns="0" bIns="0" rtlCol="0" anchor="ctr"/>
          <a:lstStyle/>
          <a:p>
            <a:pPr marL="0" indent="0">
              <a:buNone/>
            </a:pPr>
            <a:r>
              <a:rPr lang="en-US" sz="1400" b="1" dirty="0">
                <a:solidFill>
                  <a:srgbClr val="1D2F82"/>
                </a:solidFill>
                <a:latin typeface="Calibri" pitchFamily="34" charset="0"/>
                <a:ea typeface="Calibri" pitchFamily="34" charset="-122"/>
                <a:cs typeface="Calibri" pitchFamily="34" charset="-120"/>
              </a:rPr>
              <a:t>Guide's Signature with Date</a:t>
            </a:r>
            <a:endParaRPr lang="en-US" sz="1400" dirty="0"/>
          </a:p>
        </p:txBody>
      </p:sp>
      <p:sp>
        <p:nvSpPr>
          <p:cNvPr id="21" name="Text 18"/>
          <p:cNvSpPr txBox="1"/>
          <p:nvPr/>
        </p:nvSpPr>
        <p:spPr>
          <a:xfrm>
            <a:off x="8229600" y="388620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Signature: _____________________</a:t>
            </a:r>
            <a:endParaRPr lang="en-US" sz="1300" dirty="0"/>
          </a:p>
        </p:txBody>
      </p:sp>
      <p:sp>
        <p:nvSpPr>
          <p:cNvPr id="22" name="Text 19"/>
          <p:cNvSpPr txBox="1"/>
          <p:nvPr/>
        </p:nvSpPr>
        <p:spPr>
          <a:xfrm>
            <a:off x="8229600" y="4434840"/>
            <a:ext cx="3291840" cy="320040"/>
          </a:xfrm>
          <a:prstGeom prst="rect">
            <a:avLst/>
          </a:prstGeom>
          <a:noFill/>
          <a:ln/>
        </p:spPr>
        <p:txBody>
          <a:bodyPr wrap="square" lIns="0" tIns="0" rIns="0" bIns="0" rtlCol="0" anchor="ctr"/>
          <a:lstStyle/>
          <a:p>
            <a:pPr marL="0" indent="0">
              <a:buNone/>
            </a:pPr>
            <a:r>
              <a:rPr lang="en-US" sz="1300" dirty="0">
                <a:solidFill>
                  <a:srgbClr val="000000"/>
                </a:solidFill>
                <a:latin typeface="Calibri" pitchFamily="34" charset="0"/>
                <a:ea typeface="Calibri" pitchFamily="34" charset="-122"/>
                <a:cs typeface="Calibri" pitchFamily="34" charset="-120"/>
              </a:rPr>
              <a:t>Date: _________________________</a:t>
            </a:r>
            <a:endParaRPr lang="en-US" sz="1300" dirty="0"/>
          </a:p>
        </p:txBody>
      </p:sp>
      <p:sp>
        <p:nvSpPr>
          <p:cNvPr id="23" name="Text 20"/>
          <p:cNvSpPr txBox="1"/>
          <p:nvPr/>
        </p:nvSpPr>
        <p:spPr>
          <a:xfrm>
            <a:off x="822960" y="5760720"/>
            <a:ext cx="10607040" cy="548640"/>
          </a:xfrm>
          <a:prstGeom prst="rect">
            <a:avLst/>
          </a:prstGeom>
          <a:noFill/>
          <a:ln/>
        </p:spPr>
        <p:txBody>
          <a:bodyPr wrap="square" lIns="0" tIns="0" rIns="0" bIns="0" rtlCol="0" anchor="ctr"/>
          <a:lstStyle/>
          <a:p>
            <a:pPr marL="0" indent="0">
              <a:buNone/>
            </a:pPr>
            <a:r>
              <a:rPr lang="en-US" sz="1200" i="1" dirty="0">
                <a:solidFill>
                  <a:srgbClr val="000000"/>
                </a:solidFill>
                <a:latin typeface="Calibri" pitchFamily="34" charset="0"/>
                <a:ea typeface="Calibri" pitchFamily="34" charset="-122"/>
                <a:cs typeface="Calibri" pitchFamily="34" charset="-120"/>
              </a:rPr>
              <a:t>Approval is mandatory before every review. After signing, scan this slide and keep the scanned copy as Slide 1 of the presentation.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Review-I — 09.09.2026 (5 Marks, 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Focus: Proposed Solution &amp; 50% Work Completion.</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Duration: 10 minutes.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Presentation contents: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Signed &amp; scanned title slide (Slide 1)</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Problem statement and background</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Literature survey — minimum 8–10 recent references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Existing solutions and their limitations</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Proposed solution, scope and methodology</a:t>
            </a:r>
            <a:endParaRPr lang="en-US" sz="1500" dirty="0"/>
          </a:p>
          <a:p>
            <a:pPr marL="355600" lvl="1" indent="-177800">
              <a:spcAft>
                <a:spcPts val="400"/>
              </a:spcAft>
              <a:buSzPct val="100000"/>
              <a:buChar char="•"/>
            </a:pPr>
            <a:r>
              <a:rPr lang="en-US" sz="1500" dirty="0">
                <a:solidFill>
                  <a:srgbClr val="000000"/>
                </a:solidFill>
                <a:latin typeface="Calibri" pitchFamily="34" charset="0"/>
                <a:ea typeface="Calibri" pitchFamily="34" charset="-122"/>
                <a:cs typeface="Calibri" pitchFamily="34" charset="-120"/>
              </a:rPr>
              <a:t>50% work completed, timeline, tools &amp; technologies</a:t>
            </a:r>
            <a:endParaRPr lang="en-US" sz="1500" dirty="0"/>
          </a:p>
          <a:p>
            <a:pPr marL="177800" indent="-177800">
              <a:spcAft>
                <a:spcPts val="800"/>
              </a:spcAft>
              <a:buSzPct val="100000"/>
              <a:buChar char="•"/>
            </a:pPr>
            <a:r>
              <a:rPr lang="en-US" sz="1500" dirty="0">
                <a:solidFill>
                  <a:srgbClr val="000000"/>
                </a:solidFill>
                <a:latin typeface="Calibri" pitchFamily="34" charset="0"/>
                <a:ea typeface="Calibri" pitchFamily="34" charset="-122"/>
                <a:cs typeface="Calibri" pitchFamily="34" charset="-120"/>
              </a:rPr>
              <a:t>Mark split-up: Problem clarity &amp; relevance (2), Literature survey quality (1), Proposed solution feasibility (1), Presentation quality (1).</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Problem Statement &amp; Background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Problem Statement: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One device's dV/dt couples through C</a:t>
            </a:r>
            <a:r>
              <a:rPr lang="en-US" sz="1500" dirty="0">
                <a:solidFill>
                  <a:srgbClr val="000000"/>
                </a:solidFill>
                <a:latin typeface="Calibri" pitchFamily="34" charset="0"/>
                <a:ea typeface="Calibri" pitchFamily="34" charset="-122"/>
                <a:cs typeface="Calibri" pitchFamily="34" charset="-120"/>
              </a:rPr>
              <a:t xml:space="preserve">GD</a:t>
            </a:r>
            <a:r>
              <a:rPr lang="en-US" sz="1500" dirty="0">
                <a:solidFill>
                  <a:srgbClr val="000000"/>
                </a:solidFill>
                <a:latin typeface="Calibri" pitchFamily="34" charset="0"/>
                <a:ea typeface="Calibri" pitchFamily="34" charset="-122"/>
                <a:cs typeface="Calibri" pitchFamily="34" charset="-120"/>
              </a:rPr>
              <a:t xml:space="preserve"> into the gate of the device that is supposed to be OFF. It reaches </a:t>
            </a:r>
            <a:r>
              <a:rPr lang="en-US" sz="1500" b="1" dirty="0">
                <a:solidFill>
                  <a:srgbClr val="000000"/>
                </a:solidFill>
                <a:latin typeface="Calibri" pitchFamily="34" charset="0"/>
                <a:ea typeface="Calibri" pitchFamily="34" charset="-122"/>
                <a:cs typeface="Calibri" pitchFamily="34" charset="-120"/>
              </a:rPr>
              <a:t xml:space="preserve">1.65 V against a 1.4 V threshold</a:t>
            </a:r>
            <a:r>
              <a:rPr lang="en-US" sz="1500" dirty="0">
                <a:solidFill>
                  <a:srgbClr val="000000"/>
                </a:solidFill>
                <a:latin typeface="Calibri" pitchFamily="34" charset="0"/>
                <a:ea typeface="Calibri" pitchFamily="34" charset="-122"/>
                <a:cs typeface="Calibri" pitchFamily="34" charset="-120"/>
              </a:rPr>
              <a:t xml:space="preserve"> — false turn-on, and a shoot-through path.</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Background &amp; Significance: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GaN half-bridges are the core of EV traction inverters and battery storage converters. The whole reason to choose GaN is speed — which is exactly what makes this failure worse.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Existing Solutions: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Active gate drivers: segmented drive, Miller clamps, programmable dead time, negative off-bias [1]–[4]. Closed-loop designs report 30.5 % less overshoot and 75 % less turn-off loss [5]–[7].</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Limitations / Research Gap:</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No published work has measured what the adaptation is worth.</a:t>
            </a:r>
            <a:r>
              <a:rPr lang="en-US" sz="1500" dirty="0">
                <a:solidFill>
                  <a:srgbClr val="000000"/>
                </a:solidFill>
                <a:latin typeface="Calibri" pitchFamily="34" charset="0"/>
                <a:ea typeface="Calibri" pitchFamily="34" charset="-122"/>
                <a:cs typeface="Calibri" pitchFamily="34" charset="-120"/>
              </a:rPr>
              <a:t xml:space="preserve"> Those gains bundle a design-time choice with a runtime capability. Only the second needs sensing, a lookup table and a controller.</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base paper we build on</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0652760" cy="3657600"/>
        </p:xfrm>
        <a:graphic>
          <a:graphicData uri="http://schemas.openxmlformats.org/drawingml/2006/table">
            <a:tbl>
              <a:tblPr/>
              <a:tblGrid>
                <a:gridCol w="109728">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6576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gridSpan="4">
                  <a:txBody>
                    <a:bodyPr wrap="square"/>
                    <a:lstStyle/>
                    <a:p>
                      <a:pPr marL="0" indent="0">
                        <a:buNone/>
                      </a:pPr>
                      <a:r>
                        <a:rPr sz="1050" b="1">
                          <a:solidFill>
                            <a:srgbClr val="000000"/>
                          </a:solidFill>
                          <a:latin typeface="Calibri"/>
                        </a:rPr>
                        <a:t>Takayama, Okuda &amp;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hMerge="1">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does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Drives the gate from a multibit CODE instead of a resistor — the driver is a DAC, and the code changes DURING the switching edge.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Why it matters to us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A digital code is finite. That is what makes the setting space searchable, and what makes the driver implementable on an FPGA rather than as an analogue network.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1097280">
                <a:tc>
                  <a:txBody>
                    <a:bodyPr wrap="square"/>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1">
                          <a:solidFill>
                            <a:srgbClr val="000000"/>
                          </a:solidFill>
                          <a:latin typeface="Calibri"/>
                        </a:rPr>
                        <a:t>What it leaves open</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gridSpan="3">
                  <a:txBody>
                    <a:bodyPr wrap="square"/>
                    <a:lstStyle/>
                    <a:p>
                      <a:pPr marL="0" indent="0">
                        <a:buNone/>
                      </a:pPr>
                      <a:r>
                        <a:rPr sz="1050" b="0">
                          <a:solidFill>
                            <a:srgbClr val="000000"/>
                          </a:solidFill>
                          <a:latin typeface="Calibri"/>
                        </a:rPr>
                        <a:t>It never asks whether the code has to CHANGE as load, voltage and temperature move. That question is this project.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hMerge="1">
                  <a:txBody>
                    <a:bodyPr/>
                    <a:lstStyle/>
                    <a:p>
                      <a:pPr marL="0" indent="0">
                        <a:buNone/>
                      </a:pP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2"/>
          <p:cNvSpPr txBox="1"/>
          <p:nvPr/>
        </p:nvSpPr>
        <p:spPr>
          <a:xfrm>
            <a:off x="548640" y="5897880"/>
            <a:ext cx="11064240" cy="365760"/>
          </a:xfrm>
          <a:prstGeom prst="rect">
            <a:avLst/>
          </a:prstGeom>
          <a:noFill/>
          <a:ln/>
        </p:spPr>
        <p:txBody>
          <a:bodyPr wrap="square" lIns="0" tIns="0" rIns="0" bIns="0" rtlCol="0" anchor="ct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 Takayama, T. Okuda and T. Hikihara, </a:t>
            </a:r>
            <a:r>
              <a:rPr lang="en-US" sz="1150" b="1" dirty="0">
                <a:solidFill>
                  <a:srgbClr val="000000"/>
                </a:solidFill>
                <a:latin typeface="Calibri" pitchFamily="34" charset="0"/>
                <a:ea typeface="Calibri" pitchFamily="34" charset="-122"/>
                <a:cs typeface="Calibri" pitchFamily="34" charset="-120"/>
              </a:rPr>
              <a:t xml:space="preserve">“Digital Active Gate Drive of SiC MOSFETs for Controlling Switching Behavior,”</a:t>
            </a:r>
            <a:r>
              <a:rPr lang="en-US" sz="1150" dirty="0">
                <a:solidFill>
                  <a:srgbClr val="000000"/>
                </a:solidFill>
                <a:latin typeface="Calibri" pitchFamily="34" charset="0"/>
                <a:ea typeface="Calibri" pitchFamily="34" charset="-122"/>
                <a:cs typeface="Calibri" pitchFamily="34" charset="-120"/>
              </a:rPr>
              <a:t xml:space="preserve"> Int. J. Circuit Theory Appl., vol. 50, no. 1, pp. 183–196, 2022.  doi.org/10.1002/cta.3136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Five Closest — and the base paper we replicate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1672" cy="4343400"/>
        </p:xfrm>
        <a:graphic>
          <a:graphicData uri="http://schemas.openxmlformats.org/drawingml/2006/table">
            <a:tbl>
              <a:tblPr/>
              <a:tblGrid>
                <a:gridCol w="54864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377440">
                  <a:extLst>
                    <a:ext uri="{9D8B030D-6E8A-4147-A177-3AD203B41FA5}">
                      <a16:colId xmlns:a16="http://schemas.microsoft.com/office/drawing/2014/main" val="20003"/>
                    </a:ext>
                  </a:extLst>
                </a:gridCol>
                <a:gridCol w="3136392">
                  <a:extLst>
                    <a:ext uri="{9D8B030D-6E8A-4147-A177-3AD203B41FA5}">
                      <a16:colId xmlns:a16="http://schemas.microsoft.com/office/drawing/2014/main" val="20004"/>
                    </a:ext>
                  </a:extLst>
                </a:gridCol>
              </a:tblGrid>
              <a:tr h="320040">
                <a:tc>
                  <a:txBody>
                    <a:bodyPr wrap="square"/>
                    <a:lstStyle/>
                    <a:p>
                      <a:pPr marL="0" indent="0">
                        <a:buNone/>
                      </a:pPr>
                      <a:r>
                        <a:rPr sz="950" b="1">
                          <a:solidFill>
                            <a:srgbClr val="000000"/>
                          </a:solidFill>
                          <a:latin typeface="Calibri"/>
                        </a:rPr>
                        <a:t>Ref</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Author(s) &amp; Year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Title / Source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Aim  —  what the paper sets out to do</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tc>
                  <a:txBody>
                    <a:bodyPr wrap="square"/>
                    <a:lstStyle/>
                    <a:p>
                      <a:pPr marL="0" indent="0">
                        <a:buNone/>
                      </a:pPr>
                      <a:r>
                        <a:rPr sz="950" b="1">
                          <a:solidFill>
                            <a:srgbClr val="000000"/>
                          </a:solidFill>
                          <a:latin typeface="Calibri"/>
                        </a:rPr>
                        <a:t>Gap we found  →  what WE fill</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D2F82"/>
                    </a:solidFill>
                  </a:tcPr>
                </a:tc>
                <a:extLst>
                  <a:ext uri="{0D108BD9-81ED-4DB2-BD59-A6C34878D82A}">
                    <a16:rowId xmlns:a16="http://schemas.microsoft.com/office/drawing/2014/main" val="10000"/>
                  </a:ext>
                </a:extLst>
              </a:tr>
              <a:tr h="804672">
                <a:tc>
                  <a:txBody>
                    <a:bodyPr wrap="square"/>
                    <a:lstStyle/>
                    <a:p>
                      <a:pPr marL="0" indent="0">
                        <a:buNone/>
                      </a:pPr>
                      <a:r>
                        <a:rPr sz="1050" b="1">
                          <a:solidFill>
                            <a:srgbClr val="000000"/>
                          </a:solidFill>
                          <a:latin typeface="Calibri"/>
                        </a:rPr>
                        <a:t>BASE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H. Takayama, T. Okuda &amp; T. Hikihara (2022)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Digital Active Gate Drive of SiC MOSFETs for Controlling Switching Behavior — Preparation Toward Universal Digitization of Power Switching</a:t>
                      </a:r>
                      <a:endParaRPr lang="en-US" sz="1300" dirty="0">
                        <a:latin typeface="Calibri" charset="0"/>
                        <a:ea typeface="Calibri" charset="0"/>
                        <a:cs typeface="Calibri" charset="0"/>
                      </a:endParaRPr>
                    </a:p>
                    <a:p>
                      <a:r>
                        <a:rPr sz="900" b="1">
                          <a:solidFill>
                            <a:srgbClr val="000000"/>
                          </a:solidFill>
                          <a:latin typeface="Calibri"/>
                        </a:rPr>
                        <a:t>Int. J. Circuit Theory Appl., vol. 50, no. 1, pp. 183–196</a:t>
                      </a:r>
                    </a:p>
                    <a:p>
                      <a:r>
                        <a:rPr sz="900" b="1">
                          <a:solidFill>
                            <a:srgbClr val="000000"/>
                          </a:solidFill>
                          <a:latin typeface="Calibri"/>
                        </a:rPr>
                        <a:t>doi.org/10.1002/cta.3136</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DAC-inspired driver: a multibit gate signal SEQUENCE sets the gate waveform digitally, so switching behaviour is chosen by a code rather than by a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BASE PAPER. Its multibit gate code is the direct ancestor of our 720-point control word, and it is digital — implementable on an FPGA — rather than a fixed analogue network. We replicate its premise on GaN and then ask the question it does not: of the gain a code buys, how much needs per-operating-point adaptation at all?  </a:t>
                      </a:r>
                      <a:r>
                        <a:rPr sz="900" b="1">
                          <a:solidFill>
                            <a:srgbClr val="000000"/>
                          </a:solidFill>
                          <a:latin typeface="Calibri"/>
                        </a:rPr>
                        <a:t>WE FILL: </a:t>
                      </a:r>
                      <a:r>
                        <a:rPr sz="900" b="0">
                          <a:solidFill>
                            <a:srgbClr val="000000"/>
                          </a:solidFill>
                          <a:latin typeface="Calibri"/>
                        </a:rPr>
                        <a:t>the exhaustive 720-word search that makes the fixed-vs-adaptive split measurable, and the GaN third-quadrant cost their SiC device never pays.</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1"/>
                  </a:ext>
                </a:extLst>
              </a:tr>
              <a:tr h="804672">
                <a:tc>
                  <a:txBody>
                    <a:bodyPr wrap="square"/>
                    <a:lstStyle/>
                    <a:p>
                      <a:pPr marL="0" indent="0">
                        <a:buNone/>
                      </a:pPr>
                      <a:r>
                        <a:rPr sz="1050" b="0">
                          <a:solidFill>
                            <a:srgbClr val="000000"/>
                          </a:solidFill>
                          <a:latin typeface="Calibri"/>
                        </a:rPr>
                        <a:t>10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Zhang, Yu, Leng, Cui, Deng &amp; Ng (2020)</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Segmented Gate Driver for E-mode GaN HEMTs with Simple Driving Strength Pattern Control</a:t>
                      </a:r>
                      <a:endParaRPr lang="en-US" sz="1300" dirty="0">
                        <a:latin typeface="Calibri" charset="0"/>
                        <a:ea typeface="Calibri" charset="0"/>
                        <a:cs typeface="Calibri" charset="0"/>
                      </a:endParaRPr>
                    </a:p>
                    <a:p>
                      <a:r>
                        <a:rPr sz="900" b="1">
                          <a:solidFill>
                            <a:srgbClr val="000000"/>
                          </a:solidFill>
                          <a:latin typeface="Calibri"/>
                        </a:rPr>
                        <a:t>Proc. IEEE ISPSD, 2020, pp. 102–105</a:t>
                      </a:r>
                    </a:p>
                    <a:p>
                      <a:r>
                        <a:rPr sz="900" b="1">
                          <a:solidFill>
                            <a:srgbClr val="000000"/>
                          </a:solidFill>
                          <a:latin typeface="Calibri"/>
                        </a:rPr>
                        <a:t>ieeexplore.ieee.org/document/9170108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Segmented output stage on E-mode GaN: 7 slices, pattern timing 0.5–5 ns, strength set by one external bias resistor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Architecturally the closest published driver to ours — segmented slices, pattern-selected strength. It is an ASIC with a fixed pattern set; our contribution is to search the whole pattern space exhaustively and price what the search actually buys.  </a:t>
                      </a:r>
                      <a:r>
                        <a:rPr sz="900" b="1">
                          <a:solidFill>
                            <a:srgbClr val="000000"/>
                          </a:solidFill>
                          <a:latin typeface="Calibri"/>
                        </a:rPr>
                        <a:t>WE FILL: </a:t>
                      </a:r>
                      <a:r>
                        <a:rPr sz="900" b="0">
                          <a:solidFill>
                            <a:srgbClr val="000000"/>
                          </a:solidFill>
                          <a:latin typeface="Calibri"/>
                        </a:rPr>
                        <a:t>the price of the pattern space: what an exhaustive search buys over their fixed pattern set.</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2"/>
                  </a:ext>
                </a:extLst>
              </a:tr>
              <a:tr h="804672">
                <a:tc>
                  <a:txBody>
                    <a:bodyPr wrap="square"/>
                    <a:lstStyle/>
                    <a:p>
                      <a:pPr marL="0" indent="0">
                        <a:buNone/>
                      </a:pPr>
                      <a:r>
                        <a:rPr sz="1050" b="0">
                          <a:solidFill>
                            <a:srgbClr val="000000"/>
                          </a:solidFill>
                          <a:latin typeface="Calibri"/>
                        </a:rPr>
                        <a:t>11</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Tao, Xiao, Luo, He, Zhou, Zhang &amp; Wang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High-Frequency Three-Level Gate Driver for GaN HEMT Bridge Crosstalk Suppression</a:t>
                      </a:r>
                      <a:endParaRPr lang="en-US" sz="1300" dirty="0">
                        <a:latin typeface="Calibri" charset="0"/>
                        <a:ea typeface="Calibri" charset="0"/>
                        <a:cs typeface="Calibri" charset="0"/>
                      </a:endParaRPr>
                    </a:p>
                    <a:p>
                      <a:r>
                        <a:rPr sz="900" b="1">
                          <a:solidFill>
                            <a:srgbClr val="000000"/>
                          </a:solidFill>
                          <a:latin typeface="Calibri"/>
                        </a:rPr>
                        <a:t>IEEE Trans. Power Electron., 39(1), 1343–1352</a:t>
                      </a:r>
                    </a:p>
                    <a:p>
                      <a:r>
                        <a:rPr sz="900" b="1">
                          <a:solidFill>
                            <a:srgbClr val="000000"/>
                          </a:solidFill>
                          <a:latin typeface="Calibri"/>
                        </a:rPr>
                        <a:t>ieeexplore.ieee.org/document/10286072</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Three-level drive; capacitor–diode negative rail with a digitally-clamped zero level, to 5 MHz</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Recent, GaN, and on exactly our failure mode. It suppresses crosstalk with added passives; we get the same protection from the Miller clamp already in the cell and measure its price at 0.04 %.  </a:t>
                      </a:r>
                      <a:r>
                        <a:rPr sz="900" b="1">
                          <a:solidFill>
                            <a:srgbClr val="000000"/>
                          </a:solidFill>
                          <a:latin typeface="Calibri"/>
                        </a:rPr>
                        <a:t>WE FILL: </a:t>
                      </a:r>
                      <a:r>
                        <a:rPr sz="900" b="0">
                          <a:solidFill>
                            <a:srgbClr val="000000"/>
                          </a:solidFill>
                          <a:latin typeface="Calibri"/>
                        </a:rPr>
                        <a:t>whether the setting has to change with the operating point at all. It does not: 3.9 % of baseline.</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3"/>
                  </a:ext>
                </a:extLst>
              </a:tr>
              <a:tr h="804672">
                <a:tc>
                  <a:txBody>
                    <a:bodyPr wrap="square"/>
                    <a:lstStyle/>
                    <a:p>
                      <a:pPr marL="0" indent="0">
                        <a:buNone/>
                      </a:pPr>
                      <a:r>
                        <a:rPr sz="1050" b="0">
                          <a:solidFill>
                            <a:srgbClr val="000000"/>
                          </a:solidFill>
                          <a:latin typeface="Calibri"/>
                        </a:rPr>
                        <a:t>12</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Wang, Sun, Yan, Ma &amp; Xu (2024)</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An Integrated Suppression Method of Both Gate-Source Voltage Oscillation and Crosstalk for GaN HEMT Gate Driver</a:t>
                      </a:r>
                      <a:endParaRPr lang="en-US" sz="1300" dirty="0">
                        <a:latin typeface="Calibri" charset="0"/>
                        <a:ea typeface="Calibri" charset="0"/>
                        <a:cs typeface="Calibri" charset="0"/>
                      </a:endParaRPr>
                    </a:p>
                    <a:p>
                      <a:r>
                        <a:rPr sz="900" b="1">
                          <a:solidFill>
                            <a:srgbClr val="000000"/>
                          </a:solidFill>
                          <a:latin typeface="Calibri"/>
                        </a:rPr>
                        <a:t>IEEE Trans. Power Electron., 39(11), 14643–14655</a:t>
                      </a:r>
                    </a:p>
                    <a:p>
                      <a:r>
                        <a:rPr sz="900" b="1">
                          <a:solidFill>
                            <a:srgbClr val="000000"/>
                          </a:solidFill>
                          <a:latin typeface="Calibri"/>
                        </a:rPr>
                        <a:t>ieeexplore.ieee.org/document/10591431</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One driver addressing gate-source ringing and crosstalk together</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Confirms the two effects are coupled, which is why our cost function prices loss and overshoot jointly rather than optimising either alone.  </a:t>
                      </a:r>
                      <a:r>
                        <a:rPr sz="900" b="1">
                          <a:solidFill>
                            <a:srgbClr val="000000"/>
                          </a:solidFill>
                          <a:latin typeface="Calibri"/>
                        </a:rPr>
                        <a:t>WE FILL: </a:t>
                      </a:r>
                      <a:r>
                        <a:rPr sz="900" b="0">
                          <a:solidFill>
                            <a:srgbClr val="000000"/>
                          </a:solidFill>
                          <a:latin typeface="Calibri"/>
                        </a:rPr>
                        <a:t>both effects in ONE cost function, showing the objectives genuinely conflict (Pareto, slide 16).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4"/>
                  </a:ext>
                </a:extLst>
              </a:tr>
              <a:tr h="804672">
                <a:tc>
                  <a:txBody>
                    <a:bodyPr wrap="square"/>
                    <a:lstStyle/>
                    <a:p>
                      <a:pPr marL="0" indent="0">
                        <a:buNone/>
                      </a:pPr>
                      <a:r>
                        <a:rPr sz="1050" b="0">
                          <a:solidFill>
                            <a:srgbClr val="000000"/>
                          </a:solidFill>
                          <a:latin typeface="Calibri"/>
                        </a:rPr>
                        <a:t>13</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1050" b="0">
                          <a:solidFill>
                            <a:srgbClr val="000000"/>
                          </a:solidFill>
                          <a:latin typeface="Calibri"/>
                        </a:rPr>
                        <a:t>Cai, Ye, Lv &amp; Chen (2026)</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A High-Efficient GaN Driver With Hybrid Adaptive Dead-Time Control and Peak Delay Control for Synchronous Buck Converter</a:t>
                      </a:r>
                      <a:endParaRPr lang="en-US" sz="1300" dirty="0">
                        <a:latin typeface="Calibri" charset="0"/>
                        <a:ea typeface="Calibri" charset="0"/>
                        <a:cs typeface="Calibri" charset="0"/>
                      </a:endParaRPr>
                    </a:p>
                    <a:p>
                      <a:r>
                        <a:rPr sz="900" b="1">
                          <a:solidFill>
                            <a:srgbClr val="000000"/>
                          </a:solidFill>
                          <a:latin typeface="Calibri"/>
                        </a:rPr>
                        <a:t>IEEE Trans. Power Electron., 41(1), 279–290</a:t>
                      </a:r>
                    </a:p>
                    <a:p>
                      <a:r>
                        <a:rPr sz="900" b="1">
                          <a:solidFill>
                            <a:srgbClr val="000000"/>
                          </a:solidFill>
                          <a:latin typeface="Calibri"/>
                        </a:rPr>
                        <a:t>ieeexplore.ieee.org/document/11146698</a:t>
                      </a: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Hybrid adaptive dead-time plus peak delay control on a GaN synchronous buck</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wrap="square"/>
                    <a:lstStyle/>
                    <a:p>
                      <a:pPr marL="0" indent="0">
                        <a:buNone/>
                      </a:pPr>
                      <a:r>
                        <a:rPr sz="900" b="0">
                          <a:solidFill>
                            <a:srgbClr val="000000"/>
                          </a:solidFill>
                          <a:latin typeface="Calibri"/>
                        </a:rPr>
                        <a:t>The most recent adaptive dead-time driver we found, and it adapts the one field our leave-one-out test shows carries the whole benefit — and only at light load.  </a:t>
                      </a:r>
                      <a:r>
                        <a:rPr sz="900" b="1">
                          <a:solidFill>
                            <a:srgbClr val="000000"/>
                          </a:solidFill>
                          <a:latin typeface="Calibri"/>
                        </a:rPr>
                        <a:t>WE FILL: </a:t>
                      </a:r>
                      <a:r>
                        <a:rPr sz="900" b="0">
                          <a:solidFill>
                            <a:srgbClr val="000000"/>
                          </a:solidFill>
                          <a:latin typeface="Calibri"/>
                        </a:rPr>
                        <a:t>which field is worth scheduling. Only dead time, and only at light load; drive strength is worth 0.00 %.</a:t>
                      </a:r>
                      <a:endParaRPr lang="en-US" sz="1300" dirty="0">
                        <a:latin typeface="Calibri" charset="0"/>
                        <a:ea typeface="Calibri" charset="0"/>
                        <a:cs typeface="Calibri" charset="0"/>
                      </a:endParaRPr>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extLst>
                  <a:ext uri="{0D108BD9-81ED-4DB2-BD59-A6C34878D82A}">
                    <a16:rowId xmlns:a16="http://schemas.microsoft.com/office/drawing/2014/main" val="10005"/>
                  </a:ext>
                </a:extLst>
              </a:tr>
            </a:tbl>
          </a:graphicData>
        </a:graphic>
      </p:graphicFrame>
      <p:sp>
        <p:nvSpPr>
          <p:cNvPr id="5" name="Text 2"/>
          <p:cNvSpPr txBox="1"/>
          <p:nvPr/>
        </p:nvSpPr>
        <p:spPr>
          <a:xfrm>
            <a:off x="548640" y="6291072"/>
            <a:ext cx="10332720" cy="365760"/>
          </a:xfrm>
          <a:prstGeom prst="rect">
            <a:avLst/>
          </a:prstGeom>
          <a:noFill/>
          <a:ln/>
        </p:spPr>
        <p:txBody>
          <a:bodyPr wrap="square" lIns="0" tIns="0" rIns="0" bIns="0" rtlCol="0" anchor="ct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[9] is the BASE PAPER: we reproduce its premise — a gate waveform chosen by a multibit code — on GaN, then extend it. All five are verified against the publisher record.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Proposed Solution &amp; Methodology</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Aim:</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To measure how much of an active gate driver’s benefit actually requires per-operating-point adaptation, and how much comes from simply choosing a better fixed setting — by searching the control word exhaustively rather than arguing the case.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Proposed Solution:</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A segmented GaN gate driver with a 720-point control word: 8 pull-up slices, 8 pull-down slices, dead time 5–35 ns, an active Miller clamp, and a selectable off-bias rail (0 / −2 V).</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Method: </a:t>
            </a:r>
            <a:r>
              <a:rPr lang="en-US" sz="1500" dirty="0">
                <a:solidFill>
                  <a:srgbClr val="000000"/>
                </a:solidFill>
                <a:latin typeface="Calibri" pitchFamily="34" charset="0"/>
                <a:ea typeface="Calibri" pitchFamily="34" charset="-122"/>
                <a:cs typeface="Calibri" pitchFamily="34" charset="-120"/>
              </a:rPr>
              <a:t xml:space="preserve">sweep the full word at every corner, so each per-corner optimum is a true optimum, then compare against the best single fixed word. That difference is the value of adaptation, and nothing else.</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Methodology / Approach:</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Double-pulse test in ngspice with a behavioural eGaN model from datasheet quantities; its symmetric channel makes the third-quadrant cost of negative bias emerge from device physics.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metrics per run, frozen in one extractor early; every reported quantity must be flat across a 5× timestep range — enforced, not assumed.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Project Scope: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scope: </a:t>
            </a:r>
            <a:r>
              <a:rPr lang="en-US" sz="1500" dirty="0">
                <a:solidFill>
                  <a:srgbClr val="000000"/>
                </a:solidFill>
                <a:latin typeface="Calibri" pitchFamily="34" charset="0"/>
                <a:ea typeface="Calibri" pitchFamily="34" charset="-122"/>
                <a:cs typeface="Calibri" pitchFamily="34" charset="-120"/>
              </a:rPr>
              <a:t xml:space="preserve">driver architecture, control-word optimisation, transistor-level output stage in SKY130. </a:t>
            </a:r>
            <a:r>
              <a:rPr lang="en-US" sz="1500" b="1" dirty="0">
                <a:solidFill>
                  <a:srgbClr val="000000"/>
                </a:solidFill>
                <a:latin typeface="Calibri" pitchFamily="34" charset="0"/>
                <a:ea typeface="Calibri" pitchFamily="34" charset="-122"/>
                <a:cs typeface="Calibri" pitchFamily="34" charset="-120"/>
              </a:rPr>
              <a:t xml:space="preserve">Out of scope: </a:t>
            </a:r>
            <a:r>
              <a:rPr lang="en-US" sz="1500" dirty="0">
                <a:solidFill>
                  <a:srgbClr val="000000"/>
                </a:solidFill>
                <a:latin typeface="Calibri" pitchFamily="34" charset="0"/>
                <a:ea typeface="Calibri" pitchFamily="34" charset="-122"/>
                <a:cs typeface="Calibri" pitchFamily="34" charset="-120"/>
              </a:rPr>
              <a:t xml:space="preserve">GaN device fabrication, sensing hardware, PCB build.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System Architecture</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architecture.png"/>
          <p:cNvPicPr>
            <a:picLocks noChangeAspect="1"/>
          </p:cNvPicPr>
          <p:nvPr/>
        </p:nvPicPr>
        <p:blipFill>
          <a:blip r:embed="rId4"/>
          <a:stretch>
            <a:fillRect/>
          </a:stretch>
        </p:blipFill>
        <p:spPr>
          <a:xfrm>
            <a:off x="1417320" y="1207008"/>
            <a:ext cx="9362598" cy="475488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Work Completed — 50 %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problem, reproduced and fixed.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1.65 V spurious against a 1.4 V threshold. Clamp on with −2 V off-bias: 2.58 V of margin.</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exhaustive search is complete.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720 words at each of four corners — 2,880 transients — so every per-corner optimum is a true optimum, not the best of a shortlist.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Stress-tested, not asserted.</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21,600 further transients across five device parameters: the ceiling holds between 4.3 % and 7.7 %. Loop inductance and EMI were tested, not argued.</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Cross-checked in four tools.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LTspice matches ngspice within 2 mV. MATLAB and Octave agree exactly. Vivado: 20 LUTs, 200 MHz met.</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In total: </a:t>
            </a:r>
            <a:r>
              <a:rPr lang="en-US" sz="1500" dirty="0">
                <a:solidFill>
                  <a:srgbClr val="000000"/>
                </a:solidFill>
                <a:latin typeface="Calibri" pitchFamily="34" charset="0"/>
                <a:ea typeface="Calibri" pitchFamily="34" charset="-122"/>
                <a:cs typeface="Calibri" pitchFamily="34" charset="-120"/>
              </a:rPr>
              <a:t xml:space="preserve">nearly 35,000 transient simulations.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Timeline, Milestones &amp; Tools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Timeline &amp; milestones</a:t>
            </a:r>
            <a:r>
              <a:rPr lang="en-US" sz="1600" dirty="0">
                <a:solidFill>
                  <a:srgbClr val="000000"/>
                </a:solidFill>
                <a:latin typeface="Calibri" pitchFamily="34" charset="0"/>
                <a:ea typeface="Calibri" pitchFamily="34" charset="-122"/>
                <a:cs typeface="Calibri" pitchFamily="34" charset="-120"/>
              </a:rPr>
              <a:t xml:space="preserve">  (dates follow the department calendar)</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 — complete. </a:t>
            </a:r>
            <a:r>
              <a:rPr lang="en-US" sz="1500" dirty="0">
                <a:solidFill>
                  <a:srgbClr val="000000"/>
                </a:solidFill>
                <a:latin typeface="Calibri" pitchFamily="34" charset="0"/>
                <a:ea typeface="Calibri" pitchFamily="34" charset="-122"/>
                <a:cs typeface="Calibri" pitchFamily="34" charset="-120"/>
              </a:rPr>
              <a:t xml:space="preserve">Problem reproduced, driver and testbench built, exhaustive search finished, ceiling established and stress-tested against the device model.</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 </a:t>
            </a:r>
            <a:r>
              <a:rPr lang="en-US" sz="1500" dirty="0">
                <a:solidFill>
                  <a:srgbClr val="000000"/>
                </a:solidFill>
                <a:latin typeface="Calibri" pitchFamily="34" charset="0"/>
                <a:ea typeface="Calibri" pitchFamily="34" charset="-122"/>
                <a:cs typeface="Calibri" pitchFamily="34" charset="-120"/>
              </a:rPr>
              <a:t xml:space="preserve">M1 secure a 5 V-capable PDK · M2 draw the segmented output stage at transistor level in Cadence · M3 re-run the ceiling on real devices and compare it against the ideal-switch bound reported here.</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Review-III. </a:t>
            </a:r>
            <a:r>
              <a:rPr lang="en-US" sz="1500" dirty="0">
                <a:solidFill>
                  <a:srgbClr val="000000"/>
                </a:solidFill>
                <a:latin typeface="Calibri" pitchFamily="34" charset="0"/>
                <a:ea typeface="Calibri" pitchFamily="34" charset="-122"/>
                <a:cs typeface="Calibri" pitchFamily="34" charset="-120"/>
              </a:rPr>
              <a:t xml:space="preserve">M4 build the half-bridge · M5 measure crosstalk margin at one corner against the simulated 1.65 V · M6 submit the manuscript.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Tools &amp; technologies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ngspice 42 (every sweep) · LTspice 24, in which the port was re-run · Icarus Verilog (RTL, 8 asserted properties) · Xilinx Vivado 2024.1.2, synthesised · Cadence Spectre / OCEAN · SKY130 PDK (BSIM4) · Python / NumPy / Matplotlib · MATLAB Online, an independent cross-check of the Pareto analysis · Git</a:t>
            </a:r>
          </a:p>
          <a:p>
            <a:pPr marL="177800" indent="-177800">
              <a:spcAft>
                <a:spcPts val="60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How to check any of it</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Every number on these slides is regenerated by a named script in the repository </a:t>
            </a:r>
            <a:r>
              <a:rPr lang="en-US" sz="1500" b="1" dirty="0">
                <a:solidFill>
                  <a:srgbClr val="000000"/>
                </a:solidFill>
                <a:latin typeface="Calibri" pitchFamily="34" charset="0"/>
                <a:ea typeface="Calibri" pitchFamily="34" charset="-122"/>
                <a:cs typeface="Calibri" pitchFamily="34" charset="-120"/>
              </a:rPr>
              <a:t xml:space="preserve">github.com/Amritha902/gan-driver</a:t>
            </a:r>
            <a:r>
              <a:rPr lang="en-US" sz="1500" dirty="0">
                <a:solidFill>
                  <a:srgbClr val="000000"/>
                </a:solidFill>
                <a:latin typeface="Calibri" pitchFamily="34" charset="0"/>
                <a:ea typeface="Calibri" pitchFamily="34" charset="-122"/>
                <a:cs typeface="Calibri" pitchFamily="34" charset="-120"/>
              </a:rPr>
              <a:t xml:space="preserve">. Netlists, raw sweep data and analysis scripts are all committed; no figure is drawn by hand, and no number is typed in twice.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20</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FPGA Controller — verified RTL</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2240280"/>
          </a:xfrm>
          <a:prstGeom prst="rect">
            <a:avLst/>
          </a:prstGeom>
          <a:noFill/>
          <a:ln/>
        </p:spPr>
        <p:txBody>
          <a:bodyPr wrap="square" lIns="0" tIns="0" rIns="0" bIns="0" rtlCol="0" anchor="t"/>
          <a:lstStyle/>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Three modules emitting exactly the 720-point control word the SPICE model consumes.</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Dead time gets a </a:t>
            </a:r>
            <a:r>
              <a:rPr lang="en-US" sz="1500" b="1" dirty="0">
                <a:solidFill>
                  <a:srgbClr val="000000"/>
                </a:solidFill>
                <a:latin typeface="Calibri" pitchFamily="34" charset="0"/>
                <a:ea typeface="Calibri" pitchFamily="34" charset="-122"/>
                <a:cs typeface="Calibri" pitchFamily="34" charset="-120"/>
              </a:rPr>
              <a:t xml:space="preserve">live register</a:t>
            </a:r>
            <a:r>
              <a:rPr lang="en-US" sz="1500" dirty="0">
                <a:solidFill>
                  <a:srgbClr val="000000"/>
                </a:solidFill>
                <a:latin typeface="Calibri" pitchFamily="34" charset="0"/>
                <a:ea typeface="Calibri" pitchFamily="34" charset="-122"/>
                <a:cs typeface="Calibri" pitchFamily="34" charset="-120"/>
              </a:rPr>
              <a:t xml:space="preserve">; drive strength is </a:t>
            </a:r>
            <a:r>
              <a:rPr lang="en-US" sz="1500" b="1" dirty="0">
                <a:solidFill>
                  <a:srgbClr val="000000"/>
                </a:solidFill>
                <a:latin typeface="Calibri" pitchFamily="34" charset="0"/>
                <a:ea typeface="Calibri" pitchFamily="34" charset="-122"/>
                <a:cs typeface="Calibri" pitchFamily="34" charset="-120"/>
              </a:rPr>
              <a:t xml:space="preserve">strapped</a:t>
            </a:r>
            <a:r>
              <a:rPr lang="en-US" sz="1500" dirty="0">
                <a:solidFill>
                  <a:srgbClr val="000000"/>
                </a:solidFill>
                <a:latin typeface="Calibri" pitchFamily="34" charset="0"/>
                <a:ea typeface="Calibri" pitchFamily="34" charset="-122"/>
                <a:cs typeface="Calibri" pitchFamily="34" charset="-120"/>
              </a:rPr>
              <a:t xml:space="preserve"> — 5.45 % vs 0.00 % to schedule.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Eight asserted properties pass under Icarus, safe reset included; a shoot-through mutant is caught 221× (sh rtl/mutate.sh).</a:t>
            </a:r>
          </a:p>
          <a:p>
            <a:pPr marL="520700" indent="-177800">
              <a:spcAft>
                <a:spcPts val="600"/>
              </a:spcAft>
              <a:buSzPct val="100000"/>
              <a:buChar char="–"/>
            </a:pPr>
            <a:r>
              <a:rPr lang="en-US" sz="1500" b="1" dirty="0">
                <a:solidFill>
                  <a:srgbClr val="000000"/>
                </a:solidFill>
                <a:latin typeface="Calibri" pitchFamily="34" charset="0"/>
                <a:ea typeface="Calibri" pitchFamily="34" charset="-122"/>
                <a:cs typeface="Calibri" pitchFamily="34" charset="-120"/>
              </a:rPr>
              <a:t xml:space="preserve">Implemented in Vivado 2024.1.2</a:t>
            </a:r>
            <a:r>
              <a:rPr lang="en-US" sz="1500" dirty="0">
                <a:solidFill>
                  <a:srgbClr val="000000"/>
                </a:solidFill>
                <a:latin typeface="Calibri" pitchFamily="34" charset="0"/>
                <a:ea typeface="Calibri" pitchFamily="34" charset="-122"/>
                <a:cs typeface="Calibri" pitchFamily="34" charset="-120"/>
              </a:rPr>
              <a:t xml:space="preserve"> on xc7a35t: </a:t>
            </a:r>
            <a:r>
              <a:rPr lang="en-US" sz="1500" b="1" dirty="0">
                <a:solidFill>
                  <a:srgbClr val="000000"/>
                </a:solidFill>
                <a:latin typeface="Calibri" pitchFamily="34" charset="0"/>
                <a:ea typeface="Calibri" pitchFamily="34" charset="-122"/>
                <a:cs typeface="Calibri" pitchFamily="34" charset="-120"/>
              </a:rPr>
              <a:t xml:space="preserve">20 LUTs, 20 flip-flops</a:t>
            </a:r>
            <a:r>
              <a:rPr lang="en-US" sz="1500" dirty="0">
                <a:solidFill>
                  <a:srgbClr val="000000"/>
                </a:solidFill>
                <a:latin typeface="Calibri" pitchFamily="34" charset="0"/>
                <a:ea typeface="Calibri" pitchFamily="34" charset="-122"/>
                <a:cs typeface="Calibri" pitchFamily="34" charset="-120"/>
              </a:rPr>
              <a:t xml:space="preserve"> — 0.10 % of the part. Register-to-register timing at 200 MHz is </a:t>
            </a:r>
            <a:r>
              <a:rPr lang="en-US" sz="1500" b="1" dirty="0">
                <a:solidFill>
                  <a:srgbClr val="000000"/>
                </a:solidFill>
                <a:latin typeface="Calibri" pitchFamily="34" charset="0"/>
                <a:ea typeface="Calibri" pitchFamily="34" charset="-122"/>
                <a:cs typeface="Calibri" pitchFamily="34" charset="-120"/>
              </a:rPr>
              <a:t xml:space="preserve">MET, 1.996 ns slack</a:t>
            </a:r>
            <a:r>
              <a:rPr lang="en-US" sz="1500" dirty="0">
                <a:solidFill>
                  <a:srgbClr val="000000"/>
                </a:solidFill>
                <a:latin typeface="Calibri" pitchFamily="34" charset="0"/>
                <a:ea typeface="Calibri" pitchFamily="34" charset="-122"/>
                <a:cs typeface="Calibri" pitchFamily="34" charset="-120"/>
              </a:rPr>
              <a:t xml:space="preserve">.</a:t>
            </a:r>
          </a:p>
          <a:p>
            <a:pPr marL="520700" indent="-177800">
              <a:spcAft>
                <a:spcPts val="600"/>
              </a:spcAft>
              <a:buSzPct val="100000"/>
              <a:buChar char="–"/>
            </a:pPr>
            <a:r>
              <a:rPr lang="en-US" sz="1500" dirty="0">
                <a:solidFill>
                  <a:srgbClr val="000000"/>
                </a:solidFill>
                <a:latin typeface="Calibri" pitchFamily="34" charset="0"/>
                <a:ea typeface="Calibri" pitchFamily="34" charset="-122"/>
                <a:cs typeface="Calibri" pitchFamily="34" charset="-120"/>
              </a:rPr>
              <a:t xml:space="preserve">The 34 failing paths are all clock-to-pin against a placeholder 4 ns I/O constraint — the output buffer alone is 3.49 ns.</a:t>
            </a:r>
          </a:p>
        </p:txBody>
      </p:sp>
      <p:pic>
        <p:nvPicPr>
          <p:cNvPr id="6" name="Picture 5" descr="fig_rtl_waveform.png"/>
          <p:cNvPicPr>
            <a:picLocks noChangeAspect="1"/>
          </p:cNvPicPr>
          <p:nvPr/>
        </p:nvPicPr>
        <p:blipFill>
          <a:blip r:embed="rId4"/>
          <a:stretch>
            <a:fillRect/>
          </a:stretch>
        </p:blipFill>
        <p:spPr>
          <a:xfrm>
            <a:off x="2743200" y="3703320"/>
            <a:ext cx="6675120" cy="2422423"/>
          </a:xfrm>
          <a:prstGeom prst="rect">
            <a:avLst/>
          </a:prstGeom>
        </p:spPr>
      </p:pic>
      <p:sp>
        <p:nvSpPr>
          <p:cNvPr id="7" name="TextBox 6"/>
          <p:cNvSpPr txBox="1"/>
          <p:nvPr/>
        </p:nvSpPr>
        <p:spPr>
          <a:xfrm>
            <a:off x="2743200" y="6217920"/>
            <a:ext cx="6675120" cy="310896"/>
          </a:xfrm>
          <a:prstGeom prst="rect">
            <a:avLst/>
          </a:prstGeom>
          <a:noFill/>
        </p:spPr>
        <p:txBody>
          <a:bodyPr wrap="square" lIns="0" tIns="0" rIns="0" bIns="0">
            <a:spAutoFit/>
          </a:bodyPr>
          <a:lstStyle/>
          <a:p>
            <a:pPr marL="177800" indent="0">
              <a:spcAft>
                <a:spcPts val="0"/>
              </a:spcAft>
              <a:buSzPct val="100000"/>
              <a:buNone/>
            </a:pPr>
            <a:r>
              <a:rPr lang="en-US" sz="1000" dirty="0">
                <a:solidFill>
                  <a:srgbClr val="000000"/>
                </a:solidFill>
                <a:latin typeface="Calibri" pitchFamily="34" charset="0"/>
                <a:ea typeface="Calibri" pitchFamily="34" charset="-122"/>
                <a:cs typeface="Calibri" pitchFamily="34" charset="-120"/>
              </a:rPr>
              <a:t xml:space="preserve">Icarus Verilog VCD. ls_pu falls to 0 before hs_pu rises — the shaded dead time is the gap, and no shoot-through window exists.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1 — crosstalk is real; the clamp fixes it</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1_crosstalk.png"/>
          <p:cNvPicPr>
            <a:picLocks noChangeAspect="1"/>
          </p:cNvPicPr>
          <p:nvPr/>
        </p:nvPicPr>
        <p:blipFill>
          <a:blip r:embed="rId4"/>
          <a:stretch>
            <a:fillRect/>
          </a:stretch>
        </p:blipFill>
        <p:spPr>
          <a:xfrm>
            <a:off x="640080" y="1325880"/>
            <a:ext cx="6675120" cy="4238315"/>
          </a:xfrm>
          <a:prstGeom prst="rect">
            <a:avLst/>
          </a:prstGeom>
        </p:spPr>
      </p:pic>
      <p:sp>
        <p:nvSpPr>
          <p:cNvPr id="6" name="TextBox 5"/>
          <p:cNvSpPr txBox="1"/>
          <p:nvPr/>
        </p:nvSpPr>
        <p:spPr>
          <a:xfrm>
            <a:off x="640080" y="5760720"/>
            <a:ext cx="667512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1  Spurious gate voltage on the off-device: the failure, and the actuator that removes it.</a:t>
            </a:r>
          </a:p>
        </p:txBody>
      </p:sp>
      <p:sp>
        <p:nvSpPr>
          <p:cNvPr id="7" name="TextBox 6"/>
          <p:cNvSpPr txBox="1"/>
          <p:nvPr/>
        </p:nvSpPr>
        <p:spPr>
          <a:xfrm>
            <a:off x="7635240" y="1325880"/>
            <a:ext cx="388620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The problem is real, and reproduced</a:t>
            </a:r>
          </a:p>
        </p:txBody>
      </p:sp>
      <p:sp>
        <p:nvSpPr>
          <p:cNvPr id="8" name="TextBox 7"/>
          <p:cNvSpPr txBox="1"/>
          <p:nvPr/>
        </p:nvSpPr>
        <p:spPr>
          <a:xfrm>
            <a:off x="7635240" y="182880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1.65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spurious gate peak vs 1.4 V threshold</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Fastest drive, no clamp — false turn-on</a:t>
            </a:r>
          </a:p>
        </p:txBody>
      </p:sp>
      <p:sp>
        <p:nvSpPr>
          <p:cNvPr id="9" name="TextBox 8"/>
          <p:cNvSpPr txBox="1"/>
          <p:nvPr/>
        </p:nvSpPr>
        <p:spPr>
          <a:xfrm>
            <a:off x="7635240" y="3063240"/>
            <a:ext cx="388620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2.58 V</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margin with clamp + −2 V off-bias</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actuator removes it completely</a:t>
            </a:r>
          </a:p>
        </p:txBody>
      </p:sp>
      <p:sp>
        <p:nvSpPr>
          <p:cNvPr id="10" name="TextBox 9"/>
          <p:cNvSpPr txBox="1"/>
          <p:nvPr/>
        </p:nvSpPr>
        <p:spPr>
          <a:xfrm>
            <a:off x="7635240" y="4343400"/>
            <a:ext cx="3886200" cy="1828800"/>
          </a:xfrm>
          <a:prstGeom prst="rect">
            <a:avLst/>
          </a:prstGeom>
          <a:noFill/>
        </p:spPr>
        <p:txBody>
          <a:bodyPr wrap="square" lIns="0" tIns="0" rIns="0" bIns="0">
            <a:spAutoFit/>
          </a:bodyPr>
          <a:lstStyle/>
          <a:p>
            <a:pPr marL="177800" indent="0">
              <a:spcAft>
                <a:spcPts val="200"/>
              </a:spcAft>
              <a:buSzPct val="100000"/>
              <a:buNone/>
            </a:pPr>
            <a:r>
              <a:rPr lang="en-US" sz="1500" b="1" dirty="0">
                <a:solidFill>
                  <a:srgbClr val="000000"/>
                </a:solidFill>
                <a:latin typeface="Calibri" pitchFamily="34" charset="0"/>
                <a:ea typeface="Calibri" pitchFamily="34" charset="-122"/>
                <a:cs typeface="Calibri" pitchFamily="34" charset="-120"/>
              </a:rPr>
              <a:t xml:space="preserve">And safety is nearly free</a:t>
            </a:r>
          </a:p>
          <a:p>
            <a:pPr marL="177800" indent="0">
              <a:spcAft>
                <a:spcPts val="200"/>
              </a:spcAft>
              <a:buSzPct val="100000"/>
              <a:buNone/>
            </a:pPr>
            <a:r>
              <a:rPr lang="en-US" sz="1300" dirty="0">
                <a:solidFill>
                  <a:srgbClr val="000000"/>
                </a:solidFill>
                <a:latin typeface="Calibri" pitchFamily="34" charset="0"/>
                <a:ea typeface="Calibri" pitchFamily="34" charset="-122"/>
                <a:cs typeface="Calibri" pitchFamily="34" charset="-120"/>
              </a:rPr>
              <a:t xml:space="preserve">The energy-optimal control word is already crosstalk-safe at three of four corners. At the fourth, safety costs </a:t>
            </a:r>
            <a:r>
              <a:rPr lang="en-US" sz="1300" b="1" dirty="0">
                <a:solidFill>
                  <a:srgbClr val="000000"/>
                </a:solidFill>
                <a:latin typeface="Calibri" pitchFamily="34" charset="0"/>
                <a:ea typeface="Calibri" pitchFamily="34" charset="-122"/>
                <a:cs typeface="Calibri" pitchFamily="34" charset="-120"/>
              </a:rPr>
              <a:t xml:space="preserve">0.04 % of switching energy</a:t>
            </a:r>
            <a:r>
              <a:rPr lang="en-US" sz="1300" dirty="0">
                <a:solidFill>
                  <a:srgbClr val="000000"/>
                </a:solidFill>
                <a:latin typeface="Calibri" pitchFamily="34" charset="0"/>
                <a:ea typeface="Calibri" pitchFamily="34" charset="-122"/>
                <a:cs typeface="Calibri" pitchFamily="34" charset="-120"/>
              </a:rPr>
              <a:t xml:space="preserve"> — 3.335 µJ against 3.334 µJ.</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The clamp itself is worth 9.7–12.2 % of the blended cost, from a static architecture choice needing no sensing or controller.</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2 — scheduling is worth only 5.2 %</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paper_fig2_ceiling.png"/>
          <p:cNvPicPr>
            <a:picLocks noChangeAspect="1"/>
          </p:cNvPicPr>
          <p:nvPr/>
        </p:nvPicPr>
        <p:blipFill>
          <a:blip r:embed="rId2"/>
          <a:stretch>
            <a:fillRect/>
          </a:stretch>
        </p:blipFill>
        <p:spPr>
          <a:xfrm>
            <a:off x="640080" y="1417320"/>
            <a:ext cx="6035040" cy="3212290"/>
          </a:xfrm>
          <a:prstGeom prst="rect">
            <a:avLst/>
          </a:prstGeom>
        </p:spPr>
      </p:pic>
      <p:sp>
        <p:nvSpPr>
          <p:cNvPr id="6" name="TextBox 5"/>
          <p:cNvSpPr txBox="1"/>
          <p:nvPr/>
        </p:nvSpPr>
        <p:spPr>
          <a:xfrm>
            <a:off x="640080" y="4892040"/>
            <a:ext cx="6035040" cy="41148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Fig. 2  Cost of one fixed control word vs the true per-corner optimum, four corners.</a:t>
            </a:r>
          </a:p>
        </p:txBody>
      </p:sp>
      <p:sp>
        <p:nvSpPr>
          <p:cNvPr id="7" name="TextBox 6"/>
          <p:cNvSpPr txBox="1"/>
          <p:nvPr/>
        </p:nvSpPr>
        <p:spPr>
          <a:xfrm>
            <a:off x="640080" y="5440680"/>
            <a:ext cx="6035040" cy="82296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Full 720-word search at every corner — 2,880 transients — so each per-corner optimum is a true optimum, not the best of a shortlist.</a:t>
            </a:r>
          </a:p>
        </p:txBody>
      </p:sp>
      <p:sp>
        <p:nvSpPr>
          <p:cNvPr id="8" name="TextBox 7"/>
          <p:cNvSpPr txBox="1"/>
          <p:nvPr/>
        </p:nvSpPr>
        <p:spPr>
          <a:xfrm>
            <a:off x="6995160" y="1325880"/>
            <a:ext cx="4526280" cy="41148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adaptation is actually worth</a:t>
            </a:r>
          </a:p>
        </p:txBody>
      </p:sp>
      <p:sp>
        <p:nvSpPr>
          <p:cNvPr id="9" name="TextBox 8"/>
          <p:cNvSpPr txBox="1"/>
          <p:nvPr/>
        </p:nvSpPr>
        <p:spPr>
          <a:xfrm>
            <a:off x="6995160" y="1828800"/>
            <a:ext cx="45262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5.2 %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ceiling on operating-point scheduling</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the best single fixed word (= 3.9 % of baseline). A fixed word is nearly as good.</a:t>
            </a:r>
          </a:p>
        </p:txBody>
      </p:sp>
      <p:sp>
        <p:nvSpPr>
          <p:cNvPr id="10" name="TextBox 9"/>
          <p:cNvSpPr txBox="1"/>
          <p:nvPr/>
        </p:nvSpPr>
        <p:spPr>
          <a:xfrm>
            <a:off x="6995160" y="3035808"/>
            <a:ext cx="4526280" cy="3401568"/>
          </a:xfrm>
          <a:prstGeom prst="rect">
            <a:avLst/>
          </a:prstGeom>
          <a:noFill/>
        </p:spPr>
        <p:txBody>
          <a:bodyPr wrap="square" lIns="0" tIns="0" rIns="0" bIns="0">
            <a:spAutoFit/>
          </a:bodyPr>
          <a:lstStyle/>
          <a:p>
            <a:pPr marL="177800" indent="0">
              <a:spcAft>
                <a:spcPts val="180"/>
              </a:spcAft>
              <a:buSzPct val="100000"/>
              <a:buNone/>
            </a:pPr>
            <a:r>
              <a:rPr lang="en-US" sz="1300" b="1" dirty="0">
                <a:solidFill>
                  <a:srgbClr val="000000"/>
                </a:solidFill>
                <a:latin typeface="Calibri" pitchFamily="34" charset="0"/>
                <a:ea typeface="Calibri" pitchFamily="34" charset="-122"/>
                <a:cs typeface="Calibri" pitchFamily="34" charset="-120"/>
              </a:rPr>
              <a:t xml:space="preserve">The benefit is not spread out. </a:t>
            </a:r>
            <a:r>
              <a:rPr lang="en-US" sz="1300" dirty="0">
                <a:solidFill>
                  <a:srgbClr val="000000"/>
                </a:solidFill>
                <a:latin typeface="Calibri" pitchFamily="34" charset="0"/>
                <a:ea typeface="Calibri" pitchFamily="34" charset="-122"/>
                <a:cs typeface="Calibri" pitchFamily="34" charset="-120"/>
              </a:rPr>
              <a:t xml:space="preserve">Three corners lose 1–4 % from a fixed word; one loses 12.7 %.</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5.2 % is the generous figure: </a:t>
            </a:r>
            <a:r>
              <a:rPr lang="en-US" sz="1200" dirty="0">
                <a:solidFill>
                  <a:srgbClr val="000000"/>
                </a:solidFill>
                <a:latin typeface="Calibri" pitchFamily="34" charset="0"/>
                <a:ea typeface="Calibri" pitchFamily="34" charset="-122"/>
                <a:cs typeface="Calibri" pitchFamily="34" charset="-120"/>
              </a:rPr>
              <a:t xml:space="preserve">the denser 36-point grid gives </a:t>
            </a:r>
            <a:r>
              <a:rPr lang="en-US" sz="1200" b="1" dirty="0">
                <a:solidFill>
                  <a:srgbClr val="000000"/>
                </a:solidFill>
                <a:latin typeface="Calibri" pitchFamily="34" charset="0"/>
                <a:ea typeface="Calibri" pitchFamily="34" charset="-122"/>
                <a:cs typeface="Calibri" pitchFamily="34" charset="-120"/>
              </a:rPr>
              <a:t xml:space="preserve">2.0 %</a:t>
            </a:r>
            <a:r>
              <a:rPr lang="en-US" sz="1200" dirty="0">
                <a:solidFill>
                  <a:srgbClr val="000000"/>
                </a:solidFill>
                <a:latin typeface="Calibri" pitchFamily="34" charset="0"/>
                <a:ea typeface="Calibri" pitchFamily="34" charset="-122"/>
                <a:cs typeface="Calibri" pitchFamily="34" charset="-120"/>
              </a:rPr>
              <a:t xml:space="preserve">.</a:t>
            </a:r>
          </a:p>
          <a:p>
            <a:pPr marL="177800" indent="0">
              <a:spcAft>
                <a:spcPts val="180"/>
              </a:spcAft>
              <a:buSzPct val="100000"/>
              <a:buNone/>
            </a:pPr>
            <a:r>
              <a:rPr lang="en-US" sz="1200" b="1" dirty="0">
                <a:solidFill>
                  <a:srgbClr val="000000"/>
                </a:solidFill>
                <a:latin typeface="Calibri" pitchFamily="34" charset="0"/>
                <a:ea typeface="Calibri" pitchFamily="34" charset="-122"/>
                <a:cs typeface="Calibri" pitchFamily="34" charset="-120"/>
              </a:rPr>
              <a:t xml:space="preserve">It is carried by the dead time — and the dead time by one corner. </a:t>
            </a:r>
            <a:r>
              <a:rPr lang="en-US" sz="1200" dirty="0">
                <a:solidFill>
                  <a:srgbClr val="000000"/>
                </a:solidFill>
                <a:latin typeface="Calibri" pitchFamily="34" charset="0"/>
                <a:ea typeface="Calibri" pitchFamily="34" charset="-122"/>
                <a:cs typeface="Calibri" pitchFamily="34" charset="-120"/>
              </a:rPr>
              <a:t xml:space="preserve">Freezing dead time costs 5.45 % across four corners. Drop the light-load 50 V / 2 A corner and it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three corners want 5 ns, only that one wants 15 ns. So the adaptive hardware reduces to a light-load detector picking one of two dead times. Freezing pull-up drive strength costs </a:t>
            </a:r>
            <a:r>
              <a:rPr lang="en-US" sz="1200" b="1" dirty="0">
                <a:solidFill>
                  <a:srgbClr val="000000"/>
                </a:solidFill>
                <a:latin typeface="Calibri" pitchFamily="34" charset="0"/>
                <a:ea typeface="Calibri" pitchFamily="34" charset="-122"/>
                <a:cs typeface="Calibri" pitchFamily="34" charset="-120"/>
              </a:rPr>
              <a:t xml:space="preserve">0.00 %</a:t>
            </a:r>
            <a:r>
              <a:rPr lang="en-US" sz="1200" dirty="0">
                <a:solidFill>
                  <a:srgbClr val="000000"/>
                </a:solidFill>
                <a:latin typeface="Calibri" pitchFamily="34" charset="0"/>
                <a:ea typeface="Calibri" pitchFamily="34" charset="-122"/>
                <a:cs typeface="Calibri" pitchFamily="34" charset="-120"/>
              </a:rPr>
              <a:t xml:space="preserve"> — and drive strength is what the active-gate-driver literature actually schedules.</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Robust to the device, conditional on the layout. </a:t>
            </a:r>
            <a:r>
              <a:rPr lang="en-US" sz="1300" dirty="0">
                <a:solidFill>
                  <a:srgbClr val="000000"/>
                </a:solidFill>
                <a:latin typeface="Calibri" pitchFamily="34" charset="0"/>
                <a:ea typeface="Calibri" pitchFamily="34" charset="-122"/>
                <a:cs typeface="Calibri" pitchFamily="34" charset="-120"/>
              </a:rPr>
              <a:t xml:space="preserve">Across 21,600 transients, no device parameter moves the ceiling outside 4.3–7.7 %. Halving the loop inductance takes it to 13.5 %, and loop inductance is board layout, not the transistor [3].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25</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3 — the two halves nobody separates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261872"/>
            <a:ext cx="11064240" cy="731520"/>
          </a:xfrm>
          <a:prstGeom prst="rect">
            <a:avLst/>
          </a:prstGeom>
          <a:noFill/>
        </p:spPr>
        <p:txBody>
          <a:bodyPr wrap="square" lIns="0" tIns="0" rIns="0" bIns="0">
            <a:spAutoFit/>
          </a:bodyPr>
          <a:lstStyle/>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The base paper [9] </a:t>
            </a:r>
            <a:r>
              <a:rPr lang="en-US" sz="1250" b="1" dirty="0">
                <a:solidFill>
                  <a:srgbClr val="000000"/>
                </a:solidFill>
                <a:latin typeface="Calibri" pitchFamily="34" charset="0"/>
                <a:ea typeface="Calibri" pitchFamily="34" charset="-122"/>
                <a:cs typeface="Calibri" pitchFamily="34" charset="-120"/>
              </a:rPr>
              <a:t xml:space="preserve">(doi.org/10.1002/cta.3136)</a:t>
            </a:r>
            <a:r>
              <a:rPr lang="en-US" sz="1250" dirty="0">
                <a:solidFill>
                  <a:srgbClr val="000000"/>
                </a:solidFill>
                <a:latin typeface="Calibri" pitchFamily="34" charset="0"/>
                <a:ea typeface="Calibri" pitchFamily="34" charset="-122"/>
                <a:cs typeface="Calibri" pitchFamily="34" charset="-120"/>
              </a:rPr>
              <a:t xml:space="preserve"> shows a gate waveform can be chosen by a digital code. It, and every active-gate-driver paper after it, then reports </a:t>
            </a:r>
            <a:r>
              <a:rPr lang="en-US" sz="1250" b="1" dirty="0">
                <a:solidFill>
                  <a:srgbClr val="000000"/>
                </a:solidFill>
                <a:latin typeface="Calibri" pitchFamily="34" charset="0"/>
                <a:ea typeface="Calibri" pitchFamily="34" charset="-122"/>
                <a:cs typeface="Calibri" pitchFamily="34" charset="-120"/>
              </a:rPr>
              <a:t xml:space="preserve">one</a:t>
            </a:r>
            <a:r>
              <a:rPr lang="en-US" sz="1250" dirty="0">
                <a:solidFill>
                  <a:srgbClr val="000000"/>
                </a:solidFill>
                <a:latin typeface="Calibri" pitchFamily="34" charset="0"/>
                <a:ea typeface="Calibri" pitchFamily="34" charset="-122"/>
                <a:cs typeface="Calibri" pitchFamily="34" charset="-120"/>
              </a:rPr>
              <a:t xml:space="preserve"> number — the improvement over a conventional driver. That number bundles two separable effects, and only the second needs sensing, an ADC and a lookup table. Separating them needs the exhaustive search, which is why nobody has.</a:t>
            </a:r>
          </a:p>
        </p:txBody>
      </p:sp>
      <p:sp>
        <p:nvSpPr>
          <p:cNvPr id="6" name="TextBox 5"/>
          <p:cNvSpPr txBox="1"/>
          <p:nvPr/>
        </p:nvSpPr>
        <p:spPr>
          <a:xfrm>
            <a:off x="640080" y="2212848"/>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(A)   Choose a better FIXED word</a:t>
            </a:r>
          </a:p>
        </p:txBody>
      </p:sp>
      <p:sp>
        <p:nvSpPr>
          <p:cNvPr id="7" name="TextBox 6"/>
          <p:cNvSpPr txBox="1"/>
          <p:nvPr/>
        </p:nvSpPr>
        <p:spPr>
          <a:xfrm>
            <a:off x="6812280" y="2029967"/>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25.1 %</a:t>
            </a:r>
          </a:p>
        </p:txBody>
      </p:sp>
      <p:sp>
        <p:nvSpPr>
          <p:cNvPr id="8" name="TextBox 7"/>
          <p:cNvSpPr txBox="1"/>
          <p:nvPr/>
        </p:nvSpPr>
        <p:spPr>
          <a:xfrm>
            <a:off x="9006840" y="2249424"/>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no sensing · no LUT</a:t>
            </a:r>
          </a:p>
        </p:txBody>
      </p:sp>
      <p:sp>
        <p:nvSpPr>
          <p:cNvPr id="9" name="TextBox 8"/>
          <p:cNvSpPr txBox="1"/>
          <p:nvPr/>
        </p:nvSpPr>
        <p:spPr>
          <a:xfrm>
            <a:off x="640080" y="3236976"/>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ADAPT it per operating point</a:t>
            </a:r>
          </a:p>
        </p:txBody>
      </p:sp>
      <p:sp>
        <p:nvSpPr>
          <p:cNvPr id="10" name="TextBox 9"/>
          <p:cNvSpPr txBox="1"/>
          <p:nvPr/>
        </p:nvSpPr>
        <p:spPr>
          <a:xfrm>
            <a:off x="6812280" y="3054096"/>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3.9 %</a:t>
            </a:r>
          </a:p>
        </p:txBody>
      </p:sp>
      <p:sp>
        <p:nvSpPr>
          <p:cNvPr id="11" name="TextBox 10"/>
          <p:cNvSpPr txBox="1"/>
          <p:nvPr/>
        </p:nvSpPr>
        <p:spPr>
          <a:xfrm>
            <a:off x="9006840" y="3273552"/>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needs all of it</a:t>
            </a:r>
          </a:p>
        </p:txBody>
      </p:sp>
      <p:sp>
        <p:nvSpPr>
          <p:cNvPr id="12" name="TextBox 11"/>
          <p:cNvSpPr txBox="1"/>
          <p:nvPr/>
        </p:nvSpPr>
        <p:spPr>
          <a:xfrm>
            <a:off x="640080" y="4261104"/>
            <a:ext cx="5989320" cy="365760"/>
          </a:xfrm>
          <a:prstGeom prst="rect">
            <a:avLst/>
          </a:prstGeom>
          <a:noFill/>
        </p:spPr>
        <p:txBody>
          <a:bodyPr wrap="square" lIns="0" tIns="0" rIns="0" bIns="0">
            <a:spAutoFit/>
          </a:bodyPr>
          <a:lstStyle/>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(B′)  …but ONE comparator captures 72 % of (B)</a:t>
            </a:r>
          </a:p>
        </p:txBody>
      </p:sp>
      <p:sp>
        <p:nvSpPr>
          <p:cNvPr id="13" name="TextBox 12"/>
          <p:cNvSpPr txBox="1"/>
          <p:nvPr/>
        </p:nvSpPr>
        <p:spPr>
          <a:xfrm>
            <a:off x="6812280" y="4078224"/>
            <a:ext cx="1965960" cy="658368"/>
          </a:xfrm>
          <a:prstGeom prst="rect">
            <a:avLst/>
          </a:prstGeom>
          <a:noFill/>
        </p:spPr>
        <p:txBody>
          <a:bodyPr wrap="square" lIns="0" tIns="0" rIns="0" bIns="0">
            <a:spAutoFit/>
          </a:bodyPr>
          <a:lstStyle/>
          <a:p>
            <a:pPr marL="177800" indent="0">
              <a:spcAft>
                <a:spcPts val="0"/>
              </a:spcAft>
              <a:buSzPct val="100000"/>
              <a:buNone/>
            </a:pPr>
            <a:r>
              <a:rPr lang="en-US" sz="2600" b="1" dirty="0">
                <a:solidFill>
                  <a:srgbClr val="000000"/>
                </a:solidFill>
                <a:latin typeface="Calibri" pitchFamily="34" charset="0"/>
                <a:ea typeface="Calibri" pitchFamily="34" charset="-122"/>
                <a:cs typeface="Calibri" pitchFamily="34" charset="-120"/>
              </a:rPr>
              <a:t xml:space="preserve">2.8 %</a:t>
            </a:r>
          </a:p>
        </p:txBody>
      </p:sp>
      <p:sp>
        <p:nvSpPr>
          <p:cNvPr id="14" name="TextBox 13"/>
          <p:cNvSpPr txBox="1"/>
          <p:nvPr/>
        </p:nvSpPr>
        <p:spPr>
          <a:xfrm>
            <a:off x="9006840" y="4297680"/>
            <a:ext cx="2697480" cy="54864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a threshold, not a LUT</a:t>
            </a:r>
          </a:p>
        </p:txBody>
      </p:sp>
      <p:sp>
        <p:nvSpPr>
          <p:cNvPr id="15" name="TextBox 14"/>
          <p:cNvSpPr txBox="1"/>
          <p:nvPr/>
        </p:nvSpPr>
        <p:spPr>
          <a:xfrm>
            <a:off x="640080" y="5413248"/>
            <a:ext cx="11064240" cy="1005840"/>
          </a:xfrm>
          <a:prstGeom prst="rect">
            <a:avLst/>
          </a:prstGeom>
          <a:noFill/>
        </p:spPr>
        <p:txBody>
          <a:bodyPr wrap="square" lIns="0" tIns="0" rIns="0" bIns="0">
            <a:spAutoFit/>
          </a:bodyPr>
          <a:lstStyle/>
          <a:p>
            <a:pPr marL="177800" indent="0">
              <a:spcAft>
                <a:spcPts val="130"/>
              </a:spcAft>
              <a:buSzPct val="100000"/>
              <a:buNone/>
            </a:pPr>
            <a:r>
              <a:rPr lang="en-US" sz="1300" dirty="0">
                <a:solidFill>
                  <a:srgbClr val="000000"/>
                </a:solidFill>
                <a:latin typeface="Calibri" pitchFamily="34" charset="0"/>
                <a:ea typeface="Calibri" pitchFamily="34" charset="-122"/>
                <a:cs typeface="Calibri" pitchFamily="34" charset="-120"/>
              </a:rPr>
              <a:t xml:space="preserve">So the full sense + ADC + lookup table is left justifying </a:t>
            </a:r>
            <a:r>
              <a:rPr lang="en-US" sz="1300" b="1" dirty="0">
                <a:solidFill>
                  <a:srgbClr val="000000"/>
                </a:solidFill>
                <a:latin typeface="Calibri" pitchFamily="34" charset="0"/>
                <a:ea typeface="Calibri" pitchFamily="34" charset="-122"/>
                <a:cs typeface="Calibri" pitchFamily="34" charset="-120"/>
              </a:rPr>
              <a:t xml:space="preserve">3.7 % of the total achievable gain</a:t>
            </a:r>
            <a:r>
              <a:rPr lang="en-US" sz="1300" dirty="0">
                <a:solidFill>
                  <a:srgbClr val="000000"/>
                </a:solidFill>
                <a:latin typeface="Calibri" pitchFamily="34" charset="0"/>
                <a:ea typeface="Calibri" pitchFamily="34" charset="-122"/>
                <a:cs typeface="Calibri" pitchFamily="34" charset="-120"/>
              </a:rPr>
              <a:t xml:space="preserve"> over a fixed word plus one comparator. Adaptation is 13.4 % of the gain; a single threshold takes 72 % of that.</a:t>
            </a:r>
          </a:p>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figure shares one baseline — the median control word that is safe at all four corners. The split does not rest on the weighting: swept over 106 overshoot weights, (A) stays </a:t>
            </a:r>
            <a:r>
              <a:rPr lang="en-US" sz="1200" b="1" dirty="0">
                <a:solidFill>
                  <a:srgbClr val="000000"/>
                </a:solidFill>
                <a:latin typeface="Calibri" pitchFamily="34" charset="0"/>
                <a:ea typeface="Calibri" pitchFamily="34" charset="-122"/>
                <a:cs typeface="Calibri" pitchFamily="34" charset="-120"/>
              </a:rPr>
              <a:t xml:space="preserve">23.4–29.0 %</a:t>
            </a:r>
            <a:r>
              <a:rPr lang="en-US" sz="1200" dirty="0">
                <a:solidFill>
                  <a:srgbClr val="000000"/>
                </a:solidFill>
                <a:latin typeface="Calibri" pitchFamily="34" charset="0"/>
                <a:ea typeface="Calibri" pitchFamily="34" charset="-122"/>
                <a:cs typeface="Calibri" pitchFamily="34" charset="-120"/>
              </a:rPr>
              <a:t xml:space="preserve"> and (B) </a:t>
            </a:r>
            <a:r>
              <a:rPr lang="en-US" sz="1200" b="1" dirty="0">
                <a:solidFill>
                  <a:srgbClr val="000000"/>
                </a:solidFill>
                <a:latin typeface="Calibri" pitchFamily="34" charset="0"/>
                <a:ea typeface="Calibri" pitchFamily="34" charset="-122"/>
                <a:cs typeface="Calibri" pitchFamily="34" charset="-120"/>
              </a:rPr>
              <a:t xml:space="preserve">1.3–6.4 %</a:t>
            </a:r>
            <a:r>
              <a:rPr lang="en-US" sz="1200" dirty="0">
                <a:solidFill>
                  <a:srgbClr val="000000"/>
                </a:solidFill>
                <a:latin typeface="Calibri" pitchFamily="34" charset="0"/>
                <a:ea typeface="Calibri" pitchFamily="34" charset="-122"/>
                <a:cs typeface="Calibri" pitchFamily="34" charset="-120"/>
              </a:rPr>
              <a:t xml:space="preserve"> — and (A) exceeds (B) at </a:t>
            </a:r>
            <a:r>
              <a:rPr lang="en-US" sz="1200" b="1" dirty="0">
                <a:solidFill>
                  <a:srgbClr val="000000"/>
                </a:solidFill>
                <a:latin typeface="Calibri" pitchFamily="34" charset="0"/>
                <a:ea typeface="Calibri" pitchFamily="34" charset="-122"/>
                <a:cs typeface="Calibri" pitchFamily="34" charset="-120"/>
              </a:rPr>
              <a:t xml:space="preserve">every</a:t>
            </a:r>
            <a:r>
              <a:rPr lang="en-US" sz="1200" dirty="0">
                <a:solidFill>
                  <a:srgbClr val="000000"/>
                </a:solidFill>
                <a:latin typeface="Calibri" pitchFamily="34" charset="0"/>
                <a:ea typeface="Calibri" pitchFamily="34" charset="-122"/>
                <a:cs typeface="Calibri" pitchFamily="34" charset="-120"/>
              </a:rPr>
              <a:t xml:space="preserve"> weight tested, out to 5.0. </a:t>
            </a:r>
            <a:r>
              <a:rPr lang="en-US" sz="1200" b="1" dirty="0">
                <a:solidFill>
                  <a:srgbClr val="000000"/>
                </a:solidFill>
                <a:latin typeface="Calibri" pitchFamily="34" charset="0"/>
                <a:ea typeface="Calibri" pitchFamily="34" charset="-122"/>
                <a:cs typeface="Calibri" pitchFamily="34" charset="-120"/>
              </a:rPr>
              <a:t xml:space="preserve">scripts/novelty.py</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scripts/weight_sensitivity.py</a:t>
            </a:r>
            <a:r>
              <a:rPr lang="en-US" sz="1200" dirty="0">
                <a:solidFill>
                  <a:srgbClr val="000000"/>
                </a:solidFill>
                <a:latin typeface="Calibri" pitchFamily="34" charset="0"/>
                <a:ea typeface="Calibri" pitchFamily="34" charset="-122"/>
                <a:cs typeface="Calibri" pitchFamily="34" charset="-120"/>
              </a:rPr>
              <a:t xml:space="preserv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Result 4 — adaptive pays below ~2.5 nH</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Picture 4" descr="fig_lloop.png"/>
          <p:cNvPicPr>
            <a:picLocks noChangeAspect="1"/>
          </p:cNvPicPr>
          <p:nvPr/>
        </p:nvPicPr>
        <p:blipFill>
          <a:blip r:embed="rId4"/>
          <a:stretch>
            <a:fillRect/>
          </a:stretch>
        </p:blipFill>
        <p:spPr>
          <a:xfrm>
            <a:off x="1938528" y="1234440"/>
            <a:ext cx="8311896" cy="4478392"/>
          </a:xfrm>
          <a:prstGeom prst="rect">
            <a:avLst/>
          </a:prstGeom>
        </p:spPr>
      </p:pic>
      <p:sp>
        <p:nvSpPr>
          <p:cNvPr id="6" name="TextBox 5"/>
          <p:cNvSpPr txBox="1"/>
          <p:nvPr/>
        </p:nvSpPr>
        <p:spPr>
          <a:xfrm>
            <a:off x="640080" y="5815584"/>
            <a:ext cx="10881360" cy="64008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Eight inductances, 7,200 transients. The answer is a </a:t>
            </a:r>
            <a:r>
              <a:rPr lang="en-US" sz="1200" b="1" dirty="0">
                <a:solidFill>
                  <a:srgbClr val="000000"/>
                </a:solidFill>
                <a:latin typeface="Calibri" pitchFamily="34" charset="0"/>
                <a:ea typeface="Calibri" pitchFamily="34" charset="-122"/>
                <a:cs typeface="Calibri" pitchFamily="34" charset="-120"/>
              </a:rPr>
              <a:t xml:space="preserve">band</a:t>
            </a:r>
            <a:r>
              <a:rPr lang="en-US" sz="1200" dirty="0">
                <a:solidFill>
                  <a:srgbClr val="000000"/>
                </a:solidFill>
                <a:latin typeface="Calibri" pitchFamily="34" charset="0"/>
                <a:ea typeface="Calibri" pitchFamily="34" charset="-122"/>
                <a:cs typeface="Calibri" pitchFamily="34" charset="-120"/>
              </a:rPr>
              <a:t xml:space="preserve">, not a threshold: adaptive control pays only from about 2.5 nH down, peaking at 13.5 % at 1.5 nH, and it falls back to 8.1 % at 1.0 nH because only 165 of 720 words stay safe there — below ~2 nH feasibility binds, not optimisation. </a:t>
            </a:r>
            <a:r>
              <a:rPr lang="en-US" sz="1200" b="1" dirty="0">
                <a:solidFill>
                  <a:srgbClr val="000000"/>
                </a:solidFill>
                <a:latin typeface="Calibri" pitchFamily="34" charset="0"/>
                <a:ea typeface="Calibri" pitchFamily="34" charset="-122"/>
                <a:cs typeface="Calibri" pitchFamily="34" charset="-120"/>
              </a:rPr>
              <a:t xml:space="preserve">A designer measures their loop and reads off the decision</a:t>
            </a:r>
            <a:r>
              <a:rPr lang="en-US" sz="1200" dirty="0">
                <a:solidFill>
                  <a:srgbClr val="000000"/>
                </a:solidFill>
                <a:latin typeface="Calibri" pitchFamily="34" charset="0"/>
                <a:ea typeface="Calibri" pitchFamily="34" charset="-122"/>
                <a:cs typeface="Calibri" pitchFamily="34" charset="-120"/>
              </a:rPr>
              <a:t xml:space="preserve"> — a trade-off the literature does not state.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27</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Backup — the device doesn’t move it; layout does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325880"/>
            <a:ext cx="34747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Perturbation</a:t>
            </a:r>
          </a:p>
        </p:txBody>
      </p:sp>
      <p:sp>
        <p:nvSpPr>
          <p:cNvPr id="6" name="TextBox 5"/>
          <p:cNvSpPr txBox="1"/>
          <p:nvPr/>
        </p:nvSpPr>
        <p:spPr>
          <a:xfrm>
            <a:off x="4160520" y="1325880"/>
            <a:ext cx="10058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Ceiling</a:t>
            </a:r>
          </a:p>
        </p:txBody>
      </p:sp>
      <p:sp>
        <p:nvSpPr>
          <p:cNvPr id="7" name="TextBox 6"/>
          <p:cNvSpPr txBox="1"/>
          <p:nvPr/>
        </p:nvSpPr>
        <p:spPr>
          <a:xfrm>
            <a:off x="5257800" y="1325880"/>
            <a:ext cx="1097280" cy="27432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vs nom.</a:t>
            </a:r>
          </a:p>
        </p:txBody>
      </p:sp>
      <p:sp>
        <p:nvSpPr>
          <p:cNvPr id="8" name="TextBox 7"/>
          <p:cNvSpPr txBox="1"/>
          <p:nvPr/>
        </p:nvSpPr>
        <p:spPr>
          <a:xfrm>
            <a:off x="640080" y="171907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(1.5 nH)</a:t>
            </a:r>
          </a:p>
        </p:txBody>
      </p:sp>
      <p:sp>
        <p:nvSpPr>
          <p:cNvPr id="9" name="TextBox 8"/>
          <p:cNvSpPr txBox="1"/>
          <p:nvPr/>
        </p:nvSpPr>
        <p:spPr>
          <a:xfrm>
            <a:off x="4160520" y="171907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13.54 %</a:t>
            </a:r>
          </a:p>
        </p:txBody>
      </p:sp>
      <p:sp>
        <p:nvSpPr>
          <p:cNvPr id="10" name="TextBox 9"/>
          <p:cNvSpPr txBox="1"/>
          <p:nvPr/>
        </p:nvSpPr>
        <p:spPr>
          <a:xfrm>
            <a:off x="5257800" y="171907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+7.59</a:t>
            </a:r>
          </a:p>
        </p:txBody>
      </p:sp>
      <p:sp>
        <p:nvSpPr>
          <p:cNvPr id="11" name="TextBox 10"/>
          <p:cNvSpPr txBox="1"/>
          <p:nvPr/>
        </p:nvSpPr>
        <p:spPr>
          <a:xfrm>
            <a:off x="640080" y="202539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12" name="TextBox 11"/>
          <p:cNvSpPr txBox="1"/>
          <p:nvPr/>
        </p:nvSpPr>
        <p:spPr>
          <a:xfrm>
            <a:off x="4160520" y="202539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7.71 %</a:t>
            </a:r>
          </a:p>
        </p:txBody>
      </p:sp>
      <p:sp>
        <p:nvSpPr>
          <p:cNvPr id="13" name="TextBox 12"/>
          <p:cNvSpPr txBox="1"/>
          <p:nvPr/>
        </p:nvSpPr>
        <p:spPr>
          <a:xfrm>
            <a:off x="5257800" y="202539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+1.76</a:t>
            </a:r>
          </a:p>
        </p:txBody>
      </p:sp>
      <p:sp>
        <p:nvSpPr>
          <p:cNvPr id="14" name="TextBox 13"/>
          <p:cNvSpPr txBox="1"/>
          <p:nvPr/>
        </p:nvSpPr>
        <p:spPr>
          <a:xfrm>
            <a:off x="640080" y="2331720"/>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15" name="TextBox 14"/>
          <p:cNvSpPr txBox="1"/>
          <p:nvPr/>
        </p:nvSpPr>
        <p:spPr>
          <a:xfrm>
            <a:off x="4160520" y="2331720"/>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6.93 %</a:t>
            </a:r>
          </a:p>
        </p:txBody>
      </p:sp>
      <p:sp>
        <p:nvSpPr>
          <p:cNvPr id="16" name="TextBox 15"/>
          <p:cNvSpPr txBox="1"/>
          <p:nvPr/>
        </p:nvSpPr>
        <p:spPr>
          <a:xfrm>
            <a:off x="5257800" y="2331720"/>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+0.99</a:t>
            </a:r>
          </a:p>
        </p:txBody>
      </p:sp>
      <p:sp>
        <p:nvSpPr>
          <p:cNvPr id="17" name="TextBox 16"/>
          <p:cNvSpPr txBox="1"/>
          <p:nvPr/>
        </p:nvSpPr>
        <p:spPr>
          <a:xfrm>
            <a:off x="640080" y="2638044"/>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nominal</a:t>
            </a:r>
          </a:p>
        </p:txBody>
      </p:sp>
      <p:sp>
        <p:nvSpPr>
          <p:cNvPr id="18" name="TextBox 17"/>
          <p:cNvSpPr txBox="1"/>
          <p:nvPr/>
        </p:nvSpPr>
        <p:spPr>
          <a:xfrm>
            <a:off x="4160520" y="2638044"/>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5.95 %</a:t>
            </a:r>
          </a:p>
        </p:txBody>
      </p:sp>
      <p:sp>
        <p:nvSpPr>
          <p:cNvPr id="19" name="TextBox 18"/>
          <p:cNvSpPr txBox="1"/>
          <p:nvPr/>
        </p:nvSpPr>
        <p:spPr>
          <a:xfrm>
            <a:off x="5257800" y="2638044"/>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a:t>
            </a:r>
          </a:p>
        </p:txBody>
      </p:sp>
      <p:sp>
        <p:nvSpPr>
          <p:cNvPr id="20" name="TextBox 19"/>
          <p:cNvSpPr txBox="1"/>
          <p:nvPr/>
        </p:nvSpPr>
        <p:spPr>
          <a:xfrm>
            <a:off x="640080" y="294436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1" name="TextBox 20"/>
          <p:cNvSpPr txBox="1"/>
          <p:nvPr/>
        </p:nvSpPr>
        <p:spPr>
          <a:xfrm>
            <a:off x="4160520" y="294436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5.64 %</a:t>
            </a:r>
          </a:p>
        </p:txBody>
      </p:sp>
      <p:sp>
        <p:nvSpPr>
          <p:cNvPr id="22" name="TextBox 21"/>
          <p:cNvSpPr txBox="1"/>
          <p:nvPr/>
        </p:nvSpPr>
        <p:spPr>
          <a:xfrm>
            <a:off x="5257800" y="294436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−0.31</a:t>
            </a:r>
          </a:p>
        </p:txBody>
      </p:sp>
      <p:sp>
        <p:nvSpPr>
          <p:cNvPr id="23" name="TextBox 22"/>
          <p:cNvSpPr txBox="1"/>
          <p:nvPr/>
        </p:nvSpPr>
        <p:spPr>
          <a:xfrm>
            <a:off x="640080" y="3250691"/>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24" name="TextBox 23"/>
          <p:cNvSpPr txBox="1"/>
          <p:nvPr/>
        </p:nvSpPr>
        <p:spPr>
          <a:xfrm>
            <a:off x="4160520" y="3250691"/>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5.08 %</a:t>
            </a:r>
          </a:p>
        </p:txBody>
      </p:sp>
      <p:sp>
        <p:nvSpPr>
          <p:cNvPr id="25" name="TextBox 24"/>
          <p:cNvSpPr txBox="1"/>
          <p:nvPr/>
        </p:nvSpPr>
        <p:spPr>
          <a:xfrm>
            <a:off x="5257800" y="3250691"/>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−0.87</a:t>
            </a:r>
          </a:p>
        </p:txBody>
      </p:sp>
      <p:sp>
        <p:nvSpPr>
          <p:cNvPr id="26" name="TextBox 25"/>
          <p:cNvSpPr txBox="1"/>
          <p:nvPr/>
        </p:nvSpPr>
        <p:spPr>
          <a:xfrm>
            <a:off x="640080" y="3557015"/>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Threshold +20 %</a:t>
            </a:r>
          </a:p>
        </p:txBody>
      </p:sp>
      <p:sp>
        <p:nvSpPr>
          <p:cNvPr id="27" name="TextBox 26"/>
          <p:cNvSpPr txBox="1"/>
          <p:nvPr/>
        </p:nvSpPr>
        <p:spPr>
          <a:xfrm>
            <a:off x="4160520" y="3557015"/>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4.90 %</a:t>
            </a:r>
          </a:p>
        </p:txBody>
      </p:sp>
      <p:sp>
        <p:nvSpPr>
          <p:cNvPr id="28" name="TextBox 27"/>
          <p:cNvSpPr txBox="1"/>
          <p:nvPr/>
        </p:nvSpPr>
        <p:spPr>
          <a:xfrm>
            <a:off x="5257800" y="3557015"/>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−1.05</a:t>
            </a:r>
          </a:p>
        </p:txBody>
      </p:sp>
      <p:sp>
        <p:nvSpPr>
          <p:cNvPr id="29" name="TextBox 28"/>
          <p:cNvSpPr txBox="1"/>
          <p:nvPr/>
        </p:nvSpPr>
        <p:spPr>
          <a:xfrm>
            <a:off x="640080" y="3863339"/>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Input capacitance −30 %</a:t>
            </a:r>
          </a:p>
        </p:txBody>
      </p:sp>
      <p:sp>
        <p:nvSpPr>
          <p:cNvPr id="30" name="TextBox 29"/>
          <p:cNvSpPr txBox="1"/>
          <p:nvPr/>
        </p:nvSpPr>
        <p:spPr>
          <a:xfrm>
            <a:off x="4160520" y="3863339"/>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4.76 %</a:t>
            </a:r>
          </a:p>
        </p:txBody>
      </p:sp>
      <p:sp>
        <p:nvSpPr>
          <p:cNvPr id="31" name="TextBox 30"/>
          <p:cNvSpPr txBox="1"/>
          <p:nvPr/>
        </p:nvSpPr>
        <p:spPr>
          <a:xfrm>
            <a:off x="5257800" y="3863339"/>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−1.19</a:t>
            </a:r>
          </a:p>
        </p:txBody>
      </p:sp>
      <p:sp>
        <p:nvSpPr>
          <p:cNvPr id="32" name="TextBox 31"/>
          <p:cNvSpPr txBox="1"/>
          <p:nvPr/>
        </p:nvSpPr>
        <p:spPr>
          <a:xfrm>
            <a:off x="640080" y="4169663"/>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Transconductance −30 %</a:t>
            </a:r>
          </a:p>
        </p:txBody>
      </p:sp>
      <p:sp>
        <p:nvSpPr>
          <p:cNvPr id="33" name="TextBox 32"/>
          <p:cNvSpPr txBox="1"/>
          <p:nvPr/>
        </p:nvSpPr>
        <p:spPr>
          <a:xfrm>
            <a:off x="4160520" y="4169663"/>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4.45 %</a:t>
            </a:r>
          </a:p>
        </p:txBody>
      </p:sp>
      <p:sp>
        <p:nvSpPr>
          <p:cNvPr id="34" name="TextBox 33"/>
          <p:cNvSpPr txBox="1"/>
          <p:nvPr/>
        </p:nvSpPr>
        <p:spPr>
          <a:xfrm>
            <a:off x="5257800" y="4169663"/>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−1.49</a:t>
            </a:r>
          </a:p>
        </p:txBody>
      </p:sp>
      <p:sp>
        <p:nvSpPr>
          <p:cNvPr id="35" name="TextBox 34"/>
          <p:cNvSpPr txBox="1"/>
          <p:nvPr/>
        </p:nvSpPr>
        <p:spPr>
          <a:xfrm>
            <a:off x="640080" y="4475988"/>
            <a:ext cx="347472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Miller capacitance +50 %</a:t>
            </a:r>
          </a:p>
        </p:txBody>
      </p:sp>
      <p:sp>
        <p:nvSpPr>
          <p:cNvPr id="36" name="TextBox 35"/>
          <p:cNvSpPr txBox="1"/>
          <p:nvPr/>
        </p:nvSpPr>
        <p:spPr>
          <a:xfrm>
            <a:off x="4160520" y="4475988"/>
            <a:ext cx="100584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4.32 %</a:t>
            </a:r>
          </a:p>
        </p:txBody>
      </p:sp>
      <p:sp>
        <p:nvSpPr>
          <p:cNvPr id="37" name="TextBox 36"/>
          <p:cNvSpPr txBox="1"/>
          <p:nvPr/>
        </p:nvSpPr>
        <p:spPr>
          <a:xfrm>
            <a:off x="5257800" y="4475988"/>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−1.63</a:t>
            </a:r>
          </a:p>
        </p:txBody>
      </p:sp>
      <p:sp>
        <p:nvSpPr>
          <p:cNvPr id="38" name="TextBox 37"/>
          <p:cNvSpPr txBox="1"/>
          <p:nvPr/>
        </p:nvSpPr>
        <p:spPr>
          <a:xfrm>
            <a:off x="640080" y="4782312"/>
            <a:ext cx="347472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Loop inductance +50 %  (4.5 nH)</a:t>
            </a:r>
          </a:p>
        </p:txBody>
      </p:sp>
      <p:sp>
        <p:nvSpPr>
          <p:cNvPr id="39" name="TextBox 38"/>
          <p:cNvSpPr txBox="1"/>
          <p:nvPr/>
        </p:nvSpPr>
        <p:spPr>
          <a:xfrm>
            <a:off x="4160520" y="4782312"/>
            <a:ext cx="1005840" cy="27432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0.55 %</a:t>
            </a:r>
          </a:p>
        </p:txBody>
      </p:sp>
      <p:sp>
        <p:nvSpPr>
          <p:cNvPr id="40" name="TextBox 39"/>
          <p:cNvSpPr txBox="1"/>
          <p:nvPr/>
        </p:nvSpPr>
        <p:spPr>
          <a:xfrm>
            <a:off x="5257800" y="4782312"/>
            <a:ext cx="1097280" cy="27432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−5.39</a:t>
            </a:r>
          </a:p>
        </p:txBody>
      </p:sp>
      <p:sp>
        <p:nvSpPr>
          <p:cNvPr id="41" name="TextBox 40"/>
          <p:cNvSpPr txBox="1"/>
          <p:nvPr/>
        </p:nvSpPr>
        <p:spPr>
          <a:xfrm>
            <a:off x="6903720" y="1325880"/>
            <a:ext cx="4617720" cy="548640"/>
          </a:xfrm>
          <a:prstGeom prst="rect">
            <a:avLst/>
          </a:prstGeom>
          <a:noFill/>
        </p:spPr>
        <p:txBody>
          <a:bodyPr wrap="square" lIns="0" tIns="0" rIns="0" bIns="0">
            <a:spAutoFit/>
          </a:bodyPr>
          <a:lstStyle/>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Robust to the device,</a:t>
            </a:r>
          </a:p>
          <a:p>
            <a:pPr marL="177800" indent="0">
              <a:spcAft>
                <a:spcPts val="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conditional on the layout.</a:t>
            </a:r>
          </a:p>
        </p:txBody>
      </p:sp>
      <p:sp>
        <p:nvSpPr>
          <p:cNvPr id="42" name="TextBox 41"/>
          <p:cNvSpPr txBox="1"/>
          <p:nvPr/>
        </p:nvSpPr>
        <p:spPr>
          <a:xfrm>
            <a:off x="6903720" y="2057400"/>
            <a:ext cx="4617720" cy="4114800"/>
          </a:xfrm>
          <a:prstGeom prst="rect">
            <a:avLst/>
          </a:prstGeom>
          <a:noFill/>
        </p:spPr>
        <p:txBody>
          <a:bodyPr wrap="square" lIns="0" tIns="0" rIns="0" bIns="0">
            <a:spAutoFit/>
          </a:bodyPr>
          <a:lstStyle/>
          <a:p>
            <a:pPr marL="177800" indent="-177800">
              <a:spcAft>
                <a:spcPts val="200"/>
              </a:spcAft>
              <a:buSzPct val="100000"/>
              <a:buChar char="•"/>
            </a:pPr>
            <a:r>
              <a:rPr lang="en-US" sz="1300" b="1" dirty="0">
                <a:solidFill>
                  <a:srgbClr val="000000"/>
                </a:solidFill>
                <a:latin typeface="Calibri" pitchFamily="34" charset="0"/>
                <a:ea typeface="Calibri" pitchFamily="34" charset="-122"/>
                <a:cs typeface="Calibri" pitchFamily="34" charset="-120"/>
              </a:rPr>
              <a:t xml:space="preserve">21,600 transients</a:t>
            </a:r>
            <a:r>
              <a:rPr lang="en-US" sz="1300" dirty="0">
                <a:solidFill>
                  <a:srgbClr val="000000"/>
                </a:solidFill>
                <a:latin typeface="Calibri" pitchFamily="34" charset="0"/>
                <a:ea typeface="Calibri" pitchFamily="34" charset="-122"/>
                <a:cs typeface="Calibri" pitchFamily="34" charset="-120"/>
              </a:rPr>
              <a:t xml:space="preserve"> — a full 720-word search at two corners under each of eleven single-parameter perturbations. One failure.</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Every </a:t>
            </a:r>
            <a:r>
              <a:rPr lang="en-US" sz="1300" b="1" dirty="0">
                <a:solidFill>
                  <a:srgbClr val="000000"/>
                </a:solidFill>
                <a:latin typeface="Calibri" pitchFamily="34" charset="0"/>
                <a:ea typeface="Calibri" pitchFamily="34" charset="-122"/>
                <a:cs typeface="Calibri" pitchFamily="34" charset="-120"/>
              </a:rPr>
              <a:t xml:space="preserve">device</a:t>
            </a:r>
            <a:r>
              <a:rPr lang="en-US" sz="1300" dirty="0">
                <a:solidFill>
                  <a:srgbClr val="000000"/>
                </a:solidFill>
                <a:latin typeface="Calibri" pitchFamily="34" charset="0"/>
                <a:ea typeface="Calibri" pitchFamily="34" charset="-122"/>
                <a:cs typeface="Calibri" pitchFamily="34" charset="-120"/>
              </a:rPr>
              <a:t xml:space="preserve"> parameter leaves the ceiling between 4.3 % and 7.7 % — at most 1.76 points from nominal. The objection this study was built to answer is not supported.</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The one thing that moves it is </a:t>
            </a:r>
            <a:r>
              <a:rPr lang="en-US" sz="1300" b="1" dirty="0">
                <a:solidFill>
                  <a:srgbClr val="000000"/>
                </a:solidFill>
                <a:latin typeface="Calibri" pitchFamily="34" charset="0"/>
                <a:ea typeface="Calibri" pitchFamily="34" charset="-122"/>
                <a:cs typeface="Calibri" pitchFamily="34" charset="-120"/>
              </a:rPr>
              <a:t xml:space="preserve">loop inductance</a:t>
            </a:r>
            <a:r>
              <a:rPr lang="en-US" sz="1300" dirty="0">
                <a:solidFill>
                  <a:srgbClr val="000000"/>
                </a:solidFill>
                <a:latin typeface="Calibri" pitchFamily="34" charset="0"/>
                <a:ea typeface="Calibri" pitchFamily="34" charset="-122"/>
                <a:cs typeface="Calibri" pitchFamily="34" charset="-120"/>
              </a:rPr>
              <a:t xml:space="preserve">, which is board layout, not the transistor. A tighter loop commutates faster, so more charge couples through C</a:t>
            </a:r>
            <a:r>
              <a:rPr lang="en-US" sz="1300" dirty="0">
                <a:solidFill>
                  <a:srgbClr val="000000"/>
                </a:solidFill>
                <a:latin typeface="Calibri" pitchFamily="34" charset="0"/>
                <a:ea typeface="Calibri" pitchFamily="34" charset="-122"/>
                <a:cs typeface="Calibri" pitchFamily="34" charset="-120"/>
              </a:rPr>
              <a:t xml:space="preserve">GD</a:t>
            </a:r>
            <a:r>
              <a:rPr lang="en-US" sz="1300" dirty="0">
                <a:solidFill>
                  <a:srgbClr val="000000"/>
                </a:solidFill>
                <a:latin typeface="Calibri" pitchFamily="34" charset="0"/>
                <a:ea typeface="Calibri" pitchFamily="34" charset="-122"/>
                <a:cs typeface="Calibri" pitchFamily="34" charset="-120"/>
              </a:rPr>
              <a:t xml:space="preserve">: the median spurious gate voltage goes 0.640 V to 3.522 V and the feasible set collapses 474 → 158.</a:t>
            </a:r>
          </a:p>
          <a:p>
            <a:pPr marL="177800" indent="-177800">
              <a:spcAft>
                <a:spcPts val="200"/>
              </a:spcAft>
              <a:buSzPct val="100000"/>
              <a:buChar char="•"/>
            </a:pPr>
            <a:r>
              <a:rPr lang="en-US" sz="1300" dirty="0">
                <a:solidFill>
                  <a:srgbClr val="000000"/>
                </a:solidFill>
                <a:latin typeface="Calibri" pitchFamily="34" charset="0"/>
                <a:ea typeface="Calibri" pitchFamily="34" charset="-122"/>
                <a:cs typeface="Calibri" pitchFamily="34" charset="-120"/>
              </a:rPr>
              <a:t xml:space="preserve">So the claim is narrower and more useful than “robust”: from about 2.5 nH upward a fixed word is nearly as good; on a tighter loop the question has to be re-asked, and the answer there is not even monotonic — see slide 19.</a:t>
            </a:r>
          </a:p>
          <a:p>
            <a:pPr marL="177800" indent="-177800">
              <a:spcAft>
                <a:spcPts val="0"/>
              </a:spcAft>
              <a:buSzPct val="100000"/>
              <a:buChar char="•"/>
            </a:pPr>
            <a:r>
              <a:rPr lang="en-US" sz="1150" b="1" dirty="0">
                <a:solidFill>
                  <a:srgbClr val="000000"/>
                </a:solidFill>
                <a:latin typeface="Calibri" pitchFamily="34" charset="0"/>
                <a:ea typeface="Calibri" pitchFamily="34" charset="-122"/>
                <a:cs typeface="Calibri" pitchFamily="34" charset="-120"/>
              </a:rPr>
              <a:t xml:space="preserve">Baseline note. </a:t>
            </a:r>
            <a:r>
              <a:rPr lang="en-US" sz="1150" dirty="0">
                <a:solidFill>
                  <a:srgbClr val="000000"/>
                </a:solidFill>
                <a:latin typeface="Calibri" pitchFamily="34" charset="0"/>
                <a:ea typeface="Calibri" pitchFamily="34" charset="-122"/>
                <a:cs typeface="Calibri" pitchFamily="34" charset="-120"/>
              </a:rPr>
              <a:t xml:space="preserve">Nominal here is 5.95 %, not the 5.2 % headline — a two-corner search on its own sweep. Compare the </a:t>
            </a:r>
            <a:r>
              <a:rPr lang="en-US" sz="1150" b="1" dirty="0">
                <a:solidFill>
                  <a:srgbClr val="000000"/>
                </a:solidFill>
                <a:latin typeface="Calibri" pitchFamily="34" charset="0"/>
                <a:ea typeface="Calibri" pitchFamily="34" charset="-122"/>
                <a:cs typeface="Calibri" pitchFamily="34" charset="-120"/>
              </a:rPr>
              <a:t xml:space="preserve">vs nom.</a:t>
            </a:r>
            <a:r>
              <a:rPr lang="en-US" sz="1150" dirty="0">
                <a:solidFill>
                  <a:srgbClr val="000000"/>
                </a:solidFill>
                <a:latin typeface="Calibri" pitchFamily="34" charset="0"/>
                <a:ea typeface="Calibri" pitchFamily="34" charset="-122"/>
                <a:cs typeface="Calibri" pitchFamily="34" charset="-120"/>
              </a:rPr>
              <a:t xml:space="preserve"> column, not the absolute values.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28</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Demo</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pic>
        <p:nvPicPr>
          <p:cNvPr id="5" name="demo_crosstalk_explained.mp4">
            <a:hlinkClick r:id="" action="ppaction://media"/>
          </p:cNvPr>
          <p:cNvPicPr>
            <a:picLocks noChangeAspect="1"/>
          </p:cNvPicPr>
          <p:nvPr>
            <a:videoFile r:link="rId4"/>
            <p:extLst>
              <p:ext uri="{DAA4B4D4-6D71-4841-9C94-3DE7FCFB9230}">
                <p14:media xmlns:p14="http://schemas.microsoft.com/office/powerpoint/2010/main" r:embed="rId2"/>
              </p:ext>
            </p:extLst>
          </p:nvPr>
        </p:nvPicPr>
        <p:blipFill>
          <a:blip r:embed="rId5"/>
          <a:stretch>
            <a:fillRect/>
          </a:stretch>
        </p:blipFill>
        <p:spPr>
          <a:xfrm>
            <a:off x="640080" y="1417320"/>
            <a:ext cx="6949440" cy="4050791"/>
          </a:xfrm>
          <a:prstGeom prst="rect">
            <a:avLst/>
          </a:prstGeom>
        </p:spPr>
      </p:pic>
      <p:sp>
        <p:nvSpPr>
          <p:cNvPr id="6" name="TextBox 5"/>
          <p:cNvSpPr txBox="1"/>
          <p:nvPr/>
        </p:nvSpPr>
        <p:spPr>
          <a:xfrm>
            <a:off x="640080" y="5623560"/>
            <a:ext cx="6949440" cy="36576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Click to play (22 s). Real ngspice waveforms from sim/dpt.cir, run twice — only the pacing and the captions are presentational.</a:t>
            </a:r>
          </a:p>
        </p:txBody>
      </p:sp>
      <p:sp>
        <p:nvSpPr>
          <p:cNvPr id="7" name="TextBox 6"/>
          <p:cNvSpPr txBox="1"/>
          <p:nvPr/>
        </p:nvSpPr>
        <p:spPr>
          <a:xfrm>
            <a:off x="7909560" y="1417320"/>
            <a:ext cx="3611880" cy="4206240"/>
          </a:xfrm>
          <a:prstGeom prst="rect">
            <a:avLst/>
          </a:prstGeom>
          <a:noFill/>
        </p:spPr>
        <p:txBody>
          <a:bodyPr wrap="square" lIns="0" tIns="0" rIns="0" bIns="0">
            <a:spAutoFit/>
          </a:bodyPr>
          <a:lstStyle/>
          <a:p>
            <a:pPr marL="177800" indent="0">
              <a:spcAft>
                <a:spcPts val="240"/>
              </a:spcAft>
              <a:buSzPct val="100000"/>
              <a:buNone/>
            </a:pPr>
            <a:r>
              <a:rPr lang="en-US" sz="1500" b="1" dirty="0">
                <a:solidFill>
                  <a:srgbClr val="000000"/>
                </a:solidFill>
                <a:latin typeface="Calibri" pitchFamily="34" charset="0"/>
                <a:ea typeface="Calibri" pitchFamily="34" charset="-122"/>
                <a:cs typeface="Calibri" pitchFamily="34" charset="-120"/>
              </a:rPr>
              <a:t xml:space="preserve">What it shows</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TOP row: the switch node. The low-side device turns on and V(sw) collapses from 100 V in a few nanoseconds. That slew is the cause.</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BOTTOM row: the OFF device's gate. The dV/dt couples through C</a:t>
            </a:r>
            <a:r>
              <a:rPr lang="en-US" sz="1250" dirty="0">
                <a:solidFill>
                  <a:srgbClr val="000000"/>
                </a:solidFill>
                <a:latin typeface="Calibri" pitchFamily="34" charset="0"/>
                <a:ea typeface="Calibri" pitchFamily="34" charset="-122"/>
                <a:cs typeface="Calibri" pitchFamily="34" charset="-120"/>
              </a:rPr>
              <a:t xml:space="preserve">GD</a:t>
            </a:r>
            <a:r>
              <a:rPr lang="en-US" sz="1250" dirty="0">
                <a:solidFill>
                  <a:srgbClr val="000000"/>
                </a:solidFill>
                <a:latin typeface="Calibri" pitchFamily="34" charset="0"/>
                <a:ea typeface="Calibri" pitchFamily="34" charset="-122"/>
                <a:cs typeface="Calibri" pitchFamily="34" charset="-120"/>
              </a:rPr>
              <a:t xml:space="preserve"> and lifts it.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LEFT, failing: the gate reaches </a:t>
            </a:r>
            <a:r>
              <a:rPr lang="en-US" sz="1250" b="1" dirty="0">
                <a:solidFill>
                  <a:srgbClr val="000000"/>
                </a:solidFill>
                <a:latin typeface="Calibri" pitchFamily="34" charset="0"/>
                <a:ea typeface="Calibri" pitchFamily="34" charset="-122"/>
                <a:cs typeface="Calibri" pitchFamily="34" charset="-120"/>
              </a:rPr>
              <a:t xml:space="preserve">+1.65 V</a:t>
            </a:r>
            <a:r>
              <a:rPr lang="en-US" sz="1250" dirty="0">
                <a:solidFill>
                  <a:srgbClr val="000000"/>
                </a:solidFill>
                <a:latin typeface="Calibri" pitchFamily="34" charset="0"/>
                <a:ea typeface="Calibri" pitchFamily="34" charset="-122"/>
                <a:cs typeface="Calibri" pitchFamily="34" charset="-120"/>
              </a:rPr>
              <a:t xml:space="preserve"> — above the 1.4 V threshold drawn on the plot. The device turns on when it must not.</a:t>
            </a:r>
          </a:p>
          <a:p>
            <a:pPr marL="177800" indent="-177800">
              <a:spcAft>
                <a:spcPts val="170"/>
              </a:spcAft>
              <a:buSzPct val="100000"/>
              <a:buChar char="•"/>
            </a:pPr>
            <a:r>
              <a:rPr lang="en-US" sz="1250" dirty="0">
                <a:solidFill>
                  <a:srgbClr val="000000"/>
                </a:solidFill>
                <a:latin typeface="Calibri" pitchFamily="34" charset="0"/>
                <a:ea typeface="Calibri" pitchFamily="34" charset="-122"/>
                <a:cs typeface="Calibri" pitchFamily="34" charset="-120"/>
              </a:rPr>
              <a:t xml:space="preserve">RIGHT, shipped: same circuit, same word, plus the Miller clamp and −2 V off-bias. Peak </a:t>
            </a:r>
            <a:r>
              <a:rPr lang="en-US" sz="1250" b="1" dirty="0">
                <a:solidFill>
                  <a:srgbClr val="000000"/>
                </a:solidFill>
                <a:latin typeface="Calibri" pitchFamily="34" charset="0"/>
                <a:ea typeface="Calibri" pitchFamily="34" charset="-122"/>
                <a:cs typeface="Calibri" pitchFamily="34" charset="-120"/>
              </a:rPr>
              <a:t xml:space="preserve">−1.18 V</a:t>
            </a:r>
            <a:r>
              <a:rPr lang="en-US" sz="1250" dirty="0">
                <a:solidFill>
                  <a:srgbClr val="000000"/>
                </a:solidFill>
                <a:latin typeface="Calibri" pitchFamily="34" charset="0"/>
                <a:ea typeface="Calibri" pitchFamily="34" charset="-122"/>
                <a:cs typeface="Calibri" pitchFamily="34" charset="-120"/>
              </a:rPr>
              <a:t xml:space="preserve">, a 2.58 V margin.</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Both panels are the same simulation deck; only CLKEN and VNEG differ.</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Why the numbers hold</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Box 4"/>
          <p:cNvSpPr txBox="1"/>
          <p:nvPr/>
        </p:nvSpPr>
        <p:spPr>
          <a:xfrm>
            <a:off x="64008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34,622</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transient simulations</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sweep, corner study, robustness run, loop-inductance and EMI sweep, start to finish.</a:t>
            </a:r>
          </a:p>
        </p:txBody>
      </p:sp>
      <p:sp>
        <p:nvSpPr>
          <p:cNvPr id="6" name="TextBox 5"/>
          <p:cNvSpPr txBox="1"/>
          <p:nvPr/>
        </p:nvSpPr>
        <p:spPr>
          <a:xfrm>
            <a:off x="6263640" y="155448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720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control words, searched in full</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At every corner — so each per-corner optimum is a true optimum, not the best of a shortlist.</a:t>
            </a:r>
          </a:p>
        </p:txBody>
      </p:sp>
      <p:sp>
        <p:nvSpPr>
          <p:cNvPr id="7" name="TextBox 6"/>
          <p:cNvSpPr txBox="1"/>
          <p:nvPr/>
        </p:nvSpPr>
        <p:spPr>
          <a:xfrm>
            <a:off x="64008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25×</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timestep refinement survived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Every reported quantity must be flat across it. Enforced, not assumed.</a:t>
            </a:r>
          </a:p>
        </p:txBody>
      </p:sp>
      <p:sp>
        <p:nvSpPr>
          <p:cNvPr id="8" name="TextBox 7"/>
          <p:cNvSpPr txBox="1"/>
          <p:nvPr/>
        </p:nvSpPr>
        <p:spPr>
          <a:xfrm>
            <a:off x="6263640" y="3703320"/>
            <a:ext cx="5257800" cy="1828800"/>
          </a:xfrm>
          <a:prstGeom prst="rect">
            <a:avLst/>
          </a:prstGeom>
          <a:noFill/>
        </p:spPr>
        <p:txBody>
          <a:bodyPr wrap="square" lIns="0" tIns="0" rIns="0" bIns="0">
            <a:spAutoFit/>
          </a:bodyPr>
          <a:lstStyle/>
          <a:p>
            <a:pPr marL="177800" indent="0">
              <a:spcAft>
                <a:spcPts val="120"/>
              </a:spcAft>
              <a:buSzPct val="100000"/>
              <a:buNone/>
            </a:pPr>
            <a:r>
              <a:rPr lang="en-US" sz="4000" b="1" dirty="0">
                <a:solidFill>
                  <a:srgbClr val="000000"/>
                </a:solidFill>
                <a:latin typeface="Calibri" pitchFamily="34" charset="0"/>
                <a:ea typeface="Calibri" pitchFamily="34" charset="-122"/>
                <a:cs typeface="Calibri" pitchFamily="34" charset="-120"/>
              </a:rPr>
              <a:t xml:space="preserve">10</a:t>
            </a:r>
          </a:p>
          <a:p>
            <a:pPr marL="177800" indent="0">
              <a:spcAft>
                <a:spcPts val="100"/>
              </a:spcAft>
              <a:buSzPct val="100000"/>
              <a:buNone/>
            </a:pPr>
            <a:r>
              <a:rPr lang="en-US" sz="1500" b="1" dirty="0">
                <a:solidFill>
                  <a:srgbClr val="000000"/>
                </a:solidFill>
                <a:latin typeface="Calibri" pitchFamily="34" charset="0"/>
                <a:ea typeface="Calibri" pitchFamily="34" charset="-122"/>
                <a:cs typeface="Calibri" pitchFamily="34" charset="-120"/>
              </a:rPr>
              <a:t xml:space="preserve">wrong numbers caught, and corrected</a:t>
            </a:r>
          </a:p>
          <a:p>
            <a:pPr marL="177800" indent="0">
              <a:spcAft>
                <a:spcPts val="0"/>
              </a:spcAft>
              <a:buSzPct val="100000"/>
              <a:buNone/>
            </a:pPr>
            <a:r>
              <a:rPr lang="en-US" sz="1250" dirty="0">
                <a:solidFill>
                  <a:srgbClr val="000000"/>
                </a:solidFill>
                <a:latin typeface="Calibri" pitchFamily="34" charset="0"/>
                <a:ea typeface="Calibri" pitchFamily="34" charset="-122"/>
                <a:cs typeface="Calibri" pitchFamily="34" charset="-120"/>
              </a:rPr>
              <a:t xml:space="preserve">By that discipline, before any of them reached the report. Every one came from resampling or re-deriving a figure of our own — none from a reviewer.</a:t>
            </a:r>
          </a:p>
        </p:txBody>
      </p:sp>
      <p:sp>
        <p:nvSpPr>
          <p:cNvPr id="9" name="TextBox 8"/>
          <p:cNvSpPr txBox="1"/>
          <p:nvPr/>
        </p:nvSpPr>
        <p:spPr>
          <a:xfrm>
            <a:off x="640080" y="5897880"/>
            <a:ext cx="10881360" cy="41148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Stated plainly: </a:t>
            </a:r>
            <a:r>
              <a:rPr lang="en-US" sz="1150" dirty="0">
                <a:solidFill>
                  <a:srgbClr val="000000"/>
                </a:solidFill>
                <a:latin typeface="Calibri" pitchFamily="34" charset="0"/>
                <a:ea typeface="Calibri" pitchFamily="34" charset="-122"/>
                <a:cs typeface="Calibri" pitchFamily="34" charset="-120"/>
              </a:rPr>
              <a:t xml:space="preserve">LTspice has now been run: the three shipped .cir files reproduce 1.6487 / 0.8282 / −1.1768 V, matching ngspice to within 2 mV. Spectre is still a port — no installation available.</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Conclusion &amp; next steps</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937760"/>
          </a:xfrm>
          <a:prstGeom prst="rect">
            <a:avLst/>
          </a:prstGeom>
          <a:noFill/>
          <a:ln/>
        </p:spPr>
        <p:txBody>
          <a:bodyPr wrap="square" lIns="0" tIns="0" rIns="0" bIns="0" rtlCol="0" anchor="t"/>
          <a:lstStyle/>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the data supports</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Choosing the word well: </a:t>
            </a:r>
            <a:r>
              <a:rPr lang="en-US" sz="1600" dirty="0">
                <a:solidFill>
                  <a:srgbClr val="000000"/>
                </a:solidFill>
                <a:latin typeface="Calibri" pitchFamily="34" charset="0"/>
                <a:ea typeface="Calibri" pitchFamily="34" charset="-122"/>
                <a:cs typeface="Calibri" pitchFamily="34" charset="-120"/>
              </a:rPr>
              <a:t xml:space="preserve">25.1 %.   </a:t>
            </a:r>
            <a:r>
              <a:rPr lang="en-US" sz="1600" b="1" dirty="0">
                <a:solidFill>
                  <a:srgbClr val="000000"/>
                </a:solidFill>
                <a:latin typeface="Calibri" pitchFamily="34" charset="0"/>
                <a:ea typeface="Calibri" pitchFamily="34" charset="-122"/>
                <a:cs typeface="Calibri" pitchFamily="34" charset="-120"/>
              </a:rPr>
              <a:t xml:space="preserve">Adapting it per operating point: </a:t>
            </a:r>
            <a:r>
              <a:rPr lang="en-US" sz="1600" dirty="0">
                <a:solidFill>
                  <a:srgbClr val="000000"/>
                </a:solidFill>
                <a:latin typeface="Calibri" pitchFamily="34" charset="0"/>
                <a:ea typeface="Calibri" pitchFamily="34" charset="-122"/>
                <a:cs typeface="Calibri" pitchFamily="34" charset="-120"/>
              </a:rPr>
              <a:t xml:space="preserve">3.9 %.</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One comparator takes 72 % of that 3.9 %.</a:t>
            </a:r>
          </a:p>
          <a:p>
            <a:pPr marL="177800" indent="-177800">
              <a:spcAft>
                <a:spcPts val="34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The deliverable: </a:t>
            </a:r>
            <a:r>
              <a:rPr lang="en-US" sz="1600" dirty="0">
                <a:solidFill>
                  <a:srgbClr val="000000"/>
                </a:solidFill>
                <a:latin typeface="Calibri" pitchFamily="34" charset="0"/>
                <a:ea typeface="Calibri" pitchFamily="34" charset="-122"/>
                <a:cs typeface="Calibri" pitchFamily="34" charset="-120"/>
              </a:rPr>
              <a:t xml:space="preserve">a fixed word plus a light-load comparator. The full sense + ADC + lookup table is left justifying </a:t>
            </a:r>
            <a:r>
              <a:rPr lang="en-US" sz="1600" b="1" dirty="0">
                <a:solidFill>
                  <a:srgbClr val="000000"/>
                </a:solidFill>
                <a:latin typeface="Calibri" pitchFamily="34" charset="0"/>
                <a:ea typeface="Calibri" pitchFamily="34" charset="-122"/>
                <a:cs typeface="Calibri" pitchFamily="34" charset="-120"/>
              </a:rPr>
              <a:t xml:space="preserve">3.7 %</a:t>
            </a:r>
            <a:r>
              <a:rPr lang="en-US" sz="1600" dirty="0">
                <a:solidFill>
                  <a:srgbClr val="000000"/>
                </a:solidFill>
                <a:latin typeface="Calibri" pitchFamily="34" charset="0"/>
                <a:ea typeface="Calibri" pitchFamily="34" charset="-122"/>
                <a:cs typeface="Calibri" pitchFamily="34" charset="-120"/>
              </a:rPr>
              <a:t xml:space="preserve">.</a:t>
            </a:r>
          </a:p>
          <a:p>
            <a:pPr marL="177800" indent="0">
              <a:spcAft>
                <a:spcPts val="240"/>
              </a:spcAft>
              <a:buSzPct val="100000"/>
              <a:buNone/>
            </a:pPr>
            <a:r>
              <a:rPr lang="en-US" sz="1700" b="1" dirty="0">
                <a:solidFill>
                  <a:srgbClr val="000000"/>
                </a:solidFill>
                <a:latin typeface="Calibri" pitchFamily="34" charset="0"/>
                <a:ea typeface="Calibri" pitchFamily="34" charset="-122"/>
                <a:cs typeface="Calibri" pitchFamily="34" charset="-120"/>
              </a:rPr>
              <a:t xml:space="preserve">What is next</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Review-II — </a:t>
            </a:r>
            <a:r>
              <a:rPr lang="en-US" sz="1600" dirty="0">
                <a:solidFill>
                  <a:srgbClr val="000000"/>
                </a:solidFill>
                <a:latin typeface="Calibri" pitchFamily="34" charset="0"/>
                <a:ea typeface="Calibri" pitchFamily="34" charset="-122"/>
                <a:cs typeface="Calibri" pitchFamily="34" charset="-120"/>
              </a:rPr>
              <a:t xml:space="preserve">transistor-level output stage in Cadence; re-run the ceiling on real devices.</a:t>
            </a:r>
          </a:p>
          <a:p>
            <a:pPr marL="177800" indent="-177800">
              <a:spcAft>
                <a:spcPts val="220"/>
              </a:spcAft>
              <a:buSzPct val="100000"/>
              <a:buChar char="•"/>
            </a:pPr>
            <a:r>
              <a:rPr lang="en-US" sz="1600" b="1" dirty="0">
                <a:solidFill>
                  <a:srgbClr val="000000"/>
                </a:solidFill>
                <a:latin typeface="Calibri" pitchFamily="34" charset="0"/>
                <a:ea typeface="Calibri" pitchFamily="34" charset="-122"/>
                <a:cs typeface="Calibri" pitchFamily="34" charset="-120"/>
              </a:rPr>
              <a:t xml:space="preserve">Review-III — </a:t>
            </a:r>
            <a:r>
              <a:rPr lang="en-US" sz="1600" dirty="0">
                <a:solidFill>
                  <a:srgbClr val="000000"/>
                </a:solidFill>
                <a:latin typeface="Calibri" pitchFamily="34" charset="0"/>
                <a:ea typeface="Calibri" pitchFamily="34" charset="-122"/>
                <a:cs typeface="Calibri" pitchFamily="34" charset="-120"/>
              </a:rPr>
              <a:t xml:space="preserve">measure a hardware half-bridge. Until then this is a simulation study, and is titled as one.</a:t>
            </a:r>
          </a:p>
          <a:p>
            <a:pPr marL="177800" indent="-177800">
              <a:spcAft>
                <a:spcPts val="0"/>
              </a:spcAft>
              <a:buSzPct val="100000"/>
              <a:buChar char="•"/>
            </a:pPr>
            <a:r>
              <a:rPr lang="en-US" sz="1450" b="1" dirty="0">
                <a:solidFill>
                  <a:srgbClr val="000000"/>
                </a:solidFill>
                <a:latin typeface="Calibri" pitchFamily="34" charset="0"/>
                <a:ea typeface="Calibri" pitchFamily="34" charset="-122"/>
                <a:cs typeface="Calibri" pitchFamily="34" charset="-120"/>
              </a:rPr>
              <a:t xml:space="preserve">Limits we state ourselves: </a:t>
            </a:r>
            <a:r>
              <a:rPr lang="en-US" sz="1450" dirty="0">
                <a:solidFill>
                  <a:srgbClr val="000000"/>
                </a:solidFill>
                <a:latin typeface="Calibri" pitchFamily="34" charset="0"/>
                <a:ea typeface="Calibri" pitchFamily="34" charset="-122"/>
                <a:cs typeface="Calibri" pitchFamily="34" charset="-120"/>
              </a:rPr>
              <a:t xml:space="preserve">no silicon measured; one device model underlies everything.</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32</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(1–15)</a:t>
            </a:r>
            <a:endParaRPr lang="en-US" sz="2800" dirty="0"/>
          </a:p>
        </p:txBody>
      </p:sp>
      <p:pic>
        <p:nvPicPr>
          <p:cNvPr id="4"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  </a:t>
            </a:r>
            <a:r>
              <a:rPr lang="en-US" sz="900" dirty="0">
                <a:solidFill>
                  <a:srgbClr val="000000"/>
                </a:solidFill>
                <a:latin typeface="Calibri" pitchFamily="34" charset="0"/>
                <a:ea typeface="Calibri" pitchFamily="34" charset="-122"/>
                <a:cs typeface="Calibri" pitchFamily="34" charset="-120"/>
              </a:rPr>
              <a:t xml:space="preserve">Z. Zhang, F. Wang, L. M. Tolbert and B. J. Blalock, “Active Gate Driver for Crosstalk Suppression of SiC Devices in a Phase-Leg Configuration,” IEEE Trans. Power Electron., vol. 29, no. 4, pp. 1986–1997,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  </a:t>
            </a:r>
            <a:r>
              <a:rPr lang="en-US" sz="900" dirty="0">
                <a:solidFill>
                  <a:srgbClr val="000000"/>
                </a:solidFill>
                <a:latin typeface="Calibri" pitchFamily="34" charset="0"/>
                <a:ea typeface="Calibri" pitchFamily="34" charset="-122"/>
                <a:cs typeface="Calibri" pitchFamily="34" charset="-120"/>
              </a:rPr>
              <a:t xml:space="preserve">R. Xie, H. Wang, G. Tang, X. Yang and K. J. Chen, “An Analytical Model for False Turn-On Evaluation of High-Voltage Enhancement-Mode GaN Transistor in Bridge-Leg Configuration,” IEEE Trans. Power Electron., vol. 32, no. 8, pp. 6416–6433, Aug. 2017.</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  </a:t>
            </a:r>
            <a:r>
              <a:rPr lang="en-US" sz="900" dirty="0">
                <a:solidFill>
                  <a:srgbClr val="000000"/>
                </a:solidFill>
                <a:latin typeface="Calibri" pitchFamily="34" charset="0"/>
                <a:ea typeface="Calibri" pitchFamily="34" charset="-122"/>
                <a:cs typeface="Calibri" pitchFamily="34" charset="-120"/>
              </a:rPr>
              <a:t xml:space="preserve">D. Reusch and J. Strydom, “Understanding the Effect of PCB Layout on Circuit Performance in a High-Frequency Gallium-Nitride-Based Point of Load Converter,” IEEE Trans. Power Electron., vol. 29, no. 4, pp. 2008–2015, Apr. 2014.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[4]  </a:t>
            </a:r>
            <a:r>
              <a:rPr lang="en-US" sz="900" dirty="0">
                <a:solidFill>
                  <a:srgbClr val="000000"/>
                </a:solidFill>
                <a:latin typeface="Calibri" pitchFamily="34" charset="0"/>
                <a:ea typeface="Calibri" pitchFamily="34" charset="-122"/>
                <a:cs typeface="Calibri" pitchFamily="34" charset="-120"/>
              </a:rPr>
              <a:t xml:space="preserve">B. Li, G. Zhang, C. Li, G. Wang, S. Liu and D. Xu, “Crosstalk Suppression Method for GaN-Based Bridge Configuration Using Negative Voltage Self-Recovery Gate Drive,” IEEE Trans. Power Electron., vol. 37, no. 4, pp. 4406–4418,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[5]  </a:t>
            </a:r>
            <a:r>
              <a:rPr lang="en-US" sz="900" dirty="0">
                <a:solidFill>
                  <a:srgbClr val="000000"/>
                </a:solidFill>
                <a:latin typeface="Calibri" pitchFamily="34" charset="0"/>
                <a:ea typeface="Calibri" pitchFamily="34" charset="-122"/>
                <a:cs typeface="Calibri" pitchFamily="34" charset="-120"/>
              </a:rPr>
              <a:t xml:space="preserve">X. Chen, H. Peng, S. Song, Q. Tong and Y. Kang, “A Novel Control Strategy for Optimal Tradeoff between Overshoot and Switching Loss Based on Double Closed-Loop Self-Regulating Active Gate Driver,” IEEE Trans. Power Electron., vol. 39, no. 10, pp. 13033–13043,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[6]  </a:t>
            </a:r>
            <a:r>
              <a:rPr lang="en-US" sz="900" dirty="0">
                <a:solidFill>
                  <a:srgbClr val="000000"/>
                </a:solidFill>
                <a:latin typeface="Calibri" pitchFamily="34" charset="0"/>
                <a:ea typeface="Calibri" pitchFamily="34" charset="-122"/>
                <a:cs typeface="Calibri" pitchFamily="34" charset="-120"/>
              </a:rPr>
              <a:t xml:space="preserve">W. Song, T. Hu, J. Chen, T. Tang, H. Yue and G. Liu, “A Self-Regulating Active Gate Driver of Voltage Overshoot Suppression for SiC MOSFETs Under Variable Load Current Conditions,” IEEE Trans. Power Electron., vol. 40, no. 8, pp. 10623–10634,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[7]  </a:t>
            </a:r>
            <a:r>
              <a:rPr lang="en-US" sz="900" dirty="0">
                <a:solidFill>
                  <a:srgbClr val="000000"/>
                </a:solidFill>
                <a:latin typeface="Calibri" pitchFamily="34" charset="0"/>
                <a:ea typeface="Calibri" pitchFamily="34" charset="-122"/>
                <a:cs typeface="Calibri" pitchFamily="34" charset="-120"/>
              </a:rPr>
              <a:t xml:space="preserve">C.W. Kuo, T.W. Wang, L.C. Chen, C.C. Tu, Y.K. Hsiao and P.H. Chen, “Universal Active Gate Driver IC With Closed-Loop Timing Control and Gate-Sensing Technique for Silicon Carbide Power Devices,” IEEE Trans. Power Electron., vol. 40, no. 4, pp. 5120–5129,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[8]  </a:t>
            </a:r>
            <a:r>
              <a:rPr lang="en-US" sz="900" dirty="0">
                <a:solidFill>
                  <a:srgbClr val="000000"/>
                </a:solidFill>
                <a:latin typeface="Calibri" pitchFamily="34" charset="0"/>
                <a:ea typeface="Calibri" pitchFamily="34" charset="-122"/>
                <a:cs typeface="Calibri" pitchFamily="34" charset="-120"/>
              </a:rPr>
              <a:t xml:space="preserve">G.H. Thuc and C.J. Chen, “An Integrated Driver With Dual-Edge Adaptive Dead-Time Control for GaN-Based Synchronous Buck Converter,” IEEE Trans. Ind. Appl., vol. 60, no. 6, pp. 9157–9170,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[9]  </a:t>
            </a:r>
            <a:r>
              <a:rPr lang="en-US" sz="900" b="1" dirty="0">
                <a:solidFill>
                  <a:srgbClr val="000000"/>
                </a:solidFill>
                <a:latin typeface="Calibri" pitchFamily="34" charset="0"/>
                <a:ea typeface="Calibri" pitchFamily="34" charset="-122"/>
                <a:cs typeface="Calibri" pitchFamily="34" charset="-120"/>
              </a:rPr>
              <a:t xml:space="preserve">BASE PAPER — </a:t>
            </a:r>
            <a:r>
              <a:rPr lang="en-US" sz="900" dirty="0">
                <a:solidFill>
                  <a:srgbClr val="000000"/>
                </a:solidFill>
                <a:latin typeface="Calibri" pitchFamily="34" charset="0"/>
                <a:ea typeface="Calibri" pitchFamily="34" charset="-122"/>
                <a:cs typeface="Calibri" pitchFamily="34" charset="-120"/>
              </a:rPr>
              <a:t xml:space="preserve">H. Takayama, T. Okuda and T. Hikihara, “Digital Active Gate Drive of SiC MOSFETs for Controlling Switching Behavior — Preparation Toward Universal Digitization of Power Switching,” Int. J. Circuit Theory Appl., vol. 50, no. 1, pp. 183–196,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[10]  </a:t>
            </a:r>
            <a:r>
              <a:rPr lang="en-US" sz="900" dirty="0">
                <a:solidFill>
                  <a:srgbClr val="000000"/>
                </a:solidFill>
                <a:latin typeface="Calibri" pitchFamily="34" charset="0"/>
                <a:ea typeface="Calibri" pitchFamily="34" charset="-122"/>
                <a:cs typeface="Calibri" pitchFamily="34" charset="-120"/>
              </a:rPr>
              <a:t xml:space="preserve">W.J. Zhang, J. Yu, Y. Leng, W.T. Cui, G.Q. Deng and W.T. Ng, “A Segmented Gate Driver for E-mode GaN HEMTs with Simple Driving Strength Pattern Control,” in Proc. IEEE 32nd Int. Symp. Power Semicond. Devices ICs (ISPSD), 2020, pp. 102–105.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[11]  </a:t>
            </a:r>
            <a:r>
              <a:rPr lang="en-US" sz="900" dirty="0">
                <a:solidFill>
                  <a:srgbClr val="000000"/>
                </a:solidFill>
                <a:latin typeface="Calibri" pitchFamily="34" charset="0"/>
                <a:ea typeface="Calibri" pitchFamily="34" charset="-122"/>
                <a:cs typeface="Calibri" pitchFamily="34" charset="-120"/>
              </a:rPr>
              <a:t xml:space="preserve">X. Wang, M. Tao, J. Xiao, D. Luo, M. He, Q. Zhou, X. Zhang and M. Wang, “High-Frequency Three-Level Gate Driver for GaN HEMT Bridge Crosstalk Suppression,” IEEE Trans. Power Electron., vol. 39, no. 1, pp. 1343–1352,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[12]  </a:t>
            </a:r>
            <a:r>
              <a:rPr lang="en-US" sz="900" dirty="0">
                <a:solidFill>
                  <a:srgbClr val="000000"/>
                </a:solidFill>
                <a:latin typeface="Calibri" pitchFamily="34" charset="0"/>
                <a:ea typeface="Calibri" pitchFamily="34" charset="-122"/>
                <a:cs typeface="Calibri" pitchFamily="34" charset="-120"/>
              </a:rPr>
              <a:t xml:space="preserve">L. Wang, X. Sun, Y. Yan, M. Ma and D. Xu, “An Integrated Suppression Method of Both Gate-Source Voltage Oscillation and Crosstalk for GaN HEMT Gate Driver,” IEEE Trans. Power Electron., vol. 39, no. 11, pp. 14643–14655,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[13]  </a:t>
            </a:r>
            <a:r>
              <a:rPr lang="en-US" sz="900" dirty="0">
                <a:solidFill>
                  <a:srgbClr val="000000"/>
                </a:solidFill>
                <a:latin typeface="Calibri" pitchFamily="34" charset="0"/>
                <a:ea typeface="Calibri" pitchFamily="34" charset="-122"/>
                <a:cs typeface="Calibri" pitchFamily="34" charset="-120"/>
              </a:rPr>
              <a:t xml:space="preserve">Y. Cai, D. Ye, W. Lv and Z. Chen, “A High-Efficient GaN Driver With Hybrid Adaptive Dead-Time Control and Peak Delay Control for Synchronous Buck Converter,” IEEE Trans. Power Electron., vol. 41, no. 1, pp. 279–290,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[14]  </a:t>
            </a:r>
            <a:r>
              <a:rPr lang="en-US" sz="900" dirty="0">
                <a:solidFill>
                  <a:srgbClr val="000000"/>
                </a:solidFill>
                <a:latin typeface="Calibri" pitchFamily="34" charset="0"/>
                <a:ea typeface="Calibri" pitchFamily="34" charset="-122"/>
                <a:cs typeface="Calibri" pitchFamily="34" charset="-120"/>
              </a:rPr>
              <a:t xml:space="preserve">Y. Zheng, S. Zhao, P. Agarwal, F. Liu, Y. Zhao and A. Mantooth, “A Multi-Level Turn-Off Gate Driver for Crosstalk Noise Suppression of GaN HEMTs,” IEEE Open J. Power Electron., pp. 1–15,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[15]  </a:t>
            </a:r>
            <a:r>
              <a:rPr lang="en-US" sz="900" dirty="0">
                <a:solidFill>
                  <a:srgbClr val="000000"/>
                </a:solidFill>
                <a:latin typeface="Calibri" pitchFamily="34" charset="0"/>
                <a:ea typeface="Calibri" pitchFamily="34" charset="-122"/>
                <a:cs typeface="Calibri" pitchFamily="34" charset="-120"/>
              </a:rPr>
              <a:t xml:space="preserve">M.K. Banda, S. Madichetty, D.M. Natham and S. Koduru, “An Event-Triggered Dual-Polarity Gate Clamp for GaN HEMT Gate Oscillation Suppression,” IEEE Trans. Power Electron., vol. 41, no. 9, pp. 14402–14405, 2026.</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34</a:t>
            </a:r>
            <a:endParaRPr lang="en-US" sz="1000" dirty="0"/>
          </a:p>
        </p:txBody>
      </p:sp>
      <p:pic>
        <p:nvPicPr>
          <p:cNvPr id="3" name="Image 0" descr="logo.png"/>
          <p:cNvPicPr>
            <a:picLocks noChangeAspect="1"/>
          </p:cNvPicPr>
          <p:nvPr/>
        </p:nvPicPr>
        <p:blipFill>
          <a:blip r:embed="rId3"/>
          <a:stretch>
            <a:fillRect/>
          </a:stretch>
        </p:blipFill>
        <p:spPr>
          <a:xfrm>
            <a:off x="10362895" y="320040"/>
            <a:ext cx="1371600" cy="518746"/>
          </a:xfrm>
          <a:prstGeom prst="rect">
            <a:avLst/>
          </a:prstGeom>
        </p:spPr>
      </p:pic>
      <p:sp>
        <p:nvSpPr>
          <p:cNvPr id="4" name="Text 1"/>
          <p:cNvSpPr txBox="1"/>
          <p:nvPr/>
        </p:nvSpPr>
        <p:spPr>
          <a:xfrm>
            <a:off x="548640" y="2743200"/>
            <a:ext cx="11091672" cy="914400"/>
          </a:xfrm>
          <a:prstGeom prst="rect">
            <a:avLst/>
          </a:prstGeom>
          <a:noFill/>
          <a:ln/>
        </p:spPr>
        <p:txBody>
          <a:bodyPr wrap="square" lIns="0" tIns="0" rIns="0" bIns="0" rtlCol="0" anchor="ctr"/>
          <a:lstStyle/>
          <a:p>
            <a:pPr marL="0" indent="0" algn="ctr">
              <a:buNone/>
            </a:pPr>
            <a:r>
              <a:rPr lang="en-US" sz="4000" b="1" dirty="0">
                <a:solidFill>
                  <a:srgbClr val="1D2F82"/>
                </a:solidFill>
                <a:latin typeface="Calibri" pitchFamily="34" charset="0"/>
                <a:ea typeface="Calibri" pitchFamily="34" charset="-122"/>
                <a:cs typeface="Calibri" pitchFamily="34" charset="-120"/>
              </a:rPr>
              <a:t>Thank You</a:t>
            </a:r>
            <a:endParaRPr lang="en-US" sz="40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14</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What is a “control word”?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43000"/>
            <a:ext cx="10972800" cy="411480"/>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Everything in this deck is measured over control words, so this is the definition the rest of the results rest on.</a:t>
            </a:r>
          </a:p>
        </p:txBody>
      </p:sp>
      <p:sp>
        <p:nvSpPr>
          <p:cNvPr id="6" name="TextBox 5"/>
          <p:cNvSpPr txBox="1"/>
          <p:nvPr/>
        </p:nvSpPr>
        <p:spPr>
          <a:xfrm>
            <a:off x="640080" y="1563623"/>
            <a:ext cx="10972800" cy="27432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ONE control word = one setting of these six fields</a:t>
            </a:r>
          </a:p>
        </p:txBody>
      </p:sp>
      <p:sp>
        <p:nvSpPr>
          <p:cNvPr id="7" name="TextBox 6"/>
          <p:cNvSpPr txBox="1"/>
          <p:nvPr/>
        </p:nvSpPr>
        <p:spPr>
          <a:xfrm>
            <a:off x="777240" y="1874519"/>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N_PU</a:t>
            </a:r>
          </a:p>
        </p:txBody>
      </p:sp>
      <p:sp>
        <p:nvSpPr>
          <p:cNvPr id="8" name="TextBox 7"/>
          <p:cNvSpPr txBox="1"/>
          <p:nvPr/>
        </p:nvSpPr>
        <p:spPr>
          <a:xfrm>
            <a:off x="2286000" y="1874519"/>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pull-up slices ON</a:t>
            </a:r>
          </a:p>
        </p:txBody>
      </p:sp>
      <p:sp>
        <p:nvSpPr>
          <p:cNvPr id="9" name="TextBox 8"/>
          <p:cNvSpPr txBox="1"/>
          <p:nvPr/>
        </p:nvSpPr>
        <p:spPr>
          <a:xfrm>
            <a:off x="5120640" y="1874519"/>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0" name="TextBox 9"/>
          <p:cNvSpPr txBox="1"/>
          <p:nvPr/>
        </p:nvSpPr>
        <p:spPr>
          <a:xfrm>
            <a:off x="7086600" y="1874519"/>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the device is turned ON</a:t>
            </a:r>
          </a:p>
        </p:txBody>
      </p:sp>
      <p:sp>
        <p:nvSpPr>
          <p:cNvPr id="11" name="TextBox 10"/>
          <p:cNvSpPr txBox="1"/>
          <p:nvPr/>
        </p:nvSpPr>
        <p:spPr>
          <a:xfrm>
            <a:off x="777240" y="2350008"/>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N_PD,LS</a:t>
            </a:r>
          </a:p>
        </p:txBody>
      </p:sp>
      <p:sp>
        <p:nvSpPr>
          <p:cNvPr id="12" name="TextBox 11"/>
          <p:cNvSpPr txBox="1"/>
          <p:nvPr/>
        </p:nvSpPr>
        <p:spPr>
          <a:xfrm>
            <a:off x="2286000" y="2350008"/>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low-side pull-down slices</a:t>
            </a:r>
          </a:p>
        </p:txBody>
      </p:sp>
      <p:sp>
        <p:nvSpPr>
          <p:cNvPr id="13" name="TextBox 12"/>
          <p:cNvSpPr txBox="1"/>
          <p:nvPr/>
        </p:nvSpPr>
        <p:spPr>
          <a:xfrm>
            <a:off x="5120640" y="2350008"/>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 8</a:t>
            </a:r>
          </a:p>
        </p:txBody>
      </p:sp>
      <p:sp>
        <p:nvSpPr>
          <p:cNvPr id="14" name="TextBox 13"/>
          <p:cNvSpPr txBox="1"/>
          <p:nvPr/>
        </p:nvSpPr>
        <p:spPr>
          <a:xfrm>
            <a:off x="7086600" y="2350008"/>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hard it is turned OFF</a:t>
            </a:r>
          </a:p>
        </p:txBody>
      </p:sp>
      <p:sp>
        <p:nvSpPr>
          <p:cNvPr id="15" name="TextBox 14"/>
          <p:cNvSpPr txBox="1"/>
          <p:nvPr/>
        </p:nvSpPr>
        <p:spPr>
          <a:xfrm>
            <a:off x="777240" y="2825496"/>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N_PD,HS</a:t>
            </a:r>
          </a:p>
        </p:txBody>
      </p:sp>
      <p:sp>
        <p:nvSpPr>
          <p:cNvPr id="16" name="TextBox 15"/>
          <p:cNvSpPr txBox="1"/>
          <p:nvPr/>
        </p:nvSpPr>
        <p:spPr>
          <a:xfrm>
            <a:off x="2286000" y="2825496"/>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high-side pull-down slices</a:t>
            </a:r>
          </a:p>
        </p:txBody>
      </p:sp>
      <p:sp>
        <p:nvSpPr>
          <p:cNvPr id="17" name="TextBox 16"/>
          <p:cNvSpPr txBox="1"/>
          <p:nvPr/>
        </p:nvSpPr>
        <p:spPr>
          <a:xfrm>
            <a:off x="5120640" y="2825496"/>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1, 4, 8</a:t>
            </a:r>
          </a:p>
        </p:txBody>
      </p:sp>
      <p:sp>
        <p:nvSpPr>
          <p:cNvPr id="18" name="TextBox 17"/>
          <p:cNvSpPr txBox="1"/>
          <p:nvPr/>
        </p:nvSpPr>
        <p:spPr>
          <a:xfrm>
            <a:off x="7086600" y="2825496"/>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 off device's grip on its gate</a:t>
            </a:r>
          </a:p>
        </p:txBody>
      </p:sp>
      <p:sp>
        <p:nvSpPr>
          <p:cNvPr id="19" name="TextBox 18"/>
          <p:cNvSpPr txBox="1"/>
          <p:nvPr/>
        </p:nvSpPr>
        <p:spPr>
          <a:xfrm>
            <a:off x="777240" y="3300984"/>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t_dead</a:t>
            </a:r>
          </a:p>
        </p:txBody>
      </p:sp>
      <p:sp>
        <p:nvSpPr>
          <p:cNvPr id="20" name="TextBox 19"/>
          <p:cNvSpPr txBox="1"/>
          <p:nvPr/>
        </p:nvSpPr>
        <p:spPr>
          <a:xfrm>
            <a:off x="2286000" y="3300984"/>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dead time</a:t>
            </a:r>
          </a:p>
        </p:txBody>
      </p:sp>
      <p:sp>
        <p:nvSpPr>
          <p:cNvPr id="21" name="TextBox 20"/>
          <p:cNvSpPr txBox="1"/>
          <p:nvPr/>
        </p:nvSpPr>
        <p:spPr>
          <a:xfrm>
            <a:off x="5120640" y="3300984"/>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5 / 10 / 15 / 25 ns</a:t>
            </a:r>
          </a:p>
        </p:txBody>
      </p:sp>
      <p:sp>
        <p:nvSpPr>
          <p:cNvPr id="22" name="TextBox 21"/>
          <p:cNvSpPr txBox="1"/>
          <p:nvPr/>
        </p:nvSpPr>
        <p:spPr>
          <a:xfrm>
            <a:off x="7086600" y="3300984"/>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gap before the other device turns on</a:t>
            </a:r>
          </a:p>
        </p:txBody>
      </p:sp>
      <p:sp>
        <p:nvSpPr>
          <p:cNvPr id="23" name="TextBox 22"/>
          <p:cNvSpPr txBox="1"/>
          <p:nvPr/>
        </p:nvSpPr>
        <p:spPr>
          <a:xfrm>
            <a:off x="777240" y="3776472"/>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CLK_EN</a:t>
            </a:r>
          </a:p>
        </p:txBody>
      </p:sp>
      <p:sp>
        <p:nvSpPr>
          <p:cNvPr id="24" name="TextBox 23"/>
          <p:cNvSpPr txBox="1"/>
          <p:nvPr/>
        </p:nvSpPr>
        <p:spPr>
          <a:xfrm>
            <a:off x="2286000" y="3776472"/>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active Miller clamp</a:t>
            </a:r>
          </a:p>
        </p:txBody>
      </p:sp>
      <p:sp>
        <p:nvSpPr>
          <p:cNvPr id="25" name="TextBox 24"/>
          <p:cNvSpPr txBox="1"/>
          <p:nvPr/>
        </p:nvSpPr>
        <p:spPr>
          <a:xfrm>
            <a:off x="5120640" y="3776472"/>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off / on</a:t>
            </a:r>
          </a:p>
        </p:txBody>
      </p:sp>
      <p:sp>
        <p:nvSpPr>
          <p:cNvPr id="26" name="TextBox 25"/>
          <p:cNvSpPr txBox="1"/>
          <p:nvPr/>
        </p:nvSpPr>
        <p:spPr>
          <a:xfrm>
            <a:off x="7086600" y="3776472"/>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shorts the gate during the other edge</a:t>
            </a:r>
          </a:p>
        </p:txBody>
      </p:sp>
      <p:sp>
        <p:nvSpPr>
          <p:cNvPr id="27" name="TextBox 26"/>
          <p:cNvSpPr txBox="1"/>
          <p:nvPr/>
        </p:nvSpPr>
        <p:spPr>
          <a:xfrm>
            <a:off x="777240" y="4251960"/>
            <a:ext cx="1463040"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V_neg</a:t>
            </a:r>
          </a:p>
        </p:txBody>
      </p:sp>
      <p:sp>
        <p:nvSpPr>
          <p:cNvPr id="28" name="TextBox 27"/>
          <p:cNvSpPr txBox="1"/>
          <p:nvPr/>
        </p:nvSpPr>
        <p:spPr>
          <a:xfrm>
            <a:off x="2286000" y="4251960"/>
            <a:ext cx="278892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gate off-bias</a:t>
            </a:r>
          </a:p>
        </p:txBody>
      </p:sp>
      <p:sp>
        <p:nvSpPr>
          <p:cNvPr id="29" name="TextBox 28"/>
          <p:cNvSpPr txBox="1"/>
          <p:nvPr/>
        </p:nvSpPr>
        <p:spPr>
          <a:xfrm>
            <a:off x="5120640" y="4251960"/>
            <a:ext cx="1874519" cy="310896"/>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0 V / −2 V</a:t>
            </a:r>
          </a:p>
        </p:txBody>
      </p:sp>
      <p:sp>
        <p:nvSpPr>
          <p:cNvPr id="30" name="TextBox 29"/>
          <p:cNvSpPr txBox="1"/>
          <p:nvPr/>
        </p:nvSpPr>
        <p:spPr>
          <a:xfrm>
            <a:off x="7086600" y="4251960"/>
            <a:ext cx="4434840" cy="310896"/>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how far below threshold the gate is held</a:t>
            </a:r>
          </a:p>
        </p:txBody>
      </p:sp>
      <p:sp>
        <p:nvSpPr>
          <p:cNvPr id="31" name="TextBox 30"/>
          <p:cNvSpPr txBox="1"/>
          <p:nvPr/>
        </p:nvSpPr>
        <p:spPr>
          <a:xfrm>
            <a:off x="640080" y="4828032"/>
            <a:ext cx="10972800" cy="1188720"/>
          </a:xfrm>
          <a:prstGeom prst="rect">
            <a:avLst/>
          </a:prstGeom>
          <a:noFill/>
        </p:spPr>
        <p:txBody>
          <a:bodyPr wrap="square" lIns="0" tIns="0" rIns="0" bIns="0">
            <a:spAutoFit/>
          </a:bodyPr>
          <a:lstStyle/>
          <a:p>
            <a:pPr marL="177800" indent="0">
              <a:spcAft>
                <a:spcPts val="140"/>
              </a:spcAft>
              <a:buSzPct val="100000"/>
              <a:buNone/>
            </a:pPr>
            <a:r>
              <a:rPr lang="en-US" sz="1300" dirty="0">
                <a:solidFill>
                  <a:srgbClr val="000000"/>
                </a:solidFill>
                <a:latin typeface="Calibri" pitchFamily="34" charset="0"/>
                <a:ea typeface="Calibri" pitchFamily="34" charset="-122"/>
                <a:cs typeface="Calibri" pitchFamily="34" charset="-120"/>
              </a:rPr>
              <a:t xml:space="preserve">8 × 8 × 3 × 4 × 2 × 2  =  </a:t>
            </a:r>
            <a:r>
              <a:rPr lang="en-US" sz="1300" b="1" dirty="0">
                <a:solidFill>
                  <a:srgbClr val="000000"/>
                </a:solidFill>
                <a:latin typeface="Calibri" pitchFamily="34" charset="0"/>
                <a:ea typeface="Calibri" pitchFamily="34" charset="-122"/>
                <a:cs typeface="Calibri" pitchFamily="34" charset="-120"/>
              </a:rPr>
              <a:t xml:space="preserve">720 control words</a:t>
            </a:r>
            <a:r>
              <a:rPr lang="en-US" sz="1300" dirty="0">
                <a:solidFill>
                  <a:srgbClr val="000000"/>
                </a:solidFill>
                <a:latin typeface="Calibri" pitchFamily="34" charset="0"/>
                <a:ea typeface="Calibri" pitchFamily="34" charset="-122"/>
                <a:cs typeface="Calibri" pitchFamily="34" charset="-120"/>
              </a:rPr>
              <a:t xml:space="preserve">.  We simulate every one of them, at every corner — that is what makes this an exhaustive search rather than a shortlist.</a:t>
            </a:r>
          </a:p>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A FIXED word</a:t>
            </a:r>
            <a:r>
              <a:rPr lang="en-US" sz="1300" dirty="0">
                <a:solidFill>
                  <a:srgbClr val="000000"/>
                </a:solidFill>
                <a:latin typeface="Calibri" pitchFamily="34" charset="0"/>
                <a:ea typeface="Calibri" pitchFamily="34" charset="-122"/>
                <a:cs typeface="Calibri" pitchFamily="34" charset="-120"/>
              </a:rPr>
              <a:t xml:space="preserve"> is one word chosen once and strapped at power-up — no sensing. </a:t>
            </a:r>
            <a:r>
              <a:rPr lang="en-US" sz="1300" b="1" dirty="0">
                <a:solidFill>
                  <a:srgbClr val="000000"/>
                </a:solidFill>
                <a:latin typeface="Calibri" pitchFamily="34" charset="0"/>
                <a:ea typeface="Calibri" pitchFamily="34" charset="-122"/>
                <a:cs typeface="Calibri" pitchFamily="34" charset="-120"/>
              </a:rPr>
              <a:t xml:space="preserve">SCHEDULING</a:t>
            </a:r>
            <a:r>
              <a:rPr lang="en-US" sz="1300" dirty="0">
                <a:solidFill>
                  <a:srgbClr val="000000"/>
                </a:solidFill>
                <a:latin typeface="Calibri" pitchFamily="34" charset="0"/>
                <a:ea typeface="Calibri" pitchFamily="34" charset="-122"/>
                <a:cs typeface="Calibri" pitchFamily="34" charset="-120"/>
              </a:rPr>
              <a:t xml:space="preserve"> means sensing the operating point and switching to a different word for it, which is what needs an ADC and a lookup table. The whole project measures the gap between those two.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16</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Base paper vs this work — what we improve</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115568"/>
            <a:ext cx="10972800" cy="256032"/>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Base paper [9]: Takayama &amp; Hikihara, Int. J. Circuit Theory Appl., 50(1):183–196, 2022 — a gate waveform chosen by a multibit digital code.</a:t>
            </a:r>
          </a:p>
        </p:txBody>
      </p:sp>
      <p:sp>
        <p:nvSpPr>
          <p:cNvPr id="6" name="TextBox 5"/>
          <p:cNvSpPr txBox="1"/>
          <p:nvPr/>
        </p:nvSpPr>
        <p:spPr>
          <a:xfrm>
            <a:off x="640080" y="1362456"/>
            <a:ext cx="237744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Parameter</a:t>
            </a:r>
          </a:p>
        </p:txBody>
      </p:sp>
      <p:sp>
        <p:nvSpPr>
          <p:cNvPr id="7" name="TextBox 6"/>
          <p:cNvSpPr txBox="1"/>
          <p:nvPr/>
        </p:nvSpPr>
        <p:spPr>
          <a:xfrm>
            <a:off x="3154680" y="1362456"/>
            <a:ext cx="315468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Base paper [9]</a:t>
            </a:r>
          </a:p>
        </p:txBody>
      </p:sp>
      <p:sp>
        <p:nvSpPr>
          <p:cNvPr id="8" name="TextBox 7"/>
          <p:cNvSpPr txBox="1"/>
          <p:nvPr/>
        </p:nvSpPr>
        <p:spPr>
          <a:xfrm>
            <a:off x="6446520" y="1362456"/>
            <a:ext cx="5074920" cy="2743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This work</a:t>
            </a:r>
          </a:p>
        </p:txBody>
      </p:sp>
      <p:sp>
        <p:nvSpPr>
          <p:cNvPr id="9" name="TextBox 8"/>
          <p:cNvSpPr txBox="1"/>
          <p:nvPr/>
        </p:nvSpPr>
        <p:spPr>
          <a:xfrm>
            <a:off x="640080" y="17830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Device</a:t>
            </a:r>
          </a:p>
        </p:txBody>
      </p:sp>
      <p:sp>
        <p:nvSpPr>
          <p:cNvPr id="10" name="TextBox 9"/>
          <p:cNvSpPr txBox="1"/>
          <p:nvPr/>
        </p:nvSpPr>
        <p:spPr>
          <a:xfrm>
            <a:off x="3154680" y="17830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SiC MOSFET</a:t>
            </a:r>
          </a:p>
        </p:txBody>
      </p:sp>
      <p:sp>
        <p:nvSpPr>
          <p:cNvPr id="11" name="TextBox 10"/>
          <p:cNvSpPr txBox="1"/>
          <p:nvPr/>
        </p:nvSpPr>
        <p:spPr>
          <a:xfrm>
            <a:off x="6446520" y="17830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GaN HEMT (e-mode)  —  no body diode, so off-bias costs third-quadrant drop</a:t>
            </a:r>
          </a:p>
        </p:txBody>
      </p:sp>
      <p:sp>
        <p:nvSpPr>
          <p:cNvPr id="12" name="TextBox 11"/>
          <p:cNvSpPr txBox="1"/>
          <p:nvPr/>
        </p:nvSpPr>
        <p:spPr>
          <a:xfrm>
            <a:off x="640080" y="23317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Control handle</a:t>
            </a:r>
          </a:p>
        </p:txBody>
      </p:sp>
      <p:sp>
        <p:nvSpPr>
          <p:cNvPr id="13" name="TextBox 12"/>
          <p:cNvSpPr txBox="1"/>
          <p:nvPr/>
        </p:nvSpPr>
        <p:spPr>
          <a:xfrm>
            <a:off x="3154680" y="23317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multibit gate code, one field</a:t>
            </a:r>
          </a:p>
        </p:txBody>
      </p:sp>
      <p:sp>
        <p:nvSpPr>
          <p:cNvPr id="14" name="TextBox 13"/>
          <p:cNvSpPr txBox="1"/>
          <p:nvPr/>
        </p:nvSpPr>
        <p:spPr>
          <a:xfrm>
            <a:off x="6446520" y="23317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6-field, 720-point control word  —  strength, dead time, clamp, off-bias</a:t>
            </a:r>
          </a:p>
        </p:txBody>
      </p:sp>
      <p:sp>
        <p:nvSpPr>
          <p:cNvPr id="15" name="TextBox 14"/>
          <p:cNvSpPr txBox="1"/>
          <p:nvPr/>
        </p:nvSpPr>
        <p:spPr>
          <a:xfrm>
            <a:off x="640080" y="288036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Implementation</a:t>
            </a:r>
          </a:p>
        </p:txBody>
      </p:sp>
      <p:sp>
        <p:nvSpPr>
          <p:cNvPr id="16" name="TextBox 15"/>
          <p:cNvSpPr txBox="1"/>
          <p:nvPr/>
        </p:nvSpPr>
        <p:spPr>
          <a:xfrm>
            <a:off x="3154680" y="288036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digital driver</a:t>
            </a:r>
          </a:p>
        </p:txBody>
      </p:sp>
      <p:sp>
        <p:nvSpPr>
          <p:cNvPr id="17" name="TextBox 16"/>
          <p:cNvSpPr txBox="1"/>
          <p:nvPr/>
        </p:nvSpPr>
        <p:spPr>
          <a:xfrm>
            <a:off x="6446520" y="288036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FPGA RTL in Verilog  ·  8 asserted properties, mutation-tested</a:t>
            </a:r>
          </a:p>
        </p:txBody>
      </p:sp>
      <p:sp>
        <p:nvSpPr>
          <p:cNvPr id="18" name="TextBox 17"/>
          <p:cNvSpPr txBox="1"/>
          <p:nvPr/>
        </p:nvSpPr>
        <p:spPr>
          <a:xfrm>
            <a:off x="640080" y="342900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How codes chosen</a:t>
            </a:r>
          </a:p>
        </p:txBody>
      </p:sp>
      <p:sp>
        <p:nvSpPr>
          <p:cNvPr id="19" name="TextBox 18"/>
          <p:cNvSpPr txBox="1"/>
          <p:nvPr/>
        </p:nvSpPr>
        <p:spPr>
          <a:xfrm>
            <a:off x="3154680" y="342900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selected codes, measured</a:t>
            </a:r>
          </a:p>
        </p:txBody>
      </p:sp>
      <p:sp>
        <p:nvSpPr>
          <p:cNvPr id="20" name="TextBox 19"/>
          <p:cNvSpPr txBox="1"/>
          <p:nvPr/>
        </p:nvSpPr>
        <p:spPr>
          <a:xfrm>
            <a:off x="6446520" y="342900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EXHAUSTIVE  —  all 720 words at every corner, 34,622 transients</a:t>
            </a:r>
          </a:p>
        </p:txBody>
      </p:sp>
      <p:sp>
        <p:nvSpPr>
          <p:cNvPr id="21" name="TextBox 20"/>
          <p:cNvSpPr txBox="1"/>
          <p:nvPr/>
        </p:nvSpPr>
        <p:spPr>
          <a:xfrm>
            <a:off x="640080" y="3977639"/>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Crosstalk</a:t>
            </a:r>
          </a:p>
        </p:txBody>
      </p:sp>
      <p:sp>
        <p:nvSpPr>
          <p:cNvPr id="22" name="TextBox 21"/>
          <p:cNvSpPr txBox="1"/>
          <p:nvPr/>
        </p:nvSpPr>
        <p:spPr>
          <a:xfrm>
            <a:off x="3154680" y="3977639"/>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not addressed</a:t>
            </a:r>
          </a:p>
        </p:txBody>
      </p:sp>
      <p:sp>
        <p:nvSpPr>
          <p:cNvPr id="23" name="TextBox 22"/>
          <p:cNvSpPr txBox="1"/>
          <p:nvPr/>
        </p:nvSpPr>
        <p:spPr>
          <a:xfrm>
            <a:off x="6446520" y="3977639"/>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1.65 V spurious gate  →  −1.18 V  (2.58 V margin), clamp + off-bias</a:t>
            </a:r>
          </a:p>
        </p:txBody>
      </p:sp>
      <p:sp>
        <p:nvSpPr>
          <p:cNvPr id="24" name="TextBox 23"/>
          <p:cNvSpPr txBox="1"/>
          <p:nvPr/>
        </p:nvSpPr>
        <p:spPr>
          <a:xfrm>
            <a:off x="640080" y="452628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What is reported</a:t>
            </a:r>
          </a:p>
        </p:txBody>
      </p:sp>
      <p:sp>
        <p:nvSpPr>
          <p:cNvPr id="25" name="TextBox 24"/>
          <p:cNvSpPr txBox="1"/>
          <p:nvPr/>
        </p:nvSpPr>
        <p:spPr>
          <a:xfrm>
            <a:off x="3154680" y="452628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one number vs a conventional driver</a:t>
            </a:r>
          </a:p>
        </p:txBody>
      </p:sp>
      <p:sp>
        <p:nvSpPr>
          <p:cNvPr id="26" name="TextBox 25"/>
          <p:cNvSpPr txBox="1"/>
          <p:nvPr/>
        </p:nvSpPr>
        <p:spPr>
          <a:xfrm>
            <a:off x="6446520" y="452628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the number SPLIT: fixed word 25.1 %, adapting it 3.9 %, one comparator takes 72 % of that</a:t>
            </a:r>
          </a:p>
        </p:txBody>
      </p:sp>
      <p:sp>
        <p:nvSpPr>
          <p:cNvPr id="27" name="TextBox 26"/>
          <p:cNvSpPr txBox="1"/>
          <p:nvPr/>
        </p:nvSpPr>
        <p:spPr>
          <a:xfrm>
            <a:off x="640080" y="5074920"/>
            <a:ext cx="2423160" cy="457200"/>
          </a:xfrm>
          <a:prstGeom prst="rect">
            <a:avLst/>
          </a:prstGeom>
          <a:noFill/>
        </p:spPr>
        <p:txBody>
          <a:bodyPr wrap="square" lIns="0" tIns="0" rIns="0" bIns="0">
            <a:spAutoFit/>
          </a:bodyPr>
          <a:lstStyle/>
          <a:p>
            <a:pPr marL="177800" indent="0">
              <a:spcAft>
                <a:spcPts val="0"/>
              </a:spcAft>
              <a:buSzPct val="100000"/>
              <a:buNone/>
            </a:pPr>
            <a:r>
              <a:rPr lang="en-US" sz="1050" b="1" dirty="0">
                <a:solidFill>
                  <a:srgbClr val="000000"/>
                </a:solidFill>
                <a:latin typeface="Calibri" pitchFamily="34" charset="0"/>
                <a:ea typeface="Calibri" pitchFamily="34" charset="-122"/>
                <a:cs typeface="Calibri" pitchFamily="34" charset="-120"/>
              </a:rPr>
              <a:t xml:space="preserve">Design rule</a:t>
            </a:r>
          </a:p>
        </p:txBody>
      </p:sp>
      <p:sp>
        <p:nvSpPr>
          <p:cNvPr id="28" name="TextBox 27"/>
          <p:cNvSpPr txBox="1"/>
          <p:nvPr/>
        </p:nvSpPr>
        <p:spPr>
          <a:xfrm>
            <a:off x="3154680" y="5074920"/>
            <a:ext cx="320040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none</a:t>
            </a:r>
          </a:p>
        </p:txBody>
      </p:sp>
      <p:sp>
        <p:nvSpPr>
          <p:cNvPr id="29" name="TextBox 28"/>
          <p:cNvSpPr txBox="1"/>
          <p:nvPr/>
        </p:nvSpPr>
        <p:spPr>
          <a:xfrm>
            <a:off x="6446520" y="5074920"/>
            <a:ext cx="5120640" cy="457200"/>
          </a:xfrm>
          <a:prstGeom prst="rect">
            <a:avLst/>
          </a:prstGeom>
          <a:noFill/>
        </p:spPr>
        <p:txBody>
          <a:bodyPr wrap="square" lIns="0" tIns="0" rIns="0" bIns="0">
            <a:spAutoFit/>
          </a:bodyPr>
          <a:lstStyle/>
          <a:p>
            <a:pPr marL="177800" indent="0">
              <a:spcAft>
                <a:spcPts val="0"/>
              </a:spcAft>
              <a:buSzPct val="100000"/>
              <a:buNone/>
            </a:pPr>
            <a:r>
              <a:rPr lang="en-US" sz="1050" dirty="0">
                <a:solidFill>
                  <a:srgbClr val="000000"/>
                </a:solidFill>
                <a:latin typeface="Calibri" pitchFamily="34" charset="0"/>
                <a:ea typeface="Calibri" pitchFamily="34" charset="-122"/>
                <a:cs typeface="Calibri" pitchFamily="34" charset="-120"/>
              </a:rPr>
              <a:t xml:space="preserve">adaptive control pays only below ~2.5 nH loop inductance</a:t>
            </a:r>
          </a:p>
        </p:txBody>
      </p:sp>
      <p:sp>
        <p:nvSpPr>
          <p:cNvPr id="30" name="TextBox 29"/>
          <p:cNvSpPr txBox="1"/>
          <p:nvPr/>
        </p:nvSpPr>
        <p:spPr>
          <a:xfrm>
            <a:off x="640080" y="5742432"/>
            <a:ext cx="10972800" cy="68580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The parameter we improve is not a volt or a nanosecond — it is </a:t>
            </a:r>
            <a:r>
              <a:rPr lang="en-US" sz="1200" b="1" dirty="0">
                <a:solidFill>
                  <a:srgbClr val="000000"/>
                </a:solidFill>
                <a:latin typeface="Calibri" pitchFamily="34" charset="0"/>
                <a:ea typeface="Calibri" pitchFamily="34" charset="-122"/>
                <a:cs typeface="Calibri" pitchFamily="34" charset="-120"/>
              </a:rPr>
              <a:t xml:space="preserve">what the designer knows before committing silicon</a:t>
            </a:r>
            <a:r>
              <a:rPr lang="en-US" sz="1200" dirty="0">
                <a:solidFill>
                  <a:srgbClr val="000000"/>
                </a:solidFill>
                <a:latin typeface="Calibri" pitchFamily="34" charset="0"/>
                <a:ea typeface="Calibri" pitchFamily="34" charset="-122"/>
                <a:cs typeface="Calibri" pitchFamily="34" charset="-120"/>
              </a:rPr>
              <a:t xml:space="preserve">. [9] shows a digital code works. We measure what the code is worth, and how much of that worth needs sensing at all: 3.7 % of the achievable gain, which is what the sense + ADC + lookup table has to justify.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The circuit that is simulated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circuit.png"/>
          <p:cNvPicPr>
            <a:picLocks noChangeAspect="1"/>
          </p:cNvPicPr>
          <p:nvPr/>
        </p:nvPicPr>
        <p:blipFill>
          <a:blip r:embed="rId3"/>
          <a:stretch>
            <a:fillRect/>
          </a:stretch>
        </p:blipFill>
        <p:spPr>
          <a:xfrm>
            <a:off x="2029968" y="1115568"/>
            <a:ext cx="8129016" cy="4434009"/>
          </a:xfrm>
          <a:prstGeom prst="rect">
            <a:avLst/>
          </a:prstGeom>
        </p:spPr>
      </p:pic>
      <p:sp>
        <p:nvSpPr>
          <p:cNvPr id="6" name="TextBox 5"/>
          <p:cNvSpPr txBox="1"/>
          <p:nvPr/>
        </p:nvSpPr>
        <p:spPr>
          <a:xfrm>
            <a:off x="640080" y="5669280"/>
            <a:ext cx="11064240" cy="7772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element is in </a:t>
            </a:r>
            <a:r>
              <a:rPr lang="en-US" sz="1200" b="1" dirty="0">
                <a:solidFill>
                  <a:srgbClr val="000000"/>
                </a:solidFill>
                <a:latin typeface="Calibri" pitchFamily="34" charset="0"/>
                <a:ea typeface="Calibri" pitchFamily="34" charset="-122"/>
                <a:cs typeface="Calibri" pitchFamily="34" charset="-120"/>
              </a:rPr>
              <a:t xml:space="preserve">sim/dpt.cir</a:t>
            </a:r>
            <a:r>
              <a:rPr lang="en-US" sz="1200" dirty="0">
                <a:solidFill>
                  <a:srgbClr val="000000"/>
                </a:solidFill>
                <a:latin typeface="Calibri" pitchFamily="34" charset="0"/>
                <a:ea typeface="Calibri" pitchFamily="34" charset="-122"/>
                <a:cs typeface="Calibri" pitchFamily="34" charset="-120"/>
              </a:rPr>
              <a:t xml:space="preserve">, which is the file to open in LTspice — it carries the active Miller clamp (S</a:t>
            </a:r>
            <a:r>
              <a:rPr lang="en-US" sz="1200" dirty="0">
                <a:solidFill>
                  <a:srgbClr val="000000"/>
                </a:solidFill>
                <a:latin typeface="Calibri" pitchFamily="34" charset="0"/>
                <a:ea typeface="Calibri" pitchFamily="34" charset="-122"/>
                <a:cs typeface="Calibri" pitchFamily="34" charset="-120"/>
              </a:rPr>
              <a:t xml:space="preserve">clk</a:t>
            </a:r>
            <a:r>
              <a:rPr lang="en-US" sz="1200" dirty="0">
                <a:solidFill>
                  <a:srgbClr val="000000"/>
                </a:solidFill>
                <a:latin typeface="Calibri" pitchFamily="34" charset="0"/>
                <a:ea typeface="Calibri" pitchFamily="34" charset="-122"/>
                <a:cs typeface="Calibri" pitchFamily="34" charset="-120"/>
              </a:rPr>
              <a:t xml:space="preserve"> through 0.5 Ω). The three </a:t>
            </a:r>
            <a:r>
              <a:rPr lang="en-US" sz="1200" b="1" dirty="0">
                <a:solidFill>
                  <a:srgbClr val="000000"/>
                </a:solidFill>
                <a:latin typeface="Calibri" pitchFamily="34" charset="0"/>
                <a:ea typeface="Calibri" pitchFamily="34" charset="-122"/>
                <a:cs typeface="Calibri" pitchFamily="34" charset="-120"/>
              </a:rPr>
              <a:t xml:space="preserve">ltspice/*.asc</a:t>
            </a:r>
            <a:r>
              <a:rPr lang="en-US" sz="1200" dirty="0">
                <a:solidFill>
                  <a:srgbClr val="000000"/>
                </a:solidFill>
                <a:latin typeface="Calibri" pitchFamily="34" charset="0"/>
                <a:ea typeface="Calibri" pitchFamily="34" charset="-122"/>
                <a:cs typeface="Calibri" pitchFamily="34" charset="-120"/>
              </a:rPr>
              <a:t xml:space="preserve"> sheets illustrate the crosstalk mechanism only and do not draw the clamp</a:t>
            </a:r>
            <a:r>
              <a:rPr lang="en-US" sz="1200" dirty="0">
                <a:solidFill>
                  <a:srgbClr val="000000"/>
                </a:solidFill>
                <a:latin typeface="Calibri" pitchFamily="34" charset="0"/>
                <a:ea typeface="Calibri" pitchFamily="34" charset="-122"/>
                <a:cs typeface="Calibri" pitchFamily="34" charset="-120"/>
              </a:rPr>
              <a:t xml:space="preserve">. C</a:t>
            </a:r>
            <a:r>
              <a:rPr lang="en-US" sz="1200" dirty="0">
                <a:solidFill>
                  <a:srgbClr val="000000"/>
                </a:solidFill>
                <a:latin typeface="Calibri" pitchFamily="34" charset="0"/>
                <a:ea typeface="Calibri" pitchFamily="34" charset="-122"/>
                <a:cs typeface="Calibri" pitchFamily="34" charset="-120"/>
              </a:rPr>
              <a:t xml:space="preserve">GD</a:t>
            </a:r>
            <a:r>
              <a:rPr lang="en-US" sz="1200" dirty="0">
                <a:solidFill>
                  <a:srgbClr val="000000"/>
                </a:solidFill>
                <a:latin typeface="Calibri" pitchFamily="34" charset="0"/>
                <a:ea typeface="Calibri" pitchFamily="34" charset="-122"/>
                <a:cs typeface="Calibri" pitchFamily="34" charset="-120"/>
              </a:rPr>
              <a:t xml:space="preserve"> on Q2 in red is the crosstalk path; GaN has no body diode, so holding the gate below threshold is paid for again across the dead time.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23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MATLAB — the Pareto front and the model check</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Rectangle 4"/>
          <p:cNvSpPr/>
          <p:nvPr/>
        </p:nvSpPr>
        <p:spPr>
          <a:xfrm>
            <a:off x="548640" y="1097280"/>
            <a:ext cx="4572000" cy="3474720"/>
          </a:xfrm>
          <a:prstGeom prst="rect">
            <a:avLst/>
          </a:prstGeom>
          <a:solidFill>
            <a:srgbClr val="0B0B0B"/>
          </a:solidFill>
          <a:ln>
            <a:solidFill>
              <a:srgbClr val="0B0B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areto_matlab.png"/>
          <p:cNvPicPr>
            <a:picLocks noChangeAspect="1"/>
          </p:cNvPicPr>
          <p:nvPr/>
        </p:nvPicPr>
        <p:blipFill>
          <a:blip r:embed="rId3"/>
          <a:stretch>
            <a:fillRect/>
          </a:stretch>
        </p:blipFill>
        <p:spPr>
          <a:xfrm>
            <a:off x="640080" y="1188720"/>
            <a:ext cx="4389120" cy="3291840"/>
          </a:xfrm>
          <a:prstGeom prst="rect">
            <a:avLst/>
          </a:prstGeom>
        </p:spPr>
      </p:pic>
      <p:sp>
        <p:nvSpPr>
          <p:cNvPr id="7" name="Rectangle 6"/>
          <p:cNvSpPr/>
          <p:nvPr/>
        </p:nvSpPr>
        <p:spPr>
          <a:xfrm>
            <a:off x="6355080" y="1097280"/>
            <a:ext cx="4572000" cy="3474720"/>
          </a:xfrm>
          <a:prstGeom prst="rect">
            <a:avLst/>
          </a:prstGeom>
          <a:solidFill>
            <a:srgbClr val="0B0B0B"/>
          </a:solidFill>
          <a:ln>
            <a:solidFill>
              <a:srgbClr val="0B0B0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fig_master_weight.png"/>
          <p:cNvPicPr>
            <a:picLocks noChangeAspect="1"/>
          </p:cNvPicPr>
          <p:nvPr/>
        </p:nvPicPr>
        <p:blipFill>
          <a:blip r:embed="rId4"/>
          <a:stretch>
            <a:fillRect/>
          </a:stretch>
        </p:blipFill>
        <p:spPr>
          <a:xfrm>
            <a:off x="6446520" y="1188720"/>
            <a:ext cx="4389120" cy="3291840"/>
          </a:xfrm>
          <a:prstGeom prst="rect">
            <a:avLst/>
          </a:prstGeom>
        </p:spPr>
      </p:pic>
      <p:sp>
        <p:nvSpPr>
          <p:cNvPr id="9" name="TextBox 8"/>
          <p:cNvSpPr txBox="1"/>
          <p:nvPr/>
        </p:nvSpPr>
        <p:spPr>
          <a:xfrm>
            <a:off x="548640" y="4663440"/>
            <a:ext cx="544068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720 words, 504 feasible (70 %).</a:t>
            </a:r>
            <a:r>
              <a:rPr lang="en-US" sz="1150" dirty="0">
                <a:solidFill>
                  <a:srgbClr val="000000"/>
                </a:solidFill>
                <a:latin typeface="Calibri" pitchFamily="34" charset="0"/>
                <a:ea typeface="Calibri" pitchFamily="34" charset="-122"/>
                <a:cs typeface="Calibri" pitchFamily="34" charset="-120"/>
              </a:rPr>
              <a:t xml:space="preserve"> A 7-word Pareto front; buying one point of overshoot back costs 0.039 µJ. The green marker is the word the cost function picks.</a:t>
            </a:r>
          </a:p>
        </p:txBody>
      </p:sp>
      <p:sp>
        <p:nvSpPr>
          <p:cNvPr id="10" name="TextBox 9"/>
          <p:cNvSpPr txBox="1"/>
          <p:nvPr/>
        </p:nvSpPr>
        <p:spPr>
          <a:xfrm>
            <a:off x="6355080" y="4663440"/>
            <a:ext cx="5257800" cy="960120"/>
          </a:xfrm>
          <a:prstGeom prst="rect">
            <a:avLst/>
          </a:prstGeom>
          <a:noFill/>
        </p:spPr>
        <p:txBody>
          <a:bodyPr wrap="square" lIns="0" tIns="0" rIns="0" bIns="0">
            <a:spAutoFit/>
          </a:bodyPr>
          <a:lstStyle/>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(A) stays above (B) at every weight tested.</a:t>
            </a:r>
            <a:r>
              <a:rPr lang="en-US" sz="1150" dirty="0">
                <a:solidFill>
                  <a:srgbClr val="000000"/>
                </a:solidFill>
                <a:latin typeface="Calibri" pitchFamily="34" charset="0"/>
                <a:ea typeface="Calibri" pitchFamily="34" charset="-122"/>
                <a:cs typeface="Calibri" pitchFamily="34" charset="-120"/>
              </a:rPr>
              <a:t xml:space="preserve"> Choosing the word well is worth 22.5–29.0 % of baseline across the whole range; adapting it per operating point 1.4–12.7 %. The ordering never flips.</a:t>
            </a:r>
          </a:p>
        </p:txBody>
      </p:sp>
      <p:sp>
        <p:nvSpPr>
          <p:cNvPr id="11" name="TextBox 10"/>
          <p:cNvSpPr txBox="1"/>
          <p:nvPr/>
        </p:nvSpPr>
        <p:spPr>
          <a:xfrm>
            <a:off x="548640" y="5742432"/>
            <a:ext cx="11064240" cy="68580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Dead-time margin saturates at about 15 ns</a:t>
            </a:r>
            <a:r>
              <a:rPr lang="en-US" sz="1200" dirty="0">
                <a:solidFill>
                  <a:srgbClr val="000000"/>
                </a:solidFill>
                <a:latin typeface="Calibri" pitchFamily="34" charset="0"/>
                <a:ea typeface="Calibri" pitchFamily="34" charset="-122"/>
                <a:cs typeface="Calibri" pitchFamily="34" charset="-120"/>
              </a:rPr>
              <a:t xml:space="preserve">: the marginal gain runs 269 → 31.5 → 1.8 → 0.0 mV/ns across 10/15/25/35 ns. Past 15 ns dead time costs conduction loss and buys nothing. </a:t>
            </a:r>
            <a:r>
              <a:rPr lang="en-US" sz="1200" b="1" dirty="0">
                <a:solidFill>
                  <a:srgbClr val="000000"/>
                </a:solidFill>
                <a:latin typeface="Calibri" pitchFamily="34" charset="0"/>
                <a:ea typeface="Calibri" pitchFamily="34" charset="-122"/>
                <a:cs typeface="Calibri" pitchFamily="34" charset="-120"/>
              </a:rPr>
              <a:t xml:space="preserve">results/gan_analysis.m</a:t>
            </a:r>
            <a:r>
              <a:rPr lang="en-US" sz="1200" dirty="0">
                <a:solidFill>
                  <a:srgbClr val="000000"/>
                </a:solidFill>
                <a:latin typeface="Calibri" pitchFamily="34" charset="0"/>
                <a:ea typeface="Calibri" pitchFamily="34" charset="-122"/>
                <a:cs typeface="Calibri" pitchFamily="34" charset="-120"/>
              </a:rPr>
              <a:t xml:space="preserve">, </a:t>
            </a:r>
            <a:r>
              <a:rPr lang="en-US" sz="1200" b="1" dirty="0">
                <a:solidFill>
                  <a:srgbClr val="000000"/>
                </a:solidFill>
                <a:latin typeface="Calibri" pitchFamily="34" charset="0"/>
                <a:ea typeface="Calibri" pitchFamily="34" charset="-122"/>
                <a:cs typeface="Calibri" pitchFamily="34" charset="-120"/>
              </a:rPr>
              <a:t xml:space="preserve">results/gan_master.m</a:t>
            </a:r>
            <a:r>
              <a:rPr lang="en-US" sz="1200" dirty="0">
                <a:solidFill>
                  <a:srgbClr val="000000"/>
                </a:solidFill>
                <a:latin typeface="Calibri" pitchFamily="34" charset="0"/>
                <a:ea typeface="Calibri" pitchFamily="34" charset="-122"/>
                <a:cs typeface="Calibri" pitchFamily="34" charset="-120"/>
              </a:rPr>
              <a:t xml:space="preserve"> — both run in MATLAB or Octave.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11</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How it works — one use case, start to finish</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pic>
        <p:nvPicPr>
          <p:cNvPr id="5" name="Picture 4" descr="fig_flow.png"/>
          <p:cNvPicPr>
            <a:picLocks noChangeAspect="1"/>
          </p:cNvPicPr>
          <p:nvPr/>
        </p:nvPicPr>
        <p:blipFill>
          <a:blip r:embed="rId4"/>
          <a:stretch>
            <a:fillRect/>
          </a:stretch>
        </p:blipFill>
        <p:spPr>
          <a:xfrm>
            <a:off x="1700784" y="1188720"/>
            <a:ext cx="8792300" cy="4617720"/>
          </a:xfrm>
          <a:prstGeom prst="rect">
            <a:avLst/>
          </a:prstGeom>
        </p:spPr>
      </p:pic>
      <p:sp>
        <p:nvSpPr>
          <p:cNvPr id="6" name="TextBox 5"/>
          <p:cNvSpPr txBox="1"/>
          <p:nvPr/>
        </p:nvSpPr>
        <p:spPr>
          <a:xfrm>
            <a:off x="640080" y="5989320"/>
            <a:ext cx="10241280" cy="411480"/>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Read the top row as the controller and the bottom row as the circuit. </a:t>
            </a:r>
            <a:r>
              <a:rPr lang="en-US" sz="1200" dirty="0">
                <a:solidFill>
                  <a:srgbClr val="000000"/>
                </a:solidFill>
                <a:latin typeface="Calibri" pitchFamily="34" charset="0"/>
                <a:ea typeface="Calibri" pitchFamily="34" charset="-122"/>
                <a:cs typeface="Calibri" pitchFamily="34" charset="-120"/>
              </a:rPr>
              <a:t xml:space="preserve">The one shaded diamond is the entire adaptive machinery.</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19</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Tools — and what each one produced</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Box 4"/>
          <p:cNvSpPr txBox="1"/>
          <p:nvPr/>
        </p:nvSpPr>
        <p:spPr>
          <a:xfrm>
            <a:off x="640080" y="1417320"/>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ngspice 42</a:t>
            </a:r>
          </a:p>
        </p:txBody>
      </p:sp>
      <p:sp>
        <p:nvSpPr>
          <p:cNvPr id="6" name="TextBox 5"/>
          <p:cNvSpPr txBox="1"/>
          <p:nvPr/>
        </p:nvSpPr>
        <p:spPr>
          <a:xfrm>
            <a:off x="3520440" y="1417320"/>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every transient in the study</a:t>
            </a:r>
          </a:p>
        </p:txBody>
      </p:sp>
      <p:sp>
        <p:nvSpPr>
          <p:cNvPr id="7" name="TextBox 6"/>
          <p:cNvSpPr txBox="1"/>
          <p:nvPr/>
        </p:nvSpPr>
        <p:spPr>
          <a:xfrm>
            <a:off x="6858000" y="1417320"/>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34,622 simulations · 1.65 V spurious · 2.58 V margin · 5.2 % ceiling</a:t>
            </a:r>
          </a:p>
        </p:txBody>
      </p:sp>
      <p:sp>
        <p:nvSpPr>
          <p:cNvPr id="8" name="TextBox 7"/>
          <p:cNvSpPr txBox="1"/>
          <p:nvPr/>
        </p:nvSpPr>
        <p:spPr>
          <a:xfrm>
            <a:off x="640080" y="1984248"/>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LTspice 24</a:t>
            </a:r>
          </a:p>
        </p:txBody>
      </p:sp>
      <p:sp>
        <p:nvSpPr>
          <p:cNvPr id="9" name="TextBox 8"/>
          <p:cNvSpPr txBox="1"/>
          <p:nvPr/>
        </p:nvSpPr>
        <p:spPr>
          <a:xfrm>
            <a:off x="3520440" y="1984248"/>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independent re-run of the shipped netlists</a:t>
            </a:r>
          </a:p>
        </p:txBody>
      </p:sp>
      <p:sp>
        <p:nvSpPr>
          <p:cNvPr id="10" name="TextBox 9"/>
          <p:cNvSpPr txBox="1"/>
          <p:nvPr/>
        </p:nvSpPr>
        <p:spPr>
          <a:xfrm>
            <a:off x="6858000" y="1984248"/>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1.6487 / 0.8282 / −1.1768 V — matches ngspice within 2 mV</a:t>
            </a:r>
          </a:p>
        </p:txBody>
      </p:sp>
      <p:sp>
        <p:nvSpPr>
          <p:cNvPr id="11" name="TextBox 10"/>
          <p:cNvSpPr txBox="1"/>
          <p:nvPr/>
        </p:nvSpPr>
        <p:spPr>
          <a:xfrm>
            <a:off x="640080" y="2551176"/>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MATLAB Online</a:t>
            </a:r>
          </a:p>
        </p:txBody>
      </p:sp>
      <p:sp>
        <p:nvSpPr>
          <p:cNvPr id="12" name="TextBox 11"/>
          <p:cNvSpPr txBox="1"/>
          <p:nvPr/>
        </p:nvSpPr>
        <p:spPr>
          <a:xfrm>
            <a:off x="3520440" y="2551176"/>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independent re-analysis of the same CSVs</a:t>
            </a:r>
          </a:p>
        </p:txBody>
      </p:sp>
      <p:sp>
        <p:nvSpPr>
          <p:cNvPr id="13" name="TextBox 12"/>
          <p:cNvSpPr txBox="1"/>
          <p:nvPr/>
        </p:nvSpPr>
        <p:spPr>
          <a:xfrm>
            <a:off x="6858000" y="2551176"/>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504 of 720 feasible · 7-word Pareto front · 0.039 µJ per point</a:t>
            </a:r>
          </a:p>
        </p:txBody>
      </p:sp>
      <p:sp>
        <p:nvSpPr>
          <p:cNvPr id="14" name="TextBox 13"/>
          <p:cNvSpPr txBox="1"/>
          <p:nvPr/>
        </p:nvSpPr>
        <p:spPr>
          <a:xfrm>
            <a:off x="640080" y="3118104"/>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GNU Octave 11.3</a:t>
            </a:r>
          </a:p>
        </p:txBody>
      </p:sp>
      <p:sp>
        <p:nvSpPr>
          <p:cNvPr id="15" name="TextBox 14"/>
          <p:cNvSpPr txBox="1"/>
          <p:nvPr/>
        </p:nvSpPr>
        <p:spPr>
          <a:xfrm>
            <a:off x="3520440" y="3118104"/>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second run of the same MATLAB scripts</a:t>
            </a:r>
          </a:p>
        </p:txBody>
      </p:sp>
      <p:sp>
        <p:nvSpPr>
          <p:cNvPr id="16" name="TextBox 15"/>
          <p:cNvSpPr txBox="1"/>
          <p:nvPr/>
        </p:nvSpPr>
        <p:spPr>
          <a:xfrm>
            <a:off x="6858000" y="3118104"/>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agrees with MATLAB to the last printed digit</a:t>
            </a:r>
          </a:p>
        </p:txBody>
      </p:sp>
      <p:sp>
        <p:nvSpPr>
          <p:cNvPr id="17" name="TextBox 16"/>
          <p:cNvSpPr txBox="1"/>
          <p:nvPr/>
        </p:nvSpPr>
        <p:spPr>
          <a:xfrm>
            <a:off x="640080" y="3685032"/>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Icarus Verilog</a:t>
            </a:r>
          </a:p>
        </p:txBody>
      </p:sp>
      <p:sp>
        <p:nvSpPr>
          <p:cNvPr id="18" name="TextBox 17"/>
          <p:cNvSpPr txBox="1"/>
          <p:nvPr/>
        </p:nvSpPr>
        <p:spPr>
          <a:xfrm>
            <a:off x="3520440" y="3685032"/>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RTL verification and mutation testing</a:t>
            </a:r>
          </a:p>
        </p:txBody>
      </p:sp>
      <p:sp>
        <p:nvSpPr>
          <p:cNvPr id="19" name="TextBox 18"/>
          <p:cNvSpPr txBox="1"/>
          <p:nvPr/>
        </p:nvSpPr>
        <p:spPr>
          <a:xfrm>
            <a:off x="6858000" y="3685032"/>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8 asserted properties pass · injected shoot-through caught 221×</a:t>
            </a:r>
          </a:p>
        </p:txBody>
      </p:sp>
      <p:sp>
        <p:nvSpPr>
          <p:cNvPr id="20" name="TextBox 19"/>
          <p:cNvSpPr txBox="1"/>
          <p:nvPr/>
        </p:nvSpPr>
        <p:spPr>
          <a:xfrm>
            <a:off x="640080" y="4251960"/>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Xilinx Vivado 2024.1.2</a:t>
            </a:r>
          </a:p>
        </p:txBody>
      </p:sp>
      <p:sp>
        <p:nvSpPr>
          <p:cNvPr id="21" name="TextBox 20"/>
          <p:cNvSpPr txBox="1"/>
          <p:nvPr/>
        </p:nvSpPr>
        <p:spPr>
          <a:xfrm>
            <a:off x="3520440" y="4251960"/>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FPGA synthesis and timing on xc7a35t</a:t>
            </a:r>
          </a:p>
        </p:txBody>
      </p:sp>
      <p:sp>
        <p:nvSpPr>
          <p:cNvPr id="22" name="TextBox 21"/>
          <p:cNvSpPr txBox="1"/>
          <p:nvPr/>
        </p:nvSpPr>
        <p:spPr>
          <a:xfrm>
            <a:off x="6858000" y="4251960"/>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20 LUTs, 20 flip-flops · 200 MHz met, 1.996 ns slack</a:t>
            </a:r>
          </a:p>
        </p:txBody>
      </p:sp>
      <p:sp>
        <p:nvSpPr>
          <p:cNvPr id="23" name="TextBox 22"/>
          <p:cNvSpPr txBox="1"/>
          <p:nvPr/>
        </p:nvSpPr>
        <p:spPr>
          <a:xfrm>
            <a:off x="640080" y="4818888"/>
            <a:ext cx="2788920" cy="384048"/>
          </a:xfrm>
          <a:prstGeom prst="rect">
            <a:avLst/>
          </a:prstGeom>
          <a:noFill/>
        </p:spPr>
        <p:txBody>
          <a:bodyPr wrap="square" lIns="0" tIns="0" rIns="0" bIns="0">
            <a:spAutoFit/>
          </a:bodyPr>
          <a:lstStyle/>
          <a:p>
            <a:pPr marL="177800" indent="0">
              <a:spcAft>
                <a:spcPts val="0"/>
              </a:spcAft>
              <a:buSzPct val="100000"/>
              <a:buNone/>
            </a:pPr>
            <a:r>
              <a:rPr lang="en-US" sz="1350" b="1" dirty="0">
                <a:solidFill>
                  <a:srgbClr val="000000"/>
                </a:solidFill>
                <a:latin typeface="Calibri" pitchFamily="34" charset="0"/>
                <a:ea typeface="Calibri" pitchFamily="34" charset="-122"/>
                <a:cs typeface="Calibri" pitchFamily="34" charset="-120"/>
              </a:rPr>
              <a:t xml:space="preserve">Python · NumPy</a:t>
            </a:r>
          </a:p>
        </p:txBody>
      </p:sp>
      <p:sp>
        <p:nvSpPr>
          <p:cNvPr id="24" name="TextBox 23"/>
          <p:cNvSpPr txBox="1"/>
          <p:nvPr/>
        </p:nvSpPr>
        <p:spPr>
          <a:xfrm>
            <a:off x="3520440" y="4818888"/>
            <a:ext cx="3246120" cy="384048"/>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sweep orchestration and the decomposition</a:t>
            </a:r>
          </a:p>
        </p:txBody>
      </p:sp>
      <p:sp>
        <p:nvSpPr>
          <p:cNvPr id="25" name="TextBox 24"/>
          <p:cNvSpPr txBox="1"/>
          <p:nvPr/>
        </p:nvSpPr>
        <p:spPr>
          <a:xfrm>
            <a:off x="6858000" y="4818888"/>
            <a:ext cx="4754880" cy="384048"/>
          </a:xfrm>
          <a:prstGeom prst="rect">
            <a:avLst/>
          </a:prstGeom>
          <a:noFill/>
        </p:spPr>
        <p:txBody>
          <a:bodyPr wrap="square" lIns="0" tIns="0" rIns="0" bIns="0">
            <a:spAutoFit/>
          </a:bodyPr>
          <a:lstStyle/>
          <a:p>
            <a:pPr marL="177800" indent="0">
              <a:spcAft>
                <a:spcPts val="0"/>
              </a:spcAft>
              <a:buSzPct val="100000"/>
              <a:buNone/>
            </a:pPr>
            <a:r>
              <a:rPr lang="en-US" sz="1200" b="1" dirty="0">
                <a:solidFill>
                  <a:srgbClr val="000000"/>
                </a:solidFill>
                <a:latin typeface="Calibri" pitchFamily="34" charset="0"/>
                <a:ea typeface="Calibri" pitchFamily="34" charset="-122"/>
                <a:cs typeface="Calibri" pitchFamily="34" charset="-120"/>
              </a:rPr>
              <a:t xml:space="preserve">720-word search · (A) 25.1 % vs (B) 3.9 %</a:t>
            </a:r>
          </a:p>
        </p:txBody>
      </p:sp>
      <p:sp>
        <p:nvSpPr>
          <p:cNvPr id="26" name="TextBox 25"/>
          <p:cNvSpPr txBox="1"/>
          <p:nvPr/>
        </p:nvSpPr>
        <p:spPr>
          <a:xfrm>
            <a:off x="640080" y="5550408"/>
            <a:ext cx="10972800" cy="54864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No number rests on one tool. </a:t>
            </a:r>
            <a:r>
              <a:rPr lang="en-US" sz="1250" dirty="0">
                <a:solidFill>
                  <a:srgbClr val="000000"/>
                </a:solidFill>
                <a:latin typeface="Calibri" pitchFamily="34" charset="0"/>
                <a:ea typeface="Calibri" pitchFamily="34" charset="-122"/>
                <a:cs typeface="Calibri" pitchFamily="34" charset="-120"/>
              </a:rPr>
              <a:t xml:space="preserve">Every headline figure was produced in one program and checked in another — SPICE against SPICE, MATLAB against Octave, yosys against Vivado.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The gap this project fills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8</a:t>
            </a:r>
          </a:p>
        </p:txBody>
      </p:sp>
      <p:sp>
        <p:nvSpPr>
          <p:cNvPr id="6" name="TextBox 5"/>
          <p:cNvSpPr txBox="1"/>
          <p:nvPr/>
        </p:nvSpPr>
        <p:spPr>
          <a:xfrm>
            <a:off x="640080" y="1234440"/>
            <a:ext cx="11064240" cy="914400"/>
          </a:xfrm>
          <a:prstGeom prst="rect">
            <a:avLst/>
          </a:prstGeom>
          <a:noFill/>
        </p:spPr>
        <p:txBody>
          <a:bodyPr wrap="square" lIns="0" tIns="0" rIns="0" bIns="0">
            <a:spAutoFit/>
          </a:bodyPr>
          <a:lstStyle/>
          <a:p>
            <a:pPr marL="177800" indent="0">
              <a:spcAft>
                <a:spcPts val="120"/>
              </a:spcAft>
              <a:buSzPct val="100000"/>
              <a:buNone/>
            </a:pPr>
            <a:r>
              <a:rPr lang="en-US" sz="1500" b="1" dirty="0">
                <a:solidFill>
                  <a:srgbClr val="000000"/>
                </a:solidFill>
                <a:latin typeface="Calibri" pitchFamily="34" charset="0"/>
                <a:ea typeface="Calibri" pitchFamily="34" charset="-122"/>
                <a:cs typeface="Calibri" pitchFamily="34" charset="-120"/>
              </a:rPr>
              <a:t xml:space="preserve">Every active-gate-driver paper reports ONE number: the improvement over a conventional driver.</a:t>
            </a:r>
          </a:p>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That number bundles two effects that cost completely different hardware.</a:t>
            </a:r>
          </a:p>
        </p:txBody>
      </p:sp>
      <p:sp>
        <p:nvSpPr>
          <p:cNvPr id="7" name="TextBox 6"/>
          <p:cNvSpPr txBox="1"/>
          <p:nvPr/>
        </p:nvSpPr>
        <p:spPr>
          <a:xfrm>
            <a:off x="64008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1  —  a better FIXED setting</a:t>
            </a:r>
          </a:p>
        </p:txBody>
      </p:sp>
      <p:sp>
        <p:nvSpPr>
          <p:cNvPr id="8" name="TextBox 7"/>
          <p:cNvSpPr txBox="1"/>
          <p:nvPr/>
        </p:nvSpPr>
        <p:spPr>
          <a:xfrm>
            <a:off x="64008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Pick a better control word once, at design time. Costs nothing at run time: no sensor, no ADC, no lookup table, no controller.</a:t>
            </a:r>
          </a:p>
        </p:txBody>
      </p:sp>
      <p:sp>
        <p:nvSpPr>
          <p:cNvPr id="9" name="TextBox 8"/>
          <p:cNvSpPr txBox="1"/>
          <p:nvPr/>
        </p:nvSpPr>
        <p:spPr>
          <a:xfrm>
            <a:off x="448056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25.1 %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0" name="TextBox 9"/>
          <p:cNvSpPr txBox="1"/>
          <p:nvPr/>
        </p:nvSpPr>
        <p:spPr>
          <a:xfrm>
            <a:off x="6400800" y="2377440"/>
            <a:ext cx="5394960" cy="365760"/>
          </a:xfrm>
          <a:prstGeom prst="rect">
            <a:avLst/>
          </a:prstGeom>
          <a:noFill/>
        </p:spPr>
        <p:txBody>
          <a:bodyPr wrap="square" lIns="0" tIns="0" rIns="0" bIns="0">
            <a:spAutoFit/>
          </a:bodyPr>
          <a:lstStyle/>
          <a:p>
            <a:pPr marL="177800" indent="0">
              <a:spcAft>
                <a:spcPts val="0"/>
              </a:spcAft>
              <a:buSzPct val="100000"/>
              <a:buNone/>
            </a:pPr>
            <a:r>
              <a:rPr lang="en-US" sz="1450" b="1" dirty="0">
                <a:solidFill>
                  <a:srgbClr val="000000"/>
                </a:solidFill>
                <a:latin typeface="Calibri" pitchFamily="34" charset="0"/>
                <a:ea typeface="Calibri" pitchFamily="34" charset="-122"/>
                <a:cs typeface="Calibri" pitchFamily="34" charset="-120"/>
              </a:rPr>
              <a:t xml:space="preserve">Effect 2  —  ADAPTING per operating point</a:t>
            </a:r>
          </a:p>
        </p:txBody>
      </p:sp>
      <p:sp>
        <p:nvSpPr>
          <p:cNvPr id="11" name="TextBox 10"/>
          <p:cNvSpPr txBox="1"/>
          <p:nvPr/>
        </p:nvSpPr>
        <p:spPr>
          <a:xfrm>
            <a:off x="6400800" y="2834640"/>
            <a:ext cx="3703320" cy="1463040"/>
          </a:xfrm>
          <a:prstGeom prst="rect">
            <a:avLst/>
          </a:prstGeom>
          <a:noFill/>
        </p:spPr>
        <p:txBody>
          <a:bodyPr wrap="square" lIns="0" tIns="0" rIns="0" bIns="0">
            <a:spAutoFit/>
          </a:bodyP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Change the word as load, bus voltage and temperature move. This is what needs the sensing hardware the architecture is sold on.</a:t>
            </a:r>
          </a:p>
        </p:txBody>
      </p:sp>
      <p:sp>
        <p:nvSpPr>
          <p:cNvPr id="12" name="TextBox 11"/>
          <p:cNvSpPr txBox="1"/>
          <p:nvPr/>
        </p:nvSpPr>
        <p:spPr>
          <a:xfrm>
            <a:off x="10241280" y="2788920"/>
            <a:ext cx="1554480" cy="1188720"/>
          </a:xfrm>
          <a:prstGeom prst="rect">
            <a:avLst/>
          </a:prstGeom>
          <a:noFill/>
        </p:spPr>
        <p:txBody>
          <a:bodyPr wrap="square" lIns="0" tIns="0" rIns="0" bIns="0">
            <a:spAutoFit/>
          </a:bodyPr>
          <a:lstStyle/>
          <a:p>
            <a:pPr marL="177800" indent="0">
              <a:spcAft>
                <a:spcPts val="100"/>
              </a:spcAft>
              <a:buSzPct val="100000"/>
              <a:buNone/>
            </a:pPr>
            <a:r>
              <a:rPr lang="en-US" sz="3200" b="1" dirty="0">
                <a:solidFill>
                  <a:srgbClr val="000000"/>
                </a:solidFill>
                <a:latin typeface="Calibri" pitchFamily="34" charset="0"/>
                <a:ea typeface="Calibri" pitchFamily="34" charset="-122"/>
                <a:cs typeface="Calibri" pitchFamily="34" charset="-120"/>
              </a:rPr>
              <a:t xml:space="preserve">3.9 %</a:t>
            </a:r>
          </a:p>
          <a:p>
            <a:pPr marL="177800" indent="0">
              <a:spcAft>
                <a:spcPts val="60"/>
              </a:spcAft>
              <a:buSzPct val="100000"/>
              <a:buNone/>
            </a:pPr>
            <a:r>
              <a:rPr lang="en-US" sz="1300" b="1" dirty="0">
                <a:solidFill>
                  <a:srgbClr val="000000"/>
                </a:solidFill>
                <a:latin typeface="Calibri" pitchFamily="34" charset="0"/>
                <a:ea typeface="Calibri" pitchFamily="34" charset="-122"/>
                <a:cs typeface="Calibri" pitchFamily="34" charset="-120"/>
              </a:rPr>
              <a:t xml:space="preserve">of baseline</a:t>
            </a:r>
          </a:p>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
            </a:r>
          </a:p>
        </p:txBody>
      </p:sp>
      <p:sp>
        <p:nvSpPr>
          <p:cNvPr id="13" name="TextBox 12"/>
          <p:cNvSpPr txBox="1"/>
          <p:nvPr/>
        </p:nvSpPr>
        <p:spPr>
          <a:xfrm>
            <a:off x="640080" y="4526280"/>
            <a:ext cx="11064240" cy="1920240"/>
          </a:xfrm>
          <a:prstGeom prst="rect">
            <a:avLst/>
          </a:prstGeom>
          <a:noFill/>
        </p:spPr>
        <p:txBody>
          <a:bodyPr wrap="square" lIns="0" tIns="0" rIns="0" bIns="0">
            <a:spAutoFit/>
          </a:bodyPr>
          <a:lstStyle/>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THE GAP: </a:t>
            </a:r>
            <a:r>
              <a:rPr lang="en-US" sz="1400" dirty="0">
                <a:solidFill>
                  <a:srgbClr val="000000"/>
                </a:solidFill>
                <a:latin typeface="Calibri" pitchFamily="34" charset="0"/>
                <a:ea typeface="Calibri" pitchFamily="34" charset="-122"/>
                <a:cs typeface="Calibri" pitchFamily="34" charset="-120"/>
              </a:rPr>
              <a:t xml:space="preserve">no published work separates them. Nobody reports how much of an active gate driver's benefit actually requires adaptation, because separating the two needs an exhaustive search of the control word at every corner — and nobody has run one.</a:t>
            </a:r>
          </a:p>
          <a:p>
            <a:pPr marL="177800" indent="0">
              <a:spcAft>
                <a:spcPts val="170"/>
              </a:spcAft>
              <a:buSzPct val="100000"/>
              <a:buNone/>
            </a:pPr>
            <a:r>
              <a:rPr lang="en-US" sz="1400" b="1" dirty="0">
                <a:solidFill>
                  <a:srgbClr val="000000"/>
                </a:solidFill>
                <a:latin typeface="Calibri" pitchFamily="34" charset="0"/>
                <a:ea typeface="Calibri" pitchFamily="34" charset="-122"/>
                <a:cs typeface="Calibri" pitchFamily="34" charset="-120"/>
              </a:rPr>
              <a:t xml:space="preserve">WHY IT MATTERS: </a:t>
            </a:r>
            <a:r>
              <a:rPr lang="en-US" sz="1400" dirty="0">
                <a:solidFill>
                  <a:srgbClr val="000000"/>
                </a:solidFill>
                <a:latin typeface="Calibri" pitchFamily="34" charset="0"/>
                <a:ea typeface="Calibri" pitchFamily="34" charset="-122"/>
                <a:cs typeface="Calibri" pitchFamily="34" charset="-120"/>
              </a:rPr>
              <a:t xml:space="preserve">only Effect 2 justifies the sense + ADC + lookup table. If it is small, that hardware is mostly paying for something a design-time choice already delivers — a buy-or-not decision nobody has costed.</a:t>
            </a:r>
          </a:p>
          <a:p>
            <a:pPr marL="177800" indent="0">
              <a:spcAft>
                <a:spcPts val="0"/>
              </a:spcAft>
              <a:buSzPct val="100000"/>
              <a:buNone/>
            </a:pPr>
            <a:r>
              <a:rPr lang="en-US" sz="1400" b="1" dirty="0">
                <a:solidFill>
                  <a:srgbClr val="000000"/>
                </a:solidFill>
                <a:latin typeface="Calibri" pitchFamily="34" charset="0"/>
                <a:ea typeface="Calibri" pitchFamily="34" charset="-122"/>
                <a:cs typeface="Calibri" pitchFamily="34" charset="-120"/>
              </a:rPr>
              <a:t xml:space="preserve">WHAT WE DO: </a:t>
            </a:r>
            <a:r>
              <a:rPr lang="en-US" sz="1400" dirty="0">
                <a:solidFill>
                  <a:srgbClr val="000000"/>
                </a:solidFill>
                <a:latin typeface="Calibri" pitchFamily="34" charset="0"/>
                <a:ea typeface="Calibri" pitchFamily="34" charset="-122"/>
                <a:cs typeface="Calibri" pitchFamily="34" charset="-120"/>
              </a:rPr>
              <a:t xml:space="preserve">720 control words × 4 corners, exhaustively, in ngspice — then report the two numbers separately instead of their sum.</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4" name="TextBox 3"/>
          <p:cNvSpPr txBox="1"/>
          <p:nvPr/>
        </p:nvSpPr>
        <p:spPr>
          <a:xfrm>
            <a:off x="548640" y="320040"/>
            <a:ext cx="9601200" cy="685800"/>
          </a:xfrm>
          <a:prstGeom prst="rect">
            <a:avLst/>
          </a:prstGeom>
          <a:noFill/>
        </p:spPr>
        <p:txBody>
          <a:bodyPr wrap="square" lIns="0" tIns="0" rIns="0" bIns="0">
            <a:spAutoFit/>
          </a:bodyPr>
          <a:lstStyle/>
          <a:p>
            <a:pPr marL="177800" indent="0">
              <a:spcAft>
                <a:spcPts val="0"/>
              </a:spcAft>
              <a:buSzPct val="100000"/>
              <a:buNone/>
            </a:pPr>
            <a:r>
              <a:rPr lang="en-US" sz="2800" b="1" dirty="0">
                <a:solidFill>
                  <a:srgbClr val="000000"/>
                </a:solidFill>
                <a:latin typeface="Calibri" pitchFamily="34" charset="0"/>
                <a:ea typeface="Calibri" pitchFamily="34" charset="-122"/>
                <a:cs typeface="Calibri" pitchFamily="34" charset="-120"/>
              </a:rPr>
              <a:t xml:space="preserve">We implemented the base paper, then ours</a:t>
            </a:r>
          </a:p>
        </p:txBody>
      </p:sp>
      <p:sp>
        <p:nvSpPr>
          <p:cNvPr id="5" name="TextBox 4"/>
          <p:cNvSpPr txBox="1"/>
          <p:nvPr/>
        </p:nvSpPr>
        <p:spPr>
          <a:xfrm>
            <a:off x="11457432" y="6446520"/>
            <a:ext cx="457200" cy="274320"/>
          </a:xfrm>
          <a:prstGeom prst="rect">
            <a:avLst/>
          </a:prstGeom>
          <a:noFill/>
        </p:spPr>
        <p:txBody>
          <a:bodyPr wrap="square" lIns="0" tIns="0" rIns="0" bIns="0">
            <a:spAutoFit/>
          </a:bodyPr>
          <a:lstStyle/>
          <a:p>
            <a:pPr marL="177800" indent="0">
              <a:spcAft>
                <a:spcPts val="0"/>
              </a:spcAft>
              <a:buSzPct val="100000"/>
              <a:buNone/>
            </a:pPr>
            <a:r>
              <a:rPr lang="en-US" sz="1100" dirty="0">
                <a:solidFill>
                  <a:srgbClr val="000000"/>
                </a:solidFill>
                <a:latin typeface="Calibri" pitchFamily="34" charset="0"/>
                <a:ea typeface="Calibri" pitchFamily="34" charset="-122"/>
                <a:cs typeface="Calibri" pitchFamily="34" charset="-120"/>
              </a:rPr>
              <a:t xml:space="preserve">15</a:t>
            </a:r>
          </a:p>
        </p:txBody>
      </p:sp>
      <p:sp>
        <p:nvSpPr>
          <p:cNvPr id="6" name="TextBox 5"/>
          <p:cNvSpPr txBox="1"/>
          <p:nvPr/>
        </p:nvSpPr>
        <p:spPr>
          <a:xfrm>
            <a:off x="640080" y="1207008"/>
            <a:ext cx="11064240" cy="868680"/>
          </a:xfrm>
          <a:prstGeom prst="rect">
            <a:avLst/>
          </a:prstGeom>
          <a:noFill/>
        </p:spPr>
        <p:txBody>
          <a:bodyPr wrap="square" lIns="0" tIns="0" rIns="0" bIns="0">
            <a:spAutoFit/>
          </a:bodyPr>
          <a:lstStyle/>
          <a:p>
            <a:pPr marL="177800" indent="0">
              <a:spcAft>
                <a:spcPts val="0"/>
              </a:spcAft>
              <a:buSzPct val="100000"/>
              <a:buNone/>
            </a:pPr>
            <a:r>
              <a:rPr lang="en-US" sz="1250" b="1" dirty="0">
                <a:solidFill>
                  <a:srgbClr val="000000"/>
                </a:solidFill>
                <a:latin typeface="Calibri" pitchFamily="34" charset="0"/>
                <a:ea typeface="Calibri" pitchFamily="34" charset="-122"/>
                <a:cs typeface="Calibri" pitchFamily="34" charset="-120"/>
              </a:rPr>
              <a:t xml:space="preserve">Citing a base paper is not a comparison. </a:t>
            </a:r>
            <a:r>
              <a:rPr lang="en-US" sz="1250" dirty="0">
                <a:solidFill>
                  <a:srgbClr val="000000"/>
                </a:solidFill>
                <a:latin typeface="Calibri" pitchFamily="34" charset="0"/>
                <a:ea typeface="Calibri" pitchFamily="34" charset="-122"/>
                <a:cs typeface="Calibri" pitchFamily="34" charset="-120"/>
              </a:rPr>
              <a:t xml:space="preserve">models/basedrv.lib implements Takayama, Okuda &amp; Hikihara's DAC-architecture driver — a multibit code that changes DURING the switching edge, with no Miller clamp and no negative off-bias rail, because those are ours. It runs inside sim/dpt.cir, byte-identical otherwise, so only the driver differs.</a:t>
            </a:r>
          </a:p>
        </p:txBody>
      </p:sp>
      <p:sp>
        <p:nvSpPr>
          <p:cNvPr id="7" name="TextBox 6"/>
          <p:cNvSpPr txBox="1"/>
          <p:nvPr/>
        </p:nvSpPr>
        <p:spPr>
          <a:xfrm>
            <a:off x="640080" y="239572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Base paper, as we built it</a:t>
            </a:r>
          </a:p>
        </p:txBody>
      </p:sp>
      <p:sp>
        <p:nvSpPr>
          <p:cNvPr id="8" name="TextBox 7"/>
          <p:cNvSpPr txBox="1"/>
          <p:nvPr/>
        </p:nvSpPr>
        <p:spPr>
          <a:xfrm>
            <a:off x="4343400" y="234086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+0.533 V</a:t>
            </a:r>
          </a:p>
        </p:txBody>
      </p:sp>
      <p:sp>
        <p:nvSpPr>
          <p:cNvPr id="9" name="TextBox 8"/>
          <p:cNvSpPr txBox="1"/>
          <p:nvPr/>
        </p:nvSpPr>
        <p:spPr>
          <a:xfrm>
            <a:off x="5943600" y="239572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Their time-sequenced multibit code alone already clears the 1.4 V threshold.</a:t>
            </a:r>
          </a:p>
        </p:txBody>
      </p:sp>
      <p:sp>
        <p:nvSpPr>
          <p:cNvPr id="10" name="TextBox 9"/>
          <p:cNvSpPr txBox="1"/>
          <p:nvPr/>
        </p:nvSpPr>
        <p:spPr>
          <a:xfrm>
            <a:off x="640080" y="3035808"/>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constant code, no clamp</a:t>
            </a:r>
          </a:p>
        </p:txBody>
      </p:sp>
      <p:sp>
        <p:nvSpPr>
          <p:cNvPr id="11" name="TextBox 10"/>
          <p:cNvSpPr txBox="1"/>
          <p:nvPr/>
        </p:nvSpPr>
        <p:spPr>
          <a:xfrm>
            <a:off x="4343400" y="298094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−0.249 V</a:t>
            </a:r>
          </a:p>
        </p:txBody>
      </p:sp>
      <p:sp>
        <p:nvSpPr>
          <p:cNvPr id="12" name="TextBox 11"/>
          <p:cNvSpPr txBox="1"/>
          <p:nvPr/>
        </p:nvSpPr>
        <p:spPr>
          <a:xfrm>
            <a:off x="5943600" y="303580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FALSE TURN-ON. A fast FIXED code is worse than their sequenced one — their contribution is real, and we reproduce it.</a:t>
            </a:r>
          </a:p>
        </p:txBody>
      </p:sp>
      <p:sp>
        <p:nvSpPr>
          <p:cNvPr id="13" name="TextBox 12"/>
          <p:cNvSpPr txBox="1"/>
          <p:nvPr/>
        </p:nvSpPr>
        <p:spPr>
          <a:xfrm>
            <a:off x="640080" y="3675887"/>
            <a:ext cx="3566160" cy="530352"/>
          </a:xfrm>
          <a:prstGeom prst="rect">
            <a:avLst/>
          </a:prstGeom>
          <a:noFill/>
        </p:spPr>
        <p:txBody>
          <a:bodyPr wrap="square" lIns="0" tIns="0" rIns="0" bIns="0">
            <a:spAutoFit/>
          </a:bodyPr>
          <a:lstStyle/>
          <a:p>
            <a:pPr marL="177800" indent="0">
              <a:spcAft>
                <a:spcPts val="0"/>
              </a:spcAft>
              <a:buSzPct val="100000"/>
              <a:buNone/>
            </a:pPr>
            <a:r>
              <a:rPr lang="en-US" sz="1300" dirty="0">
                <a:solidFill>
                  <a:srgbClr val="000000"/>
                </a:solidFill>
                <a:latin typeface="Calibri" pitchFamily="34" charset="0"/>
                <a:ea typeface="Calibri" pitchFamily="34" charset="-122"/>
                <a:cs typeface="Calibri" pitchFamily="34" charset="-120"/>
              </a:rPr>
              <a:t xml:space="preserve">Ours, active Miller clamp on</a:t>
            </a:r>
          </a:p>
        </p:txBody>
      </p:sp>
      <p:sp>
        <p:nvSpPr>
          <p:cNvPr id="14" name="TextBox 13"/>
          <p:cNvSpPr txBox="1"/>
          <p:nvPr/>
        </p:nvSpPr>
        <p:spPr>
          <a:xfrm>
            <a:off x="4343400" y="3621023"/>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+0.570 V</a:t>
            </a:r>
          </a:p>
        </p:txBody>
      </p:sp>
      <p:sp>
        <p:nvSpPr>
          <p:cNvPr id="15" name="TextBox 14"/>
          <p:cNvSpPr txBox="1"/>
          <p:nvPr/>
        </p:nvSpPr>
        <p:spPr>
          <a:xfrm>
            <a:off x="5943600" y="3675887"/>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Only marginally past the base paper. The clamp alone is not the story.</a:t>
            </a:r>
          </a:p>
        </p:txBody>
      </p:sp>
      <p:sp>
        <p:nvSpPr>
          <p:cNvPr id="16" name="TextBox 15"/>
          <p:cNvSpPr txBox="1"/>
          <p:nvPr/>
        </p:nvSpPr>
        <p:spPr>
          <a:xfrm>
            <a:off x="640080" y="4315968"/>
            <a:ext cx="3566160" cy="530352"/>
          </a:xfrm>
          <a:prstGeom prst="rect">
            <a:avLst/>
          </a:prstGeom>
          <a:noFill/>
        </p:spPr>
        <p:txBody>
          <a:bodyPr wrap="square" lIns="0" tIns="0" rIns="0" bIns="0">
            <a:spAutoFit/>
          </a:bodyPr>
          <a:lstStyle/>
          <a:p>
            <a:pPr marL="177800" indent="0">
              <a:spcAft>
                <a:spcPts val="0"/>
              </a:spcAft>
              <a:buSzPct val="100000"/>
              <a:buNone/>
            </a:pPr>
            <a:r>
              <a:rPr lang="en-US" sz="1300" b="1" dirty="0">
                <a:solidFill>
                  <a:srgbClr val="000000"/>
                </a:solidFill>
                <a:latin typeface="Calibri" pitchFamily="34" charset="0"/>
                <a:ea typeface="Calibri" pitchFamily="34" charset="-122"/>
                <a:cs typeface="Calibri" pitchFamily="34" charset="-120"/>
              </a:rPr>
              <a:t xml:space="preserve">Ours, clamp + −2 V off-bias</a:t>
            </a:r>
          </a:p>
        </p:txBody>
      </p:sp>
      <p:sp>
        <p:nvSpPr>
          <p:cNvPr id="17" name="TextBox 16"/>
          <p:cNvSpPr txBox="1"/>
          <p:nvPr/>
        </p:nvSpPr>
        <p:spPr>
          <a:xfrm>
            <a:off x="4343400" y="4261104"/>
            <a:ext cx="1417320" cy="438912"/>
          </a:xfrm>
          <a:prstGeom prst="rect">
            <a:avLst/>
          </a:prstGeom>
          <a:noFill/>
        </p:spPr>
        <p:txBody>
          <a:bodyPr wrap="square" lIns="0" tIns="0" rIns="0" bIns="0">
            <a:spAutoFit/>
          </a:bodyPr>
          <a:lstStyle/>
          <a:p>
            <a:pPr marL="177800" indent="0">
              <a:spcAft>
                <a:spcPts val="0"/>
              </a:spcAft>
              <a:buSzPct val="100000"/>
              <a:buNone/>
            </a:pPr>
            <a:r>
              <a:rPr lang="en-US" sz="1700" b="1" dirty="0">
                <a:solidFill>
                  <a:srgbClr val="000000"/>
                </a:solidFill>
                <a:latin typeface="Calibri" pitchFamily="34" charset="0"/>
                <a:ea typeface="Calibri" pitchFamily="34" charset="-122"/>
                <a:cs typeface="Calibri" pitchFamily="34" charset="-120"/>
              </a:rPr>
              <a:t xml:space="preserve">+2.576 V</a:t>
            </a:r>
          </a:p>
        </p:txBody>
      </p:sp>
      <p:sp>
        <p:nvSpPr>
          <p:cNvPr id="18" name="TextBox 17"/>
          <p:cNvSpPr txBox="1"/>
          <p:nvPr/>
        </p:nvSpPr>
        <p:spPr>
          <a:xfrm>
            <a:off x="5943600" y="4315968"/>
            <a:ext cx="5577840" cy="548640"/>
          </a:xfrm>
          <a:prstGeom prst="rect">
            <a:avLst/>
          </a:prstGeom>
          <a:noFill/>
        </p:spPr>
        <p:txBody>
          <a:bodyPr wrap="square" lIns="0" tIns="0" rIns="0" bIns="0">
            <a:spAutoFit/>
          </a:bodyPr>
          <a:lstStyle/>
          <a:p>
            <a:pPr marL="177800" indent="0">
              <a:spcAft>
                <a:spcPts val="0"/>
              </a:spcAft>
              <a:buSzPct val="100000"/>
              <a:buNone/>
            </a:pPr>
            <a:r>
              <a:rPr lang="en-US" sz="1150" dirty="0">
                <a:solidFill>
                  <a:srgbClr val="000000"/>
                </a:solidFill>
                <a:latin typeface="Calibri" pitchFamily="34" charset="0"/>
                <a:ea typeface="Calibri" pitchFamily="34" charset="-122"/>
                <a:cs typeface="Calibri" pitchFamily="34" charset="-120"/>
              </a:rPr>
              <a:t xml:space="preserve">4.8× the base paper's margin. This is the shipped configuration.</a:t>
            </a:r>
          </a:p>
        </p:txBody>
      </p:sp>
      <p:sp>
        <p:nvSpPr>
          <p:cNvPr id="19" name="TextBox 18"/>
          <p:cNvSpPr txBox="1"/>
          <p:nvPr/>
        </p:nvSpPr>
        <p:spPr>
          <a:xfrm>
            <a:off x="640080" y="5138928"/>
            <a:ext cx="11064240" cy="1234440"/>
          </a:xfrm>
          <a:prstGeom prst="rect">
            <a:avLst/>
          </a:prstGeom>
          <a:noFill/>
        </p:spPr>
        <p:txBody>
          <a:bodyPr wrap="square" lIns="0" tIns="0" rIns="0" bIns="0">
            <a:spAutoFit/>
          </a:bodyPr>
          <a:lstStyle/>
          <a:p>
            <a:pPr marL="177800" indent="0">
              <a:spcAft>
                <a:spcPts val="150"/>
              </a:spcAft>
              <a:buSzPct val="100000"/>
              <a:buNone/>
            </a:pPr>
            <a:r>
              <a:rPr lang="en-US" sz="1250" b="1" dirty="0">
                <a:solidFill>
                  <a:srgbClr val="000000"/>
                </a:solidFill>
                <a:latin typeface="Calibri" pitchFamily="34" charset="0"/>
                <a:ea typeface="Calibri" pitchFamily="34" charset="-122"/>
                <a:cs typeface="Calibri" pitchFamily="34" charset="-120"/>
              </a:rPr>
              <a:t xml:space="preserve">What the comparison shows. </a:t>
            </a:r>
            <a:r>
              <a:rPr lang="en-US" sz="1250" dirty="0">
                <a:solidFill>
                  <a:srgbClr val="000000"/>
                </a:solidFill>
                <a:latin typeface="Calibri" pitchFamily="34" charset="0"/>
                <a:ea typeface="Calibri" pitchFamily="34" charset="-122"/>
                <a:cs typeface="Calibri" pitchFamily="34" charset="-120"/>
              </a:rPr>
              <a:t xml:space="preserve">The base paper shapes the gate waveform in TIME; we hold the code constant and add two actuators it does not have. Both clear the threshold — theirs works — but ours clears it by 4.8× more, and ours is the one whose settings can then be searched exhaustively to ask what adaptation is actually worth.</a:t>
            </a:r>
          </a:p>
          <a:p>
            <a:pPr marL="177800" indent="0">
              <a:spcAft>
                <a:spcPts val="0"/>
              </a:spcAft>
              <a:buSzPct val="100000"/>
              <a:buNone/>
            </a:pPr>
            <a:r>
              <a:rPr lang="en-US" sz="1150" b="1" dirty="0">
                <a:solidFill>
                  <a:srgbClr val="000000"/>
                </a:solidFill>
                <a:latin typeface="Calibri" pitchFamily="34" charset="0"/>
                <a:ea typeface="Calibri" pitchFamily="34" charset="-122"/>
                <a:cs typeface="Calibri" pitchFamily="34" charset="-120"/>
              </a:rPr>
              <a:t xml:space="preserve">Reproduce: </a:t>
            </a:r>
            <a:r>
              <a:rPr lang="en-US" sz="1150" b="1" dirty="0">
                <a:solidFill>
                  <a:srgbClr val="000000"/>
                </a:solidFill>
                <a:latin typeface="Calibri" pitchFamily="34" charset="0"/>
                <a:ea typeface="Calibri" pitchFamily="34" charset="-122"/>
                <a:cs typeface="Calibri" pitchFamily="34" charset="-120"/>
              </a:rPr>
              <a:t xml:space="preserve">python3 scripts/basepaper_compare.py</a:t>
            </a:r>
            <a:r>
              <a:rPr lang="en-US" sz="1150" dirty="0">
                <a:solidFill>
                  <a:srgbClr val="000000"/>
                </a:solidFill>
                <a:latin typeface="Calibri" pitchFamily="34" charset="0"/>
                <a:ea typeface="Calibri" pitchFamily="34" charset="-122"/>
                <a:cs typeface="Calibri" pitchFamily="34" charset="-120"/>
              </a:rPr>
              <a:t xml:space="preserve">  — four ngspice runs, prints this table.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01</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The problem</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real failure, and the question nobody has answered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02</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built</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A 720-point control word, and an exhaustive search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03</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What we found</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Choosing well beats adapting — and by how much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1188720" y="1874519"/>
            <a:ext cx="2743200" cy="1143000"/>
          </a:xfrm>
          <a:prstGeom prst="rect">
            <a:avLst/>
          </a:prstGeom>
          <a:noFill/>
        </p:spPr>
        <p:txBody>
          <a:bodyPr wrap="square">
            <a:spAutoFit/>
          </a:bodyPr>
          <a:lstStyle/>
          <a:p>
            <a:r>
              <a:rPr sz="6600" b="1" i="0">
                <a:solidFill>
                  <a:srgbClr val="6B7C93"/>
                </a:solidFill>
                <a:latin typeface="Calibri"/>
              </a:rPr>
              <a:t>04</a:t>
            </a:r>
          </a:p>
        </p:txBody>
      </p:sp>
      <p:sp>
        <p:nvSpPr>
          <p:cNvPr id="4" name="TextBox 3"/>
          <p:cNvSpPr txBox="1"/>
          <p:nvPr/>
        </p:nvSpPr>
        <p:spPr>
          <a:xfrm>
            <a:off x="1188720" y="3063240"/>
            <a:ext cx="9692640" cy="1005840"/>
          </a:xfrm>
          <a:prstGeom prst="rect">
            <a:avLst/>
          </a:prstGeom>
          <a:noFill/>
        </p:spPr>
        <p:txBody>
          <a:bodyPr wrap="square">
            <a:spAutoFit/>
          </a:bodyPr>
          <a:lstStyle/>
          <a:p>
            <a:r>
              <a:rPr sz="4400" b="1" i="0">
                <a:solidFill>
                  <a:srgbClr val="F4F2EE"/>
                </a:solidFill>
                <a:latin typeface="Calibri"/>
              </a:rPr>
              <a:t>Where this goes</a:t>
            </a:r>
          </a:p>
        </p:txBody>
      </p:sp>
      <p:sp>
        <p:nvSpPr>
          <p:cNvPr id="5" name="TextBox 4"/>
          <p:cNvSpPr txBox="1"/>
          <p:nvPr/>
        </p:nvSpPr>
        <p:spPr>
          <a:xfrm>
            <a:off x="1280160" y="4160520"/>
            <a:ext cx="9509760" cy="731520"/>
          </a:xfrm>
          <a:prstGeom prst="rect">
            <a:avLst/>
          </a:prstGeom>
          <a:noFill/>
        </p:spPr>
        <p:txBody>
          <a:bodyPr wrap="square">
            <a:spAutoFit/>
          </a:bodyPr>
          <a:lstStyle/>
          <a:p>
            <a:r>
              <a:rPr sz="1700" b="0" i="0">
                <a:solidFill>
                  <a:srgbClr val="6B7C93"/>
                </a:solidFill>
                <a:latin typeface="Calibri"/>
              </a:rPr>
              <a:t>The deliverable, the limits, and Review-II</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txBox="1"/>
          <p:nvPr/>
        </p:nvSpPr>
        <p:spPr>
          <a:xfrm>
            <a:off x="11460175" y="6446520"/>
            <a:ext cx="457200" cy="274320"/>
          </a:xfrm>
          <a:prstGeom prst="rect">
            <a:avLst/>
          </a:prstGeom>
          <a:noFill/>
          <a:ln/>
        </p:spPr>
        <p:txBody>
          <a:bodyPr wrap="square" lIns="0" tIns="0" rIns="0" bIns="0" rtlCol="0" anchor="ctr"/>
          <a:lstStyle/>
          <a:p>
            <a:pPr marL="0" indent="0" algn="r">
              <a:buNone/>
            </a:pPr>
            <a:r>
              <a:rPr lang="en-US" sz="1000" dirty="0">
                <a:solidFill>
                  <a:srgbClr val="808080"/>
                </a:solidFill>
                <a:latin typeface="Calibri" pitchFamily="34" charset="0"/>
                <a:ea typeface="Calibri" pitchFamily="34" charset="-122"/>
                <a:cs typeface="Calibri" pitchFamily="34" charset="-120"/>
              </a:rPr>
              <a:t>33</a:t>
            </a:r>
            <a:endParaRPr lang="en-US" sz="1000" dirty="0"/>
          </a:p>
        </p:txBody>
      </p:sp>
      <p:sp>
        <p:nvSpPr>
          <p:cNvPr id="3" name="Text 1"/>
          <p:cNvSpPr txBox="1"/>
          <p:nvPr/>
        </p:nvSpPr>
        <p:spPr>
          <a:xfrm>
            <a:off x="548640" y="320040"/>
            <a:ext cx="9601200" cy="685800"/>
          </a:xfrm>
          <a:prstGeom prst="rect">
            <a:avLst/>
          </a:prstGeom>
          <a:noFill/>
          <a:ln/>
        </p:spPr>
        <p:txBody>
          <a:bodyPr wrap="square" lIns="0" tIns="0" rIns="0" bIns="0" rtlCol="0" anchor="ctr"/>
          <a:lstStyle/>
          <a:p>
            <a:pPr marL="0" indent="0">
              <a:buNone/>
            </a:pPr>
            <a:r>
              <a:rPr lang="en-US" sz="2800" b="1" dirty="0">
                <a:solidFill>
                  <a:srgbClr val="1D2F82"/>
                </a:solidFill>
                <a:latin typeface="Calibri" pitchFamily="34" charset="0"/>
                <a:ea typeface="Calibri" pitchFamily="34" charset="-122"/>
                <a:cs typeface="Calibri" pitchFamily="34" charset="-120"/>
              </a:rPr>
              <a:t>References  (16–30)</a:t>
            </a:r>
            <a:endParaRPr lang="en-US" sz="2800" dirty="0"/>
          </a:p>
        </p:txBody>
      </p:sp>
      <p:pic>
        <p:nvPicPr>
          <p:cNvPr id="4" name="Image 0" descr="logo.png"/>
          <p:cNvPicPr>
            <a:picLocks noChangeAspect="1"/>
          </p:cNvPicPr>
          <p:nvPr/>
        </p:nvPicPr>
        <p:blipFill>
          <a:blip r:embed="rId2"/>
          <a:stretch>
            <a:fillRect/>
          </a:stretch>
        </p:blipFill>
        <p:spPr>
          <a:xfrm>
            <a:off x="10362895" y="320040"/>
            <a:ext cx="1371600" cy="518746"/>
          </a:xfrm>
          <a:prstGeom prst="rect">
            <a:avLst/>
          </a:prstGeom>
        </p:spPr>
      </p:pic>
      <p:sp>
        <p:nvSpPr>
          <p:cNvPr id="5" name="Text 2"/>
          <p:cNvSpPr txBox="1"/>
          <p:nvPr/>
        </p:nvSpPr>
        <p:spPr>
          <a:xfrm>
            <a:off x="640080" y="1325880"/>
            <a:ext cx="10881360" cy="4343400"/>
          </a:xfrm>
          <a:prstGeom prst="rect">
            <a:avLst/>
          </a:prstGeom>
          <a:noFill/>
          <a:ln/>
        </p:spPr>
        <p:txBody>
          <a:bodyPr wrap="square" lIns="0" tIns="0" rIns="0" bIns="0" rtlCol="0" anchor="t"/>
          <a:lstStyle/>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[16]  </a:t>
            </a:r>
            <a:r>
              <a:rPr lang="en-US" sz="900" dirty="0">
                <a:solidFill>
                  <a:srgbClr val="000000"/>
                </a:solidFill>
                <a:latin typeface="Calibri" pitchFamily="34" charset="0"/>
                <a:ea typeface="Calibri" pitchFamily="34" charset="-122"/>
                <a:cs typeface="Calibri" pitchFamily="34" charset="-120"/>
              </a:rPr>
              <a:t xml:space="preserve">Z. Yuan, H. Li, M. Zhang, Z. Yang, S. Zhao, H. Wang, X. Wang and L. Ding, “Influence of Negative Gate Bias on Crosstalk Spike in SiC MOSFETs Half-Bridge Circuit,” IEEE J. Emerg. Sel. Topics Power Electron., vol. 14, no. 3, pp. 3217–3229,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[17]  </a:t>
            </a:r>
            <a:r>
              <a:rPr lang="en-US" sz="900" dirty="0">
                <a:solidFill>
                  <a:srgbClr val="000000"/>
                </a:solidFill>
                <a:latin typeface="Calibri" pitchFamily="34" charset="0"/>
                <a:ea typeface="Calibri" pitchFamily="34" charset="-122"/>
                <a:cs typeface="Calibri" pitchFamily="34" charset="-120"/>
              </a:rPr>
              <a:t xml:space="preserve">L. Zhang, K. Wang, S. Guo and B. Zhu, “A Gate Driver for Crosstalk Suppression of eGaN HEMT Power Devices,” J. Low Power Electron. Appl., vol. 15, no. 3, pp. 38,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[18]  </a:t>
            </a:r>
            <a:r>
              <a:rPr lang="en-US" sz="900" dirty="0">
                <a:solidFill>
                  <a:srgbClr val="000000"/>
                </a:solidFill>
                <a:latin typeface="Calibri" pitchFamily="34" charset="0"/>
                <a:ea typeface="Calibri" pitchFamily="34" charset="-122"/>
                <a:cs typeface="Calibri" pitchFamily="34" charset="-120"/>
              </a:rPr>
              <a:t xml:space="preserve">J. Wu, “Parallel arrangement of MOSFETs, effective suppression of crosstalk: A new gate driver topology,” iEnergy, vol. 2, no. 3, pp. 163–163,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[19]  </a:t>
            </a:r>
            <a:r>
              <a:rPr lang="en-US" sz="900" dirty="0">
                <a:solidFill>
                  <a:srgbClr val="000000"/>
                </a:solidFill>
                <a:latin typeface="Calibri" pitchFamily="34" charset="0"/>
                <a:ea typeface="Calibri" pitchFamily="34" charset="-122"/>
                <a:cs typeface="Calibri" pitchFamily="34" charset="-120"/>
              </a:rPr>
              <a:t xml:space="preserve">Y. Mikhaylov, G. Buticchi and M. Galea, “A gate driver for parallel connected MOSFETs with crosstalk suppression,” iEnergy, vol. 2, no. 3, pp. 240–250,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[20]  </a:t>
            </a:r>
            <a:r>
              <a:rPr lang="en-US" sz="900" dirty="0">
                <a:solidFill>
                  <a:srgbClr val="000000"/>
                </a:solidFill>
                <a:latin typeface="Calibri" pitchFamily="34" charset="0"/>
                <a:ea typeface="Calibri" pitchFamily="34" charset="-122"/>
                <a:cs typeface="Calibri" pitchFamily="34" charset="-120"/>
              </a:rPr>
              <a:t xml:space="preserve">W. Liu and H. Min, “A Load Adaptive Active Gate Driver with Fast-Switching Three-Level Current Source for Overshoot Suppression in GaN-Based Half-Bridge Converters,” IEEE Trans. Power Electron., pp. 1–8,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[21]  </a:t>
            </a:r>
            <a:r>
              <a:rPr lang="en-US" sz="900" dirty="0">
                <a:solidFill>
                  <a:srgbClr val="000000"/>
                </a:solidFill>
                <a:latin typeface="Calibri" pitchFamily="34" charset="0"/>
                <a:ea typeface="Calibri" pitchFamily="34" charset="-122"/>
                <a:cs typeface="Calibri" pitchFamily="34" charset="-120"/>
              </a:rPr>
              <a:t xml:space="preserve">R. Chen, F. Wang, H. Bai and L.M. Tolbert, “A Simple Gate Driver Circuit for Turn-on Overvoltage Suppression of 10 kV SiC MOSFETs With Temporarily Lowering Gate Voltage During dv/dt,” IEEE Trans. Ind. Electron., pp. 1–6,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[22]  </a:t>
            </a:r>
            <a:r>
              <a:rPr lang="en-US" sz="900" dirty="0">
                <a:solidFill>
                  <a:srgbClr val="000000"/>
                </a:solidFill>
                <a:latin typeface="Calibri" pitchFamily="34" charset="0"/>
                <a:ea typeface="Calibri" pitchFamily="34" charset="-122"/>
                <a:cs typeface="Calibri" pitchFamily="34" charset="-120"/>
              </a:rPr>
              <a:t xml:space="preserve">D. Yu, M. Yang, L. Yin, K. Hu, W. Zhang and Q. Fu, “A Dual-Loop Active Gate Driver With Independent Voltage Slew Rate and Overshoot Control for Switching Loss Optimization of SiC MOSFETs,” IEEE Trans. Ind. Electron., pp. 1–12,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[23]  </a:t>
            </a:r>
            <a:r>
              <a:rPr lang="en-US" sz="900" dirty="0">
                <a:solidFill>
                  <a:srgbClr val="000000"/>
                </a:solidFill>
                <a:latin typeface="Calibri" pitchFamily="34" charset="0"/>
                <a:ea typeface="Calibri" pitchFamily="34" charset="-122"/>
                <a:cs typeface="Calibri" pitchFamily="34" charset="-120"/>
              </a:rPr>
              <a:t xml:space="preserve">P. Xiang, R. Hao, J. Cai and X. You, “An Active Gate Driver of SiC MOSFET Module Based on PCB Rogowski Coil for Optimizing Tradeoff Between Overshoot and Switching Loss,” IEEE Trans. Power Electron., vol. 38, no. 1, pp. 245–260, 2023.</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[24]  </a:t>
            </a:r>
            <a:r>
              <a:rPr lang="en-US" sz="900" dirty="0">
                <a:solidFill>
                  <a:srgbClr val="000000"/>
                </a:solidFill>
                <a:latin typeface="Calibri" pitchFamily="34" charset="0"/>
                <a:ea typeface="Calibri" pitchFamily="34" charset="-122"/>
                <a:cs typeface="Calibri" pitchFamily="34" charset="-120"/>
              </a:rPr>
              <a:t xml:space="preserve">S. Fukunaga, H. Takayama and T. Hikihara, “Slew rate control of switching transient for SiC MOSFET in boost converter using digital active gate driver,” IET Power Electron., vol. 16, no. 3, pp. 472–482,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[25]  </a:t>
            </a:r>
            <a:r>
              <a:rPr lang="en-US" sz="900" dirty="0">
                <a:solidFill>
                  <a:srgbClr val="000000"/>
                </a:solidFill>
                <a:latin typeface="Calibri" pitchFamily="34" charset="0"/>
                <a:ea typeface="Calibri" pitchFamily="34" charset="-122"/>
                <a:cs typeface="Calibri" pitchFamily="34" charset="-120"/>
              </a:rPr>
              <a:t xml:space="preserve">C. Xu, P. Fu, X. Liao, Z. Zhu and L. Liu, “An Integrated Driver With Real-Time Predictive Dead-Time Optimization Technique for GaN-Based Synchronous Buck Converter,” IEEE J. Emerg. Sel. Topics Power Electron., vol. 13, no. 3, pp. 3173–3183, 2025.</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[26]  </a:t>
            </a:r>
            <a:r>
              <a:rPr lang="en-US" sz="900" dirty="0">
                <a:solidFill>
                  <a:srgbClr val="000000"/>
                </a:solidFill>
                <a:latin typeface="Calibri" pitchFamily="34" charset="0"/>
                <a:ea typeface="Calibri" pitchFamily="34" charset="-122"/>
                <a:cs typeface="Calibri" pitchFamily="34" charset="-120"/>
              </a:rPr>
              <a:t xml:space="preserve">C. Chen, P. Chiu, Y. Chen, P. Wang and Y. Chang, “An Integrated Driver With Adaptive Dead-Time Control for GaN-Based Synchronous Buck Converter,” IEEE Trans. Circuits Syst. II, vol. 69, no. 2, pp. 539–543,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[27]  </a:t>
            </a:r>
            <a:r>
              <a:rPr lang="en-US" sz="900" dirty="0">
                <a:solidFill>
                  <a:srgbClr val="000000"/>
                </a:solidFill>
                <a:latin typeface="Calibri" pitchFamily="34" charset="0"/>
                <a:ea typeface="Calibri" pitchFamily="34" charset="-122"/>
                <a:cs typeface="Calibri" pitchFamily="34" charset="-120"/>
              </a:rPr>
              <a:t xml:space="preserve">J. Tan, Z. Zhou and G. Zou, “A Programmable Gate Driver Module-Based Multistage Voltage Regulation SiC MOSFET Switching Strategy,” Electronics, vol. 13, no. 22, pp. 4379, 2024.</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[28]  </a:t>
            </a:r>
            <a:r>
              <a:rPr lang="en-US" sz="900" dirty="0">
                <a:solidFill>
                  <a:srgbClr val="000000"/>
                </a:solidFill>
                <a:latin typeface="Calibri" pitchFamily="34" charset="0"/>
                <a:ea typeface="Calibri" pitchFamily="34" charset="-122"/>
                <a:cs typeface="Calibri" pitchFamily="34" charset="-120"/>
              </a:rPr>
              <a:t xml:space="preserve">C. Chen, P. Wang, S. Li, Y. Chen and Y. Chang, “An Integrated Driver With Bang-Bang Dead-Time Control and Charge Sharing Bootstrap Circuit for GaN Synchronous Buck Converter,” IEEE Trans. Power Electron., vol. 37, no. 8, pp. 9503–9514, 2022.</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[29]  </a:t>
            </a:r>
            <a:r>
              <a:rPr lang="en-US" sz="900" dirty="0">
                <a:solidFill>
                  <a:srgbClr val="000000"/>
                </a:solidFill>
                <a:latin typeface="Calibri" pitchFamily="34" charset="0"/>
                <a:ea typeface="Calibri" pitchFamily="34" charset="-122"/>
                <a:cs typeface="Calibri" pitchFamily="34" charset="-120"/>
              </a:rPr>
              <a:t xml:space="preserve">G.H. Thuc, M. Tsai, C. Chen, J. Fu, W. Wu and W. Lin, “A Current Source Gate Driver with Dual-Edge Adaptive Slew Rate for GaN Devices,” in Proc. 2026 IEEE Applied Power Electronics Conference and Exposition (APEC), 2026.</a:t>
            </a:r>
          </a:p>
          <a:p>
            <a:pPr marL="177800" indent="0">
              <a:spcAft>
                <a:spcPts val="60"/>
              </a:spcAft>
              <a:buSzPct val="100000"/>
              <a:buNone/>
            </a:pPr>
            <a:r>
              <a:rPr lang="en-US" sz="900" b="1" dirty="0">
                <a:solidFill>
                  <a:srgbClr val="000000"/>
                </a:solidFill>
                <a:latin typeface="Calibri" pitchFamily="34" charset="0"/>
                <a:ea typeface="Calibri" pitchFamily="34" charset="-122"/>
                <a:cs typeface="Calibri" pitchFamily="34" charset="-120"/>
              </a:rPr>
              <a:t xml:space="preserve">[30]  </a:t>
            </a:r>
            <a:r>
              <a:rPr lang="en-US" sz="900" dirty="0">
                <a:solidFill>
                  <a:srgbClr val="000000"/>
                </a:solidFill>
                <a:latin typeface="Calibri" pitchFamily="34" charset="0"/>
                <a:ea typeface="Calibri" pitchFamily="34" charset="-122"/>
                <a:cs typeface="Calibri" pitchFamily="34" charset="-120"/>
              </a:rPr>
              <a:t xml:space="preserve">G. Wu, Y. Huang, Y. Chen and C. Chen, “Closed-loop Slew Rate Control of Active Current Source Gate Driver with Digital Implementation for SiC MOSFET,” in Proc. 2025 IEEE Energy Conversion Conference Congress and Exposition (ECCE), 2025.</a:t>
            </a:r>
          </a:p>
          <a:p>
            <a:pPr marL="177800" indent="0">
              <a:spcAft>
                <a:spcPts val="160"/>
              </a:spcAft>
              <a:buSzPct val="100000"/>
              <a:buNone/>
            </a:pPr>
            <a:r>
              <a:rPr lang="en-US" sz="850" dirty="0">
                <a:solidFill>
                  <a:srgbClr val="000000"/>
                </a:solidFill>
                <a:latin typeface="Calibri" pitchFamily="34" charset="0"/>
                <a:ea typeface="Calibri" pitchFamily="34" charset="-122"/>
                <a:cs typeface="Calibri" pitchFamily="34" charset="-120"/>
              </a:rPr>
              <a:t xml:space="preserve">All 30 verified against the publisher record — authors, volume, issue and pages resolved through Crossref by DOI and title, not transcribed by hand.</a:t>
            </a:r>
          </a:p>
        </p:txBody>
      </p:sp>
      <p:sp>
        <p:nvSpPr>
          <p:cNvPr id="6" name="Text 3"/>
          <p:cNvSpPr txBox="1"/>
          <p:nvPr/>
        </p:nvSpPr>
        <p:spPr>
          <a:xfrm>
            <a:off x="640080" y="5806440"/>
            <a:ext cx="10881360" cy="365760"/>
          </a:xfrm>
          <a:prstGeom prst="rect">
            <a:avLst/>
          </a:prstGeom>
          <a:noFill/>
          <a:ln/>
        </p:spPr>
        <p:txBody>
          <a:bodyPr wrap="square" lIns="0" tIns="0" rIns="0" bIns="0" rtlCol="0" anchor="ctr"/>
          <a:lstStyle/>
          <a:p>
            <a:pPr marL="177800" indent="0">
              <a:spcAft>
                <a:spcPts val="0"/>
              </a:spcAft>
              <a:buSzPct val="100000"/>
              <a:buNone/>
            </a:pPr>
            <a:r>
              <a:rPr lang="en-US" sz="1200" dirty="0">
                <a:solidFill>
                  <a:srgbClr val="000000"/>
                </a:solidFill>
                <a:latin typeface="Calibri" pitchFamily="34" charset="0"/>
                <a:ea typeface="Calibri" pitchFamily="34" charset="-122"/>
                <a:cs typeface="Calibri" pitchFamily="34" charset="-120"/>
              </a:rPr>
              <a:t xml:space="preserve"/>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496</Words>
  <Application>Microsoft Macintosh PowerPoint</Application>
  <PresentationFormat>Widescreen</PresentationFormat>
  <Paragraphs>89</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mark kandan</cp:lastModifiedBy>
  <cp:revision>2</cp:revision>
  <dcterms:created xsi:type="dcterms:W3CDTF">2026-08-27T09:57:11Z</dcterms:created>
  <dcterms:modified xsi:type="dcterms:W3CDTF">2026-08-27T10:07:08Z</dcterms:modified>
</cp:coreProperties>
</file>