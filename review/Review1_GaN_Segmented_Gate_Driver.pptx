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296" r:id="rId19"/>
    <p:sldId id="297" r:id="rId40"/>
    <p:sldId id="260" r:id="rId6"/>
    <p:sldId id="267" r:id="rId18"/>
    <p:sldId id="283" r:id="rId34"/>
    <p:sldId id="282" r:id="rId33"/>
    <p:sldId id="298" r:id="rId2"/>
    <p:sldId id="299" r:id="rId42"/>
    <p:sldId id="300" r:id="rId43"/>
    <p:sldId id="301" r:id="rId44"/>
    <p:sldId id="280" r:id="rId31"/>
    <p:sldId id="278" r:id="rId29"/>
    <p:sldId id="295" r:id="rId21"/>
    <p:sldId id="302" r:id="rId45"/>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03"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(a) the output charging from zero and settling; (b) three switching cycles of the half-bridge; (c) power in against power out.</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 converter works. 100 V DC becomes 48.6 V DC at 4.88 A, and 97.6 % of the power gets through.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One switching edge followed through. Top row: what the controller decides. Bottom row: what the circuit then does.</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The one shaded diamond is the only live decision. Everything else is set once at power-up.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What talks to what, left to right: the PWM command, the FPGA, the segmented driver, the power stage.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Only the dashed block needs sensing, and 72 % of what it buys needs one comparator.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drawn and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_ltspice.png"/>
          <p:cNvPicPr>
            <a:picLocks noChangeAspect="1"/>
          </p:cNvPicPr>
          <p:nvPr/>
        </p:nvPicPr>
        <p:blipFill>
          <a:blip r:embed="rId6"/>
          <a:stretch>
            <a:fillRect/>
          </a:stretch>
        </p:blipFill>
        <p:spPr>
          <a:xfrm>
            <a:off x="2743813" y="1133856"/>
            <a:ext cx="6704067" cy="4443984"/>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ltspice/BUCK_converter.asc as LTspice draws it: the 100 V supply and its loop parasitics, the two GaN HEMTs, a segmented driver on each gate, the output filter and the load.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This is not a picture of a circuit — it is the circuit. Press Run and it gives 48.84 V and 4.88 A, against the netlist's 48.56 V and 4.875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The figure. </a:t>
            </a:r>
            <a:r>
              <a:rPr lang="en-US" sz="1000" dirty="0">
                <a:solidFill>
                  <a:srgbClr val="000000"/>
                </a:solidFill>
                <a:latin typeface="Calibri" pitchFamily="34" charset="0"/>
                <a:ea typeface="Calibri" pitchFamily="34" charset="-122"/>
                <a:cs typeface="Calibri" pitchFamily="34" charset="-120"/>
              </a:rPr>
              <a:t>The controller's own output, captured by Icarus Verilog.</a:t>
            </a:r>
          </a:p>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What it means. </a:t>
            </a:r>
            <a:r>
              <a:rPr lang="en-US" sz="1000" dirty="0">
                <a:solidFill>
                  <a:srgbClr val="000000"/>
                </a:solidFill>
                <a:latin typeface="Calibri" pitchFamily="34" charset="0"/>
                <a:ea typeface="Calibri" pitchFamily="34" charset="-122"/>
                <a:cs typeface="Calibri" pitchFamily="34" charset="-120"/>
              </a:rPr>
              <a:t>The two pull-up banks never overlap. The shaded gap is the dead time, so no shoot-through window exists.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(a) five settings at full load, each its own ngspice run; (b) the same driver swept at two operating points.</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 clamp removes the fault. The cheapest dead time is 15 ns at full load and 5 ns at light load — two different numbers, and that gap is the only thing worth adapting.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669280"/>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Every circuit simulation in the study is ngspice. LTspice draws the same circuit and re-measures the crosstalk result.</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One tool does the work. The second exists so that no headline number rests on a single program.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The figure. </a:t>
            </a:r>
            <a:r>
              <a:rPr lang="en-US" sz="1100" dirty="0">
                <a:solidFill>
                  <a:srgbClr val="000000"/>
                </a:solidFill>
                <a:latin typeface="Calibri" pitchFamily="34" charset="0"/>
                <a:ea typeface="Calibri" pitchFamily="34" charset="-122"/>
                <a:cs typeface="Calibri" pitchFamily="34" charset="-120"/>
              </a:rPr>
              <a:t>Voltage on the gate that is supposed to be OFF, with the fix and without.</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1.65 V against a 1.4 V threshold turns the device on. The clamp and the −2 V rail leave 2.58 V of margin.</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Power lost and peak device voltage against drive strength, measured on the running converter.</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They move in opposite directions, so no setting is best at both. Lowest loss is 4 slices, not the fastest.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2  What it costs to use one fixed setting instead of the best setting at each operating point.</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b="1">
                <a:solidFill>
                  <a:srgbClr val="000000"/>
                </a:solidFill>
                <a:latin typeface="Calibri" pitchFamily="34" charset="0"/>
                <a:ea typeface="Calibri" pitchFamily="34" charset="-122"/>
                <a:cs typeface="Calibri" pitchFamily="34" charset="-120"/>
              </a:rPr>
              <a:t>The figure. </a:t>
            </a:r>
            <a:r>
              <a:rPr lang="en-US" sz="1300" dirty="0">
                <a:solidFill>
                  <a:srgbClr val="000000"/>
                </a:solidFill>
                <a:latin typeface="Calibri" pitchFamily="34" charset="0"/>
                <a:ea typeface="Calibri" pitchFamily="34" charset="-122"/>
                <a:cs typeface="Calibri" pitchFamily="34" charset="-120"/>
              </a:rPr>
              <a:t>What one fixed setting costs at each of the four operating points.</a:t>
            </a:r>
          </a:p>
          <a:p>
            <a:pPr marL="177800" indent="0">
              <a:spcAft>
                <a:spcPts val="0"/>
              </a:spcAft>
              <a:buSzPct val="100000"/>
              <a:buNone/>
            </a:pPr>
            <a:r>
              <a:rPr lang="en-US" sz="1300" dirty="0" b="1">
                <a:solidFill>
                  <a:srgbClr val="000000"/>
                </a:solidFill>
                <a:latin typeface="Calibri" pitchFamily="34" charset="0"/>
                <a:ea typeface="Calibri" pitchFamily="34" charset="-122"/>
                <a:cs typeface="Calibri" pitchFamily="34" charset="-120"/>
              </a:rPr>
              <a:t>What it means. </a:t>
            </a:r>
            <a:r>
              <a:rPr lang="en-US" sz="1300" dirty="0">
                <a:solidFill>
                  <a:srgbClr val="000000"/>
                </a:solidFill>
                <a:latin typeface="Calibri" pitchFamily="34" charset="0"/>
                <a:ea typeface="Calibri" pitchFamily="34" charset="-122"/>
                <a:cs typeface="Calibri" pitchFamily="34" charset="-120"/>
              </a:rPr>
              <a:t>Three points lose 1–4 %. One loses 12.7 %. So re-tuning is worth 5.2 % at the very most.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What it means. </a:t>
            </a:r>
            <a:r>
              <a:rPr lang="en-US" sz="1300" dirty="0">
                <a:solidFill>
                  <a:srgbClr val="000000"/>
                </a:solidFill>
                <a:latin typeface="Calibri" pitchFamily="34" charset="0"/>
                <a:ea typeface="Calibri" pitchFamily="34" charset="-122"/>
                <a:cs typeface="Calibri" pitchFamily="34" charset="-120"/>
              </a:rPr>
              <a:t>The full sensor + ADC + lookup table is left justifying 3.7 % of the gain, over one fixed setting plus a single comparator.</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The split does not depend on how the two goals are weighted: across 106 weightings, (A) stays 23.4–29.0 % and (B) 1.3–6.4 %, and (A) wins every time.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What re-tuning is worth, against the inductance of the power loop. Eight values, 7,200 runs.</a:t>
            </a:r>
          </a:p>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It only pays below about 2.5 nH. Loop inductance is board layout, so this is a layout decision, not a device one.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The figure. </a:t>
            </a:r>
            <a:r>
              <a:rPr lang="en-US" sz="1100" dirty="0">
                <a:solidFill>
                  <a:srgbClr val="000000"/>
                </a:solidFill>
                <a:latin typeface="Calibri" pitchFamily="34" charset="0"/>
                <a:ea typeface="Calibri" pitchFamily="34" charset="-122"/>
                <a:cs typeface="Calibri" pitchFamily="34" charset="-120"/>
              </a:rPr>
              <a:t>ngspice waveforms from sim/dpt.cir, the same file every number in this deck comes from. Click to play, 22 s.</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Left panel crosses the 1.4 V line and the device turns on. Right panel, same circuit with the fix, peaks at −1.18 V.</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687568"/>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LTspice's own output, from the schematic in ltspice/. Top: the switch node falling 100 V. Bottom: what that does to the gate of the device that is supposed to be OFF.</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A second simulator, on a drawn circuit, gets +1.6476 V and −1.1769 V where ngspice gets +1.6486 and −1.1757. About a millivolt apart, so the result is the circuit's, not the simulator's.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Silicon against gallium nitride, side by side, on the properties that matter for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GaN holds off the same voltage in a much thinner layer, so there is far less charge to move and it switches in nanoseconds. That speed is the reason to use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Three properties of the device and what each one does inside a half-bridge.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A 1.4 V threshold, an unavoidable 150 pF path from drain to gate, and no body diode. The fault follows from the device, not from a mistake.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six fields the gate driver exposes, and the values each one is swept over.</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6 × 2 × 3 × 5 × 2 × 2 = 720 settings. Each is simulated at four operating points, so 2,880 runs in all.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four conditions every setting is tested at: bus voltage, load current and junction temperature.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If the best setting were the same at all four there would be nothing to adapt to. Whether it moves is the question the project answers.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Two things: what the converter delivers, and what each individual simulation reports.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48.56 V at 4.875 A, 97.62 % efficient. Per run: the peak on the OFF gate, the margin, the switching energy and four more.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“margin” means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How far the OFF device's gate stays below the voltage that would switch it on, for three configurations.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Positive is safe, negative is a fault. Without the fix it is −0.249 V; with the clamp and the −2 V rail it is +2.576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577840"/>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Two minutes recorded on the project laptop. The converter in ngspice, the crosstalk fault and its fix, the named cases, the Verilog controller, then LTspice opening the schematic and running it.</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Every number in this deck appears in that recording, produced by a tool while the clock in the corner runs. Click the frame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