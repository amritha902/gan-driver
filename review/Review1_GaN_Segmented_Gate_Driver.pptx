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8" r:id="rId4"/>
    <p:sldId id="259" r:id="rId5"/>
    <p:sldId id="316" r:id="rId59"/>
    <p:sldId id="261" r:id="rId7"/>
    <p:sldId id="300" r:id="rId43"/>
    <p:sldId id="301" r:id="rId44"/>
    <p:sldId id="302" r:id="rId45"/>
    <p:sldId id="260" r:id="rId6"/>
    <p:sldId id="283" r:id="rId34"/>
    <p:sldId id="320" r:id="rId63"/>
    <p:sldId id="267" r:id="rId18"/>
    <p:sldId id="282" r:id="rId33"/>
    <p:sldId id="303" r:id="rId46"/>
    <p:sldId id="304" r:id="rId47"/>
    <p:sldId id="305" r:id="rId48"/>
    <p:sldId id="306" r:id="rId49"/>
    <p:sldId id="280" r:id="rId31"/>
    <p:sldId id="278" r:id="rId29"/>
    <p:sldId id="298" r:id="rId2"/>
    <p:sldId id="296" r:id="rId19"/>
    <p:sldId id="297" r:id="rId40"/>
    <p:sldId id="299" r:id="rId42"/>
    <p:sldId id="295" r:id="rId21"/>
    <p:sldId id="314" r:id="rId57"/>
    <p:sldId id="291" r:id="rId35"/>
    <p:sldId id="293" r:id="rId30"/>
    <p:sldId id="307" r:id="rId50"/>
    <p:sldId id="308" r:id="rId51"/>
    <p:sldId id="309" r:id="rId52"/>
    <p:sldId id="310" r:id="rId53"/>
    <p:sldId id="311" r:id="rId54"/>
    <p:sldId id="312" r:id="rId55"/>
    <p:sldId id="313" r:id="rId56"/>
    <p:sldId id="263" r:id="rId9"/>
    <p:sldId id="294" r:id="rId28"/>
    <p:sldId id="292" r:id="rId32"/>
    <p:sldId id="275" r:id="rId26"/>
    <p:sldId id="276" r:id="rId27"/>
    <p:sldId id="264" r:id="rId10"/>
    <p:sldId id="273" r:id="rId24"/>
    <p:sldId id="285" r:id="rId36"/>
    <p:sldId id="318" r:id="rId61"/>
    <p:sldId id="319" r:id="rId62"/>
    <p:sldId id="321" r:id="rId64"/>
    <p:sldId id="317" r:id="rId60"/>
    <p:sldId id="262" r:id="rId8"/>
    <p:sldId id="272" r:id="rId23"/>
    <p:sldId id="271" r:id="rId22"/>
    <p:sldId id="265" r:id="rId11"/>
    <p:sldId id="290" r:id="rId41"/>
    <p:sldId id="315"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3.5 %, on 36 corners.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4.7 % of the gain over a fixed word and ONE comparator.' Build it in three steps. (1) Choosing the fixed word well is worth 26.5 %. (2) Adapting per corner adds only 2.6 % — a eleventh of the total. (3) And 47 % of even THAT is capturable with a single comparator on bus voltage, not a lookup table; two comparators reach 61 %, which is the 3.4 %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and no silicon has been measured. Do NOT concede the single device model any more either - 24 devices were sampled with Vth, gm, Cgs and Cgd varied jointly, the shipped word stays safe on every one, and the ordering survives on every one.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  ·  09.09.2026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 — 09.09.2026 (5 Marks, 5%)</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17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48.56 V DC out at 4.876 A, 97.70 %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 (That 1.65 V is our device model’s; how much the result depends on the model is itself a finding, and it has its own slide.)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2.6 %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13</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36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Every one of them is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48.6 V DC out at 4.88 A: 236.9 W delivered, 97.7 %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9 — </a:t>
            </a:r>
            <a:r>
              <a:rPr lang="en-US" sz="1200" b="1" dirty="0">
                <a:solidFill>
                  <a:srgbClr val="000000"/>
                </a:solidFill>
                <a:latin typeface="Calibri" pitchFamily="34" charset="0"/>
                <a:ea typeface="Calibri" pitchFamily="34" charset="-122"/>
                <a:cs typeface="Calibri" pitchFamily="34" charset="-120"/>
              </a:rPr>
              <a:t> Drawn diagram,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circuit_ltspice.png"/>
          <p:cNvPicPr>
            <a:picLocks noChangeAspect="1"/>
          </p:cNvPicPr>
          <p:nvPr/>
        </p:nvPicPr>
        <p:blipFill>
          <a:blip r:embed="rId6"/>
          <a:stretch>
            <a:fillRect/>
          </a:stretch>
        </p:blipFill>
        <p:spPr>
          <a:xfrm>
            <a:off x="2534035" y="1060704"/>
            <a:ext cx="7123625" cy="4828032"/>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GaN synchronous buck converter, ltspice/BUCK_converter.asc. “Buck” means step-down: 100 V in, 48.6 V out. The two yellow blocks are the segmented gate drivers, the part this project designs. Around them: the 100 V supply with its power-loop parasitics, the two GaN HEMTs,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10</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12 blocks, weighted by how much of the project each is. 10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313006">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100 V → 48.6 V at 4.88 A, 97.7 % efficient (buck.cir)</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5.9 W vs 17.3 W at 500 kHz; 3 sweeps, 4 duty profiles</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zhangdrv.lib in our own deck, quoted at their best, +0.407 V</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60,533 transients over 36 corners; fixed 26.5 % vs adaptive 2.6 %</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type-III loop: 0.01 % error through a 2x load and a 20 % line step</a:t>
                      </a:r>
                    </a:p>
                  </a:txBody>
                  <a:tcPr marL="50292" marR="50292" marT="27432" marB="27432"/>
                </a:tc>
              </a:tr>
              <a:tr h="313006">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31300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31300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done. </a:t>
            </a:r>
            <a:r>
              <a:rPr lang="en-US" sz="1250" dirty="0">
                <a:solidFill>
                  <a:srgbClr val="000000"/>
                </a:solidFill>
                <a:latin typeface="Calibri" pitchFamily="34" charset="0"/>
                <a:ea typeface="Calibri" pitchFamily="34" charset="-122"/>
                <a:cs typeface="Calibri" pitchFamily="34" charset="-120"/>
              </a:rPr>
              <a:t xml:space="preserve">Review-I's rubric asks for 50 %. We are past it because this is a simulation study and the simulation half is finished. The remaining 10 % is place-and-route on a chosen board and a hardware half-bridge on a bench, and no amount of further simulating will deliver either.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Stated plainly: the architecture is finished. The measurement of it on real silicon is not.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sp>
        <p:nvSpPr>
          <p:cNvPr id="5" name="Text 2"/>
          <p:cNvSpPr txBox="1"/>
          <p:nvPr/>
        </p:nvSpPr>
        <p:spPr>
          <a:xfrm>
            <a:off x="640080" y="1325880"/>
            <a:ext cx="10881360" cy="228600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31 — </a:t>
            </a:r>
            <a:r>
              <a:rPr lang="en-US" sz="1000" dirty="0" b="1">
                <a:solidFill>
                  <a:srgbClr val="000000"/>
                </a:solidFill>
                <a:latin typeface="Calibri" pitchFamily="34" charset="0"/>
                <a:ea typeface="Calibri" pitchFamily="34" charset="-122"/>
                <a:cs typeface="Calibri" pitchFamily="34" charset="-120"/>
              </a:rPr>
              <a:t> Icarus Verilog output.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18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26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28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3.5 %</a:t>
            </a:r>
          </a:p>
        </p:txBody>
      </p:sp>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29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3.5 %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over 36 corners (= 2.6 %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Over 36 points the fixed word costs 0.01 % to 14.2 %; worst is 200 V / 2 A / 125 °C.</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3.5 % on the full 36-corner grid — 720 words at each, 25,911 transients. The four-corner study said 5.2 %.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26.5 %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1.2 %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8.9 % of the total gain — 2.6 points of 29.0, over 36 operating points; the other 91.1 %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4.7 % of the total gain over a fixed word plus one comparator (load current at 10 A, which takes 47 % of the adaptive gap), or 3.4 % over a fixed word plus two. One threshold cannot do better: ten distinct best words spread over the 36 corners, and bus, load and temperature each disagree internally. The four-corner study named bus voltage at 75 V here; on the full grid the comparator is load 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701223"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30 — </a:t>
            </a:r>
            <a:r>
              <a:rPr lang="en-US" sz="1200" dirty="0" b="1">
                <a:solidFill>
                  <a:srgbClr val="000000"/>
                </a:solidFill>
                <a:latin typeface="Calibri" pitchFamily="34" charset="0"/>
                <a:ea typeface="Calibri" pitchFamily="34" charset="-122"/>
                <a:cs typeface="Calibri" pitchFamily="34" charset="-120"/>
              </a:rPr>
              <a:t> Simulated in ngspice.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48.6 V DC out at 4.88 A — 236.9 W, 97.7 %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26.5 %.   Changing it per operating point: 2.6 %.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load current at 10 A — gets 47 % of that 2.6 %; two comparators get 61 %.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 — close the loop on the converter, then re-run the setting study with it closed.</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60,533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27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12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A project file, typeset. Not simulation output.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48.56 V, LTspice 48.84 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5.9 W against silicon's 17.3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36 operating points = 25,920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Four of the 36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371810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19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100.0 V and 2.426 A in, 48.56 V and 4.876 A out: 242.47 W drawn, 236.89 W delivered, 97.70 % efficient. Peak switch node 115.4 V on a 100 V bus, 15.4 % overshoot, with bus decoupling. Without it: 168 V.</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20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Fastest drive, no clamp, 0 V rail: gate reaches +1.6486 V against a 1.400 V threshold, false_turn_on = 1. Clamp on with −2 V rail: −1.1757 V, margin +2.5757 V, false_turn_on = 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21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cheapest is 15 ns at full load, 5 ns at light load.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22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36 corners. Ceiling on scheduling 3.5 %; per-corner penalty 1.1 / 2.3 / 12.7 / 3.8 %.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23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scripts/grid_analyse.py over 36 corners. Choosing a fixed word (A) 26.5 %; adapting per operating point (B) 2.6 %; B is 8.9 % of the gain. Across 106 overshoot weights (A) stays 23.4–29.0 %, (B) 1.3–6.4 %.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24 — </a:t>
            </a:r>
            <a:r>
              <a:rPr lang="en-US" sz="1150" b="1" dirty="0">
                <a:solidFill>
                  <a:srgbClr val="000000"/>
                </a:solidFill>
                <a:latin typeface="Calibri" pitchFamily="34" charset="0"/>
                <a:ea typeface="Calibri" pitchFamily="34" charset="-122"/>
                <a:cs typeface="Calibri" pitchFamily="34" charset="-120"/>
              </a:rPr>
              <a:t xml:space="preserve"> Icarus Verilog output.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25 —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ngspice and LTspice, running</a:t>
            </a:r>
            <a:endParaRPr lang="en-US" sz="2800" dirty="0"/>
          </a:p>
        </p:txBody>
      </p:sp>
      <p:pic>
        <p:nvPicPr>
          <p:cNvPr id="5" name="DEMO-VIDE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417320" y="1188720"/>
            <a:ext cx="9326880" cy="4160520"/>
          </a:xfrm>
          <a:prstGeom prst="rect">
            <a:avLst/>
          </a:prstGeom>
        </p:spPr>
      </p:pic>
      <p:sp>
        <p:nvSpPr>
          <p:cNvPr id="6" name="TextBox 5"/>
          <p:cNvSpPr txBox="1"/>
          <p:nvPr/>
        </p:nvSpPr>
        <p:spPr>
          <a:xfrm>
            <a:off x="502920" y="565099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16 — </a:t>
            </a:r>
            <a:r>
              <a:rPr lang="en-US" sz="1150" dirty="0">
                <a:solidFill>
                  <a:srgbClr val="000000"/>
                </a:solidFill>
                <a:latin typeface="Calibri" pitchFamily="34" charset="0"/>
                <a:ea typeface="Calibri" pitchFamily="34" charset="-122"/>
                <a:cs typeface="Calibri" pitchFamily="34" charset="-120"/>
              </a:rPr>
              <a:t xml:space="preserve">Demo recording: the converter in ngspice, the crosstalk fault and its fix, the named cases, the Verilog controller, and LTspice running the schematic. 2 min. Click to play.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5.9 W against silicon's 17.3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So the test is not whether the converter runs.  </a:t>
            </a:r>
            <a:r>
              <a:rPr lang="en-US" sz="1250" dirty="0">
                <a:solidFill>
                  <a:srgbClr val="000000"/>
                </a:solidFill>
                <a:latin typeface="Calibri" pitchFamily="34" charset="0"/>
                <a:ea typeface="Calibri" pitchFamily="34" charset="-122"/>
                <a:cs typeface="Calibri" pitchFamily="34" charset="-120"/>
              </a:rPr>
              <a:t xml:space="preserve">It runs: 100 V in, 48.6 V out at 4.88 A, 97.7 % efficient, open loop at a fixed duty, which is the deck the switching study is measured on; the regulated version holds 50.0 V at 96.1 %. Any textbook buck converter runs. The test is whether the architecture we put around it answers the questions the published work on these drivers leaves open, because that is the only part of this that is ours.</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36 operating points, every combination run.</a:t>
                      </a:r>
                    </a:p>
                  </a:txBody>
                  <a:tcPr marL="50292" marR="50292" marT="27432" marB="27432"/>
                </a:tc>
                <a:tc>
                  <a:txBody>
                    <a:bodyPr wrap="square"/>
                    <a:lstStyle/>
                    <a:p>
                      <a:r>
                        <a:rPr sz="800" b="0">
                          <a:latin typeface="Calibri"/>
                        </a:rPr>
                        <a:t>Fixed 26.5 %, adaptive 2.6 % — adaptive is 8.9 % of the gain, on 36 corners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(load current at 10 A) takes 47 %. 4.7 %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plus a clamp plus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Identical to the global fixed word on all 36 held-out corners. Nothing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0.01 % error through a 2× load step and a 20 % line step; open loop walks to 60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but the clamp on its own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which is a result rather than a failure, and one that needs a bench. The honest summary is that the architecture is finished and the measurement of it on real silicon is not.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0701223"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and neither half of the verification could have seen it alone.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60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runs the same power stage and the same segmented drivers, now regulated by a type-III loop and then disturbed on purpose. Closed loop 50.01 / 50.00 / 50.00 V through a 2× load step and a 100 → 120 V line step; worst error 0.01 % against open loop's 20.0 %. Load step recovers in 4 µs, line step in 22 µs. Ripple 0.25 %, efficiency 96.1 %, start-up overshoot 3.8 %.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One caveat: models/zhangdrv.lib is our implementation of the scheme as they (their netlist is not published), run in our testbench with our parasitics. It is not 5.5–12.4× their measured result, and we do not claim it 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33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on its own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0.01 %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51.03 V</a:t>
                      </a:r>
                    </a:p>
                  </a:txBody>
                  <a:tcPr marL="50292" marR="50292" marT="27432" marB="27432"/>
                </a:tc>
                <a:tc>
                  <a:txBody>
                    <a:bodyPr wrap="square"/>
                    <a:lstStyle/>
                    <a:p>
                      <a:r>
                        <a:rPr sz="1100" b="0">
                          <a:latin typeface="Calibri"/>
                        </a:rPr>
                        <a:t>50.15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1.4 %, recovers in 22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60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we are not claiming.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