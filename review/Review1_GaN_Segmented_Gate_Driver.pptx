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6" r:id="rId59"/>
    <p:sldId id="261" r:id="rId7"/>
    <p:sldId id="300" r:id="rId43"/>
    <p:sldId id="301" r:id="rId44"/>
    <p:sldId id="302" r:id="rId45"/>
    <p:sldId id="260" r:id="rId6"/>
    <p:sldId id="283" r:id="rId34"/>
    <p:sldId id="320" r:id="rId63"/>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263" r:id="rId9"/>
    <p:sldId id="294" r:id="rId28"/>
    <p:sldId id="292" r:id="rId32"/>
    <p:sldId id="275" r:id="rId26"/>
    <p:sldId id="276" r:id="rId27"/>
    <p:sldId id="264" r:id="rId10"/>
    <p:sldId id="273" r:id="rId24"/>
    <p:sldId id="285" r:id="rId36"/>
    <p:sldId id="318" r:id="rId61"/>
    <p:sldId id="319" r:id="rId62"/>
    <p:sldId id="321" r:id="rId64"/>
    <p:sldId id="317" r:id="rId60"/>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7.2 % of the gain over a fixed word and ONE comparator.' Build it in three steps. (1) Choosing the fixed word well is worth 25.1 %. (2) Adapting per corner adds only 3.9 % — a seventh of the total. (3) And 46 % of even THAT is capturable with a single comparator on bus voltage, not a lookup table; two comparators reach 72 %, which is the 3.7 %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17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9 — </a:t>
            </a:r>
            <a:r>
              <a:rPr lang="en-US" sz="1200" b="1" dirty="0">
                <a:solidFill>
                  <a:srgbClr val="000000"/>
                </a:solidFill>
                <a:latin typeface="Calibri" pitchFamily="34" charset="0"/>
                <a:ea typeface="Calibri" pitchFamily="34" charset="-122"/>
                <a:cs typeface="Calibri" pitchFamily="34" charset="-120"/>
              </a:rPr>
              <a:t> DIAGRAM — DRAWN,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Twelve blocks, weighted by how much of the project each is. Eight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97.6 %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ITS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34,622 transients; fixed 25.1 % vs adaptive 3.9 %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0.05 %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24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18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19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21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22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7.2 % of the total gain over a fixed word plus ONE comparator (bus voltage at 75 V, which takes 46 % of the adaptive gap), or 3.7 % over a fixed word plus TWO. One threshold cannot do better: the corner worth isolating shares its bus, its load and its temperature with others.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23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bus voltage at 75 V — gets 46 % of that 3.9 %; two comparators get 72 %.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A PROJECT FILE, TYPESET —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sp>
        <p:nvSpPr>
          <p:cNvPr id="5" name="TextBox 4"/>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OF PURPOSE IS NOT “does the converter run”.  </a:t>
            </a:r>
            <a:r>
              <a:rPr lang="en-US" sz="1250" dirty="0">
                <a:solidFill>
                  <a:srgbClr val="000000"/>
                </a:solidFill>
                <a:latin typeface="Calibri" pitchFamily="34" charset="0"/>
                <a:ea typeface="Calibri" pitchFamily="34" charset="-122"/>
                <a:cs typeface="Calibri" pitchFamily="34" charset="-120"/>
              </a:rPr>
              <a:t xml:space="preserve">It runs — 100 V in, 48.6 V out at 4.88 A, 97.6 % efficient.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4 operating points, every combination run.</a:t>
                      </a:r>
                    </a:p>
                  </a:txBody>
                  <a:tcPr marL="50292" marR="50292" marT="27432" marB="27432"/>
                </a:tc>
                <a:tc>
                  <a:txBody>
                    <a:bodyPr wrap="square"/>
                    <a:lstStyle/>
                    <a:p>
                      <a:r>
                        <a:rPr sz="800" b="0">
                          <a:latin typeface="Calibri"/>
                        </a:rPr>
                        <a:t>Fixed 25.1 %, adaptive 3.9 % — adaptive is 13.4 % of the gain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takes 46 % of it. 7.2 %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AND a clamp AND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Worse than the fixed word on 3 of 4 held-out corners. n = 4, so weak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0.05 % error through a 2× load step and a 20 % line step; open loop walks to 58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 and the clamp ALONE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 which is a result, not a failure —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 V.</a:t>
            </a:r>
          </a:p>
        </p:txBody>
      </p:sp>
      <p:pic>
        <p:nvPicPr>
          <p:cNvPr id="6" name="Picture 5" descr="fig_closedloop.png"/>
          <p:cNvPicPr>
            <a:picLocks noChangeAspect="1"/>
          </p:cNvPicPr>
          <p:nvPr/>
        </p:nvPicPr>
        <p:blipFill>
          <a:blip r:embed="rId4"/>
          <a:stretch>
            <a:fillRect/>
          </a:stretch>
        </p:blipFill>
        <p:spPr>
          <a:xfrm>
            <a:off x="2253371" y="1481328"/>
            <a:ext cx="7684951" cy="3968496"/>
          </a:xfrm>
          <a:prstGeom prst="rect">
            <a:avLst/>
          </a:prstGeom>
        </p:spPr>
      </p:pic>
      <p:sp>
        <p:nvSpPr>
          <p:cNvPr id="7" name="TextBox 6"/>
          <p:cNvSpPr txBox="1"/>
          <p:nvPr/>
        </p:nvSpPr>
        <p:spPr>
          <a:xfrm>
            <a:off x="502920" y="5577840"/>
            <a:ext cx="10838382" cy="9144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 the SAME power stage and the SAME segmented drivers, now regulated by a type-III loop and then disturbed on purpose. Closed loop 50.01 / 50.00 / 50.01 V through a 2× load step and a 100 → 120 V line step; worst error 0.02 % against open loop's 16.6 %. Load step recovers in 4 µs, line step in 21 µs. Ripple 0.25 %, efficiency 95.9 %,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192817" y="1481328"/>
            <a:ext cx="9806059" cy="3968496"/>
          </a:xfrm>
          <a:prstGeom prst="rect">
            <a:avLst/>
          </a:prstGeom>
        </p:spPr>
      </p:pic>
      <p:sp>
        <p:nvSpPr>
          <p:cNvPr id="7" name="TextBox 6"/>
          <p:cNvSpPr txBox="1"/>
          <p:nvPr/>
        </p:nvSpPr>
        <p:spPr>
          <a:xfrm>
            <a:off x="502920" y="5577840"/>
            <a:ext cx="10838382" cy="9144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710967" y="1481328"/>
            <a:ext cx="8769759" cy="3968496"/>
          </a:xfrm>
          <a:prstGeom prst="rect">
            <a:avLst/>
          </a:prstGeom>
        </p:spPr>
      </p:pic>
      <p:sp>
        <p:nvSpPr>
          <p:cNvPr id="7" name="TextBox 6"/>
          <p:cNvSpPr txBox="1"/>
          <p:nvPr/>
        </p:nvSpPr>
        <p:spPr>
          <a:xfrm>
            <a:off x="502920" y="5577840"/>
            <a:ext cx="10838382" cy="9144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ALONE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50.01 V</a:t>
                      </a:r>
                    </a:p>
                  </a:txBody>
                  <a:tcPr marL="50292" marR="50292" marT="27432" marB="27432"/>
                </a:tc>
                <a:tc>
                  <a:txBody>
                    <a:bodyPr wrap="square"/>
                    <a:lstStyle/>
                    <a:p>
                      <a:r>
                        <a:rPr sz="1100" b="1">
                          <a:solidFill>
                            <a:srgbClr val="1B7F3B"/>
                          </a:solidFill>
                          <a:latin typeface="Calibri"/>
                        </a:rPr>
                        <a:t>0.02 %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49.58 V</a:t>
                      </a:r>
                    </a:p>
                  </a:txBody>
                  <a:tcPr marL="50292" marR="50292" marT="27432" marB="27432"/>
                </a:tc>
                <a:tc>
                  <a:txBody>
                    <a:bodyPr wrap="square"/>
                    <a:lstStyle/>
                    <a:p>
                      <a:r>
                        <a:rPr sz="1100" b="0">
                          <a:latin typeface="Calibri"/>
                        </a:rPr>
                        <a:t>48.72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1.3 %, recovers in 21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58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the claim is NOT.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