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86" r:id="rId37"/>
    <p:sldId id="259" r:id="rId5"/>
    <p:sldId id="260" r:id="rId6"/>
    <p:sldId id="267" r:id="rId18"/>
    <p:sldId id="282" r:id="rId33"/>
    <p:sldId id="287" r:id="rId38"/>
    <p:sldId id="261" r:id="rId7"/>
    <p:sldId id="280" r:id="rId31"/>
    <p:sldId id="274" r:id="rId25"/>
    <p:sldId id="278" r:id="rId29"/>
    <p:sldId id="277" r:id="rId28"/>
    <p:sldId id="283" r:id="rId34"/>
    <p:sldId id="262" r:id="rId8"/>
    <p:sldId id="272" r:id="rId23"/>
    <p:sldId id="281" r:id="rId32"/>
    <p:sldId id="273" r:id="rId24"/>
    <p:sldId id="284" r:id="rId35"/>
    <p:sldId id="285" r:id="rId36"/>
    <p:sldId id="288" r:id="rId39"/>
    <p:sldId id="263" r:id="rId9"/>
    <p:sldId id="275" r:id="rId26"/>
    <p:sldId id="279" r:id="rId30"/>
    <p:sldId id="276" r:id="rId27"/>
    <p:sldId id="264" r:id="rId10"/>
    <p:sldId id="268" r:id="rId19"/>
    <p:sldId id="269" r:id="rId20"/>
    <p:sldId id="270" r:id="rId21"/>
    <p:sldId id="289" r:id="rId40"/>
    <p:sldId id="271" r:id="rId22"/>
    <p:sldId id="265" r:id="rId11"/>
    <p:sldId id="290" r:id="rId4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jpg"/><Relationship Id="rId6" Type="http://schemas.openxmlformats.org/officeDocument/2006/relationships/image" Target="../media/image14.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One device's dV/dt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that is supposed to be OFF. It reaches </a:t>
            </a:r>
            <a:r>
              <a:rPr lang="en-US" sz="1500" b="1" dirty="0">
                <a:solidFill>
                  <a:srgbClr val="000000"/>
                </a:solidFill>
                <a:latin typeface="Calibri" pitchFamily="34" charset="0"/>
                <a:ea typeface="Calibri" pitchFamily="34" charset="-122"/>
                <a:cs typeface="Calibri" pitchFamily="34" charset="-120"/>
              </a:rPr>
              <a:t xml:space="preserve">1.65 V against a 1.4 V threshold</a:t>
            </a:r>
            <a:r>
              <a:rPr lang="en-US" sz="1500" dirty="0">
                <a:solidFill>
                  <a:srgbClr val="000000"/>
                </a:solidFill>
                <a:latin typeface="Calibri" pitchFamily="34" charset="0"/>
                <a:ea typeface="Calibri" pitchFamily="34" charset="-122"/>
                <a:cs typeface="Calibri" pitchFamily="34" charset="-120"/>
              </a:rPr>
              <a:t xml:space="preserve"> — false turn-on, and a shoot-through path.</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core of EV traction inverters and battery storage converters. The whole reason to choose GaN is speed — which is exactly what makes this failure worse.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segmented drive, Miller clamps, programmable dead time, negative off-bias [1]–[4]. Closed-loop designs report 30.5 % less overshoot and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 design-time choice with a runtime capability. Only the second needs sensing, a lookup table and a controller.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Takayama, Okuda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Drives the gate from a multibit CODE instead of a resistor — the driver is a DAC, and the code changes DURING the switching edge.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Why it matters to us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digital code is finite. That is what makes the setting space searchable, and what makes the driver implementable on an FPGA rather than as an analogue network.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leaves open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It never asks whether the code has to CHANGE as load, voltage and temperature move. That question is this project.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 Takayama, T. Okuda and T. Hikihara, </a:t>
            </a:r>
            <a:r>
              <a:rPr lang="en-US" sz="1150" b="1" dirty="0">
                <a:solidFill>
                  <a:srgbClr val="000000"/>
                </a:solidFill>
                <a:latin typeface="Calibri" pitchFamily="34" charset="0"/>
                <a:ea typeface="Calibri" pitchFamily="34" charset="-122"/>
                <a:cs typeface="Calibri" pitchFamily="34" charset="-120"/>
              </a:rPr>
              <a:t xml:space="preserve">“Digital Active Gate Drive of SiC MOSFETs for Controlling Switching Behavior,”</a:t>
            </a:r>
            <a:r>
              <a:rPr lang="en-US" sz="1150" dirty="0">
                <a:solidFill>
                  <a:srgbClr val="000000"/>
                </a:solidFill>
                <a:latin typeface="Calibri" pitchFamily="34" charset="0"/>
                <a:ea typeface="Calibri" pitchFamily="34" charset="-122"/>
                <a:cs typeface="Calibri" pitchFamily="34" charset="-120"/>
              </a:rPr>
              <a:t xml:space="preserve"> Int. J. Circuit Theory Appl., vol. 50, no. 1, pp. 183–196, 2022.  doi.org/10.1002/cta.3136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problem,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1.65 V spurious against a 1.4 V threshold. Clamp on with −2 V off-bias: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exhaustive search is complete.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words at each of four corners — 2,880 transients — so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Stress-tested, not asserted.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across five device parameters: the ceiling holds between 4.3 % and 7.7 %. Loop inductance and EMI were tested, not argued.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Cross-checked in four tools.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 matches ngspice within 2 mV. MATLAB and Octave agree exactly. Vivado: 20 LUTs, 200 MHz met.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complete. </a:t>
            </a:r>
            <a:r>
              <a:rPr lang="en-US" sz="1500" dirty="0">
                <a:solidFill>
                  <a:srgbClr val="000000"/>
                </a:solidFill>
                <a:latin typeface="Calibri" pitchFamily="34" charset="0"/>
                <a:ea typeface="Calibri" pitchFamily="34" charset="-122"/>
                <a:cs typeface="Calibri" pitchFamily="34" charset="-120"/>
              </a:rPr>
              <a:t xml:space="preserve">The failure is reproduced and fixed, the 720-word search is finished at every corner, and the answer has been stress-tested against the device model, the board layout and an EMI objective.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put it in silicon, not fabric.</a:t>
            </a:r>
            <a:r>
              <a:rPr lang="en-US" sz="1500" dirty="0">
                <a:solidFill>
                  <a:srgbClr val="000000"/>
                </a:solidFill>
                <a:latin typeface="Calibri" pitchFamily="34" charset="0"/>
                <a:ea typeface="Calibri" pitchFamily="34" charset="-122"/>
                <a:cs typeface="Calibri" pitchFamily="34" charset="-120"/>
              </a:rPr>
              <a:t xml:space="preserve"> A 200 MHz FPGA can only place a dead-time edge every 5 ns; the light-load corner wants 15 ns and the rest want 5, so the grid is coarse exactly where the benefit lives. Drawing the segmented output stage at transistor level in SKY130 removes that quantisation, and lets us re-run the ceiling on real devices instead of ideal switches.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measure one corner in hardware.</a:t>
            </a:r>
            <a:r>
              <a:rPr lang="en-US" sz="1500" dirty="0">
                <a:solidFill>
                  <a:srgbClr val="000000"/>
                </a:solidFill>
                <a:latin typeface="Calibri" pitchFamily="34" charset="0"/>
                <a:ea typeface="Calibri" pitchFamily="34" charset="-122"/>
                <a:cs typeface="Calibri" pitchFamily="34" charset="-120"/>
              </a:rPr>
              <a:t xml:space="preserve"> Build the half-bridge and measure the crosstalk margin against the simulated 1.65 V. One measured corner is what turns this from a simulation study into a result, and until that exists the title says simulation.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 about.</a:t>
            </a:r>
            <a:r>
              <a:rPr lang="en-US" sz="1500" dirty="0">
                <a:solidFill>
                  <a:srgbClr val="000000"/>
                </a:solidFill>
                <a:latin typeface="Calibri" pitchFamily="34" charset="0"/>
                <a:ea typeface="Calibri" pitchFamily="34" charset="-122"/>
                <a:cs typeface="Calibri" pitchFamily="34" charset="-120"/>
              </a:rPr>
              <a:t xml:space="preserve"> A 1.8 V / 3.3 V teaching PDK cannot take a 5 V gate rail, so securing a 5 V-capable PDK is the first milestone and the one that can stall the rest.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and 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 LTspice 24 · Icarus Verilog · Xilinx Vivado 2024.1.2 · Cadence Spectre · SKY130 · Python / NumPy · MATLAB Online and Octave. Every number is regenerated by a named script in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5.45 % vs 0.00 % to schedule.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pass under Icarus, safe reset included; a shoot-through mutant is caught 221×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Implemented in Vivado 2024.1.2</a:t>
            </a:r>
            <a:r>
              <a:rPr lang="en-US" sz="1500" dirty="0">
                <a:solidFill>
                  <a:srgbClr val="000000"/>
                </a:solidFill>
                <a:latin typeface="Calibri" pitchFamily="34" charset="0"/>
                <a:ea typeface="Calibri" pitchFamily="34" charset="-122"/>
                <a:cs typeface="Calibri" pitchFamily="34" charset="-120"/>
              </a:rPr>
              <a:t xml:space="preserve"> on xc7a35t: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part. Register-to-register timing at 200 MHz is </a:t>
            </a:r>
            <a:r>
              <a:rPr lang="en-US" sz="1500" b="1" dirty="0">
                <a:solidFill>
                  <a:srgbClr val="000000"/>
                </a:solidFill>
                <a:latin typeface="Calibri" pitchFamily="34" charset="0"/>
                <a:ea typeface="Calibri" pitchFamily="34" charset="-122"/>
                <a:cs typeface="Calibri" pitchFamily="34" charset="-120"/>
              </a:rPr>
              <a:t xml:space="preserve">MET, 1.996 ns slack</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34 failing paths are all clock-to-pin against a placeholder 4 ns I/O constraint — the output buffer alone is 3.49 ns.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5.2 % is the generous figure: </a:t>
            </a:r>
            <a:r>
              <a:rPr lang="en-US" sz="1200" dirty="0">
                <a:solidFill>
                  <a:srgbClr val="000000"/>
                </a:solidFill>
                <a:latin typeface="Calibri" pitchFamily="34" charset="0"/>
                <a:ea typeface="Calibri" pitchFamily="34" charset="-122"/>
                <a:cs typeface="Calibri" pitchFamily="34" charset="-120"/>
              </a:rPr>
              <a:t xml:space="preserve">the denser 36-point grid gives </a:t>
            </a:r>
            <a:r>
              <a:rPr lang="en-US" sz="1200" b="1" dirty="0">
                <a:solidFill>
                  <a:srgbClr val="000000"/>
                </a:solidFill>
                <a:latin typeface="Calibri" pitchFamily="34" charset="0"/>
                <a:ea typeface="Calibri" pitchFamily="34" charset="-122"/>
                <a:cs typeface="Calibri" pitchFamily="34" charset="-120"/>
              </a:rPr>
              <a:t xml:space="preserve">2.0 %</a:t>
            </a:r>
            <a:r>
              <a:rPr lang="en-US" sz="1200" dirty="0">
                <a:solidFill>
                  <a:srgbClr val="000000"/>
                </a:solidFill>
                <a:latin typeface="Calibri" pitchFamily="34" charset="0"/>
                <a:ea typeface="Calibri" pitchFamily="34" charset="-122"/>
                <a:cs typeface="Calibri" pitchFamily="34" charset="-120"/>
              </a:rPr>
              <a:t xml:space="preserve">.</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has now been run: the three shipped .cir files reproduce 1.6487 / 0.8282 / −1.1768 V, matching ngspice to within 2 mV. Spectre is still a port — no installation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Choosing the word well: </a:t>
            </a:r>
            <a:r>
              <a:rPr lang="en-US" sz="1600" dirty="0">
                <a:solidFill>
                  <a:srgbClr val="000000"/>
                </a:solidFill>
                <a:latin typeface="Calibri" pitchFamily="34" charset="0"/>
                <a:ea typeface="Calibri" pitchFamily="34" charset="-122"/>
                <a:cs typeface="Calibri" pitchFamily="34" charset="-120"/>
              </a:rPr>
              <a:t xml:space="preserve">25.1 %.   </a:t>
            </a:r>
            <a:r>
              <a:rPr lang="en-US" sz="1600" b="1" dirty="0">
                <a:solidFill>
                  <a:srgbClr val="000000"/>
                </a:solidFill>
                <a:latin typeface="Calibri" pitchFamily="34" charset="0"/>
                <a:ea typeface="Calibri" pitchFamily="34" charset="-122"/>
                <a:cs typeface="Calibri" pitchFamily="34" charset="-120"/>
              </a:rPr>
              <a:t xml:space="preserve">Adapting it per operating point: </a:t>
            </a:r>
            <a:r>
              <a:rPr lang="en-US" sz="1600" dirty="0">
                <a:solidFill>
                  <a:srgbClr val="000000"/>
                </a:solidFill>
                <a:latin typeface="Calibri" pitchFamily="34" charset="0"/>
                <a:ea typeface="Calibri" pitchFamily="34" charset="-122"/>
                <a:cs typeface="Calibri" pitchFamily="34" charset="-120"/>
              </a:rPr>
              <a:t xml:space="preserve">3.9 %.</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One comparator takes 72 % of that 3.9 %.</a:t>
            </a:r>
          </a:p>
          <a:p>
            <a:pPr marL="177800" indent="-177800">
              <a:spcAft>
                <a:spcPts val="34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deliverable: </a:t>
            </a:r>
            <a:r>
              <a:rPr lang="en-US" sz="1600" dirty="0">
                <a:solidFill>
                  <a:srgbClr val="000000"/>
                </a:solidFill>
                <a:latin typeface="Calibri" pitchFamily="34" charset="0"/>
                <a:ea typeface="Calibri" pitchFamily="34" charset="-122"/>
                <a:cs typeface="Calibri" pitchFamily="34" charset="-120"/>
              </a:rPr>
              <a:t xml:space="preserve">a fixed word plus a light-load comparator. The full sense + ADC + lookup table is left justifying </a:t>
            </a:r>
            <a:r>
              <a:rPr lang="en-US" sz="1600" b="1" dirty="0">
                <a:solidFill>
                  <a:srgbClr val="000000"/>
                </a:solidFill>
                <a:latin typeface="Calibri" pitchFamily="34" charset="0"/>
                <a:ea typeface="Calibri" pitchFamily="34" charset="-122"/>
                <a:cs typeface="Calibri" pitchFamily="34" charset="-120"/>
              </a:rPr>
              <a:t xml:space="preserve">3.7 %</a:t>
            </a:r>
            <a:r>
              <a:rPr lang="en-US" sz="1600" dirty="0">
                <a:solidFill>
                  <a:srgbClr val="000000"/>
                </a:solidFill>
                <a:latin typeface="Calibri" pitchFamily="34" charset="0"/>
                <a:ea typeface="Calibri" pitchFamily="34" charset="-122"/>
                <a:cs typeface="Calibri" pitchFamily="34" charset="-120"/>
              </a:rPr>
              <a:t xml:space="preserve">.</a:t>
            </a:r>
          </a:p>
          <a:p>
            <a:pPr marL="177800" indent="-177800">
              <a:spcAft>
                <a:spcPts val="34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half is real: </a:t>
            </a:r>
            <a:r>
              <a:rPr lang="en-US" sz="1600" dirty="0">
                <a:solidFill>
                  <a:srgbClr val="000000"/>
                </a:solidFill>
                <a:latin typeface="Calibri" pitchFamily="34" charset="0"/>
                <a:ea typeface="Calibri" pitchFamily="34" charset="-122"/>
                <a:cs typeface="Calibri" pitchFamily="34" charset="-120"/>
              </a:rPr>
              <a:t xml:space="preserve">20 LUTs and 20 flip-flops on an xc7a35t, 200 MHz met with 1.996 ns of slack.</a:t>
            </a:r>
          </a:p>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next</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 — </a:t>
            </a:r>
            <a:r>
              <a:rPr lang="en-US" sz="1600" dirty="0">
                <a:solidFill>
                  <a:srgbClr val="000000"/>
                </a:solidFill>
                <a:latin typeface="Calibri" pitchFamily="34" charset="0"/>
                <a:ea typeface="Calibri" pitchFamily="34" charset="-122"/>
                <a:cs typeface="Calibri" pitchFamily="34" charset="-120"/>
              </a:rPr>
              <a:t xml:space="preserve">transistor-level output stage in Cadence; re-run the ceiling on real devices.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Review-III — </a:t>
            </a:r>
            <a:r>
              <a:rPr lang="en-US" sz="1600" dirty="0">
                <a:solidFill>
                  <a:srgbClr val="000000"/>
                </a:solidFill>
                <a:latin typeface="Calibri" pitchFamily="34" charset="0"/>
                <a:ea typeface="Calibri" pitchFamily="34" charset="-122"/>
                <a:cs typeface="Calibri" pitchFamily="34" charset="-120"/>
              </a:rPr>
              <a:t xml:space="preserve">measure a hardware half-bridge. Until then this is a simulation study, and is titled as one.</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Limits we state ourselves: </a:t>
            </a:r>
            <a:r>
              <a:rPr lang="en-US" sz="1450" dirty="0">
                <a:solidFill>
                  <a:srgbClr val="000000"/>
                </a:solidFill>
                <a:latin typeface="Calibri" pitchFamily="34" charset="0"/>
                <a:ea typeface="Calibri" pitchFamily="34" charset="-122"/>
                <a:cs typeface="Calibri" pitchFamily="34" charset="-120"/>
              </a:rPr>
              <a:t xml:space="preserve">no silicon measured; one device model underlies everything.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4"/>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Rectangle 4"/>
          <p:cNvSpPr/>
          <p:nvPr/>
        </p:nvSpPr>
        <p:spPr>
          <a:xfrm>
            <a:off x="54864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reto_matlab.png"/>
          <p:cNvPicPr>
            <a:picLocks noChangeAspect="1"/>
          </p:cNvPicPr>
          <p:nvPr/>
        </p:nvPicPr>
        <p:blipFill>
          <a:blip r:embed="rId3"/>
          <a:stretch>
            <a:fillRect/>
          </a:stretch>
        </p:blipFill>
        <p:spPr>
          <a:xfrm>
            <a:off x="640080" y="1188720"/>
            <a:ext cx="4389120" cy="3291840"/>
          </a:xfrm>
          <a:prstGeom prst="rect">
            <a:avLst/>
          </a:prstGeom>
        </p:spPr>
      </p:pic>
      <p:sp>
        <p:nvSpPr>
          <p:cNvPr id="7" name="Rectangle 6"/>
          <p:cNvSpPr/>
          <p:nvPr/>
        </p:nvSpPr>
        <p:spPr>
          <a:xfrm>
            <a:off x="635508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ig_master_weight.png"/>
          <p:cNvPicPr>
            <a:picLocks noChangeAspect="1"/>
          </p:cNvPicPr>
          <p:nvPr/>
        </p:nvPicPr>
        <p:blipFill>
          <a:blip r:embed="rId4"/>
          <a:stretch>
            <a:fillRect/>
          </a:stretch>
        </p:blipFill>
        <p:spPr>
          <a:xfrm>
            <a:off x="6446520" y="1188720"/>
            <a:ext cx="4389120" cy="3291840"/>
          </a:xfrm>
          <a:prstGeom prst="rect">
            <a:avLst/>
          </a:prstGeom>
        </p:spPr>
      </p:pic>
      <p:sp>
        <p:nvSpPr>
          <p:cNvPr id="9" name="TextBox 8"/>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10" name="TextBox 9"/>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(A) stays above (B) at every weight tested.</a:t>
            </a:r>
            <a:r>
              <a:rPr lang="en-US" sz="1150" dirty="0">
                <a:solidFill>
                  <a:srgbClr val="000000"/>
                </a:solidFill>
                <a:latin typeface="Calibri" pitchFamily="34" charset="0"/>
                <a:ea typeface="Calibri" pitchFamily="34" charset="-122"/>
                <a:cs typeface="Calibri" pitchFamily="34" charset="-120"/>
              </a:rPr>
              <a:t xml:space="preserve"> Choosing the word well is worth 22.5–29.0 % of baseline across the whole range; adapting it per operating point 1.3–12.7 %. The ordering never flips.</a:t>
            </a:r>
          </a:p>
        </p:txBody>
      </p:sp>
      <p:sp>
        <p:nvSpPr>
          <p:cNvPr id="11" name="TextBox 10"/>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top row as the controller and the bottom row as the circuit. </a:t>
            </a:r>
            <a:r>
              <a:rPr lang="en-US" sz="1200" dirty="0">
                <a:solidFill>
                  <a:srgbClr val="000000"/>
                </a:solidFill>
                <a:latin typeface="Calibri" pitchFamily="34" charset="0"/>
                <a:ea typeface="Calibri" pitchFamily="34" charset="-122"/>
                <a:cs typeface="Calibri" pitchFamily="34" charset="-120"/>
              </a:rPr>
              <a:t xml:space="preserve">The one shaded diamond is the entire adaptive machinery.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Tools — and what each one produced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41732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ngspice 42</a:t>
            </a:r>
          </a:p>
        </p:txBody>
      </p:sp>
      <p:sp>
        <p:nvSpPr>
          <p:cNvPr id="6" name="TextBox 5"/>
          <p:cNvSpPr txBox="1"/>
          <p:nvPr/>
        </p:nvSpPr>
        <p:spPr>
          <a:xfrm>
            <a:off x="3520440" y="141732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transient in the study</a:t>
            </a:r>
          </a:p>
        </p:txBody>
      </p:sp>
      <p:sp>
        <p:nvSpPr>
          <p:cNvPr id="7" name="TextBox 6"/>
          <p:cNvSpPr txBox="1"/>
          <p:nvPr/>
        </p:nvSpPr>
        <p:spPr>
          <a:xfrm>
            <a:off x="6858000" y="141732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34,622 simulations · 1.65 V spurious · 2.58 V margin · 5.2 % ceiling</a:t>
            </a:r>
          </a:p>
        </p:txBody>
      </p:sp>
      <p:sp>
        <p:nvSpPr>
          <p:cNvPr id="8" name="TextBox 7"/>
          <p:cNvSpPr txBox="1"/>
          <p:nvPr/>
        </p:nvSpPr>
        <p:spPr>
          <a:xfrm>
            <a:off x="640080" y="198424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LTspice 24</a:t>
            </a:r>
          </a:p>
        </p:txBody>
      </p:sp>
      <p:sp>
        <p:nvSpPr>
          <p:cNvPr id="9" name="TextBox 8"/>
          <p:cNvSpPr txBox="1"/>
          <p:nvPr/>
        </p:nvSpPr>
        <p:spPr>
          <a:xfrm>
            <a:off x="3520440" y="198424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re-run of the shipped netlists</a:t>
            </a:r>
          </a:p>
        </p:txBody>
      </p:sp>
      <p:sp>
        <p:nvSpPr>
          <p:cNvPr id="10" name="TextBox 9"/>
          <p:cNvSpPr txBox="1"/>
          <p:nvPr/>
        </p:nvSpPr>
        <p:spPr>
          <a:xfrm>
            <a:off x="6858000" y="198424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1.6487 / 0.8282 / −1.1768 V — matches ngspice within 2 mV</a:t>
            </a:r>
          </a:p>
        </p:txBody>
      </p:sp>
      <p:sp>
        <p:nvSpPr>
          <p:cNvPr id="11" name="TextBox 10"/>
          <p:cNvSpPr txBox="1"/>
          <p:nvPr/>
        </p:nvSpPr>
        <p:spPr>
          <a:xfrm>
            <a:off x="640080" y="2551176"/>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MATLAB Online</a:t>
            </a:r>
          </a:p>
        </p:txBody>
      </p:sp>
      <p:sp>
        <p:nvSpPr>
          <p:cNvPr id="12" name="TextBox 11"/>
          <p:cNvSpPr txBox="1"/>
          <p:nvPr/>
        </p:nvSpPr>
        <p:spPr>
          <a:xfrm>
            <a:off x="3520440" y="2551176"/>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re-analysis of the same CSVs</a:t>
            </a:r>
          </a:p>
        </p:txBody>
      </p:sp>
      <p:sp>
        <p:nvSpPr>
          <p:cNvPr id="13" name="TextBox 12"/>
          <p:cNvSpPr txBox="1"/>
          <p:nvPr/>
        </p:nvSpPr>
        <p:spPr>
          <a:xfrm>
            <a:off x="6858000" y="2551176"/>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504 of 720 feasible · 7-word Pareto front · 0.039 µJ per point</a:t>
            </a:r>
          </a:p>
        </p:txBody>
      </p:sp>
      <p:sp>
        <p:nvSpPr>
          <p:cNvPr id="14" name="TextBox 13"/>
          <p:cNvSpPr txBox="1"/>
          <p:nvPr/>
        </p:nvSpPr>
        <p:spPr>
          <a:xfrm>
            <a:off x="640080" y="3118104"/>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GNU Octave 11.3</a:t>
            </a:r>
          </a:p>
        </p:txBody>
      </p:sp>
      <p:sp>
        <p:nvSpPr>
          <p:cNvPr id="15" name="TextBox 14"/>
          <p:cNvSpPr txBox="1"/>
          <p:nvPr/>
        </p:nvSpPr>
        <p:spPr>
          <a:xfrm>
            <a:off x="3520440" y="3118104"/>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second run of the same MATLAB scripts</a:t>
            </a:r>
          </a:p>
        </p:txBody>
      </p:sp>
      <p:sp>
        <p:nvSpPr>
          <p:cNvPr id="16" name="TextBox 15"/>
          <p:cNvSpPr txBox="1"/>
          <p:nvPr/>
        </p:nvSpPr>
        <p:spPr>
          <a:xfrm>
            <a:off x="6858000" y="3118104"/>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agrees with MATLAB to the last printed digit</a:t>
            </a:r>
          </a:p>
        </p:txBody>
      </p:sp>
      <p:sp>
        <p:nvSpPr>
          <p:cNvPr id="17" name="TextBox 16"/>
          <p:cNvSpPr txBox="1"/>
          <p:nvPr/>
        </p:nvSpPr>
        <p:spPr>
          <a:xfrm>
            <a:off x="640080" y="3685032"/>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Icarus Verilog</a:t>
            </a:r>
          </a:p>
        </p:txBody>
      </p:sp>
      <p:sp>
        <p:nvSpPr>
          <p:cNvPr id="18" name="TextBox 17"/>
          <p:cNvSpPr txBox="1"/>
          <p:nvPr/>
        </p:nvSpPr>
        <p:spPr>
          <a:xfrm>
            <a:off x="3520440" y="3685032"/>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RTL verification and mutation testing</a:t>
            </a:r>
          </a:p>
        </p:txBody>
      </p:sp>
      <p:sp>
        <p:nvSpPr>
          <p:cNvPr id="19" name="TextBox 18"/>
          <p:cNvSpPr txBox="1"/>
          <p:nvPr/>
        </p:nvSpPr>
        <p:spPr>
          <a:xfrm>
            <a:off x="6858000" y="3685032"/>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8 asserted properties pass · injected shoot-through caught 221×</a:t>
            </a:r>
          </a:p>
        </p:txBody>
      </p:sp>
      <p:sp>
        <p:nvSpPr>
          <p:cNvPr id="20" name="TextBox 19"/>
          <p:cNvSpPr txBox="1"/>
          <p:nvPr/>
        </p:nvSpPr>
        <p:spPr>
          <a:xfrm>
            <a:off x="640080" y="425196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Xilinx Vivado 2024.1.2</a:t>
            </a:r>
          </a:p>
        </p:txBody>
      </p:sp>
      <p:sp>
        <p:nvSpPr>
          <p:cNvPr id="21" name="TextBox 20"/>
          <p:cNvSpPr txBox="1"/>
          <p:nvPr/>
        </p:nvSpPr>
        <p:spPr>
          <a:xfrm>
            <a:off x="3520440" y="425196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FPGA synthesis and timing on xc7a35t</a:t>
            </a:r>
          </a:p>
        </p:txBody>
      </p:sp>
      <p:sp>
        <p:nvSpPr>
          <p:cNvPr id="22" name="TextBox 21"/>
          <p:cNvSpPr txBox="1"/>
          <p:nvPr/>
        </p:nvSpPr>
        <p:spPr>
          <a:xfrm>
            <a:off x="6858000" y="425196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20 LUTs, 20 flip-flops · 200 MHz met, 1.996 ns slack</a:t>
            </a:r>
          </a:p>
        </p:txBody>
      </p:sp>
      <p:sp>
        <p:nvSpPr>
          <p:cNvPr id="23" name="TextBox 22"/>
          <p:cNvSpPr txBox="1"/>
          <p:nvPr/>
        </p:nvSpPr>
        <p:spPr>
          <a:xfrm>
            <a:off x="640080" y="481888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Python · NumPy</a:t>
            </a:r>
          </a:p>
        </p:txBody>
      </p:sp>
      <p:sp>
        <p:nvSpPr>
          <p:cNvPr id="24" name="TextBox 23"/>
          <p:cNvSpPr txBox="1"/>
          <p:nvPr/>
        </p:nvSpPr>
        <p:spPr>
          <a:xfrm>
            <a:off x="3520440" y="481888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sweep orchestration and the decomposition</a:t>
            </a:r>
          </a:p>
        </p:txBody>
      </p:sp>
      <p:sp>
        <p:nvSpPr>
          <p:cNvPr id="25" name="TextBox 24"/>
          <p:cNvSpPr txBox="1"/>
          <p:nvPr/>
        </p:nvSpPr>
        <p:spPr>
          <a:xfrm>
            <a:off x="6858000" y="481888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720-word search · (A) 25.1 % vs (B) 3.9 %</a:t>
            </a:r>
          </a:p>
        </p:txBody>
      </p:sp>
      <p:sp>
        <p:nvSpPr>
          <p:cNvPr id="26" name="TextBox 25"/>
          <p:cNvSpPr txBox="1"/>
          <p:nvPr/>
        </p:nvSpPr>
        <p:spPr>
          <a:xfrm>
            <a:off x="640080" y="5550408"/>
            <a:ext cx="10972800" cy="54864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 number rests on one tool. </a:t>
            </a:r>
            <a:r>
              <a:rPr lang="en-US" sz="1250" dirty="0">
                <a:solidFill>
                  <a:srgbClr val="000000"/>
                </a:solidFill>
                <a:latin typeface="Calibri" pitchFamily="34" charset="0"/>
                <a:ea typeface="Calibri" pitchFamily="34" charset="-122"/>
                <a:cs typeface="Calibri" pitchFamily="34" charset="-120"/>
              </a:rPr>
              <a:t xml:space="preserve">Every headline figure was produced in one program and checked in another — SPICE against SPICE, MATLAB against Octave, yosys against Vivado.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8</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15</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the synthesis report itself</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vivado.png"/>
          <p:cNvPicPr>
            <a:picLocks noChangeAspect="1"/>
          </p:cNvPicPr>
          <p:nvPr/>
        </p:nvPicPr>
        <p:blipFill>
          <a:blip r:embed="rId4"/>
          <a:stretch>
            <a:fillRect/>
          </a:stretch>
        </p:blipFill>
        <p:spPr>
          <a:xfrm>
            <a:off x="685800" y="1325880"/>
            <a:ext cx="10283174" cy="4434840"/>
          </a:xfrm>
          <a:prstGeom prst="rect">
            <a:avLst/>
          </a:prstGeom>
        </p:spPr>
      </p:pic>
      <p:sp>
        <p:nvSpPr>
          <p:cNvPr id="6" name="TextBox 5"/>
          <p:cNvSpPr txBox="1"/>
          <p:nvPr/>
        </p:nvSpPr>
        <p:spPr>
          <a:xfrm>
            <a:off x="685800" y="5989320"/>
            <a:ext cx="1078992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Run by a colleague on Windows — Vivado has no macOS build. </a:t>
            </a:r>
            <a:r>
              <a:rPr lang="en-US" sz="1200" dirty="0">
                <a:solidFill>
                  <a:srgbClr val="000000"/>
                </a:solidFill>
                <a:latin typeface="Calibri" pitchFamily="34" charset="0"/>
                <a:ea typeface="Calibri" pitchFamily="34" charset="-122"/>
                <a:cs typeface="Calibri" pitchFamily="34" charset="-120"/>
              </a:rPr>
              <a:t xml:space="preserve">Both reports are committed in rtl/vivado/build/.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jpe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jpe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720-point control word, and an exhaustive search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well beats adapting — and by how much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04</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Where this goes</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The deliverable, the limits, and Review-II</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