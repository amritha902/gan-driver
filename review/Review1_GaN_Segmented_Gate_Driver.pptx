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6" r:id="rId37"/>
    <p:sldId id="259" r:id="rId5"/>
    <p:sldId id="260" r:id="rId6"/>
    <p:sldId id="267" r:id="rId18"/>
    <p:sldId id="282" r:id="rId33"/>
    <p:sldId id="287" r:id="rId38"/>
    <p:sldId id="261" r:id="rId7"/>
    <p:sldId id="280" r:id="rId31"/>
    <p:sldId id="274" r:id="rId25"/>
    <p:sldId id="278" r:id="rId29"/>
    <p:sldId id="283" r:id="rId34"/>
    <p:sldId id="262" r:id="rId8"/>
    <p:sldId id="272" r:id="rId23"/>
    <p:sldId id="273" r:id="rId24"/>
    <p:sldId id="285" r:id="rId36"/>
    <p:sldId id="288" r:id="rId39"/>
    <p:sldId id="263" r:id="rId9"/>
    <p:sldId id="275" r:id="rId26"/>
    <p:sldId id="279" r:id="rId30"/>
    <p:sldId id="276" r:id="rId27"/>
    <p:sldId id="264" r:id="rId10"/>
    <p:sldId id="269" r:id="rId2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6.xml"/><Relationship Id="rId9" Type="http://schemas.openxmlformats.org/officeDocument/2006/relationships/slide" Target="slides/slide23.xml"/><Relationship Id="rId10" Type="http://schemas.openxmlformats.org/officeDocument/2006/relationships/slide" Target="slides/slide27.xml"/><Relationship Id="rId11" Type="http://schemas.openxmlformats.org/officeDocument/2006/relationships/slide" Target="slides/slide33.xml"/><Relationship Id="rId12" Type="http://schemas.openxmlformats.org/officeDocument/2006/relationships/slide" Target="slides/slide3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20" Type="http://schemas.openxmlformats.org/officeDocument/2006/relationships/slide" Target="slides/slide29.xml"/><Relationship Id="rId22" Type="http://schemas.openxmlformats.org/officeDocument/2006/relationships/slide" Target="slides/slide32.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2.xml"/><Relationship Id="rId26" Type="http://schemas.openxmlformats.org/officeDocument/2006/relationships/slide" Target="slides/slide24.xml"/><Relationship Id="rId27" Type="http://schemas.openxmlformats.org/officeDocument/2006/relationships/slide" Target="slides/slide26.xml"/><Relationship Id="rId29" Type="http://schemas.openxmlformats.org/officeDocument/2006/relationships/slide" Target="slides/slide13.xml"/><Relationship Id="rId30" Type="http://schemas.openxmlformats.org/officeDocument/2006/relationships/slide" Target="slides/slide25.xml"/><Relationship Id="rId31" Type="http://schemas.openxmlformats.org/officeDocument/2006/relationships/slide" Target="slides/slide11.xml"/><Relationship Id="rId33" Type="http://schemas.openxmlformats.org/officeDocument/2006/relationships/slide" Target="slides/slide8.xml"/><Relationship Id="rId34" Type="http://schemas.openxmlformats.org/officeDocument/2006/relationships/slide" Target="slides/slide15.xml"/><Relationship Id="rId36" Type="http://schemas.openxmlformats.org/officeDocument/2006/relationships/slide" Target="slides/slide21.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22.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 gate driver’s benefit comes from </a:t>
            </a:r>
            <a:r>
              <a:rPr lang="en-US" sz="1500" b="1" dirty="0">
                <a:solidFill>
                  <a:srgbClr val="000000"/>
                </a:solidFill>
                <a:latin typeface="Calibri" pitchFamily="34" charset="0"/>
                <a:ea typeface="Calibri" pitchFamily="34" charset="-122"/>
                <a:cs typeface="Calibri" pitchFamily="34" charset="-120"/>
              </a:rPr>
              <a:t xml:space="preserve">changing its settings while running</a:t>
            </a:r>
            <a:r>
              <a:rPr lang="en-US" sz="1500" dirty="0">
                <a:solidFill>
                  <a:srgbClr val="000000"/>
                </a:solidFill>
                <a:latin typeface="Calibri" pitchFamily="34" charset="0"/>
                <a:ea typeface="Calibri" pitchFamily="34" charset="-122"/>
                <a:cs typeface="Calibri" pitchFamily="34" charset="-120"/>
              </a:rPr>
              <a:t xml:space="preserve">, and how much comes from simply </a:t>
            </a:r>
            <a:r>
              <a:rPr lang="en-US" sz="1500" b="1" dirty="0">
                <a:solidFill>
                  <a:srgbClr val="000000"/>
                </a:solidFill>
                <a:latin typeface="Calibri" pitchFamily="34" charset="0"/>
                <a:ea typeface="Calibri" pitchFamily="34" charset="-122"/>
                <a:cs typeface="Calibri" pitchFamily="34" charset="-120"/>
              </a:rPr>
              <a:t xml:space="preserve">picking one good setting and leaving it</a:t>
            </a:r>
            <a:r>
              <a:rPr lang="en-US" sz="1500" dirty="0">
                <a:solidFill>
                  <a:srgbClr val="000000"/>
                </a:solidFill>
                <a:latin typeface="Calibri" pitchFamily="34" charset="0"/>
                <a:ea typeface="Calibri" pitchFamily="34" charset="-122"/>
                <a:cs typeface="Calibri" pitchFamily="34" charset="-120"/>
              </a:rPr>
              <a:t xml:space="preserve">. We test every setting instead of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gate driver with 720 possible settings: 8 pull-up steps, 8 pull-down steps, dead time 5–35 ns, a gate clamp, and a −2 V off rail.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run all 720 settings at all four operating points, then compare the best-at-each-point against the best single setting. That difference is what re-tuning is worth,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using a GaN model built from datasheet numbers.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measurements per run, taken by one script fixed early. Every number must stay the same when the timestep changes by 5× — checked,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design, the setting search,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making the GaN device, sensor hardware, PCB build.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Everything shown is in sim/dpt.cir — that is the file to open in LTspice, and it contains the gate clamp. The three ltspice/*.asc sheets only show how the crosstalk happens and do not draw the clamp. The red C</a:t>
            </a:r>
            <a:r>
              <a:rPr lang="en-US" sz="1200" dirty="0">
                <a:solidFill>
                  <a:srgbClr val="000000"/>
                </a:solidFill>
                <a:latin typeface="Calibri" pitchFamily="34" charset="0"/>
                <a:ea typeface="Calibri" pitchFamily="34" charset="-122"/>
                <a:cs typeface="Calibri" pitchFamily="34" charset="-120"/>
              </a:rPr>
              <a:t>GD</a:t>
            </a:r>
            <a:r>
              <a:rPr lang="en-US" sz="1200" dirty="0">
                <a:solidFill>
                  <a:srgbClr val="000000"/>
                </a:solidFill>
                <a:latin typeface="Calibri" pitchFamily="34" charset="0"/>
                <a:ea typeface="Calibri" pitchFamily="34" charset="-122"/>
                <a:cs typeface="Calibri" pitchFamily="34" charset="-120"/>
              </a:rPr>
              <a:t> on Q2 is the path the charge takes. GaN has no body diode, so the gate has to be held down for the whole dead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Reproduce: python3 scripts/basepaper_compare.py — four ngspice runs, prints this table.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Every setting has been 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settings at each of four operating points — 2,880 runs — so the best at each point is the true best, not the best of a short 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claimed.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more runs across five device parameters: the answer stays between 4.3 % and 7.7 %. Board inductance and EMI were tested too.</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34,622 simulation runs.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fault is reproduced and fixed, all 720 settings have been tested at every operating point, and the answer has been stress-tested against the device model, the board layout and EMI.</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build it in silicon, not on an FPGA.</a:t>
            </a:r>
            <a:r>
              <a:rPr lang="en-US" sz="1500" dirty="0">
                <a:solidFill>
                  <a:srgbClr val="000000"/>
                </a:solidFill>
                <a:latin typeface="Calibri" pitchFamily="34" charset="0"/>
                <a:ea typeface="Calibri" pitchFamily="34" charset="-122"/>
                <a:cs typeface="Calibri" pitchFamily="34" charset="-120"/>
              </a:rPr>
              <a:t xml:space="preserve"> A 200 MHz FPGA can only move the dead time in 5 ns steps. Light load wants 15 ns and everything else wants 5 ns, so the steps are too coarse exactly where the benefit is. Drawing the output stage transistor by transistor in SKY130 removes that limit.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measure one operating point on real hardware.</a:t>
            </a:r>
            <a:r>
              <a:rPr lang="en-US" sz="1500" dirty="0">
                <a:solidFill>
                  <a:srgbClr val="000000"/>
                </a:solidFill>
                <a:latin typeface="Calibri" pitchFamily="34" charset="0"/>
                <a:ea typeface="Calibri" pitchFamily="34" charset="-122"/>
                <a:cs typeface="Calibri" pitchFamily="34" charset="-120"/>
              </a:rPr>
              <a:t xml:space="preserve"> Build the half-bridge and measure the off-gate voltage against the simulated 1.65 V. Until that exists this is a simulation study, and the title says so.</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A 1.8 V / 3.3 V teaching PDK cannot take a 5 V gate supply. Getting a 5 V-capable PDK is the first milestone, and the one that can hold up the rest.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and 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 LTspice 24 · Icarus Verilog · Xilinx Vivado 2024.1.2 · Cadence · SKY130 · Python · MATLAB and Octave. Every number can be regenerated by a named script at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chip-output paths against a placeholder 4 ns constraint — the output buffer alone takes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1  Voltage on the gate that is supposed to stay OFF: the failure, and the fix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2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All 720 settings run at every operating point — 2,880 runs — so the best at each point is the true best, not the best of a short 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MATLAB — the trade-off curve and the model check</a:t>
            </a:r>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720 settings, 504 of them safe (70 %). The blue line is the best-possible trade-off: buying back one point of overshoot costs 0.039 µJ of energy. The green marker is the setting our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 stays above (B) however the two goals are weighted. Picking the setting well is worth 22.5–29.0 % of baseline across the whole range; re-tuning it per operating point 1.3–12.7 %. The order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Dead time stops helping at about 15 ns: the gain per extra nanosecond runs 269 → 31.5 → 1.8 → 0.0 mV/ns across 10/15/25/35 ns. Past 15 ns it only costs conduction loss. results/gan_analysis.m, results/gan_master.m — both run in MATLAB or Octave.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So the full sensor + ADC + lookup table is left justifying 3.7 % of the total gain, over a fixed setting plus one comparator. Re-tuning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 figure uses the same baseline — the middle setting that is safe at all four operating points. The split does not depend on the weighting: across 106 weightings, (A) stays 23.4–29.0 % and (B) 1.3–6.4 %, and (A) beats (B) every time. scripts/novelty.py, scripts/weight_sensitivity.py.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4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Eight inductance values, 7,200 runs. The answer is a band, not a single line: re-tuning only pays from about 2.5 nH downwards, peaking at 13.5 % at 1.5 nH, then falling back to 8.1 % at 1.0 nH because only 165 of the 720 settings are still safe there — below about 2 nH the limit is what is safe, not what is best. A designer measures their own board and reads the decision off this curve.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The full sensor + ADC + lookup table is left justifying 3.7 %.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on an xc7a35t, 200 MHz met with 1.996 ns to spare.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transistor-level output stage in Cadence; re-run the answer on real devices.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a hardware half-bridge. Until then this is a simulation study, and is titled as one.</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Limits we state ourselves: no silicon measured; one device model underlies everything.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