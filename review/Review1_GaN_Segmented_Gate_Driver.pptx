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85" r:id="rId36"/>
    <p:sldId id="259" r:id="rId5"/>
    <p:sldId id="260" r:id="rId6"/>
    <p:sldId id="267" r:id="rId18"/>
    <p:sldId id="286" r:id="rId37"/>
    <p:sldId id="283" r:id="rId34"/>
    <p:sldId id="261" r:id="rId7"/>
    <p:sldId id="281" r:id="rId32"/>
    <p:sldId id="274" r:id="rId25"/>
    <p:sldId id="279" r:id="rId30"/>
    <p:sldId id="277" r:id="rId28"/>
    <p:sldId id="284" r:id="rId35"/>
    <p:sldId id="278" r:id="rId29"/>
    <p:sldId id="262" r:id="rId8"/>
    <p:sldId id="272" r:id="rId23"/>
    <p:sldId id="287" r:id="rId38"/>
    <p:sldId id="282" r:id="rId33"/>
    <p:sldId id="273" r:id="rId24"/>
    <p:sldId id="263" r:id="rId9"/>
    <p:sldId id="280" r:id="rId31"/>
    <p:sldId id="275" r:id="rId26"/>
    <p:sldId id="276" r:id="rId27"/>
    <p:sldId id="264" r:id="rId10"/>
    <p:sldId id="288" r:id="rId39"/>
    <p:sldId id="268" r:id="rId19"/>
    <p:sldId id="289" r:id="rId40"/>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One device's dV/dt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that is supposed to be OFF. It reaches </a:t>
            </a:r>
            <a:r>
              <a:rPr lang="en-US" sz="1500" b="1" dirty="0">
                <a:solidFill>
                  <a:srgbClr val="000000"/>
                </a:solidFill>
                <a:latin typeface="Calibri" pitchFamily="34" charset="0"/>
                <a:ea typeface="Calibri" pitchFamily="34" charset="-122"/>
                <a:cs typeface="Calibri" pitchFamily="34" charset="-120"/>
              </a:rPr>
              <a:t xml:space="preserve">1.65 V against a 1.4 V threshold</a:t>
            </a:r>
            <a:r>
              <a:rPr lang="en-US" sz="1500" dirty="0">
                <a:solidFill>
                  <a:srgbClr val="000000"/>
                </a:solidFill>
                <a:latin typeface="Calibri" pitchFamily="34" charset="0"/>
                <a:ea typeface="Calibri" pitchFamily="34" charset="-122"/>
                <a:cs typeface="Calibri" pitchFamily="34" charset="-120"/>
              </a:rPr>
              <a:t xml:space="preserve"> — false turn-on, and a shoot-through path.</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core of EV traction inverters and battery storage converters. The whole reason to choose GaN is speed — which is exactly what makes this failure worse.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segmented drive, Miller clamps, programmable dead time, negative off-bias [1]–[4]. Closed-loop designs report 30.5 % less overshoot and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 design-time choice with a runtime capability. Only the second needs sensing, a lookup table and a controller.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[2] [3] [4] [11] [12]</a:t>
                      </a:r>
                      <a:endParaRPr lang="en-US" sz="1300" dirty="0">
                        <a:latin typeface="Calibri" charset="0"/>
                        <a:ea typeface="Calibri" charset="0"/>
                        <a:cs typeface="Calibri" charset="0"/>
                      </a:endParaRPr>
                    </a:p>
                    <a:p>
                      <a:r>
                        <a:rPr sz="1050" b="0">
                          <a:solidFill>
                            <a:srgbClr val="000000"/>
                          </a:solidFill>
                          <a:latin typeface="Calibri"/>
                        </a:rPr>
                        <a:t>[14]–[19] [21]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p>
                      <a:r>
                        <a:rPr sz="1050" b="0">
                          <a:solidFill>
                            <a:srgbClr val="000000"/>
                          </a:solidFill>
                          <a:latin typeface="Calibri"/>
                        </a:rPr>
                        <a:t>[20] [22] [23] [29] [30]</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p>
                      <a:r>
                        <a:rPr sz="1050" b="0">
                          <a:solidFill>
                            <a:srgbClr val="000000"/>
                          </a:solidFill>
                          <a:latin typeface="Calibri"/>
                        </a:rPr>
                        <a:t>[25] [26] [28]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p>
                      <a:r>
                        <a:rPr sz="1050" b="0">
                          <a:solidFill>
                            <a:srgbClr val="000000"/>
                          </a:solidFill>
                          <a:latin typeface="Calibri"/>
                        </a:rPr>
                        <a:t>[24] [27]</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30 references, all publisher-verified, grouped by what the driver DOES. Clusters A–C set or regulate in analogue; only cluster D makes the setting a digital CODE — which is what makes an exhaustive search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problem,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1.65 V spurious against a 1.4 V threshold. Clamp on with −2 V off-bias: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exhaustive search is complete.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words at each of four corners — 2,880 transients — so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Stress-tested, not asserted.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across five device parameters: the ceiling holds between 4.3 % and 7.7 %. Loop inductance and EMI were tested, not argued.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Cross-checked in four tools.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 matches ngspice within 2 mV. MATLAB and Octave agree exactly. Vivado: 20 LUTs, 200 MHz met.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24, in which the port was re-run · Icarus Verilog (RTL, 8 asserted properties) · Xilinx Vivado 2024.1.2, synthesised · Cadence Spectre / OCEAN · SKY130 PDK (BSIM4) · Python / NumPy / Matplotlib · MATLAB Online,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5.45 % vs 0.00 % to schedule.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safe reset included;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Implemented in Vivado 2024.1.2</a:t>
            </a:r>
            <a:r>
              <a:rPr lang="en-US" sz="1500" dirty="0">
                <a:solidFill>
                  <a:srgbClr val="000000"/>
                </a:solidFill>
                <a:latin typeface="Calibri" pitchFamily="34" charset="0"/>
                <a:ea typeface="Calibri" pitchFamily="34" charset="-122"/>
                <a:cs typeface="Calibri" pitchFamily="34" charset="-120"/>
              </a:rPr>
              <a:t xml:space="preserve"> on xc7a35t: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part. Register-to-register timing at 200 MHz is </a:t>
            </a:r>
            <a:r>
              <a:rPr lang="en-US" sz="1500" b="1" dirty="0">
                <a:solidFill>
                  <a:srgbClr val="000000"/>
                </a:solidFill>
                <a:latin typeface="Calibri" pitchFamily="34" charset="0"/>
                <a:ea typeface="Calibri" pitchFamily="34" charset="-122"/>
                <a:cs typeface="Calibri" pitchFamily="34" charset="-120"/>
              </a:rPr>
              <a:t xml:space="preserve">MET, 1.996 ns slack</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34 failing paths are all clock-to-pin against a placeholder 4 ns I/O constraint — the output buffer alone is 3.49 ns.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5.2 % is the generous figure: </a:t>
            </a:r>
            <a:r>
              <a:rPr lang="en-US" sz="1200" dirty="0">
                <a:solidFill>
                  <a:srgbClr val="000000"/>
                </a:solidFill>
                <a:latin typeface="Calibri" pitchFamily="34" charset="0"/>
                <a:ea typeface="Calibri" pitchFamily="34" charset="-122"/>
                <a:cs typeface="Calibri" pitchFamily="34" charset="-120"/>
              </a:rPr>
              <a:t xml:space="preserve">the denser 36-point grid gives </a:t>
            </a:r>
            <a:r>
              <a:rPr lang="en-US" sz="1200" b="1" dirty="0">
                <a:solidFill>
                  <a:srgbClr val="000000"/>
                </a:solidFill>
                <a:latin typeface="Calibri" pitchFamily="34" charset="0"/>
                <a:ea typeface="Calibri" pitchFamily="34" charset="-122"/>
                <a:cs typeface="Calibri" pitchFamily="34" charset="-120"/>
              </a:rPr>
              <a:t xml:space="preserve">2.0 %</a:t>
            </a:r>
            <a:r>
              <a:rPr lang="en-US" sz="1200" dirty="0">
                <a:solidFill>
                  <a:srgbClr val="000000"/>
                </a:solidFill>
                <a:latin typeface="Calibri" pitchFamily="34" charset="0"/>
                <a:ea typeface="Calibri" pitchFamily="34" charset="-122"/>
                <a:cs typeface="Calibri" pitchFamily="34" charset="-120"/>
              </a:rPr>
              <a:t xml:space="preserve">.</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Choosing the word well: </a:t>
            </a:r>
            <a:r>
              <a:rPr lang="en-US" sz="1600" dirty="0">
                <a:solidFill>
                  <a:srgbClr val="000000"/>
                </a:solidFill>
                <a:latin typeface="Calibri" pitchFamily="34" charset="0"/>
                <a:ea typeface="Calibri" pitchFamily="34" charset="-122"/>
                <a:cs typeface="Calibri" pitchFamily="34" charset="-120"/>
              </a:rPr>
              <a:t xml:space="preserve">25.1 %.   </a:t>
            </a:r>
            <a:r>
              <a:rPr lang="en-US" sz="1600" b="1" dirty="0">
                <a:solidFill>
                  <a:srgbClr val="000000"/>
                </a:solidFill>
                <a:latin typeface="Calibri" pitchFamily="34" charset="0"/>
                <a:ea typeface="Calibri" pitchFamily="34" charset="-122"/>
                <a:cs typeface="Calibri" pitchFamily="34" charset="-120"/>
              </a:rPr>
              <a:t xml:space="preserve">Adapting it per operating point: </a:t>
            </a:r>
            <a:r>
              <a:rPr lang="en-US" sz="1600" dirty="0">
                <a:solidFill>
                  <a:srgbClr val="000000"/>
                </a:solidFill>
                <a:latin typeface="Calibri" pitchFamily="34" charset="0"/>
                <a:ea typeface="Calibri" pitchFamily="34" charset="-122"/>
                <a:cs typeface="Calibri" pitchFamily="34" charset="-120"/>
              </a:rPr>
              <a:t xml:space="preserve">3.9 %.</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One comparator takes 72 % of that 3.9 %.</a:t>
            </a:r>
          </a:p>
          <a:p>
            <a:pPr marL="177800" indent="-177800">
              <a:spcAft>
                <a:spcPts val="34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deliverable: </a:t>
            </a:r>
            <a:r>
              <a:rPr lang="en-US" sz="1600" dirty="0">
                <a:solidFill>
                  <a:srgbClr val="000000"/>
                </a:solidFill>
                <a:latin typeface="Calibri" pitchFamily="34" charset="0"/>
                <a:ea typeface="Calibri" pitchFamily="34" charset="-122"/>
                <a:cs typeface="Calibri" pitchFamily="34" charset="-120"/>
              </a:rPr>
              <a:t xml:space="preserve">a fixed word plus a light-load comparator. The full sense + ADC + lookup table is left justifying </a:t>
            </a:r>
            <a:r>
              <a:rPr lang="en-US" sz="1600" b="1" dirty="0">
                <a:solidFill>
                  <a:srgbClr val="000000"/>
                </a:solidFill>
                <a:latin typeface="Calibri" pitchFamily="34" charset="0"/>
                <a:ea typeface="Calibri" pitchFamily="34" charset="-122"/>
                <a:cs typeface="Calibri" pitchFamily="34" charset="-120"/>
              </a:rPr>
              <a:t xml:space="preserve">3.7 %</a:t>
            </a:r>
            <a:r>
              <a:rPr lang="en-US" sz="1600" dirty="0">
                <a:solidFill>
                  <a:srgbClr val="000000"/>
                </a:solidFill>
                <a:latin typeface="Calibri" pitchFamily="34" charset="0"/>
                <a:ea typeface="Calibri" pitchFamily="34" charset="-122"/>
                <a:cs typeface="Calibri" pitchFamily="34" charset="-120"/>
              </a:rPr>
              <a:t xml:space="preserve">.</a:t>
            </a:r>
          </a:p>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next</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 — </a:t>
            </a:r>
            <a:r>
              <a:rPr lang="en-US" sz="1600" dirty="0">
                <a:solidFill>
                  <a:srgbClr val="000000"/>
                </a:solidFill>
                <a:latin typeface="Calibri" pitchFamily="34" charset="0"/>
                <a:ea typeface="Calibri" pitchFamily="34" charset="-122"/>
                <a:cs typeface="Calibri" pitchFamily="34" charset="-120"/>
              </a:rPr>
              <a:t xml:space="preserve">transistor-level output stage in Cadence; re-run the ceiling on real devices.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Review-III — </a:t>
            </a:r>
            <a:r>
              <a:rPr lang="en-US" sz="1600" dirty="0">
                <a:solidFill>
                  <a:srgbClr val="000000"/>
                </a:solidFill>
                <a:latin typeface="Calibri" pitchFamily="34" charset="0"/>
                <a:ea typeface="Calibri" pitchFamily="34" charset="-122"/>
                <a:cs typeface="Calibri" pitchFamily="34" charset="-120"/>
              </a:rPr>
              <a:t xml:space="preserve">measure a hardware half-bridge. Until then this is a simulation study, and is titled as one.</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Limits we state ourselves: </a:t>
            </a:r>
            <a:r>
              <a:rPr lang="en-US" sz="1450" dirty="0">
                <a:solidFill>
                  <a:srgbClr val="000000"/>
                </a:solidFill>
                <a:latin typeface="Calibri" pitchFamily="34" charset="0"/>
                <a:ea typeface="Calibri" pitchFamily="34" charset="-122"/>
                <a:cs typeface="Calibri" pitchFamily="34" charset="-120"/>
              </a:rPr>
              <a:t xml:space="preserve">no silicon measured; one device model underlies everything.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256032"/>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Rectangle 4"/>
          <p:cNvSpPr/>
          <p:nvPr/>
        </p:nvSpPr>
        <p:spPr>
          <a:xfrm>
            <a:off x="54864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reto_matlab.png"/>
          <p:cNvPicPr>
            <a:picLocks noChangeAspect="1"/>
          </p:cNvPicPr>
          <p:nvPr/>
        </p:nvPicPr>
        <p:blipFill>
          <a:blip r:embed="rId3"/>
          <a:stretch>
            <a:fillRect/>
          </a:stretch>
        </p:blipFill>
        <p:spPr>
          <a:xfrm>
            <a:off x="640080" y="1188720"/>
            <a:ext cx="4389120" cy="3291840"/>
          </a:xfrm>
          <a:prstGeom prst="rect">
            <a:avLst/>
          </a:prstGeom>
        </p:spPr>
      </p:pic>
      <p:sp>
        <p:nvSpPr>
          <p:cNvPr id="7" name="Rectangle 6"/>
          <p:cNvSpPr/>
          <p:nvPr/>
        </p:nvSpPr>
        <p:spPr>
          <a:xfrm>
            <a:off x="635508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g_master_weight.png"/>
          <p:cNvPicPr>
            <a:picLocks noChangeAspect="1"/>
          </p:cNvPicPr>
          <p:nvPr/>
        </p:nvPicPr>
        <p:blipFill>
          <a:blip r:embed="rId4"/>
          <a:stretch>
            <a:fillRect/>
          </a:stretch>
        </p:blipFill>
        <p:spPr>
          <a:xfrm>
            <a:off x="6446520" y="1188720"/>
            <a:ext cx="4389120" cy="3291840"/>
          </a:xfrm>
          <a:prstGeom prst="rect">
            <a:avLst/>
          </a:prstGeom>
        </p:spPr>
      </p:pic>
      <p:sp>
        <p:nvSpPr>
          <p:cNvPr id="9" name="TextBox 8"/>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10" name="TextBox 9"/>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(A) stays above (B) at every weight tested.</a:t>
            </a:r>
            <a:r>
              <a:rPr lang="en-US" sz="1150" dirty="0">
                <a:solidFill>
                  <a:srgbClr val="000000"/>
                </a:solidFill>
                <a:latin typeface="Calibri" pitchFamily="34" charset="0"/>
                <a:ea typeface="Calibri" pitchFamily="34" charset="-122"/>
                <a:cs typeface="Calibri" pitchFamily="34" charset="-120"/>
              </a:rPr>
              <a:t xml:space="preserve"> Choosing the word well is worth 22.5–29.0 % of baseline across the whole range; adapting it per operating point 1.4–12.7 %. The ordering never flips.</a:t>
            </a:r>
          </a:p>
        </p:txBody>
      </p:sp>
      <p:sp>
        <p:nvSpPr>
          <p:cNvPr id="11" name="TextBox 10"/>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top row as the controller and the bottom row as the circuit. </a:t>
            </a:r>
            <a:r>
              <a:rPr lang="en-US" sz="1200" dirty="0">
                <a:solidFill>
                  <a:srgbClr val="000000"/>
                </a:solidFill>
                <a:latin typeface="Calibri" pitchFamily="34" charset="0"/>
                <a:ea typeface="Calibri" pitchFamily="34" charset="-122"/>
                <a:cs typeface="Calibri" pitchFamily="34" charset="-120"/>
              </a:rPr>
              <a:t xml:space="preserve">The one shaded diamond is the entire adaptive machinery.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Tools — and what each one produced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41732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ngspice 42</a:t>
            </a:r>
          </a:p>
        </p:txBody>
      </p:sp>
      <p:sp>
        <p:nvSpPr>
          <p:cNvPr id="6" name="TextBox 5"/>
          <p:cNvSpPr txBox="1"/>
          <p:nvPr/>
        </p:nvSpPr>
        <p:spPr>
          <a:xfrm>
            <a:off x="3520440" y="141732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transient in the study</a:t>
            </a:r>
          </a:p>
        </p:txBody>
      </p:sp>
      <p:sp>
        <p:nvSpPr>
          <p:cNvPr id="7" name="TextBox 6"/>
          <p:cNvSpPr txBox="1"/>
          <p:nvPr/>
        </p:nvSpPr>
        <p:spPr>
          <a:xfrm>
            <a:off x="6858000" y="141732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34,622 simulations · 1.65 V spurious · 2.58 V margin · 5.2 % ceiling</a:t>
            </a:r>
          </a:p>
        </p:txBody>
      </p:sp>
      <p:sp>
        <p:nvSpPr>
          <p:cNvPr id="8" name="TextBox 7"/>
          <p:cNvSpPr txBox="1"/>
          <p:nvPr/>
        </p:nvSpPr>
        <p:spPr>
          <a:xfrm>
            <a:off x="640080" y="198424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LTspice 24</a:t>
            </a:r>
          </a:p>
        </p:txBody>
      </p:sp>
      <p:sp>
        <p:nvSpPr>
          <p:cNvPr id="9" name="TextBox 8"/>
          <p:cNvSpPr txBox="1"/>
          <p:nvPr/>
        </p:nvSpPr>
        <p:spPr>
          <a:xfrm>
            <a:off x="3520440" y="198424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re-run of the shipped netlists</a:t>
            </a:r>
          </a:p>
        </p:txBody>
      </p:sp>
      <p:sp>
        <p:nvSpPr>
          <p:cNvPr id="10" name="TextBox 9"/>
          <p:cNvSpPr txBox="1"/>
          <p:nvPr/>
        </p:nvSpPr>
        <p:spPr>
          <a:xfrm>
            <a:off x="6858000" y="198424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1.6487 / 0.8282 / −1.1768 V — matches ngspice within 2 mV</a:t>
            </a:r>
          </a:p>
        </p:txBody>
      </p:sp>
      <p:sp>
        <p:nvSpPr>
          <p:cNvPr id="11" name="TextBox 10"/>
          <p:cNvSpPr txBox="1"/>
          <p:nvPr/>
        </p:nvSpPr>
        <p:spPr>
          <a:xfrm>
            <a:off x="640080" y="2551176"/>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MATLAB Online</a:t>
            </a:r>
          </a:p>
        </p:txBody>
      </p:sp>
      <p:sp>
        <p:nvSpPr>
          <p:cNvPr id="12" name="TextBox 11"/>
          <p:cNvSpPr txBox="1"/>
          <p:nvPr/>
        </p:nvSpPr>
        <p:spPr>
          <a:xfrm>
            <a:off x="3520440" y="2551176"/>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re-analysis of the same CSVs</a:t>
            </a:r>
          </a:p>
        </p:txBody>
      </p:sp>
      <p:sp>
        <p:nvSpPr>
          <p:cNvPr id="13" name="TextBox 12"/>
          <p:cNvSpPr txBox="1"/>
          <p:nvPr/>
        </p:nvSpPr>
        <p:spPr>
          <a:xfrm>
            <a:off x="6858000" y="2551176"/>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504 of 720 feasible · 7-word Pareto front · 0.039 µJ per point</a:t>
            </a:r>
          </a:p>
        </p:txBody>
      </p:sp>
      <p:sp>
        <p:nvSpPr>
          <p:cNvPr id="14" name="TextBox 13"/>
          <p:cNvSpPr txBox="1"/>
          <p:nvPr/>
        </p:nvSpPr>
        <p:spPr>
          <a:xfrm>
            <a:off x="640080" y="3118104"/>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GNU Octave 11.3</a:t>
            </a:r>
          </a:p>
        </p:txBody>
      </p:sp>
      <p:sp>
        <p:nvSpPr>
          <p:cNvPr id="15" name="TextBox 14"/>
          <p:cNvSpPr txBox="1"/>
          <p:nvPr/>
        </p:nvSpPr>
        <p:spPr>
          <a:xfrm>
            <a:off x="3520440" y="3118104"/>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second run of the same MATLAB scripts</a:t>
            </a:r>
          </a:p>
        </p:txBody>
      </p:sp>
      <p:sp>
        <p:nvSpPr>
          <p:cNvPr id="16" name="TextBox 15"/>
          <p:cNvSpPr txBox="1"/>
          <p:nvPr/>
        </p:nvSpPr>
        <p:spPr>
          <a:xfrm>
            <a:off x="6858000" y="3118104"/>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agrees with MATLAB to the last printed digit</a:t>
            </a:r>
          </a:p>
        </p:txBody>
      </p:sp>
      <p:sp>
        <p:nvSpPr>
          <p:cNvPr id="17" name="TextBox 16"/>
          <p:cNvSpPr txBox="1"/>
          <p:nvPr/>
        </p:nvSpPr>
        <p:spPr>
          <a:xfrm>
            <a:off x="640080" y="3685032"/>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Icarus Verilog</a:t>
            </a:r>
          </a:p>
        </p:txBody>
      </p:sp>
      <p:sp>
        <p:nvSpPr>
          <p:cNvPr id="18" name="TextBox 17"/>
          <p:cNvSpPr txBox="1"/>
          <p:nvPr/>
        </p:nvSpPr>
        <p:spPr>
          <a:xfrm>
            <a:off x="3520440" y="3685032"/>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RTL verification and mutation testing</a:t>
            </a:r>
          </a:p>
        </p:txBody>
      </p:sp>
      <p:sp>
        <p:nvSpPr>
          <p:cNvPr id="19" name="TextBox 18"/>
          <p:cNvSpPr txBox="1"/>
          <p:nvPr/>
        </p:nvSpPr>
        <p:spPr>
          <a:xfrm>
            <a:off x="6858000" y="3685032"/>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8 asserted properties pass · injected shoot-through caught 221×</a:t>
            </a:r>
          </a:p>
        </p:txBody>
      </p:sp>
      <p:sp>
        <p:nvSpPr>
          <p:cNvPr id="20" name="TextBox 19"/>
          <p:cNvSpPr txBox="1"/>
          <p:nvPr/>
        </p:nvSpPr>
        <p:spPr>
          <a:xfrm>
            <a:off x="640080" y="425196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Xilinx Vivado 2024.1.2</a:t>
            </a:r>
          </a:p>
        </p:txBody>
      </p:sp>
      <p:sp>
        <p:nvSpPr>
          <p:cNvPr id="21" name="TextBox 20"/>
          <p:cNvSpPr txBox="1"/>
          <p:nvPr/>
        </p:nvSpPr>
        <p:spPr>
          <a:xfrm>
            <a:off x="3520440" y="425196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FPGA synthesis and timing on xc7a35t</a:t>
            </a:r>
          </a:p>
        </p:txBody>
      </p:sp>
      <p:sp>
        <p:nvSpPr>
          <p:cNvPr id="22" name="TextBox 21"/>
          <p:cNvSpPr txBox="1"/>
          <p:nvPr/>
        </p:nvSpPr>
        <p:spPr>
          <a:xfrm>
            <a:off x="6858000" y="425196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20 LUTs, 20 flip-flops · 200 MHz met, 1.996 ns slack</a:t>
            </a:r>
          </a:p>
        </p:txBody>
      </p:sp>
      <p:sp>
        <p:nvSpPr>
          <p:cNvPr id="23" name="TextBox 22"/>
          <p:cNvSpPr txBox="1"/>
          <p:nvPr/>
        </p:nvSpPr>
        <p:spPr>
          <a:xfrm>
            <a:off x="640080" y="481888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Python · NumPy</a:t>
            </a:r>
          </a:p>
        </p:txBody>
      </p:sp>
      <p:sp>
        <p:nvSpPr>
          <p:cNvPr id="24" name="TextBox 23"/>
          <p:cNvSpPr txBox="1"/>
          <p:nvPr/>
        </p:nvSpPr>
        <p:spPr>
          <a:xfrm>
            <a:off x="3520440" y="481888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sweep orchestration and the decomposition</a:t>
            </a:r>
          </a:p>
        </p:txBody>
      </p:sp>
      <p:sp>
        <p:nvSpPr>
          <p:cNvPr id="25" name="TextBox 24"/>
          <p:cNvSpPr txBox="1"/>
          <p:nvPr/>
        </p:nvSpPr>
        <p:spPr>
          <a:xfrm>
            <a:off x="6858000" y="481888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720-word search · (A) 25.1 % vs (B) 3.9 %</a:t>
            </a:r>
          </a:p>
        </p:txBody>
      </p:sp>
      <p:sp>
        <p:nvSpPr>
          <p:cNvPr id="26" name="TextBox 25"/>
          <p:cNvSpPr txBox="1"/>
          <p:nvPr/>
        </p:nvSpPr>
        <p:spPr>
          <a:xfrm>
            <a:off x="640080" y="5550408"/>
            <a:ext cx="10972800" cy="54864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 number rests on one tool. </a:t>
            </a:r>
            <a:r>
              <a:rPr lang="en-US" sz="1250" dirty="0">
                <a:solidFill>
                  <a:srgbClr val="000000"/>
                </a:solidFill>
                <a:latin typeface="Calibri" pitchFamily="34" charset="0"/>
                <a:ea typeface="Calibri" pitchFamily="34" charset="-122"/>
                <a:cs typeface="Calibri" pitchFamily="34" charset="-120"/>
              </a:rPr>
              <a:t xml:space="preserve">Every headline figure was produced in one program and checked in another — SPICE against SPICE, MATLAB against Octave, yosys against Vivado.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9</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15</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720-point control word, and an exhaustive search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well beats adapting — and by how much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04</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Where this goes</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The deliverable, the limits, and Review-II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