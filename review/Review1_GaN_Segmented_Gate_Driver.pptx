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91" r:id="rId35"/>
    <p:sldId id="286" r:id="rId37"/>
    <p:sldId id="259" r:id="rId5"/>
    <p:sldId id="260" r:id="rId6"/>
    <p:sldId id="267" r:id="rId18"/>
    <p:sldId id="282" r:id="rId33"/>
    <p:sldId id="287" r:id="rId38"/>
    <p:sldId id="261" r:id="rId7"/>
    <p:sldId id="280" r:id="rId31"/>
    <p:sldId id="274" r:id="rId25"/>
    <p:sldId id="278" r:id="rId29"/>
    <p:sldId id="283" r:id="rId34"/>
    <p:sldId id="262" r:id="rId8"/>
    <p:sldId id="272" r:id="rId23"/>
    <p:sldId id="273" r:id="rId24"/>
    <p:sldId id="285" r:id="rId36"/>
    <p:sldId id="288" r:id="rId39"/>
    <p:sldId id="293" r:id="rId30"/>
    <p:sldId id="263" r:id="rId9"/>
    <p:sldId id="292" r:id="rId32"/>
    <p:sldId id="275" r:id="rId26"/>
    <p:sldId id="276" r:id="rId27"/>
    <p:sldId id="264" r:id="rId10"/>
    <p:sldId id="269" r:id="rId2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0.xml"/><Relationship Id="rId10" Type="http://schemas.openxmlformats.org/officeDocument/2006/relationships/slide" Target="slides/slide23.xml"/><Relationship Id="rId11" Type="http://schemas.openxmlformats.org/officeDocument/2006/relationships/slide" Target="slides/slide26.xml"/><Relationship Id="rId12" Type="http://schemas.openxmlformats.org/officeDocument/2006/relationships/slide" Target="slides/slide2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20"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1.xml"/><Relationship Id="rId27" Type="http://schemas.openxmlformats.org/officeDocument/2006/relationships/slide" Target="slides/slide22.xml"/><Relationship Id="rId29" Type="http://schemas.openxmlformats.org/officeDocument/2006/relationships/slide" Target="slides/slide13.xml"/><Relationship Id="rId30" Type="http://schemas.openxmlformats.org/officeDocument/2006/relationships/slide" Target="slides/slide31.xml"/><Relationship Id="rId31" Type="http://schemas.openxmlformats.org/officeDocument/2006/relationships/slide" Target="slides/slide11.xml"/><Relationship Id="rId32" Type="http://schemas.openxmlformats.org/officeDocument/2006/relationships/slide" Target="slides/slide30.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29.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Power Converter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Reproduce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same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and Vivado. Nothing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Everything shown is in sim/dpt.cir — the file ngspice runs, and it contains the gate clamp. The red C</a:t>
            </a:r>
            <a:r>
              <a:rPr lang="en-US" sz="1200" dirty="0">
                <a:solidFill>
                  <a:srgbClr val="000000"/>
                </a:solidFill>
                <a:latin typeface="Calibri" pitchFamily="34" charset="0"/>
                <a:ea typeface="Calibri" pitchFamily="34" charset="-122"/>
                <a:cs typeface="Calibri" pitchFamily="34" charset="-120"/>
              </a:rPr>
              <a:t>GD</a:t>
            </a:r>
            <a:r>
              <a:rPr lang="en-US" sz="1200" dirty="0">
                <a:solidFill>
                  <a:srgbClr val="000000"/>
                </a:solidFill>
                <a:latin typeface="Calibri" pitchFamily="34" charset="0"/>
                <a:ea typeface="Calibri" pitchFamily="34" charset="-122"/>
                <a:cs typeface="Calibri" pitchFamily="34" charset="-120"/>
              </a:rPr>
              <a:t> on Q2 is the path the charge takes. GaN has no body diode, so the gate has to be held down for the whole dead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Reproduce: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Everything is reproducible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in this deck is regenerated by a named script in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1  Voltage on the gate that is supposed to stay OFF: the failure, and the fix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All 720 settings run at every operating point — 2,880 runs — so the best at each point is the true best, not the best of a short 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So the full sensor + ADC + lookup table is left justifying 3.7 % of the total gain, over a fixed setting plus one comparator. Re-tuning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 figure uses the same baseline — the middle setting that is safe at all four operating points. The split does not depend on the weighting: across 106 weightings, (A) stays 23.4–29.0 % and (B) 1.3–6.4 %, and (A) beats (B) every time. scripts/novelty.py, scripts/weight_sensitivity.py.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Eight inductance values, 7,200 runs. The answer is a band, not a single line: re-tuning only pays from about 2.5 nH downwards, peaking at 13.5 % at 1.5 nH, then falling back to 8.1 % at 1.0 nH because only 165 of the 720 settings are still safe there — below about 2 nH the limit is what is safe, not what is best. A designer measures their own board and reads the decision off this curve.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Click to play (22 s). </a:t>
            </a:r>
            <a:r>
              <a:rPr lang="en-US" sz="1100" dirty="0">
                <a:solidFill>
                  <a:srgbClr val="000000"/>
                </a:solidFill>
                <a:latin typeface="Calibri" pitchFamily="34" charset="0"/>
                <a:ea typeface="Calibri" pitchFamily="34" charset="-122"/>
                <a:cs typeface="Calibri" pitchFamily="34" charset="-120"/>
              </a:rPr>
              <a:t>ngspice waveforms from sim/dpt.cir — the same file every number in this deck comes from.</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A GaN synchronous buck converter. </a:t>
            </a:r>
            <a:r>
              <a:rPr lang="en-US" sz="1250" dirty="0">
                <a:solidFill>
                  <a:srgbClr val="000000"/>
                </a:solidFill>
                <a:latin typeface="Calibri" pitchFamily="34" charset="0"/>
                <a:ea typeface="Calibri" pitchFamily="34" charset="-122"/>
                <a:cs typeface="Calibri" pitchFamily="34" charset="-120"/>
              </a:rPr>
              <a:t xml:space="preserve">100 V DC goes in; the two GaN transistors chop it at 500 kHz; the filter turns that back into DC. 48.6 V at 4.88 A comes out — 236.9 W into the load from 242.6 W drawn, so 97.6 % of the power gets through. 5.8 W is lost in the transistors and the power loop.</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The duty ratio is fixed at 0.5, which is what puts the output at half the input. Reproduce: </a:t>
            </a:r>
            <a:r>
              <a:rPr lang="en-US" sz="1100" b="1" dirty="0">
                <a:solidFill>
                  <a:srgbClr val="000000"/>
                </a:solidFill>
                <a:latin typeface="Calibri" pitchFamily="34" charset="0"/>
                <a:ea typeface="Calibri" pitchFamily="34" charset="-122"/>
                <a:cs typeface="Calibri" pitchFamily="34" charset="-120"/>
              </a:rPr>
              <a:t xml:space="preserve">ngspice -b sim/buck.cir</a:t>
            </a:r>
            <a:r>
              <a:rPr lang="en-US" sz="1100" dirty="0">
                <a:solidFill>
                  <a:srgbClr val="000000"/>
                </a:solidFill>
                <a:latin typeface="Calibri" pitchFamily="34" charset="0"/>
                <a:ea typeface="Calibri" pitchFamily="34" charset="-122"/>
                <a:cs typeface="Calibri" pitchFamily="34" charset="-120"/>
              </a:rPr>
              <a:t xml:space="preserve">, then python3 scripts/buck_figure.py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This is why the gate driver is worth studying. </a:t>
            </a:r>
            <a:r>
              <a:rPr lang="en-US" sz="1250" dirty="0">
                <a:solidFill>
                  <a:srgbClr val="000000"/>
                </a:solidFill>
                <a:latin typeface="Calibri" pitchFamily="34" charset="0"/>
                <a:ea typeface="Calibri" pitchFamily="34" charset="-122"/>
                <a:cs typeface="Calibri" pitchFamily="34" charset="-120"/>
              </a:rPr>
              <a:t xml:space="preserve">The same knob moves power lost by 4.5 % and peak device voltage by 50 %, in opposite directions — there is no setting that is best at both. Lowest loss is 4 slices, not the fastest. Turning the clamp and the −2 V rail on costs 0.53 W, which is 0.22 points of efficiency, and that is the price of crosstalk immunity.</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Eight converter runs. Reproduce: </a:t>
            </a:r>
            <a:r>
              <a:rPr lang="en-US" sz="1100" b="1" dirty="0">
                <a:solidFill>
                  <a:srgbClr val="000000"/>
                </a:solidFill>
                <a:latin typeface="Calibri" pitchFamily="34" charset="0"/>
                <a:ea typeface="Calibri" pitchFamily="34" charset="-122"/>
                <a:cs typeface="Calibri" pitchFamily="34" charset="-120"/>
              </a:rPr>
              <a:t xml:space="preserve">python3 scripts/buck_sweep.py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Each bar and each point is its own ngspice run. </a:t>
            </a:r>
            <a:r>
              <a:rPr lang="en-US" sz="1250" dirty="0">
                <a:solidFill>
                  <a:srgbClr val="000000"/>
                </a:solidFill>
                <a:latin typeface="Calibri" pitchFamily="34" charset="0"/>
                <a:ea typeface="Calibri" pitchFamily="34" charset="-122"/>
                <a:cs typeface="Calibri" pitchFamily="34" charset="-120"/>
              </a:rPr>
              <a:t xml:space="preserve">Left: the fault is there at the fastest setting, the clamp removes it, the −2 V rail buys margin, and slowing the drive is safest but wastes twice the energy. Right: the cheapest dead time is 15 ns at full load and 5 ns at light load — two different numbers, and that gap is the only thing worth adapting.</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 runs, 10 seconds. Reproduce: </a:t>
            </a:r>
            <a:r>
              <a:rPr lang="en-US" sz="1100" b="1" dirty="0">
                <a:solidFill>
                  <a:srgbClr val="000000"/>
                </a:solidFill>
                <a:latin typeface="Calibri" pitchFamily="34" charset="0"/>
                <a:ea typeface="Calibri" pitchFamily="34" charset="-122"/>
                <a:cs typeface="Calibri" pitchFamily="34" charset="-120"/>
              </a:rPr>
              <a:t xml:space="preserve">python3 scripts/cases.py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