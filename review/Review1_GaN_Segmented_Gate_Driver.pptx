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61" r:id="rId7"/>
    <p:sldId id="274" r:id="rId25"/>
    <p:sldId id="279" r:id="rId30"/>
    <p:sldId id="277" r:id="rId28"/>
    <p:sldId id="278" r:id="rId29"/>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  Reg. No. ________</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02.09.2026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02.09.2026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That comparison conflates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hardware cost that justifies the architecture. No published work isolates them, so the value of adaptation has never been measured.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2022</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with an on-chip pattern generator for drive strength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contribution is to </a:t>
            </a:r>
            <a:r>
              <a:rPr lang="en-US" sz="1500" b="1" dirty="0">
                <a:solidFill>
                  <a:srgbClr val="000000"/>
                </a:solidFill>
                <a:latin typeface="Calibri" pitchFamily="34" charset="0"/>
                <a:ea typeface="Calibri" pitchFamily="34" charset="-122"/>
                <a:cs typeface="Calibri" pitchFamily="34" charset="-120"/>
              </a:rPr>
              <a:t xml:space="preserve">separate the two claims by exhaustive search</a:t>
            </a:r>
            <a:r>
              <a:rPr lang="en-US" sz="1500" dirty="0">
                <a:solidFill>
                  <a:srgbClr val="000000"/>
                </a:solidFill>
                <a:latin typeface="Calibri" pitchFamily="34" charset="0"/>
                <a:ea typeface="Calibri" pitchFamily="34" charset="-122"/>
                <a:cs typeface="Calibri" pitchFamily="34" charset="-120"/>
              </a:rPr>
              <a:t xml:space="preserve">: sweep the full word at every corner, so each per-corner optimum is a true optimum and not the best of a shortlist,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channel is symmetric by design, so the third-quadrant penalty of negative bias emerges from device physics rather than being added by hand.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 three energies, overshoot, settling, oscillation energy, spurious gate voltage, crosstalk margin — frozen in one extractor early, so no later sweep becomes incomparable.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reported quantity must be flat across a 5× timestep range. Enforced, not assumed: it has twice rejected a number that had already reached a draft.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closed-loop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port to other simulators is written and re-simulated.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LTspice-dialect, Spectre and browser-WASM decks all reproduce 122.4 V / 5.00 V / 1.65 V. Neither has itself been run — no installation was available — so these are faithful ports.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github.com/Amritha902/vero</a:t>
            </a:r>
            <a:r>
              <a:rPr lang="en-US" sz="1500" dirty="0">
                <a:solidFill>
                  <a:srgbClr val="000000"/>
                </a:solidFill>
                <a:latin typeface="Calibri" pitchFamily="34" charset="0"/>
                <a:ea typeface="Calibri" pitchFamily="34" charset="-122"/>
                <a:cs typeface="Calibri" pitchFamily="34" charset="-120"/>
              </a:rPr>
              <a:t xml:space="preserve">, under </a:t>
            </a:r>
            <a:r>
              <a:rPr lang="en-US" sz="1500" b="1" dirty="0">
                <a:solidFill>
                  <a:srgbClr val="000000"/>
                </a:solidFill>
                <a:latin typeface="Calibri" pitchFamily="34" charset="0"/>
                <a:ea typeface="Calibri" pitchFamily="34" charset="-122"/>
                <a:cs typeface="Calibri" pitchFamily="34" charset="-120"/>
              </a:rPr>
              <a:t xml:space="preserve">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all passing under Icarus Verilog; a deliberate shoot-through mutant is caught 221 times (sh rtl/mutate.sh).</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Robust across cost weightings: adaptation is 5.5–20.1 % of the gain for overshoot weights 0 to 1.0.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scripts/howmanywords.py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peline_demo_review1.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(17 s). Real captured output — only the pacing is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ngspice 42 running the real double-pulse test.</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Fastest drive, no clamp: spurious gate 1.649 V, margin </a:t>
            </a:r>
            <a:r>
              <a:rPr lang="en-US" sz="1300" b="1" dirty="0">
                <a:solidFill>
                  <a:srgbClr val="000000"/>
                </a:solidFill>
                <a:latin typeface="Calibri" pitchFamily="34" charset="0"/>
                <a:ea typeface="Calibri" pitchFamily="34" charset="-122"/>
                <a:cs typeface="Calibri" pitchFamily="34" charset="-120"/>
              </a:rPr>
              <a:t xml:space="preserve">−0.249 V</a:t>
            </a:r>
            <a:r>
              <a:rPr lang="en-US" sz="1300" dirty="0">
                <a:solidFill>
                  <a:srgbClr val="000000"/>
                </a:solidFill>
                <a:latin typeface="Calibri" pitchFamily="34" charset="0"/>
                <a:ea typeface="Calibri" pitchFamily="34" charset="-122"/>
                <a:cs typeface="Calibri" pitchFamily="34" charset="-120"/>
              </a:rPr>
              <a:t xml:space="preserve"> — false turn-on.</a:t>
            </a:r>
          </a:p>
          <a:p>
            <a:pPr marL="177800" indent="-177800">
              <a:spcAft>
                <a:spcPts val="180"/>
              </a:spcAft>
              <a:buSzPct val="100000"/>
              <a:buChar char="•"/>
            </a:pPr>
            <a:r>
              <a:rPr lang="en-US" sz="1300" dirty="0">
                <a:solidFill>
                  <a:srgbClr val="000000"/>
                </a:solidFill>
                <a:latin typeface="Calibri" pitchFamily="34" charset="0"/>
                <a:ea typeface="Calibri" pitchFamily="34" charset="-122"/>
                <a:cs typeface="Calibri" pitchFamily="34" charset="-120"/>
              </a:rPr>
              <a:t xml:space="preserve">Miller clamp on: 0.830 V, margin </a:t>
            </a:r>
            <a:r>
              <a:rPr lang="en-US" sz="1300" b="1" dirty="0">
                <a:solidFill>
                  <a:srgbClr val="000000"/>
                </a:solidFill>
                <a:latin typeface="Calibri" pitchFamily="34" charset="0"/>
                <a:ea typeface="Calibri" pitchFamily="34" charset="-122"/>
                <a:cs typeface="Calibri" pitchFamily="34" charset="-120"/>
              </a:rPr>
              <a:t xml:space="preserve">+0.570 V</a:t>
            </a:r>
            <a:r>
              <a:rPr lang="en-US" sz="1300" dirty="0">
                <a:solidFill>
                  <a:srgbClr val="000000"/>
                </a:solidFill>
                <a:latin typeface="Calibri" pitchFamily="34" charset="0"/>
                <a:ea typeface="Calibri" pitchFamily="34" charset="-122"/>
                <a:cs typeface="Calibri" pitchFamily="34" charset="-120"/>
              </a:rPr>
              <a:t xml:space="preserve"> — safe.</a:t>
            </a:r>
          </a:p>
          <a:p>
            <a:pPr marL="177800" indent="-177800">
              <a:spcAft>
                <a:spcPts val="24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full 720-word search at four corners: 474 feasible, ceiling </a:t>
            </a:r>
            <a:r>
              <a:rPr lang="en-US" sz="1300" b="1" dirty="0">
                <a:solidFill>
                  <a:srgbClr val="000000"/>
                </a:solidFill>
                <a:latin typeface="Calibri" pitchFamily="34" charset="0"/>
                <a:ea typeface="Calibri" pitchFamily="34" charset="-122"/>
                <a:cs typeface="Calibri" pitchFamily="34" charset="-120"/>
              </a:rPr>
              <a:t xml:space="preserve">5.2 %</a:t>
            </a:r>
            <a:r>
              <a:rPr lang="en-US" sz="1300" dirty="0">
                <a:solidFill>
                  <a:srgbClr val="000000"/>
                </a:solidFill>
                <a:latin typeface="Calibri" pitchFamily="34" charset="0"/>
                <a:ea typeface="Calibri" pitchFamily="34" charset="-122"/>
                <a:cs typeface="Calibri" pitchFamily="34" charset="-120"/>
              </a:rPr>
              <a:t xml:space="preserv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 second video ships in the project folder: a 20 s interactive waveform viewer over the same simulation data.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and Spectre decks are faithful ports re-simulated to the same numbers, but neither simulator has itself been run — no installation was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Takayama &amp;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36576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7 asserted properties, all passing</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and the same three experiments ship as LTspice schematics in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results/crosstalk_standalone.m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