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91" r:id="rId35"/>
    <p:sldId id="286" r:id="rId37"/>
    <p:sldId id="259" r:id="rId5"/>
    <p:sldId id="260" r:id="rId6"/>
    <p:sldId id="267" r:id="rId18"/>
    <p:sldId id="282" r:id="rId33"/>
    <p:sldId id="287" r:id="rId38"/>
    <p:sldId id="261" r:id="rId7"/>
    <p:sldId id="280" r:id="rId31"/>
    <p:sldId id="274" r:id="rId25"/>
    <p:sldId id="278" r:id="rId29"/>
    <p:sldId id="283" r:id="rId34"/>
    <p:sldId id="262" r:id="rId8"/>
    <p:sldId id="272" r:id="rId23"/>
    <p:sldId id="273" r:id="rId24"/>
    <p:sldId id="285" r:id="rId36"/>
    <p:sldId id="288" r:id="rId39"/>
    <p:sldId id="263" r:id="rId9"/>
    <p:sldId id="292" r:id="rId32"/>
    <p:sldId id="275" r:id="rId26"/>
    <p:sldId id="279" r:id="rId30"/>
    <p:sldId id="276" r:id="rId27"/>
    <p:sldId id="264" r:id="rId10"/>
    <p:sldId id="269" r:id="rId20"/>
    <p:sldId id="271" r:id="rId22"/>
    <p:sldId id="265" r:id="rId11"/>
    <p:sldId id="290" r:id="rId4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0.xml"/><Relationship Id="rId10" Type="http://schemas.openxmlformats.org/officeDocument/2006/relationships/slide" Target="slides/slide24.xml"/><Relationship Id="rId11" Type="http://schemas.openxmlformats.org/officeDocument/2006/relationships/slide" Target="slides/slide27.xml"/><Relationship Id="rId12" Type="http://schemas.openxmlformats.org/officeDocument/2006/relationships/slide" Target="slides/slide29.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20" Type="http://schemas.openxmlformats.org/officeDocument/2006/relationships/slide" Target="slides/slide25.xml"/><Relationship Id="rId22" Type="http://schemas.openxmlformats.org/officeDocument/2006/relationships/slide" Target="slides/slide26.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1.xml"/><Relationship Id="rId27" Type="http://schemas.openxmlformats.org/officeDocument/2006/relationships/slide" Target="slides/slide23.xml"/><Relationship Id="rId29" Type="http://schemas.openxmlformats.org/officeDocument/2006/relationships/slide" Target="slides/slide13.xml"/><Relationship Id="rId30" Type="http://schemas.openxmlformats.org/officeDocument/2006/relationships/slide" Target="slides/slide22.xml"/><Relationship Id="rId31" Type="http://schemas.openxmlformats.org/officeDocument/2006/relationships/slide" Target="slides/slide11.xml"/><Relationship Id="rId32" Type="http://schemas.openxmlformats.org/officeDocument/2006/relationships/slide" Target="slides/slide31.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0.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1"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GaN-Based Power Converter</a:t>
            </a:r>
          </a:p>
          <a:p>
            <a:pPr marL="0" indent="0" algn="ctr">
              <a:buNone/>
            </a:pPr>
            <a:r>
              <a:rPr lang="en-US" sz="1760" dirty="0">
                <a:solidFill>
                  <a:srgbClr val="1D2F82"/>
                </a:solidFill>
                <a:latin typeface="Calibri" pitchFamily="34" charset="0"/>
                <a:ea typeface="Calibri" pitchFamily="34" charset="-122"/>
                <a:cs typeface="Calibri" pitchFamily="34" charset="-120"/>
              </a:rPr>
              <a:t>A segmented gate driver for the GaN half-bridge inside it</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720-point control word, and an exhaustive search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 gate driver’s benefit comes from </a:t>
            </a:r>
            <a:r>
              <a:rPr lang="en-US" sz="1500" b="1" dirty="0">
                <a:solidFill>
                  <a:srgbClr val="000000"/>
                </a:solidFill>
                <a:latin typeface="Calibri" pitchFamily="34" charset="0"/>
                <a:ea typeface="Calibri" pitchFamily="34" charset="-122"/>
                <a:cs typeface="Calibri" pitchFamily="34" charset="-120"/>
              </a:rPr>
              <a:t xml:space="preserve">changing its settings while running</a:t>
            </a:r>
            <a:r>
              <a:rPr lang="en-US" sz="1500" dirty="0">
                <a:solidFill>
                  <a:srgbClr val="000000"/>
                </a:solidFill>
                <a:latin typeface="Calibri" pitchFamily="34" charset="0"/>
                <a:ea typeface="Calibri" pitchFamily="34" charset="-122"/>
                <a:cs typeface="Calibri" pitchFamily="34" charset="-120"/>
              </a:rPr>
              <a:t xml:space="preserve">, and how much comes from simply </a:t>
            </a:r>
            <a:r>
              <a:rPr lang="en-US" sz="1500" b="1" dirty="0">
                <a:solidFill>
                  <a:srgbClr val="000000"/>
                </a:solidFill>
                <a:latin typeface="Calibri" pitchFamily="34" charset="0"/>
                <a:ea typeface="Calibri" pitchFamily="34" charset="-122"/>
                <a:cs typeface="Calibri" pitchFamily="34" charset="-120"/>
              </a:rPr>
              <a:t xml:space="preserve">picking one good setting and leaving it</a:t>
            </a:r>
            <a:r>
              <a:rPr lang="en-US" sz="1500" dirty="0">
                <a:solidFill>
                  <a:srgbClr val="000000"/>
                </a:solidFill>
                <a:latin typeface="Calibri" pitchFamily="34" charset="0"/>
                <a:ea typeface="Calibri" pitchFamily="34" charset="-122"/>
                <a:cs typeface="Calibri" pitchFamily="34" charset="-120"/>
              </a:rPr>
              <a:t xml:space="preserve">. We test every setting instead of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gate driver with 720 possible settings: 8 pull-up steps, 8 pull-down steps, dead time 5–35 ns, a gate clamp, and a −2 V off rail.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run all 720 settings at all four operating points, then compare the best-at-each-point against the best single setting. That difference is what re-tuning is worth,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using a GaN model built from datasheet numbers.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measurements per run, taken by one script fixed early. Every number must stay the same when the timestep changes by 5× — checked,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design, the setting search,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making the GaN device, sensor hardware, PCB build.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top row as the controller and the bottom row as the circuit. </a:t>
            </a:r>
            <a:r>
              <a:rPr lang="en-US" sz="1200" dirty="0">
                <a:solidFill>
                  <a:srgbClr val="000000"/>
                </a:solidFill>
                <a:latin typeface="Calibri" pitchFamily="34" charset="0"/>
                <a:ea typeface="Calibri" pitchFamily="34" charset="-122"/>
                <a:cs typeface="Calibri" pitchFamily="34" charset="-120"/>
              </a:rPr>
              <a:t xml:space="preserve">The one shaded diamond is the entire adaptive machinery.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4"/>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Everything shown is in sim/dpt.cir — that is the file to open in LTspice, and it contains the gate clamp. The three ltspice/*.asc sheets only show how the crosstalk happens and do not draw the clamp. The red C</a:t>
            </a:r>
            <a:r>
              <a:rPr lang="en-US" sz="1200" dirty="0">
                <a:solidFill>
                  <a:srgbClr val="000000"/>
                </a:solidFill>
                <a:latin typeface="Calibri" pitchFamily="34" charset="0"/>
                <a:ea typeface="Calibri" pitchFamily="34" charset="-122"/>
                <a:cs typeface="Calibri" pitchFamily="34" charset="-120"/>
              </a:rPr>
              <a:t>GD</a:t>
            </a:r>
            <a:r>
              <a:rPr lang="en-US" sz="1200" dirty="0">
                <a:solidFill>
                  <a:srgbClr val="000000"/>
                </a:solidFill>
                <a:latin typeface="Calibri" pitchFamily="34" charset="0"/>
                <a:ea typeface="Calibri" pitchFamily="34" charset="-122"/>
                <a:cs typeface="Calibri" pitchFamily="34" charset="-120"/>
              </a:rPr>
              <a:t> on Q2 is the path the charge takes. GaN has no body diode, so the gate has to be held down for the whole dead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15</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Reproduce: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Every setting has been 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settings at each of four operating points — 2,880 runs — so the best at each point is the true best, not the best of a short 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Stress-tested, not claimed.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more runs across five device parameters: the answer stays between 4.3 % and 7.7 %. Board inductance and EMI were tested too.</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Checked in four tools.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 matches ngspice within 2 mV. MATLAB and Octave agree exactly. Vivado: 20 LUTs, 200 MHz met.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34,622 simulation runs.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fault is reproduced and fixed, all 720 settings have been tested at every operating point, and the answer has been stress-tested against the device model, the board layout and EMI.</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build it in silicon, not on an FPGA.</a:t>
            </a:r>
            <a:r>
              <a:rPr lang="en-US" sz="1500" dirty="0">
                <a:solidFill>
                  <a:srgbClr val="000000"/>
                </a:solidFill>
                <a:latin typeface="Calibri" pitchFamily="34" charset="0"/>
                <a:ea typeface="Calibri" pitchFamily="34" charset="-122"/>
                <a:cs typeface="Calibri" pitchFamily="34" charset="-120"/>
              </a:rPr>
              <a:t xml:space="preserve"> A 200 MHz FPGA can only move the dead time in 5 ns steps. Light load wants 15 ns and everything else wants 5 ns, so the steps are too coarse exactly where the benefit is. Drawing the output stage transistor by transistor in SKY130 removes that limit.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measure one operating point on real hardware.</a:t>
            </a:r>
            <a:r>
              <a:rPr lang="en-US" sz="1500" dirty="0">
                <a:solidFill>
                  <a:srgbClr val="000000"/>
                </a:solidFill>
                <a:latin typeface="Calibri" pitchFamily="34" charset="0"/>
                <a:ea typeface="Calibri" pitchFamily="34" charset="-122"/>
                <a:cs typeface="Calibri" pitchFamily="34" charset="-120"/>
              </a:rPr>
              <a:t xml:space="preserve"> Build the half-bridge and measure the off-gate voltage against the simulated 1.65 V. Until that exists this is a simulation study, and the title says so.</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A 1.8 V / 3.3 V teaching PDK cannot take a 5 V gate supply. Getting a 5 V-capable PDK is the first milestone, and the one that can hold up the rest.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and 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 LTspice 24 · Icarus Verilog · Xilinx Vivado 2024.1.2 · Cadence · SKY130 · Python · MATLAB and Octave. Every number can be regenerated by a named script at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34 failing paths are all chip-output paths against a placeholder 4 ns constraint — the output buffer alone takes 3.49 ns.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well beats adapting — and by how much</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Fig. 1  Voltage on the gate that is supposed to stay OFF: the failure, and the fix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Fig. 2  What it costs to use one fixed setting instead of the best setting at each operating point.</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All 720 settings run at every operating point — 2,880 runs — so the best at each point is the true best, not the best of a short 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MATLAB — the trade-off curve and the model check</a:t>
            </a:r>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Rectangle 4"/>
          <p:cNvSpPr/>
          <p:nvPr/>
        </p:nvSpPr>
        <p:spPr>
          <a:xfrm>
            <a:off x="54864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reto_matlab.png"/>
          <p:cNvPicPr>
            <a:picLocks noChangeAspect="1"/>
          </p:cNvPicPr>
          <p:nvPr/>
        </p:nvPicPr>
        <p:blipFill>
          <a:blip r:embed="rId3"/>
          <a:stretch>
            <a:fillRect/>
          </a:stretch>
        </p:blipFill>
        <p:spPr>
          <a:xfrm>
            <a:off x="640080" y="1188720"/>
            <a:ext cx="4389120" cy="3291840"/>
          </a:xfrm>
          <a:prstGeom prst="rect">
            <a:avLst/>
          </a:prstGeom>
        </p:spPr>
      </p:pic>
      <p:sp>
        <p:nvSpPr>
          <p:cNvPr id="7" name="Rectangle 6"/>
          <p:cNvSpPr/>
          <p:nvPr/>
        </p:nvSpPr>
        <p:spPr>
          <a:xfrm>
            <a:off x="635508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g_master_weight.png"/>
          <p:cNvPicPr>
            <a:picLocks noChangeAspect="1"/>
          </p:cNvPicPr>
          <p:nvPr/>
        </p:nvPicPr>
        <p:blipFill>
          <a:blip r:embed="rId4"/>
          <a:stretch>
            <a:fillRect/>
          </a:stretch>
        </p:blipFill>
        <p:spPr>
          <a:xfrm>
            <a:off x="6446520" y="1188720"/>
            <a:ext cx="4389120" cy="3291840"/>
          </a:xfrm>
          <a:prstGeom prst="rect">
            <a:avLst/>
          </a:prstGeom>
        </p:spPr>
      </p:pic>
      <p:sp>
        <p:nvSpPr>
          <p:cNvPr id="9" name="TextBox 8"/>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720 settings, 504 of them safe (70 %). The blue line is the best-possible trade-off: buying back one point of overshoot costs 0.039 µJ of energy. The green marker is the setting our cost function picks.</a:t>
            </a:r>
          </a:p>
        </p:txBody>
      </p:sp>
      <p:sp>
        <p:nvSpPr>
          <p:cNvPr id="10" name="TextBox 9"/>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 stays above (B) however the two goals are weighted. Picking the setting well is worth 22.5–29.0 % of baseline across the whole range; re-tuning it per operating point 1.3–12.7 %. The order never flips.</a:t>
            </a:r>
          </a:p>
        </p:txBody>
      </p:sp>
      <p:sp>
        <p:nvSpPr>
          <p:cNvPr id="11" name="TextBox 10"/>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Dead time stops helping at about 15 ns: the gain per extra nanosecond runs 269 → 31.5 → 1.8 → 0.0 mV/ns across 10/15/25/35 ns. Past 15 ns it only costs conduction loss. results/gan_analysis.m, results/gan_master.m — both run in MATLAB or Octave.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The base paper [9] (doi.org/10.1002/cta.3136) shows that a gate waveform can be chosen by a digital code. It, and every paper after it, then reports one number — how much better than a plain driver. That number adds together two separate effects, and only the second needs a sensor, an ADC and a lookup table. Separating them means running every setting at every operating point,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So the full sensor + ADC + lookup table is left justifying 3.7 % of the total gain, over a fixed setting plus one comparator. Re-tuning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Every figure uses the same baseline — the middle setting that is safe at all four operating points. The split does not depend on the weighting: across 106 weightings, (A) stays 23.4–29.0 % and (B) 1.3–6.4 %, and (A) beats (B) every time. scripts/novelty.py, scripts/weight_sensitivity.py.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Eight inductance values, 7,200 runs. The answer is a band, not a single line: re-tuning only pays from about 2.5 nH downwards, peaking at 13.5 % at 1.5 nH, then falling back to 8.1 % at 1.0 nH because only 165 of the 720 settings are still safe there — below about 2 nH the limit is what is safe, not what is best. A designer measures their own board and reads the decision off this curve.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The full sensor + ADC + lookup table is left justifying 3.7 %.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on an xc7a35t, 200 MHz met with 1.996 ns to spare.</a:t>
            </a:r>
          </a:p>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transistor-level output stage in Cadence; re-run the answer on real devices.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a hardware half-bridge. Until then this is a simulation study, and is titled as one.</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Limits we state ourselves: no silicon measured; one device model underlies everything.</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 xml:space="preserve">A GaN synchronous buck converter. </a:t>
            </a:r>
            <a:r>
              <a:rPr lang="en-US" sz="1250" dirty="0">
                <a:solidFill>
                  <a:srgbClr val="000000"/>
                </a:solidFill>
                <a:latin typeface="Calibri" pitchFamily="34" charset="0"/>
                <a:ea typeface="Calibri" pitchFamily="34" charset="-122"/>
                <a:cs typeface="Calibri" pitchFamily="34" charset="-120"/>
              </a:rPr>
              <a:t xml:space="preserve">100 V DC goes in; the two GaN transistors chop it at 500 kHz; the filter turns that back into DC. 48.6 V at 4.88 A comes out — 236.9 W into the load from 242.6 W drawn, so 97.6 % of the power gets through. 5.8 W is lost in the transistors and the power loop.</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Open loop, no feedback controller yet — the overshoot on the way up in panel (a) is that. Reproduce: </a:t>
            </a:r>
            <a:r>
              <a:rPr lang="en-US" sz="1100" b="1" dirty="0">
                <a:solidFill>
                  <a:srgbClr val="000000"/>
                </a:solidFill>
                <a:latin typeface="Calibri" pitchFamily="34" charset="0"/>
                <a:ea typeface="Calibri" pitchFamily="34" charset="-122"/>
                <a:cs typeface="Calibri" pitchFamily="34" charset="-120"/>
              </a:rPr>
              <a:t xml:space="preserve">ngspice -b sim/buck.cir</a:t>
            </a:r>
            <a:r>
              <a:rPr lang="en-US" sz="1100" dirty="0">
                <a:solidFill>
                  <a:srgbClr val="000000"/>
                </a:solidFill>
                <a:latin typeface="Calibri" pitchFamily="34" charset="0"/>
                <a:ea typeface="Calibri" pitchFamily="34" charset="-122"/>
                <a:cs typeface="Calibri" pitchFamily="34" charset="-120"/>
              </a:rPr>
              <a:t xml:space="preserve">, then python3 scripts/buck_figure.py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 xml:space="preserve">This is why the gate driver is worth studying. </a:t>
            </a:r>
            <a:r>
              <a:rPr lang="en-US" sz="1250" dirty="0">
                <a:solidFill>
                  <a:srgbClr val="000000"/>
                </a:solidFill>
                <a:latin typeface="Calibri" pitchFamily="34" charset="0"/>
                <a:ea typeface="Calibri" pitchFamily="34" charset="-122"/>
                <a:cs typeface="Calibri" pitchFamily="34" charset="-120"/>
              </a:rPr>
              <a:t xml:space="preserve">The same knob moves power lost by 4.5 % and peak device voltage by 50 %, in opposite directions — there is no setting that is best at both. Lowest loss is 4 slices, not the fastest. Turning the clamp and the −2 V rail on costs 0.53 W, which is 0.22 points of efficiency, and that is the price of crosstalk immunity.</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Eight converter runs. Reproduce: </a:t>
            </a:r>
            <a:r>
              <a:rPr lang="en-US" sz="1100" b="1" dirty="0">
                <a:solidFill>
                  <a:srgbClr val="000000"/>
                </a:solidFill>
                <a:latin typeface="Calibri" pitchFamily="34" charset="0"/>
                <a:ea typeface="Calibri" pitchFamily="34" charset="-122"/>
                <a:cs typeface="Calibri" pitchFamily="34" charset="-120"/>
              </a:rPr>
              <a:t xml:space="preserve">python3 scripts/buck_sweep.py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