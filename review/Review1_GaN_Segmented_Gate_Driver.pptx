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8" r:id="rId4"/>
    <p:sldId id="259" r:id="rId5"/>
    <p:sldId id="261" r:id="rId7"/>
    <p:sldId id="299" r:id="rId42"/>
    <p:sldId id="300" r:id="rId43"/>
    <p:sldId id="260" r:id="rId6"/>
    <p:sldId id="267" r:id="rId18"/>
    <p:sldId id="283" r:id="rId34"/>
    <p:sldId id="282" r:id="rId33"/>
    <p:sldId id="301" r:id="rId44"/>
    <p:sldId id="302" r:id="rId45"/>
    <p:sldId id="303" r:id="rId46"/>
    <p:sldId id="304" r:id="rId47"/>
    <p:sldId id="280" r:id="rId31"/>
    <p:sldId id="278" r:id="rId29"/>
    <p:sldId id="297" r:id="rId40"/>
    <p:sldId id="296" r:id="rId19"/>
    <p:sldId id="298" r:id="rId2"/>
    <p:sldId id="295" r:id="rId21"/>
    <p:sldId id="312" r:id="rId55"/>
    <p:sldId id="291" r:id="rId35"/>
    <p:sldId id="293" r:id="rId30"/>
    <p:sldId id="263" r:id="rId9"/>
    <p:sldId id="294" r:id="rId28"/>
    <p:sldId id="292" r:id="rId32"/>
    <p:sldId id="275" r:id="rId26"/>
    <p:sldId id="276" r:id="rId27"/>
    <p:sldId id="264" r:id="rId10"/>
    <p:sldId id="273" r:id="rId24"/>
    <p:sldId id="285" r:id="rId36"/>
    <p:sldId id="262" r:id="rId8"/>
    <p:sldId id="272" r:id="rId23"/>
    <p:sldId id="271" r:id="rId22"/>
    <p:sldId id="265" r:id="rId11"/>
    <p:sldId id="290" r:id="rId41"/>
    <p:sldId id="313" r:id="rId5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5.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10.xml"/><Relationship Id="rId8" Type="http://schemas.openxmlformats.org/officeDocument/2006/relationships/slide" Target="slides/slide15.xml"/><Relationship Id="rId9" Type="http://schemas.openxmlformats.org/officeDocument/2006/relationships/slide" Target="slides/slide22.xml"/><Relationship Id="rId10" Type="http://schemas.openxmlformats.org/officeDocument/2006/relationships/slide" Target="slides/slide27.xml"/><Relationship Id="rId11" Type="http://schemas.openxmlformats.org/officeDocument/2006/relationships/slide" Target="slides/slide30.xml"/><Relationship Id="rId12" Type="http://schemas.openxmlformats.org/officeDocument/2006/relationships/slide" Target="slides/slide32.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7.xml"/><Relationship Id="rId19" Type="http://schemas.openxmlformats.org/officeDocument/2006/relationships/slide" Target="slides/slide33.xml"/><Relationship Id="rId20" Type="http://schemas.openxmlformats.org/officeDocument/2006/relationships/slide" Target="slides/slide28.xml"/><Relationship Id="rId21" Type="http://schemas.openxmlformats.org/officeDocument/2006/relationships/slide" Target="slides/slide21.xml"/><Relationship Id="rId22" Type="http://schemas.openxmlformats.org/officeDocument/2006/relationships/slide" Target="slides/slide29.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2.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32.xml"/><Relationship Id="rId29" Type="http://schemas.openxmlformats.org/officeDocument/2006/relationships/slide" Target="slides/slide13.xml"/><Relationship Id="rId30" Type="http://schemas.openxmlformats.org/officeDocument/2006/relationships/slide" Target="slides/slide20.xml"/><Relationship Id="rId31" Type="http://schemas.openxmlformats.org/officeDocument/2006/relationships/slide" Target="slides/slide11.xml"/><Relationship Id="rId32" Type="http://schemas.openxmlformats.org/officeDocument/2006/relationships/slide" Target="slides/slide24.xml"/><Relationship Id="rId33" Type="http://schemas.openxmlformats.org/officeDocument/2006/relationships/slide" Target="slides/slide8.xml"/><Relationship Id="rId34" Type="http://schemas.openxmlformats.org/officeDocument/2006/relationships/slide" Target="slides/slide14.xml"/><Relationship Id="rId35" Type="http://schemas.openxmlformats.org/officeDocument/2006/relationships/slide" Target="slides/slide3.xml"/><Relationship Id="rId36" Type="http://schemas.openxmlformats.org/officeDocument/2006/relationships/slide" Target="slides/slide18.xml"/><Relationship Id="rId37" Type="http://schemas.openxmlformats.org/officeDocument/2006/relationships/slide" Target="slides/slide4.xml"/><Relationship Id="rId38" Type="http://schemas.openxmlformats.org/officeDocument/2006/relationships/slide" Target="slides/slide9.xml"/><Relationship Id="rId39" Type="http://schemas.openxmlformats.org/officeDocument/2006/relationships/slide" Target="slides/slide19.xml"/><Relationship Id="rId40" Type="http://schemas.openxmlformats.org/officeDocument/2006/relationships/slide" Target="slides/slide34.xml"/><Relationship Id="rId41" Type="http://schemas.openxmlformats.org/officeDocument/2006/relationships/slide" Target="slides/slide31.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5.2 %.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3.7 % of the gain over a fixed word and one comparator.' Build it in three steps. (1) Choosing the fixed word well is worth 25.1 %. (2) Adapting per corner adds only 3.9 % — a seventh of the total. (3) And 72 % of even THAT is capturable with a single light-load comparator, not a lookup table.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no silicon has been measured, and one device model underlies everything.</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3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DC–DC Power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09.09.2026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09.09.2026 (5 Marks, 5%)</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are building — the converter</a:t>
            </a:r>
            <a:endParaRPr lang="en-US" sz="2800" dirty="0"/>
          </a:p>
        </p:txBody>
      </p:sp>
      <p:pic>
        <p:nvPicPr>
          <p:cNvPr id="5" name="Picture 4" descr="fig_converter.png"/>
          <p:cNvPicPr>
            <a:picLocks noChangeAspect="1"/>
          </p:cNvPicPr>
          <p:nvPr/>
        </p:nvPicPr>
        <p:blipFill>
          <a:blip r:embed="rId4"/>
          <a:stretch>
            <a:fillRect/>
          </a:stretch>
        </p:blipFill>
        <p:spPr>
          <a:xfrm>
            <a:off x="1592779" y="1115568"/>
            <a:ext cx="9006137" cy="4434840"/>
          </a:xfrm>
          <a:prstGeom prst="rect">
            <a:avLst/>
          </a:prstGeom>
        </p:spPr>
      </p:pic>
      <p:sp>
        <p:nvSpPr>
          <p:cNvPr id="6" name="TextBox 5"/>
          <p:cNvSpPr txBox="1"/>
          <p:nvPr/>
        </p:nvSpPr>
        <p:spPr>
          <a:xfrm>
            <a:off x="502920" y="562356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14 — </a:t>
            </a:r>
            <a:r>
              <a:rPr lang="en-US" sz="1250" dirty="0">
                <a:solidFill>
                  <a:srgbClr val="000000"/>
                </a:solidFill>
                <a:latin typeface="Calibri" pitchFamily="34" charset="0"/>
                <a:ea typeface="Calibri" pitchFamily="34" charset="-122"/>
                <a:cs typeface="Calibri" pitchFamily="34" charset="-120"/>
              </a:rPr>
              <a:t>GaN synchronous buck converter. (a) output charging from zero and settling; (b) three switching cycles; (c) power in against power out. 100 V DC in, 48.56 V DC out at 4.875 A, 97.62 % efficient.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Takayama, Okuda &amp; Hikihara (2022)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Drives the gate from a multibit CODE instead of a resistor — the driver is a DAC, and the code changes DURING the switching edge.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Why it matters to us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digital code is finite. That is what makes the setting space searchable, and what makes the driver implementable on an FPGA rather than as an analogue network.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leaves open</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It never asks whether the code has to CHANGE as load, voltage and temperature move. That question is this project.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 Takayama, T. Okuda and T. Hikihara, </a:t>
            </a:r>
            <a:r>
              <a:rPr lang="en-US" sz="1150" b="1" dirty="0">
                <a:solidFill>
                  <a:srgbClr val="000000"/>
                </a:solidFill>
                <a:latin typeface="Calibri" pitchFamily="34" charset="0"/>
                <a:ea typeface="Calibri" pitchFamily="34" charset="-122"/>
                <a:cs typeface="Calibri" pitchFamily="34" charset="-120"/>
              </a:rPr>
              <a:t xml:space="preserve">“Digital Active Gate Drive of SiC MOSFETs for Controlling Switching Behavior,”</a:t>
            </a:r>
            <a:r>
              <a:rPr lang="en-US" sz="1150" dirty="0">
                <a:solidFill>
                  <a:srgbClr val="000000"/>
                </a:solidFill>
                <a:latin typeface="Calibri" pitchFamily="34" charset="0"/>
                <a:ea typeface="Calibri" pitchFamily="34" charset="-122"/>
                <a:cs typeface="Calibri" pitchFamily="34" charset="-120"/>
              </a:rPr>
              <a:t xml:space="preserve"> Int. J. Circuit Theory Appl., vol. 50, no. 1, pp. 183–196, 2022.  doi.org/10.1002/cta.3136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Five Closest — and the base paper we replicate</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4343400"/>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H. Takayama, T. Okuda &amp; T. Hikihara (2022)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Digital Active Gate Drive of SiC MOSFETs for Controlling Switching Behavior — Preparation Toward Universal Digitization of Power Switching</a:t>
                      </a:r>
                      <a:endParaRPr lang="en-US" sz="1300" dirty="0">
                        <a:latin typeface="Calibri" charset="0"/>
                        <a:ea typeface="Calibri" charset="0"/>
                        <a:cs typeface="Calibri" charset="0"/>
                      </a:endParaRPr>
                    </a:p>
                    <a:p>
                      <a:r>
                        <a:rPr sz="900" b="1">
                          <a:solidFill>
                            <a:srgbClr val="000000"/>
                          </a:solidFill>
                          <a:latin typeface="Calibri"/>
                        </a:rPr>
                        <a:t>Int. J. Circuit Theory Appl., vol. 50, no. 1, pp. 183–196</a:t>
                      </a:r>
                    </a:p>
                    <a:p>
                      <a:r>
                        <a:rPr sz="900" b="1">
                          <a:solidFill>
                            <a:srgbClr val="000000"/>
                          </a:solidFill>
                          <a:latin typeface="Calibri"/>
                        </a:rPr>
                        <a:t>doi.org/10.1002/cta.3136</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DAC-inspired driver: a multibit gate signal SEQUENCE sets the gate waveform digitally, so switching behaviour is chosen by a code rather than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BASE PAPER. Its multibit gate code is the direct ancestor of our 720-point control word, and it is digital — implementable on an FPGA — rather than a fixed analogue network. We replicate its premise on GaN and then ask the question it does not: of the gain a code buys, how much needs per-operating-point adaptation at all?  </a:t>
                      </a:r>
                      <a:r>
                        <a:rPr sz="900" b="1">
                          <a:solidFill>
                            <a:srgbClr val="000000"/>
                          </a:solidFill>
                          <a:latin typeface="Calibri"/>
                        </a:rPr>
                        <a:t>WE FILL: </a:t>
                      </a:r>
                      <a:r>
                        <a:rPr sz="900" b="0">
                          <a:solidFill>
                            <a:srgbClr val="000000"/>
                          </a:solidFill>
                          <a:latin typeface="Calibri"/>
                        </a:rPr>
                        <a:t>the exhaustive 720-word search that makes the fixed-vs-adaptive split measurable, and the GaN third-quadrant cost their SiC device never pays.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Architecturally the closest published driver to ours — segmented slices, pattern-selected strength. It is an ASIC with a fixed pattern set; our contribution is to search the whole pattern space exhaustively and price what the search actually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3.9 %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[9] is the BASE PAPER: we reproduce its premise — a gate waveform chosen by a multibit code — on GaN, then extend it. All five are verified against the publisher record.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10</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25.1 %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3.9 %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4 operating points, all of them, in ngspice — then report the two numbers separately instead of adding them together.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converter, and the driver that switches it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 every one of them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48.6 V DC out at 4.88 A — 236.9 W delivered, 97.6 %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Fig. 7 — </a:t>
            </a:r>
            <a:r>
              <a:rPr lang="en-US" sz="1200" dirty="0">
                <a:solidFill>
                  <a:srgbClr val="000000"/>
                </a:solidFill>
                <a:latin typeface="Calibri" pitchFamily="34" charset="0"/>
                <a:ea typeface="Calibri" pitchFamily="34" charset="-122"/>
                <a:cs typeface="Calibri" pitchFamily="34" charset="-120"/>
              </a:rPr>
              <a:t>One switching edge, followed through. Top row: the controller's decision. Bottom row: the circuit's response. Only the shaded diamond is decided at run time.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5897880"/>
            <a:ext cx="11201400"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driver, power stage. Only the dashed block requires sensing.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circuit_ltspice.png"/>
          <p:cNvPicPr>
            <a:picLocks noChangeAspect="1"/>
          </p:cNvPicPr>
          <p:nvPr/>
        </p:nvPicPr>
        <p:blipFill>
          <a:blip r:embed="rId6"/>
          <a:stretch>
            <a:fillRect/>
          </a:stretch>
        </p:blipFill>
        <p:spPr>
          <a:xfrm>
            <a:off x="2534035" y="1060704"/>
            <a:ext cx="7123625" cy="4828032"/>
          </a:xfrm>
          <a:prstGeom prst="rect">
            <a:avLst/>
          </a:prstGeom>
        </p:spPr>
      </p:pic>
      <p:sp>
        <p:nvSpPr>
          <p:cNvPr id="6" name="TextBox 5"/>
          <p:cNvSpPr txBox="1"/>
          <p:nvPr/>
        </p:nvSpPr>
        <p:spPr>
          <a:xfrm>
            <a:off x="502920" y="6016752"/>
            <a:ext cx="11201400"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dirty="0">
                <a:solidFill>
                  <a:srgbClr val="000000"/>
                </a:solidFill>
                <a:latin typeface="Calibri" pitchFamily="34" charset="0"/>
                <a:ea typeface="Calibri" pitchFamily="34" charset="-122"/>
                <a:cs typeface="Calibri" pitchFamily="34" charset="-120"/>
              </a:rPr>
              <a:t xml:space="preserve">GaN synchronous buck converter, ltspice/BUCK_converter.asc. 100 V supply with power-loop parasitics, two GaN HEMTs, a segmented gate driver on each gate, output filter, 10 Ω load.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9</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Citing a base paper is not a comparison, so we built theirs too. </a:t>
            </a:r>
            <a:r>
              <a:rPr lang="en-US" sz="1250" b="1" dirty="0">
                <a:solidFill>
                  <a:srgbClr val="000000"/>
                </a:solidFill>
                <a:latin typeface="Calibri" pitchFamily="34" charset="0"/>
                <a:ea typeface="Calibri" pitchFamily="34" charset="-122"/>
                <a:cs typeface="Calibri" pitchFamily="34" charset="-120"/>
              </a:rPr>
              <a:t>models/basedrv.lib</a:t>
            </a:r>
            <a:r>
              <a:rPr lang="en-US" sz="1250" dirty="0">
                <a:solidFill>
                  <a:srgbClr val="000000"/>
                </a:solidFill>
                <a:latin typeface="Calibri" pitchFamily="34" charset="0"/>
                <a:ea typeface="Calibri" pitchFamily="34" charset="-122"/>
                <a:cs typeface="Calibri" pitchFamily="34" charset="-120"/>
              </a:rPr>
              <a:t> is Takayama, Okuda &amp; Hikihara's driver: a multi-bit code that changes DURING the switching edge, with no gate clamp and no −2 V rail, because those two are ours. It runs inside the same sim/dpt.cir,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as we built it</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+0.534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Their changing-in-time code on its own already clears the 1.4 V threshold.</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b="1">
                <a:solidFill>
                  <a:srgbClr val="000000"/>
                </a:solidFill>
                <a:latin typeface="Calibri" pitchFamily="34" charset="0"/>
                <a:ea typeface="Calibri" pitchFamily="34" charset="-122"/>
                <a:cs typeface="Calibri" pitchFamily="34" charset="-120"/>
              </a:rPr>
              <a:t>FALSE TURN-ON. </a:t>
            </a:r>
            <a:r>
              <a:rPr lang="en-US" sz="1150" dirty="0">
                <a:solidFill>
                  <a:srgbClr val="000000"/>
                </a:solidFill>
                <a:latin typeface="Calibri" pitchFamily="34" charset="0"/>
                <a:ea typeface="Calibri" pitchFamily="34" charset="-122"/>
                <a:cs typeface="Calibri" pitchFamily="34" charset="-120"/>
              </a:rPr>
              <a:t>A fast fixed code is worse than their timed one — their idea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Only just past the base paper. The clamp on its own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4.8× the base paper's margin. This is the version we ship.</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What the comparison shows. </a:t>
            </a:r>
            <a:r>
              <a:rPr lang="en-US" sz="1250" dirty="0">
                <a:solidFill>
                  <a:srgbClr val="000000"/>
                </a:solidFill>
                <a:latin typeface="Calibri" pitchFamily="34" charset="0"/>
                <a:ea typeface="Calibri" pitchFamily="34" charset="-122"/>
                <a:cs typeface="Calibri" pitchFamily="34" charset="-120"/>
              </a:rPr>
              <a:t>The base paper shapes the gate over TIME; we keep the code steady and add two things they do not have. Both clear the threshold — theirs works — but ours clears it by 4.8× more, and ours is the one whose settings can then be searched in full.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Command: python3 scripts/basepaper_compare.py — four ngspice runs, prints this table.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50 %</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converter is built and it runs.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100 V DC in, 48.6 V DC out at 4.88 A — 236.9 W into the load from 242.6 W drawn, 97.6 % efficient.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fault is reproduced, and fixed.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The off gate reaches 1.65 V against a 1.4 V threshold. With the clamp and the −2 V rail: 2.58 V of margin.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Specific cases run and measured, one at a time.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Five settings at full load, then the same driver swept at two operating points — every number below came off its own ngspice run.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setting measured on the converter itself.</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Across the same knob, power lost moves 4.5 % and peak device voltage moves 50 %, in opposite directions.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FPGA controller is written and verified.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20 LUTs and 20 flip-flops in Vivado, 200 MHz met with 1.996 ns to spare.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are, and what is next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Where we are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 is done. </a:t>
            </a:r>
            <a:r>
              <a:rPr lang="en-US" sz="1500" dirty="0">
                <a:solidFill>
                  <a:srgbClr val="000000"/>
                </a:solidFill>
                <a:latin typeface="Calibri" pitchFamily="34" charset="0"/>
                <a:ea typeface="Calibri" pitchFamily="34" charset="-122"/>
                <a:cs typeface="Calibri" pitchFamily="34" charset="-120"/>
              </a:rPr>
              <a:t xml:space="preserve">The converter is built and converting, the crosstalk fault is reproduced and fixed, the named cases have been run, and the FPGA controller is written and verified.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What we aim to do next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 — close the loop.</a:t>
            </a:r>
            <a:r>
              <a:rPr lang="en-US" sz="1500" dirty="0">
                <a:solidFill>
                  <a:srgbClr val="000000"/>
                </a:solidFill>
                <a:latin typeface="Calibri" pitchFamily="34" charset="0"/>
                <a:ea typeface="Calibri" pitchFamily="34" charset="-122"/>
                <a:cs typeface="Calibri" pitchFamily="34" charset="-120"/>
              </a:rPr>
              <a:t xml:space="preserve"> Add a feedback controller so the output holds its value when the load changes, then re-run the driver-setting study with the loop closed.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Review-III — settle the light-load question.</a:t>
            </a:r>
            <a:r>
              <a:rPr lang="en-US" sz="1500" dirty="0">
                <a:solidFill>
                  <a:srgbClr val="000000"/>
                </a:solidFill>
                <a:latin typeface="Calibri" pitchFamily="34" charset="0"/>
                <a:ea typeface="Calibri" pitchFamily="34" charset="-122"/>
                <a:cs typeface="Calibri" pitchFamily="34" charset="-120"/>
              </a:rPr>
              <a:t xml:space="preserve"> The cheapest dead time is 15 ns at full load and 5 ns at light load. Run the converter at both and measure what a two-setting controller actually saves against one fixed setting — that is the number the whole project turns on.</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Same tools throughout.</a:t>
            </a:r>
            <a:r>
              <a:rPr lang="en-US" sz="1500" dirty="0">
                <a:solidFill>
                  <a:srgbClr val="000000"/>
                </a:solidFill>
                <a:latin typeface="Calibri" pitchFamily="34" charset="0"/>
                <a:ea typeface="Calibri" pitchFamily="34" charset="-122"/>
                <a:cs typeface="Calibri" pitchFamily="34" charset="-120"/>
              </a:rPr>
              <a:t xml:space="preserve"> ngspice for the circuit, Vivado for the FPGA, start to finish.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The risk we already know.</a:t>
            </a:r>
            <a:r>
              <a:rPr lang="en-US" sz="1500" dirty="0">
                <a:solidFill>
                  <a:srgbClr val="000000"/>
                </a:solidFill>
                <a:latin typeface="Calibri" pitchFamily="34" charset="0"/>
                <a:ea typeface="Calibri" pitchFamily="34" charset="-122"/>
                <a:cs typeface="Calibri" pitchFamily="34" charset="-120"/>
              </a:rPr>
              <a:t xml:space="preserve"> Closing the loop changes where the converter actually operates, so the setting study has to be redone afterwards, not before. That ordering is the schedule risk.</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Where the work lives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github.com/Amritha902/gan-driver</a:t>
            </a:r>
            <a:r>
              <a:rPr lang="en-US" sz="1500" dirty="0">
                <a:solidFill>
                  <a:srgbClr val="000000"/>
                </a:solidFill>
                <a:latin typeface="Calibri" pitchFamily="34" charset="0"/>
                <a:ea typeface="Calibri" pitchFamily="34" charset="-122"/>
                <a:cs typeface="Calibri" pitchFamily="34" charset="-120"/>
              </a:rPr>
              <a:t xml:space="preserve"> — the circuits, the scripts, the Verilog and the Vivado reports.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Fig. 21 — </a:t>
            </a:r>
            <a:r>
              <a:rPr lang="en-US" sz="1000" dirty="0">
                <a:solidFill>
                  <a:srgbClr val="000000"/>
                </a:solidFill>
                <a:latin typeface="Calibri" pitchFamily="34" charset="0"/>
                <a:ea typeface="Calibri" pitchFamily="34" charset="-122"/>
                <a:cs typeface="Calibri" pitchFamily="34" charset="-120"/>
              </a:rPr>
              <a:t>Icarus Verilog VCD of seg_gate_ctrl.v. The pull-up banks never overlap; the shaded interval is the dead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5" name="Picture 4" descr="vivado_simulation.pn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pn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the setting well beats re-tuning it — and by how much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cases we ran, one at a time</a:t>
            </a:r>
            <a:endParaRPr lang="en-US" sz="2800" dirty="0"/>
          </a:p>
        </p:txBody>
      </p:sp>
      <p:pic>
        <p:nvPicPr>
          <p:cNvPr id="5" name="Picture 4" descr="fig_cases.png"/>
          <p:cNvPicPr>
            <a:picLocks noChangeAspect="1"/>
          </p:cNvPicPr>
          <p:nvPr/>
        </p:nvPicPr>
        <p:blipFill>
          <a:blip r:embed="rId4"/>
          <a:stretch>
            <a:fillRect/>
          </a:stretch>
        </p:blipFill>
        <p:spPr>
          <a:xfrm>
            <a:off x="731367" y="1170432"/>
            <a:ext cx="10728960" cy="438912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15 — </a:t>
            </a:r>
            <a:r>
              <a:rPr lang="en-US" sz="1250" dirty="0">
                <a:solidFill>
                  <a:srgbClr val="000000"/>
                </a:solidFill>
                <a:latin typeface="Calibri" pitchFamily="34" charset="0"/>
                <a:ea typeface="Calibri" pitchFamily="34" charset="-122"/>
                <a:cs typeface="Calibri" pitchFamily="34" charset="-120"/>
              </a:rPr>
              <a:t>(a) five settings at 100 V / 10 A, one ngspice run each; (b) dead-time sweep at two operating points. Cheapest dead time: 15 ns at full load, 5 ns at light load.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Which tool did what</a:t>
            </a:r>
            <a:endParaRPr lang="en-US" sz="2800" dirty="0"/>
          </a:p>
        </p:txBody>
      </p:sp>
      <p:pic>
        <p:nvPicPr>
          <p:cNvPr id="5" name="Picture 4" descr="fig_tools.png"/>
          <p:cNvPicPr>
            <a:picLocks noChangeAspect="1"/>
          </p:cNvPicPr>
          <p:nvPr/>
        </p:nvPicPr>
        <p:blipFill>
          <a:blip r:embed="rId4"/>
          <a:stretch>
            <a:fillRect/>
          </a:stretch>
        </p:blipFill>
        <p:spPr>
          <a:xfrm>
            <a:off x="1188795" y="1234440"/>
            <a:ext cx="9814106" cy="4297680"/>
          </a:xfrm>
          <a:prstGeom prst="rect">
            <a:avLst/>
          </a:prstGeom>
        </p:spPr>
      </p:pic>
      <p:sp>
        <p:nvSpPr>
          <p:cNvPr id="6" name="TextBox 5"/>
          <p:cNvSpPr txBox="1"/>
          <p:nvPr/>
        </p:nvSpPr>
        <p:spPr>
          <a:xfrm>
            <a:off x="502920" y="5724144"/>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dirty="0">
                <a:solidFill>
                  <a:srgbClr val="000000"/>
                </a:solidFill>
                <a:latin typeface="Calibri" pitchFamily="34" charset="0"/>
                <a:ea typeface="Calibri" pitchFamily="34" charset="-122"/>
                <a:cs typeface="Calibri" pitchFamily="34" charset="-120"/>
              </a:rPr>
              <a:t xml:space="preserve">Division of work between the two circuit simulators. All ≈ 35,000 transients are ngspice; LTspice provides an independent check of the crosstalk result.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the clamp fixes it</a:t>
            </a:r>
            <a:endParaRPr lang="en-US" sz="2800" dirty="0"/>
          </a:p>
        </p:txBody>
      </p:sp>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16 — </a:t>
            </a:r>
            <a:r>
              <a:rPr lang="en-US" sz="1100" dirty="0">
                <a:solidFill>
                  <a:srgbClr val="000000"/>
                </a:solidFill>
                <a:latin typeface="Calibri" pitchFamily="34" charset="0"/>
                <a:ea typeface="Calibri" pitchFamily="34" charset="-122"/>
                <a:cs typeface="Calibri" pitchFamily="34" charset="-120"/>
              </a:rPr>
              <a:t>Gate–source voltage of the off-state device at low-side turn-on, 100 V / 10 A. No clamp: +1.65 V against a 1.4 V threshold. Clamp and −2 V rail: −1.18 V, margin 2.58 V.</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peak on the gate that should be OFF</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threshold is 1.4 V — so it turns on by mistake</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margin with the clamp and the −2 V rail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fault is removed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The lowest-energy setting is already safe at three of the four operating points. At the fourth, safety costs 0.04 % more energy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The clamp is worth 9.7–12.2 % of the blended cost, with no sensor and no controller.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the driver setting moves the converter</a:t>
            </a:r>
            <a:endParaRPr lang="en-US" sz="2800" dirty="0"/>
          </a:p>
        </p:txBody>
      </p:sp>
      <p:pic>
        <p:nvPicPr>
          <p:cNvPr id="5" name="Picture 4" descr="fig_buck_tradeoff.png"/>
          <p:cNvPicPr>
            <a:picLocks noChangeAspect="1"/>
          </p:cNvPicPr>
          <p:nvPr/>
        </p:nvPicPr>
        <p:blipFill>
          <a:blip r:embed="rId4"/>
          <a:stretch>
            <a:fillRect/>
          </a:stretch>
        </p:blipFill>
        <p:spPr>
          <a:xfrm>
            <a:off x="666597" y="1188720"/>
            <a:ext cx="10858500" cy="434340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18 — </a:t>
            </a:r>
            <a:r>
              <a:rPr lang="en-US" sz="1250" dirty="0">
                <a:solidFill>
                  <a:srgbClr val="000000"/>
                </a:solidFill>
                <a:latin typeface="Calibri" pitchFamily="34" charset="0"/>
                <a:ea typeface="Calibri" pitchFamily="34" charset="-122"/>
                <a:cs typeface="Calibri" pitchFamily="34" charset="-120"/>
              </a:rPr>
              <a:t>Power lost and peak switch-node voltage against pull-up slice count, measured on the running converter. Eight runs of sim/buck.cir; minimum loss at four slices.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3 — re-tuning is worth only 5.2 %</a:t>
            </a:r>
          </a:p>
        </p:txBody>
      </p:sp>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19 — </a:t>
            </a:r>
            <a:r>
              <a:rPr lang="en-US" sz="1100" dirty="0">
                <a:solidFill>
                  <a:srgbClr val="000000"/>
                </a:solidFill>
                <a:latin typeface="Calibri" pitchFamily="34" charset="0"/>
                <a:ea typeface="Calibri" pitchFamily="34" charset="-122"/>
                <a:cs typeface="Calibri" pitchFamily="34" charset="-120"/>
              </a:rPr>
              <a:t>Cost of one fixed control word against the true per-corner optimum, four operating points, 2,880 transients. Penalty 1.1 / 2.3 / 12.7 / 3.8 %.</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What re-tuning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5.2 %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the most that re-tuning can ever gain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against the best single fixed setting (= 3.9 % of baseline). One fixed setting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The benefit is not spread out. </a:t>
            </a:r>
            <a:r>
              <a:rPr lang="en-US" sz="1300" dirty="0">
                <a:solidFill>
                  <a:srgbClr val="000000"/>
                </a:solidFill>
                <a:latin typeface="Calibri" pitchFamily="34" charset="0"/>
                <a:ea typeface="Calibri" pitchFamily="34" charset="-122"/>
                <a:cs typeface="Calibri" pitchFamily="34" charset="-120"/>
              </a:rPr>
              <a:t>Three operating points lose only 1–4 % from a fixed setting; one loses 12.7 %.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5.2 % is the generous figure — on a finer 36-point grid it is 2.0 %.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It all comes from the dead time, and that from one operating point. Freezing the dead time costs 5.45 % across four points. Drop the light-load 50 V / 2 A point and it costs 0.00 %: three points want 5 ns, only that one wants 15 ns. So the adaptive hardware shrinks to one light-load detector choosing between two dead times. Freezing the drive strength costs 0.00 % — and that is what these papers actually adjust.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Steady against the device, not the board. </a:t>
            </a:r>
            <a:r>
              <a:rPr lang="en-US" sz="1300" dirty="0">
                <a:solidFill>
                  <a:srgbClr val="000000"/>
                </a:solidFill>
                <a:latin typeface="Calibri" pitchFamily="34" charset="0"/>
                <a:ea typeface="Calibri" pitchFamily="34" charset="-122"/>
                <a:cs typeface="Calibri" pitchFamily="34" charset="-120"/>
              </a:rPr>
              <a:t>Across 21,600 runs no device parameter moves the answer outside 4.3–7.7 %. Halving the board inductance takes it to 13.5 %, and that is layout, not the transistor [3].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the two halves nobody separates</a:t>
            </a:r>
            <a:endParaRPr lang="en-US" sz="2800" dirty="0"/>
          </a:p>
        </p:txBody>
      </p:sp>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The base paper [9] (doi.org/10.1002/cta.3136) shows that a gate waveform can be chosen by a digital code. It, and every paper after it, then reports one number — how much better than a plain driver. That number adds together two separate effects, and only the second needs a sensor, an ADC and a lookup table. Separating them means running every setting at every operating point, which is why nobody has.</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(A)   Pick a better FIXED setting</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25.1 %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CHANGE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3.9 %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…but ONE comparator gets 72 %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2.8 %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a:solidFill>
                  <a:srgbClr val="000000"/>
                </a:solidFill>
                <a:latin typeface="Calibri" pitchFamily="34" charset="0"/>
                <a:ea typeface="Calibri" pitchFamily="34" charset="-122"/>
                <a:cs typeface="Calibri" pitchFamily="34" charset="-120"/>
              </a:rPr>
              <a:t>Full sensing, ADC and lookup table justify 3.7 % of the total gain over a fixed word plus one comparator. Split is weight-independent: across 106 overshoot weights (A) stays 23.4–29.0 % and (B) 1.3–6.4 %.</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5 — re-tuning only pays below ~2.5 nH</a:t>
            </a:r>
          </a:p>
        </p:txBody>
      </p:sp>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881360" cy="640080"/>
          </a:xfrm>
          <a:prstGeom prst="rect">
            <a:avLst/>
          </a:prstGeom>
          <a:noFill/>
        </p:spPr>
        <p:txBody>
          <a:bodyPr wrap="square" lIns="0" tIns="0" rIns="0" bIns="0">
            <a:spAutoFit/>
          </a:bodyPr>
          <a:lstStyle/>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Fig. 20 — </a:t>
            </a:r>
            <a:r>
              <a:rPr lang="en-US" sz="1200" dirty="0">
                <a:solidFill>
                  <a:srgbClr val="000000"/>
                </a:solidFill>
                <a:latin typeface="Calibri" pitchFamily="34" charset="0"/>
                <a:ea typeface="Calibri" pitchFamily="34" charset="-122"/>
                <a:cs typeface="Calibri" pitchFamily="34" charset="-120"/>
              </a:rPr>
              <a:t>Ceiling on operating-point scheduling against power-loop inductance. Eight values, 7,200 transients. Scheduling pays only below about 2.5 nH.</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ngspice waveforms from sim/dpt.cir, failing and shipped configurations. 22 s. Click to play.</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What it shows</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TOP row: the switch node. </a:t>
            </a:r>
            <a:r>
              <a:rPr lang="en-US" sz="1250" dirty="0">
                <a:solidFill>
                  <a:srgbClr val="000000"/>
                </a:solidFill>
                <a:latin typeface="Calibri" pitchFamily="34" charset="0"/>
                <a:ea typeface="Calibri" pitchFamily="34" charset="-122"/>
                <a:cs typeface="Calibri" pitchFamily="34" charset="-120"/>
              </a:rPr>
              <a:t>The low-side device turns on and the voltage collapses from 100 V in a few nanoseconds. That fast drop is the cause.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BOTTOM row: the gate of the OFF device. </a:t>
            </a:r>
            <a:r>
              <a:rPr lang="en-US" sz="1250" dirty="0">
                <a:solidFill>
                  <a:srgbClr val="000000"/>
                </a:solidFill>
                <a:latin typeface="Calibri" pitchFamily="34" charset="0"/>
                <a:ea typeface="Calibri" pitchFamily="34" charset="-122"/>
                <a:cs typeface="Calibri" pitchFamily="34" charset="-120"/>
              </a:rPr>
              <a:t>The fast drop pushes charge through C</a:t>
            </a:r>
            <a:r>
              <a:rPr lang="en-US" sz="1250" dirty="0">
                <a:solidFill>
                  <a:srgbClr val="000000"/>
                </a:solidFill>
                <a:latin typeface="Calibri" pitchFamily="34" charset="0"/>
                <a:ea typeface="Calibri" pitchFamily="34" charset="-122"/>
                <a:cs typeface="Calibri" pitchFamily="34" charset="-120"/>
              </a:rPr>
              <a:t>GD</a:t>
            </a:r>
            <a:r>
              <a:rPr lang="en-US" sz="1250" dirty="0">
                <a:solidFill>
                  <a:srgbClr val="000000"/>
                </a:solidFill>
                <a:latin typeface="Calibri" pitchFamily="34" charset="0"/>
                <a:ea typeface="Calibri" pitchFamily="34" charset="-122"/>
                <a:cs typeface="Calibri" pitchFamily="34" charset="-120"/>
              </a:rPr>
              <a:t> and lifts that gate.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LEFT, failing: </a:t>
            </a:r>
            <a:r>
              <a:rPr lang="en-US" sz="1250" dirty="0">
                <a:solidFill>
                  <a:srgbClr val="000000"/>
                </a:solidFill>
                <a:latin typeface="Calibri" pitchFamily="34" charset="0"/>
                <a:ea typeface="Calibri" pitchFamily="34" charset="-122"/>
                <a:cs typeface="Calibri" pitchFamily="34" charset="-120"/>
              </a:rPr>
              <a:t>the gate reaches +1.65 V, above the 1.4 V line drawn on the plot. The device turns on when it must not.</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RIGHT, shipped: </a:t>
            </a:r>
            <a:r>
              <a:rPr lang="en-US" sz="1250" dirty="0">
                <a:solidFill>
                  <a:srgbClr val="000000"/>
                </a:solidFill>
                <a:latin typeface="Calibri" pitchFamily="34" charset="0"/>
                <a:ea typeface="Calibri" pitchFamily="34" charset="-122"/>
                <a:cs typeface="Calibri" pitchFamily="34" charset="-120"/>
              </a:rPr>
              <a:t>same circuit, same setting, plus the gate clamp and −2 V rail. Peak −1.18 V,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Both panels are the same simulation; only the clamp and the off rail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40"/>
              </a:spcAft>
              <a:buSzPct val="100000"/>
              <a:buNone/>
            </a:pPr>
            <a:r>
              <a:rPr lang="en-US" sz="1700" b="1" dirty="0">
                <a:solidFill>
                  <a:srgbClr val="000000"/>
                </a:solidFill>
                <a:latin typeface="Calibri" pitchFamily="34" charset="0"/>
                <a:ea typeface="Calibri" pitchFamily="34" charset="-122"/>
                <a:cs typeface="Calibri" pitchFamily="34" charset="-120"/>
              </a:rPr>
              <a:t>What the data supports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The converter works: 100 V DC in, 48.6 V DC out at 4.88 A — 236.9 W, 97.6 % efficient.</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Picking the setting well: 25.1 %.   Changing it per operating point: 3.9 %.</a:t>
            </a:r>
          </a:p>
          <a:p>
            <a:pPr marL="177800" indent="-177800">
              <a:spcAft>
                <a:spcPts val="340"/>
              </a:spcAft>
              <a:buSzPct val="100000"/>
              <a:buChar char="•"/>
            </a:pPr>
            <a:r>
              <a:rPr lang="en-US" sz="1600" dirty="0">
                <a:solidFill>
                  <a:srgbClr val="000000"/>
                </a:solidFill>
                <a:latin typeface="Calibri" pitchFamily="34" charset="0"/>
                <a:ea typeface="Calibri" pitchFamily="34" charset="-122"/>
                <a:cs typeface="Calibri" pitchFamily="34" charset="-120"/>
              </a:rPr>
              <a:t>One comparator gets 72 % of that 3.9 %.</a:t>
            </a:r>
          </a:p>
          <a:p>
            <a:pPr marL="177800" indent="-177800">
              <a:spcAft>
                <a:spcPts val="340"/>
              </a:spcAft>
              <a:buSzPct val="100000"/>
              <a:buChar char="•"/>
            </a:pPr>
            <a:r>
              <a:rPr lang="en-US" sz="1600" dirty="0" b="1">
                <a:solidFill>
                  <a:srgbClr val="000000"/>
                </a:solidFill>
                <a:latin typeface="Calibri" pitchFamily="34" charset="0"/>
                <a:ea typeface="Calibri" pitchFamily="34" charset="-122"/>
                <a:cs typeface="Calibri" pitchFamily="34" charset="-120"/>
              </a:rPr>
              <a:t>What to build: </a:t>
            </a:r>
            <a:r>
              <a:rPr lang="en-US" sz="1600" dirty="0">
                <a:solidFill>
                  <a:srgbClr val="000000"/>
                </a:solidFill>
                <a:latin typeface="Calibri" pitchFamily="34" charset="0"/>
                <a:ea typeface="Calibri" pitchFamily="34" charset="-122"/>
                <a:cs typeface="Calibri" pitchFamily="34" charset="-120"/>
              </a:rPr>
              <a:t>one fixed setting plus a light-load comparator — not a sensor, an ADC and a lookup table.</a:t>
            </a:r>
          </a:p>
          <a:p>
            <a:pPr marL="177800" indent="0">
              <a:spcAft>
                <a:spcPts val="240"/>
              </a:spcAft>
              <a:buSzPct val="100000"/>
              <a:buNone/>
            </a:pPr>
            <a:r>
              <a:rPr lang="en-US" sz="1700" dirty="0">
                <a:solidFill>
                  <a:srgbClr val="000000"/>
                </a:solidFill>
                <a:latin typeface="Calibri" pitchFamily="34" charset="0"/>
                <a:ea typeface="Calibri" pitchFamily="34" charset="-122"/>
                <a:cs typeface="Calibri" pitchFamily="34" charset="-120"/>
              </a:rPr>
              <a:t>The FPGA half is real: 20 LUTs and 20 flip-flops, 200 MHz met with 1.996 ns to spare.</a:t>
            </a:r>
          </a:p>
          <a:p>
            <a:pPr marL="177800" indent="-177800">
              <a:spcAft>
                <a:spcPts val="220"/>
              </a:spcAft>
              <a:buSzPct val="100000"/>
              <a:buChar char="•"/>
            </a:pPr>
            <a:r>
              <a:rPr lang="en-US" sz="1600" dirty="0" b="1">
                <a:solidFill>
                  <a:srgbClr val="000000"/>
                </a:solidFill>
                <a:latin typeface="Calibri" pitchFamily="34" charset="0"/>
                <a:ea typeface="Calibri" pitchFamily="34" charset="-122"/>
                <a:cs typeface="Calibri" pitchFamily="34" charset="-120"/>
              </a:rPr>
              <a:t>What is next</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Review-II — close the loop on the converter, then re-run the setting study with it closed.</a:t>
            </a:r>
          </a:p>
          <a:p>
            <a:pPr marL="177800" indent="-177800">
              <a:spcAft>
                <a:spcPts val="0"/>
              </a:spcAft>
              <a:buSzPct val="100000"/>
              <a:buChar char="•"/>
            </a:pPr>
            <a:r>
              <a:rPr lang="en-US" sz="1450" dirty="0">
                <a:solidFill>
                  <a:srgbClr val="000000"/>
                </a:solidFill>
                <a:latin typeface="Calibri" pitchFamily="34" charset="0"/>
                <a:ea typeface="Calibri" pitchFamily="34" charset="-122"/>
                <a:cs typeface="Calibri" pitchFamily="34" charset="-120"/>
              </a:rPr>
              <a:t>Review-III — measure what a two-setting controller saves at the light-load point, where the best dead time differs.</a:t>
            </a:r>
          </a:p>
          <a:p>
            <a:pPr marL="177800" indent="-177800">
              <a:spcAft>
                <a:spcPts val="0"/>
              </a:spcAft>
              <a:buSzPct val="100000"/>
              <a:buChar char="•"/>
            </a:pPr>
            <a:r>
              <a:rPr lang="en-US" sz="1450" dirty="0">
                <a:solidFill>
                  <a:srgbClr val="000000"/>
                </a:solidFill>
                <a:latin typeface="Calibri" pitchFamily="34" charset="0"/>
                <a:ea typeface="Calibri" pitchFamily="34" charset="-122"/>
                <a:cs typeface="Calibri" pitchFamily="34" charset="-120"/>
              </a:rPr>
              <a:t>Every number in this deck is regenerated by a named script, in ngspice or in Vivado.</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result in LTspice, on the drawn circuit</a:t>
            </a:r>
            <a:endParaRPr lang="en-US" sz="2800" dirty="0"/>
          </a:p>
        </p:txBody>
      </p:sp>
      <p:pic>
        <p:nvPicPr>
          <p:cNvPr id="5" name="Picture 4" descr="fig_ltspice_annotated.png"/>
          <p:cNvPicPr>
            <a:picLocks noChangeAspect="1"/>
          </p:cNvPicPr>
          <p:nvPr/>
        </p:nvPicPr>
        <p:blipFill>
          <a:blip r:embed="rId4"/>
          <a:stretch>
            <a:fillRect/>
          </a:stretch>
        </p:blipFill>
        <p:spPr>
          <a:xfrm>
            <a:off x="1957534" y="1170432"/>
            <a:ext cx="8276626" cy="4389120"/>
          </a:xfrm>
          <a:prstGeom prst="rect">
            <a:avLst/>
          </a:prstGeom>
        </p:spPr>
      </p:pic>
      <p:sp>
        <p:nvSpPr>
          <p:cNvPr id="6" name="TextBox 5"/>
          <p:cNvSpPr txBox="1"/>
          <p:nvPr/>
        </p:nvSpPr>
        <p:spPr>
          <a:xfrm>
            <a:off x="502920" y="5742432"/>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17 — </a:t>
            </a:r>
            <a:r>
              <a:rPr lang="en-US" sz="1150" dirty="0">
                <a:solidFill>
                  <a:srgbClr val="000000"/>
                </a:solidFill>
                <a:latin typeface="Calibri" pitchFamily="34" charset="0"/>
                <a:ea typeface="Calibri" pitchFamily="34" charset="-122"/>
                <a:cs typeface="Calibri" pitchFamily="34" charset="-120"/>
              </a:rPr>
              <a:t xml:space="preserve">Switch node and off-state gate–source voltage, read from the LTspice .raw file. LTspice +1.647556 / −1.176857 V; ngspice +1.6486 / −1.1757 V on the same netlist.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we run ngspice</a:t>
            </a:r>
            <a:endParaRPr lang="en-US" sz="2800" dirty="0"/>
          </a:p>
        </p:txBody>
      </p:sp>
      <p:pic>
        <p:nvPicPr>
          <p:cNvPr id="5" name="Picture 4" descr="fig_howrun.png"/>
          <p:cNvPicPr>
            <a:picLocks noChangeAspect="1"/>
          </p:cNvPicPr>
          <p:nvPr/>
        </p:nvPicPr>
        <p:blipFill>
          <a:blip r:embed="rId4"/>
          <a:stretch>
            <a:fillRect/>
          </a:stretch>
        </p:blipFill>
        <p:spPr>
          <a:xfrm>
            <a:off x="1688439" y="1170432"/>
            <a:ext cx="881481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10 — </a:t>
            </a:r>
            <a:r>
              <a:rPr lang="en-US" sz="1150" dirty="0">
                <a:solidFill>
                  <a:srgbClr val="000000"/>
                </a:solidFill>
                <a:latin typeface="Calibri" pitchFamily="34" charset="0"/>
                <a:ea typeface="Calibri" pitchFamily="34" charset="-122"/>
                <a:cs typeface="Calibri" pitchFamily="34" charset="-120"/>
              </a:rPr>
              <a:t xml:space="preserve">One case end to end: the parameters set into sim/dpt.cir, the command, what the simulator wrote, and the window the measurement is taken over. Full load, 100 V / 10 A, no clamp: +1.6486 V against a 1.4 V threshold.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ngspice runs</a:t>
            </a:r>
            <a:endParaRPr lang="en-US" sz="2800" dirty="0"/>
          </a:p>
        </p:txBody>
      </p:sp>
      <p:pic>
        <p:nvPicPr>
          <p:cNvPr id="5" name="Picture 4" descr="fig_netlis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9 — </a:t>
            </a:r>
            <a:r>
              <a:rPr lang="en-US" sz="1150" dirty="0">
                <a:solidFill>
                  <a:srgbClr val="000000"/>
                </a:solidFill>
                <a:latin typeface="Calibri" pitchFamily="34" charset="0"/>
                <a:ea typeface="Calibri" pitchFamily="34" charset="-122"/>
                <a:cs typeface="Calibri" pitchFamily="34" charset="-120"/>
              </a:rPr>
              <a:t xml:space="preserve">Power stage of sim/buck.cir. ngspice reads the circuit as a netlist, not a schematic; it is the same converter the schematic draws. ngspice 48.56 V, LTspice 48.84 V.</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the work was run</a:t>
            </a:r>
            <a:endParaRPr lang="en-US" sz="2800" dirty="0"/>
          </a:p>
        </p:txBody>
      </p:sp>
      <p:pic>
        <p:nvPicPr>
          <p:cNvPr id="5" name="Picture 4" descr="fig_method.png"/>
          <p:cNvPicPr>
            <a:picLocks noChangeAspect="1"/>
          </p:cNvPicPr>
          <p:nvPr/>
        </p:nvPicPr>
        <p:blipFill>
          <a:blip r:embed="rId4"/>
          <a:stretch>
            <a:fillRect/>
          </a:stretch>
        </p:blipFill>
        <p:spPr>
          <a:xfrm>
            <a:off x="1481776" y="1170432"/>
            <a:ext cx="9228143"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dirty="0">
                <a:solidFill>
                  <a:srgbClr val="000000"/>
                </a:solidFill>
                <a:latin typeface="Calibri" pitchFamily="34" charset="0"/>
                <a:ea typeface="Calibri" pitchFamily="34" charset="-122"/>
                <a:cs typeface="Calibri" pitchFamily="34" charset="-120"/>
              </a:rPr>
              <a:t xml:space="preserve">Method, in the order carried out. Steps 1–3 on one switching edge; steps 4–6 the study built on it.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a GaN HEMT is</a:t>
            </a:r>
            <a:endParaRPr lang="en-US" sz="2800" dirty="0"/>
          </a:p>
        </p:txBody>
      </p:sp>
      <p:pic>
        <p:nvPicPr>
          <p:cNvPr id="5" name="Picture 4" descr="fig_gan_1.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dirty="0">
                <a:solidFill>
                  <a:srgbClr val="000000"/>
                </a:solidFill>
                <a:latin typeface="Calibri" pitchFamily="34" charset="0"/>
                <a:ea typeface="Calibri" pitchFamily="34" charset="-122"/>
                <a:cs typeface="Calibri" pitchFamily="34" charset="-120"/>
              </a:rPr>
              <a:t xml:space="preserve">Silicon MOSFET against GaN HEMT on the properties that govern switching. Device modelled: EPC2010C class, 200 V, 25 mΩ, Vth = 1.4 V (models/egan.lib).</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GaN HEMT causes the problem we solve</a:t>
            </a:r>
            <a:endParaRPr lang="en-US" sz="2800" dirty="0"/>
          </a:p>
        </p:txBody>
      </p:sp>
      <p:pic>
        <p:nvPicPr>
          <p:cNvPr id="5" name="Picture 4" descr="fig_gan_2.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 — </a:t>
            </a:r>
            <a:r>
              <a:rPr lang="en-US" sz="1150" dirty="0">
                <a:solidFill>
                  <a:srgbClr val="000000"/>
                </a:solidFill>
                <a:latin typeface="Calibri" pitchFamily="34" charset="0"/>
                <a:ea typeface="Calibri" pitchFamily="34" charset="-122"/>
                <a:cs typeface="Calibri" pitchFamily="34" charset="-120"/>
              </a:rPr>
              <a:t xml:space="preserve">Three device properties and their consequence in a half-bridge: a 1.4 V threshold, 150 pF from drain to gate, and no body diode.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driver's settings, and where 720 comes from</a:t>
            </a:r>
            <a:endParaRPr lang="en-US" sz="2800" dirty="0"/>
          </a:p>
        </p:txBody>
      </p:sp>
      <p:pic>
        <p:nvPicPr>
          <p:cNvPr id="5" name="Picture 4" descr="fig_settings.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dirty="0">
                <a:solidFill>
                  <a:srgbClr val="000000"/>
                </a:solidFill>
                <a:latin typeface="Calibri" pitchFamily="34" charset="0"/>
                <a:ea typeface="Calibri" pitchFamily="34" charset="-122"/>
                <a:cs typeface="Calibri" pitchFamily="34" charset="-120"/>
              </a:rPr>
              <a:t xml:space="preserve">The six fields of the control word and the values swept over each. 6 × 2 × 3 × 5 × 2 × 2 = 720 settings, × 4 operating points = 2,880 transients.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input — what an operating point is</a:t>
            </a:r>
            <a:endParaRPr lang="en-US" sz="2800" dirty="0"/>
          </a:p>
        </p:txBody>
      </p:sp>
      <p:pic>
        <p:nvPicPr>
          <p:cNvPr id="5" name="Picture 4" descr="fig_in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dirty="0">
                <a:solidFill>
                  <a:srgbClr val="000000"/>
                </a:solidFill>
                <a:latin typeface="Calibri" pitchFamily="34" charset="0"/>
                <a:ea typeface="Calibri" pitchFamily="34" charset="-122"/>
                <a:cs typeface="Calibri" pitchFamily="34" charset="-120"/>
              </a:rPr>
              <a:t xml:space="preserve">The four corners every setting is evaluated at: bus voltage, load current and junction temperature.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output — what is actually measured</a:t>
            </a:r>
            <a:endParaRPr lang="en-US" sz="2800" dirty="0"/>
          </a:p>
        </p:txBody>
      </p:sp>
      <p:pic>
        <p:nvPicPr>
          <p:cNvPr id="5" name="Picture 4" descr="fig_out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dirty="0">
                <a:solidFill>
                  <a:srgbClr val="000000"/>
                </a:solidFill>
                <a:latin typeface="Calibri" pitchFamily="34" charset="0"/>
                <a:ea typeface="Calibri" pitchFamily="34" charset="-122"/>
                <a:cs typeface="Calibri" pitchFamily="34" charset="-120"/>
              </a:rPr>
              <a:t xml:space="preserve">Converter-level output, and the eight quantities extracted from every transient. Definitions fixed in scripts/gansim.py before the sweeps ran.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margin</a:t>
            </a:r>
            <a:endParaRPr lang="en-US" sz="2800" dirty="0"/>
          </a:p>
        </p:txBody>
      </p:sp>
      <p:pic>
        <p:nvPicPr>
          <p:cNvPr id="5" name="Picture 4" descr="fig_margin.png"/>
          <p:cNvPicPr>
            <a:picLocks noChangeAspect="1"/>
          </p:cNvPicPr>
          <p:nvPr/>
        </p:nvPicPr>
        <p:blipFill>
          <a:blip r:embed="rId4"/>
          <a:stretch>
            <a:fillRect/>
          </a:stretch>
        </p:blipFill>
        <p:spPr>
          <a:xfrm>
            <a:off x="1686402" y="1170432"/>
            <a:ext cx="881888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dirty="0">
                <a:solidFill>
                  <a:srgbClr val="000000"/>
                </a:solidFill>
                <a:latin typeface="Calibri" pitchFamily="34" charset="0"/>
                <a:ea typeface="Calibri" pitchFamily="34" charset="-122"/>
                <a:cs typeface="Calibri" pitchFamily="34" charset="-120"/>
              </a:rPr>
              <a:t xml:space="preserve">Peak gate–source voltage on the off-state device against the 1.4 V threshold, three configurations. Margin is the threshold minus the peak; negative is a false turn-on.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converter</a:t>
            </a:r>
            <a:endParaRPr lang="en-US" sz="2800" dirty="0"/>
          </a:p>
        </p:txBody>
      </p:sp>
      <p:pic>
        <p:nvPicPr>
          <p:cNvPr id="5" name="Picture 4" descr="17-converter-power.png"/>
          <p:cNvPicPr>
            <a:picLocks noChangeAspect="1"/>
          </p:cNvPicPr>
          <p:nvPr/>
        </p:nvPicPr>
        <p:blipFill>
          <a:blip r:embed="rId4"/>
          <a:stretch>
            <a:fillRect/>
          </a:stretch>
        </p:blipFill>
        <p:spPr>
          <a:xfrm>
            <a:off x="426567" y="1188720"/>
            <a:ext cx="11338558" cy="371810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dirty="0">
                <a:solidFill>
                  <a:srgbClr val="000000"/>
                </a:solidFill>
                <a:latin typeface="Calibri" pitchFamily="34" charset="0"/>
                <a:ea typeface="Calibri" pitchFamily="34" charset="-122"/>
                <a:cs typeface="Calibri" pitchFamily="34" charset="-120"/>
              </a:rPr>
              <a:t xml:space="preserve">scripts/bucksim.py driving ngspice over sim/buck.cir. 100.0 V and 2.426 A in, 48.56 V and 4.875 A out: 242.63 W drawn, 236.85 W delivered, 97.62 % efficient.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dirty="0">
                <a:solidFill>
                  <a:srgbClr val="000000"/>
                </a:solidFill>
                <a:latin typeface="Calibri" pitchFamily="34" charset="0"/>
                <a:ea typeface="Calibri" pitchFamily="34" charset="-122"/>
                <a:cs typeface="Calibri" pitchFamily="34" charset="-120"/>
              </a:rPr>
              <a:t xml:space="preserve">Two runs of sim/dpt.cir. Fastest drive, no clamp, 0 V rail: gate reaches +1.6486 V against a 1.400 V threshold, false_turn_on = 1. Clamp on with −2 V rail: −1.1757 V, margin +2.5757 V, false_turn_on = 0.</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named cases</a:t>
            </a:r>
            <a:endParaRPr lang="en-US" sz="2800" dirty="0"/>
          </a:p>
        </p:txBody>
      </p:sp>
      <p:pic>
        <p:nvPicPr>
          <p:cNvPr id="5" name="Picture 4" descr="18-named-cases.png"/>
          <p:cNvPicPr>
            <a:picLocks noChangeAspect="1"/>
          </p:cNvPicPr>
          <p:nvPr/>
        </p:nvPicPr>
        <p:blipFill>
          <a:blip r:embed="rId4"/>
          <a:stretch>
            <a:fillRect/>
          </a:stretch>
        </p:blipFill>
        <p:spPr>
          <a:xfrm>
            <a:off x="2717767" y="1188720"/>
            <a:ext cx="675616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dirty="0">
                <a:solidFill>
                  <a:srgbClr val="000000"/>
                </a:solidFill>
                <a:latin typeface="Calibri" pitchFamily="34" charset="0"/>
                <a:ea typeface="Calibri" pitchFamily="34" charset="-122"/>
                <a:cs typeface="Calibri" pitchFamily="34" charset="-120"/>
              </a:rPr>
              <a:t xml:space="preserve">scripts/cases.py, 13 runs. Part 1: the fix built one change at a time at 100 V / 10 A. Part 2: dead-time sweep at two operating points — cheapest is 15 ns at full load, 5 ns at light load.</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what re-tuning is worth</a:t>
            </a:r>
            <a:endParaRPr lang="en-US" sz="2800" dirty="0"/>
          </a:p>
        </p:txBody>
      </p:sp>
      <p:pic>
        <p:nvPicPr>
          <p:cNvPr id="5" name="Picture 4" descr="12-result2-ceiling.png"/>
          <p:cNvPicPr>
            <a:picLocks noChangeAspect="1"/>
          </p:cNvPicPr>
          <p:nvPr/>
        </p:nvPicPr>
        <p:blipFill>
          <a:blip r:embed="rId4"/>
          <a:stretch>
            <a:fillRect/>
          </a:stretch>
        </p:blipFill>
        <p:spPr>
          <a:xfrm>
            <a:off x="426567" y="1188720"/>
            <a:ext cx="11338557" cy="35763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dirty="0">
                <a:solidFill>
                  <a:srgbClr val="000000"/>
                </a:solidFill>
                <a:latin typeface="Calibri" pitchFamily="34" charset="0"/>
                <a:ea typeface="Calibri" pitchFamily="34" charset="-122"/>
                <a:cs typeface="Calibri" pitchFamily="34" charset="-120"/>
              </a:rPr>
              <a:t xml:space="preserve">scripts/ceiling.py over results/full_corners.csv. 474 of 720 words feasible at all four corners. Ceiling on scheduling 5.2 %; per-corner penalty 1.1 / 2.3 / 12.7 / 3.8 %.</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split</a:t>
            </a:r>
            <a:endParaRPr lang="en-US" sz="2800" dirty="0"/>
          </a:p>
        </p:txBody>
      </p:sp>
      <p:pic>
        <p:nvPicPr>
          <p:cNvPr id="5" name="Picture 4" descr="13-result3-split.png"/>
          <p:cNvPicPr>
            <a:picLocks noChangeAspect="1"/>
          </p:cNvPicPr>
          <p:nvPr/>
        </p:nvPicPr>
        <p:blipFill>
          <a:blip r:embed="rId4"/>
          <a:stretch>
            <a:fillRect/>
          </a:stretch>
        </p:blipFill>
        <p:spPr>
          <a:xfrm>
            <a:off x="888114" y="1188720"/>
            <a:ext cx="10415465"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9 — </a:t>
            </a:r>
            <a:r>
              <a:rPr lang="en-US" sz="1150" dirty="0">
                <a:solidFill>
                  <a:srgbClr val="000000"/>
                </a:solidFill>
                <a:latin typeface="Calibri" pitchFamily="34" charset="0"/>
                <a:ea typeface="Calibri" pitchFamily="34" charset="-122"/>
                <a:cs typeface="Calibri" pitchFamily="34" charset="-120"/>
              </a:rPr>
              <a:t xml:space="preserve">scripts/novelty.py. Choosing a fixed word (A) 25.1 %; adapting per operating point (B) 3.9 %; B is 13.4 % of the gain. Across 106 overshoot weights (A) stays 23.4–29.0 %, (B) 1.3–6.4 %.</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Icarus Verilog output — the controller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03-verilog-8-properties.png"/>
          <p:cNvPicPr>
            <a:picLocks noChangeAspect="1"/>
          </p:cNvPicPr>
          <p:nvPr/>
        </p:nvPicPr>
        <p:blipFill>
          <a:blip r:embed="rId4"/>
          <a:stretch>
            <a:fillRect/>
          </a:stretch>
        </p:blipFill>
        <p:spPr>
          <a:xfrm>
            <a:off x="789329" y="1188720"/>
            <a:ext cx="10613036"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iverilog and vvp over rtl/seg_gate_ctrl.v and its testbench. Eight asserted properties, 591 individual assertions, 0 failures.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output — synthesis</a:t>
            </a:r>
            <a:endParaRPr lang="en-US" sz="2800" dirty="0"/>
          </a:p>
        </p:txBody>
      </p:sp>
      <p:pic>
        <p:nvPicPr>
          <p:cNvPr id="5" name="Picture 4" descr="image.png"/>
          <p:cNvPicPr>
            <a:picLocks noChangeAspect="1"/>
          </p:cNvPicPr>
          <p:nvPr/>
        </p:nvPicPr>
        <p:blipFill>
          <a:blip r:embed="rId4"/>
          <a:stretch>
            <a:fillRect/>
          </a:stretch>
        </p:blipFill>
        <p:spPr>
          <a:xfrm>
            <a:off x="2259431" y="1188720"/>
            <a:ext cx="7672832"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10 — </a:t>
            </a:r>
            <a:r>
              <a:rPr lang="en-US" sz="1150" dirty="0">
                <a:solidFill>
                  <a:srgbClr val="000000"/>
                </a:solidFill>
                <a:latin typeface="Calibri" pitchFamily="34" charset="0"/>
                <a:ea typeface="Calibri" pitchFamily="34" charset="-122"/>
                <a:cs typeface="Calibri" pitchFamily="34" charset="-120"/>
              </a:rPr>
              <a:t xml:space="preserve">Vivado 2024.1.2 on xc7a35t. 20 LUTs and 20 flip-flops strapped, 33 LUTs fully programmable; 200 MHz register-to-register met with 1.996 ns slack.</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ngspice and LTspice, running</a:t>
            </a:r>
            <a:endParaRPr lang="en-US" sz="2800" dirty="0"/>
          </a:p>
        </p:txBody>
      </p:sp>
      <p:pic>
        <p:nvPicPr>
          <p:cNvPr id="5" name="DEMO-VIDEO.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417320" y="1188720"/>
            <a:ext cx="9326880" cy="4160520"/>
          </a:xfrm>
          <a:prstGeom prst="rect">
            <a:avLst/>
          </a:prstGeom>
        </p:spPr>
      </p:pic>
      <p:sp>
        <p:nvSpPr>
          <p:cNvPr id="6" name="TextBox 5"/>
          <p:cNvSpPr txBox="1"/>
          <p:nvPr/>
        </p:nvSpPr>
        <p:spPr>
          <a:xfrm>
            <a:off x="502920" y="565099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dirty="0">
                <a:solidFill>
                  <a:srgbClr val="000000"/>
                </a:solidFill>
                <a:latin typeface="Calibri" pitchFamily="34" charset="0"/>
                <a:ea typeface="Calibri" pitchFamily="34" charset="-122"/>
                <a:cs typeface="Calibri" pitchFamily="34" charset="-120"/>
              </a:rPr>
              <a:t xml:space="preserve">Demo recording: the converter in ngspice, the crosstalk fault and its fix, the named cases, the Verilog controller, and LTspice running the schematic. 2 min. Click to play.</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DC–DC Power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