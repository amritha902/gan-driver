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91" r:id="rId35"/>
    <p:sldId id="286" r:id="rId37"/>
    <p:sldId id="259" r:id="rId5"/>
    <p:sldId id="260" r:id="rId6"/>
    <p:sldId id="267" r:id="rId18"/>
    <p:sldId id="282" r:id="rId33"/>
    <p:sldId id="287" r:id="rId38"/>
    <p:sldId id="261" r:id="rId7"/>
    <p:sldId id="280" r:id="rId31"/>
    <p:sldId id="274" r:id="rId25"/>
    <p:sldId id="278" r:id="rId29"/>
    <p:sldId id="283" r:id="rId34"/>
    <p:sldId id="262" r:id="rId8"/>
    <p:sldId id="272" r:id="rId23"/>
    <p:sldId id="273" r:id="rId24"/>
    <p:sldId id="285" r:id="rId36"/>
    <p:sldId id="288" r:id="rId39"/>
    <p:sldId id="293" r:id="rId30"/>
    <p:sldId id="263" r:id="rId9"/>
    <p:sldId id="292" r:id="rId32"/>
    <p:sldId id="275" r:id="rId26"/>
    <p:sldId id="276" r:id="rId27"/>
    <p:sldId id="264" r:id="rId10"/>
    <p:sldId id="269" r:id="rId20"/>
    <p:sldId id="271" r:id="rId22"/>
    <p:sldId id="265" r:id="rId11"/>
    <p:sldId id="290" r:id="rId4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0.xml"/><Relationship Id="rId10" Type="http://schemas.openxmlformats.org/officeDocument/2006/relationships/slide" Target="slides/slide23.xml"/><Relationship Id="rId11" Type="http://schemas.openxmlformats.org/officeDocument/2006/relationships/slide" Target="slides/slide26.xml"/><Relationship Id="rId12" Type="http://schemas.openxmlformats.org/officeDocument/2006/relationships/slide" Target="slides/slide28.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20" Type="http://schemas.openxmlformats.org/officeDocument/2006/relationships/slide" Target="slides/slide24.xml"/><Relationship Id="rId22" Type="http://schemas.openxmlformats.org/officeDocument/2006/relationships/slide" Target="slides/slide2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1.xml"/><Relationship Id="rId27" Type="http://schemas.openxmlformats.org/officeDocument/2006/relationships/slide" Target="slides/slide22.xml"/><Relationship Id="rId29" Type="http://schemas.openxmlformats.org/officeDocument/2006/relationships/slide" Target="slides/slide13.xml"/><Relationship Id="rId30" Type="http://schemas.openxmlformats.org/officeDocument/2006/relationships/slide" Target="slides/slide31.xml"/><Relationship Id="rId31" Type="http://schemas.openxmlformats.org/officeDocument/2006/relationships/slide" Target="slides/slide11.xml"/><Relationship Id="rId32" Type="http://schemas.openxmlformats.org/officeDocument/2006/relationships/slide" Target="slides/slide30.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29.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1"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9144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828032"/>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Power Converter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Takayama, Okuda &amp;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Drives the gate from a multibit CODE instead of a resistor — the driver is a DAC, and the code changes DURING the switching edge.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Why it matters to us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digital code is finite. That is what makes the setting space searchable, and what makes the driver implementable on an FPGA rather than as an analogue network.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leaves open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It never asks whether the code has to CHANGE as load, voltage and temperature move. That question is this project.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 Takayama, T. Okuda and T. Hikihara, </a:t>
            </a:r>
            <a:r>
              <a:rPr lang="en-US" sz="1150" b="1" dirty="0">
                <a:solidFill>
                  <a:srgbClr val="000000"/>
                </a:solidFill>
                <a:latin typeface="Calibri" pitchFamily="34" charset="0"/>
                <a:ea typeface="Calibri" pitchFamily="34" charset="-122"/>
                <a:cs typeface="Calibri" pitchFamily="34" charset="-120"/>
              </a:rPr>
              <a:t xml:space="preserve">“Digital Active Gate Drive of SiC MOSFETs for Controlling Switching Behavior,”</a:t>
            </a:r>
            <a:r>
              <a:rPr lang="en-US" sz="1150" dirty="0">
                <a:solidFill>
                  <a:srgbClr val="000000"/>
                </a:solidFill>
                <a:latin typeface="Calibri" pitchFamily="34" charset="0"/>
                <a:ea typeface="Calibri" pitchFamily="34" charset="-122"/>
                <a:cs typeface="Calibri" pitchFamily="34" charset="-120"/>
              </a:rPr>
              <a:t xml:space="preserve"> Int. J. Circuit Theory Appl., vol. 50, no. 1, pp. 183–196, 2022.  doi.org/10.1002/cta.3136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All five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9</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97.6 %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Reproduce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same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and Vivado. Nothing else.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top row as the controller and the bottom row as the circuit. </a:t>
            </a:r>
            <a:r>
              <a:rPr lang="en-US" sz="1200" dirty="0">
                <a:solidFill>
                  <a:srgbClr val="000000"/>
                </a:solidFill>
                <a:latin typeface="Calibri" pitchFamily="34" charset="0"/>
                <a:ea typeface="Calibri" pitchFamily="34" charset="-122"/>
                <a:cs typeface="Calibri" pitchFamily="34" charset="-120"/>
              </a:rPr>
              <a:t xml:space="preserve">The one shaded diamond is the entire adaptive machinery.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4"/>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Everything shown is in sim/dpt.cir — the file ngspice runs, and it contains the gate clamp. The red C</a:t>
            </a:r>
            <a:r>
              <a:rPr lang="en-US" sz="1200" dirty="0">
                <a:solidFill>
                  <a:srgbClr val="000000"/>
                </a:solidFill>
                <a:latin typeface="Calibri" pitchFamily="34" charset="0"/>
                <a:ea typeface="Calibri" pitchFamily="34" charset="-122"/>
                <a:cs typeface="Calibri" pitchFamily="34" charset="-120"/>
              </a:rPr>
              <a:t>GD</a:t>
            </a:r>
            <a:r>
              <a:rPr lang="en-US" sz="1200" dirty="0">
                <a:solidFill>
                  <a:srgbClr val="000000"/>
                </a:solidFill>
                <a:latin typeface="Calibri" pitchFamily="34" charset="0"/>
                <a:ea typeface="Calibri" pitchFamily="34" charset="-122"/>
                <a:cs typeface="Calibri" pitchFamily="34" charset="-120"/>
              </a:rPr>
              <a:t> on Q2 is the path the charge takes. GaN has no body diode, so the gate has to be held down for the whole dead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15</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models/basedrv.lib</a:t>
            </a:r>
            <a:r>
              <a:rPr lang="en-US" sz="1250" dirty="0">
                <a:solidFill>
                  <a:srgbClr val="000000"/>
                </a:solidFill>
                <a:latin typeface="Calibri" pitchFamily="34" charset="0"/>
                <a:ea typeface="Calibri" pitchFamily="34" charset="-122"/>
                <a:cs typeface="Calibri" pitchFamily="34" charset="-120"/>
              </a:rPr>
              <a:t> is Takayama, Okuda &amp; Hikihara's driver: a multi-bit code that changes DURING the switching edge,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+0.534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changing-in-time code on its own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fast fixed code is worse than their timed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4.8× the base paper's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shapes the gate over TIME; we keep the code steady and add two things they do not have. Both clear the threshold — theirs works — but ours clears it by 4.8× more, and ours is the one whose settings can then be searched in full.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Reproduce: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converter is built and it runs.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100 V DC in, 48.6 V DC out at 4.88 A — 236.9 W into the load from 242.6 W drawn, 97.6 % efficient.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fault is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off gate reaches 1.65 V against a 1.4 V threshold. With the clamp and the −2 V rail: 2.58 V of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Specific cases run and measured, one at a time.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Five settings at full load, then the same driver swept at two operating points — every number below came off its own ngspice run.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setting measured on the converter itself.</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Across the same knob, power lost moves 4.5 % and peak device voltage moves 50 %, in opposite directions.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FPGA controller is written and verified.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20 LUTs and 20 flip-flops in Vivado, 200 MHz met with 1.996 ns to spare.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we are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is done. </a:t>
            </a:r>
            <a:r>
              <a:rPr lang="en-US" sz="1500" dirty="0">
                <a:solidFill>
                  <a:srgbClr val="000000"/>
                </a:solidFill>
                <a:latin typeface="Calibri" pitchFamily="34" charset="0"/>
                <a:ea typeface="Calibri" pitchFamily="34" charset="-122"/>
                <a:cs typeface="Calibri" pitchFamily="34" charset="-120"/>
              </a:rPr>
              <a:t xml:space="preserve">The converter is built and converting, the crosstalk fault is reproduced and fixed, the named cases have been run, and the FPGA controller is written and verified.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What we aim to do next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 close the loop.</a:t>
            </a:r>
            <a:r>
              <a:rPr lang="en-US" sz="1500" dirty="0">
                <a:solidFill>
                  <a:srgbClr val="000000"/>
                </a:solidFill>
                <a:latin typeface="Calibri" pitchFamily="34" charset="0"/>
                <a:ea typeface="Calibri" pitchFamily="34" charset="-122"/>
                <a:cs typeface="Calibri" pitchFamily="34" charset="-120"/>
              </a:rPr>
              <a:t xml:space="preserve"> The converter runs open loop today, which is why the output overshoots on the way up. Add a feedback controller so the output holds its value when the load changes, then re-run the driver-setting study with the loop closed.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 settle the light-load question.</a:t>
            </a:r>
            <a:r>
              <a:rPr lang="en-US" sz="1500" dirty="0">
                <a:solidFill>
                  <a:srgbClr val="000000"/>
                </a:solidFill>
                <a:latin typeface="Calibri" pitchFamily="34" charset="0"/>
                <a:ea typeface="Calibri" pitchFamily="34" charset="-122"/>
                <a:cs typeface="Calibri" pitchFamily="34" charset="-120"/>
              </a:rPr>
              <a:t xml:space="preserve"> The cheapest dead time is 15 ns at full load and 5 ns at light load. Run the converter at both and measure what a two-setting controller actually saves against one fixed setting — that is the number the whole project turns on.</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Same tools throughout.</a:t>
            </a:r>
            <a:r>
              <a:rPr lang="en-US" sz="1500" dirty="0">
                <a:solidFill>
                  <a:srgbClr val="000000"/>
                </a:solidFill>
                <a:latin typeface="Calibri" pitchFamily="34" charset="0"/>
                <a:ea typeface="Calibri" pitchFamily="34" charset="-122"/>
                <a:cs typeface="Calibri" pitchFamily="34" charset="-120"/>
              </a:rPr>
              <a:t xml:space="preserve"> ngspice for the circuit, Vivado for the FPGA. We are not adding a third tool, and there is no silicon or hardware step in this plan.</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The risk we already know.</a:t>
            </a:r>
            <a:r>
              <a:rPr lang="en-US" sz="1500" dirty="0">
                <a:solidFill>
                  <a:srgbClr val="000000"/>
                </a:solidFill>
                <a:latin typeface="Calibri" pitchFamily="34" charset="0"/>
                <a:ea typeface="Calibri" pitchFamily="34" charset="-122"/>
                <a:cs typeface="Calibri" pitchFamily="34" charset="-120"/>
              </a:rPr>
              <a:t xml:space="preserve"> Closing the loop changes where the converter actually operates, so the setting study has to be redone afterwards, not before. That ordering is the schedule risk.</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Everything is reproducible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number in this deck is regenerated by a named script in </a:t>
            </a: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34 failing paths are all chip-output paths against a placeholder 4 ns constraint — the output buffer alone takes 3.49 ns.</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Fig. 1  Voltage on the gate that is supposed to stay OFF: the failure, and the fix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Fig. 2  What it costs to use one fixed setting instead of the best setting at each operating point.</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All 720 settings run at every operating point — 2,880 runs — so the best at each point is the true best, not the best of a short 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The base paper [9] (doi.org/10.1002/cta.3136) shows that a gate waveform can be chosen by a digital code. It, and every paper after it, then reports one number — how much better than a plain driver. That number adds together two separate effects, and only the second needs a sensor, an ADC and a lookup table. Separating them means running every setting at every operating point,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So the full sensor + ADC + lookup table is left justifying 3.7 % of the total gain, over a fixed setting plus one comparator. Re-tuning is 13.4 % of the gain; a single threshold takes 72 % of that.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Every figure uses the same baseline — the middle setting that is safe at all four operating points. The split does not depend on the weighting: across 106 weightings, (A) stays 23.4–29.0 % and (B) 1.3–6.4 %, and (A) beats (B) every time. scripts/novelty.py, scripts/weight_sensitivity.py.</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Eight inductance values, 7,200 runs. The answer is a band, not a single line: re-tuning only pays from about 2.5 nH downwards, peaking at 13.5 % at 1.5 nH, then falling back to 8.1 % at 1.0 nH because only 165 of the 720 settings are still safe there — below about 2 nH the limit is what is safe, not what is best. A designer measures their own board and reads the decision off this curve.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Click to play (22 s). Real ngspice waveforms from sim/dpt.cir, run twice — only the pacing and the captions are presentational.</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What the data supports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The converter works: 100 V DC in, 48.6 V DC out at 4.88 A — 236.9 W, 97.6 % efficient.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One comparator gets 72 % of that 3.9 %.</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a light-load comparator — not a sensor, an ADC and a lookup table.</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Limits we state ourselves: this is a simulation study; one device model underlies everything; the converter is open loop today.</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 xml:space="preserve">A GaN synchronous buck converter. </a:t>
            </a:r>
            <a:r>
              <a:rPr lang="en-US" sz="1250" dirty="0">
                <a:solidFill>
                  <a:srgbClr val="000000"/>
                </a:solidFill>
                <a:latin typeface="Calibri" pitchFamily="34" charset="0"/>
                <a:ea typeface="Calibri" pitchFamily="34" charset="-122"/>
                <a:cs typeface="Calibri" pitchFamily="34" charset="-120"/>
              </a:rPr>
              <a:t xml:space="preserve">100 V DC goes in; the two GaN transistors chop it at 500 kHz; the filter turns that back into DC. 48.6 V at 4.88 A comes out — 236.9 W into the load from 242.6 W drawn, so 97.6 % of the power gets through. 5.8 W is lost in the transistors and the power loop.</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Open loop, no feedback controller yet — the overshoot on the way up in panel (a) is that. Reproduce: </a:t>
            </a:r>
            <a:r>
              <a:rPr lang="en-US" sz="1100" b="1" dirty="0">
                <a:solidFill>
                  <a:srgbClr val="000000"/>
                </a:solidFill>
                <a:latin typeface="Calibri" pitchFamily="34" charset="0"/>
                <a:ea typeface="Calibri" pitchFamily="34" charset="-122"/>
                <a:cs typeface="Calibri" pitchFamily="34" charset="-120"/>
              </a:rPr>
              <a:t xml:space="preserve">ngspice -b sim/buck.cir</a:t>
            </a:r>
            <a:r>
              <a:rPr lang="en-US" sz="1100" dirty="0">
                <a:solidFill>
                  <a:srgbClr val="000000"/>
                </a:solidFill>
                <a:latin typeface="Calibri" pitchFamily="34" charset="0"/>
                <a:ea typeface="Calibri" pitchFamily="34" charset="-122"/>
                <a:cs typeface="Calibri" pitchFamily="34" charset="-120"/>
              </a:rPr>
              <a:t xml:space="preserve">, then python3 scripts/buck_figure.py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 xml:space="preserve">This is why the gate driver is worth studying. </a:t>
            </a:r>
            <a:r>
              <a:rPr lang="en-US" sz="1250" dirty="0">
                <a:solidFill>
                  <a:srgbClr val="000000"/>
                </a:solidFill>
                <a:latin typeface="Calibri" pitchFamily="34" charset="0"/>
                <a:ea typeface="Calibri" pitchFamily="34" charset="-122"/>
                <a:cs typeface="Calibri" pitchFamily="34" charset="-120"/>
              </a:rPr>
              <a:t xml:space="preserve">The same knob moves power lost by 4.5 % and peak device voltage by 50 %, in opposite directions — there is no setting that is best at both. Lowest loss is 4 slices, not the fastest. Turning the clamp and the −2 V rail on costs 0.53 W, which is 0.22 points of efficiency, and that is the price of crosstalk immunity.</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Eight converter runs. Reproduce: </a:t>
            </a:r>
            <a:r>
              <a:rPr lang="en-US" sz="1100" b="1" dirty="0">
                <a:solidFill>
                  <a:srgbClr val="000000"/>
                </a:solidFill>
                <a:latin typeface="Calibri" pitchFamily="34" charset="0"/>
                <a:ea typeface="Calibri" pitchFamily="34" charset="-122"/>
                <a:cs typeface="Calibri" pitchFamily="34" charset="-120"/>
              </a:rPr>
              <a:t xml:space="preserve">python3 scripts/buck_sweep.py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 xml:space="preserve">Each bar and each point is its own ngspice run. </a:t>
            </a:r>
            <a:r>
              <a:rPr lang="en-US" sz="1250" dirty="0">
                <a:solidFill>
                  <a:srgbClr val="000000"/>
                </a:solidFill>
                <a:latin typeface="Calibri" pitchFamily="34" charset="0"/>
                <a:ea typeface="Calibri" pitchFamily="34" charset="-122"/>
                <a:cs typeface="Calibri" pitchFamily="34" charset="-120"/>
              </a:rPr>
              <a:t xml:space="preserve">Left: the fault is there at the fastest setting, the clamp removes it, the −2 V rail buys margin, and slowing the drive is safest but wastes twice the energy. Right: the cheapest dead time is 15 ns at full load and 5 ns at light load — two different numbers, and that gap is the only thing worth adapting.</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13 runs, 10 seconds. Reproduce: </a:t>
            </a:r>
            <a:r>
              <a:rPr lang="en-US" sz="1100" b="1" dirty="0">
                <a:solidFill>
                  <a:srgbClr val="000000"/>
                </a:solidFill>
                <a:latin typeface="Calibri" pitchFamily="34" charset="0"/>
                <a:ea typeface="Calibri" pitchFamily="34" charset="-122"/>
                <a:cs typeface="Calibri" pitchFamily="34" charset="-120"/>
              </a:rPr>
              <a:t xml:space="preserve">python3 scripts/cases.py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