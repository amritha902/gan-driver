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Amritha S  —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13 references. Grouped by what the driver DOES, not by date. Clusters A–C choose a setting or regulate it in analogue; only cluster D makes the setting a digital code — which is what makes an exhaustive search, and this project’s question,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ieeexplore.ieee.org/document/6531666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r>
              <a:rPr lang="en-US" sz="900" b="1" dirty="0">
                <a:solidFill>
                  <a:srgbClr val="000000"/>
                </a:solidFill>
                <a:latin typeface="Calibri" pitchFamily="34" charset="0"/>
                <a:ea typeface="Calibri" pitchFamily="34" charset="-122"/>
                <a:cs typeface="Calibri" pitchFamily="34" charset="-120"/>
              </a:rPr>
              <a:t xml:space="preserve">   ieeexplore.ieee.org/document/7854840</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r>
              <a:rPr lang="en-US" sz="900" b="1" dirty="0">
                <a:solidFill>
                  <a:srgbClr val="000000"/>
                </a:solidFill>
                <a:latin typeface="Calibri" pitchFamily="34" charset="0"/>
                <a:ea typeface="Calibri" pitchFamily="34" charset="-122"/>
                <a:cs typeface="Calibri" pitchFamily="34" charset="-120"/>
              </a:rPr>
              <a:t xml:space="preserve">   ieeexplore.ieee.org/document/6531683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r>
              <a:rPr lang="en-US" sz="900" b="1" dirty="0">
                <a:solidFill>
                  <a:srgbClr val="000000"/>
                </a:solidFill>
                <a:latin typeface="Calibri" pitchFamily="34" charset="0"/>
                <a:ea typeface="Calibri" pitchFamily="34" charset="-122"/>
                <a:cs typeface="Calibri" pitchFamily="34" charset="-120"/>
              </a:rPr>
              <a:t xml:space="preserve">   ieeexplore.ieee.org/document/9573371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r>
              <a:rPr lang="en-US" sz="900" b="1" dirty="0">
                <a:solidFill>
                  <a:srgbClr val="000000"/>
                </a:solidFill>
                <a:latin typeface="Calibri" pitchFamily="34" charset="0"/>
                <a:ea typeface="Calibri" pitchFamily="34" charset="-122"/>
                <a:cs typeface="Calibri" pitchFamily="34" charset="-120"/>
              </a:rPr>
              <a:t xml:space="preserve">   ieeexplore.ieee.org/document/10553383</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r>
              <a:rPr lang="en-US" sz="900" b="1" dirty="0">
                <a:solidFill>
                  <a:srgbClr val="000000"/>
                </a:solidFill>
                <a:latin typeface="Calibri" pitchFamily="34" charset="0"/>
                <a:ea typeface="Calibri" pitchFamily="34" charset="-122"/>
                <a:cs typeface="Calibri" pitchFamily="34" charset="-120"/>
              </a:rPr>
              <a:t xml:space="preserve">   ieeexplore.ieee.org/document/10964227</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r>
              <a:rPr lang="en-US" sz="900" b="1" dirty="0">
                <a:solidFill>
                  <a:srgbClr val="000000"/>
                </a:solidFill>
                <a:latin typeface="Calibri" pitchFamily="34" charset="0"/>
                <a:ea typeface="Calibri" pitchFamily="34" charset="-122"/>
                <a:cs typeface="Calibri" pitchFamily="34" charset="-120"/>
              </a:rPr>
              <a:t xml:space="preserve">   ieeexplore.ieee.org/document/10813402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r>
              <a:rPr lang="en-US" sz="900" b="1" dirty="0">
                <a:solidFill>
                  <a:srgbClr val="000000"/>
                </a:solidFill>
                <a:latin typeface="Calibri" pitchFamily="34" charset="0"/>
                <a:ea typeface="Calibri" pitchFamily="34" charset="-122"/>
                <a:cs typeface="Calibri" pitchFamily="34" charset="-120"/>
              </a:rPr>
              <a:t xml:space="preserve">   doi.org/10.1109/TIA.2024.3454198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r>
              <a:rPr lang="en-US" sz="900" b="1" dirty="0">
                <a:solidFill>
                  <a:srgbClr val="000000"/>
                </a:solidFill>
                <a:latin typeface="Calibri" pitchFamily="34" charset="0"/>
                <a:ea typeface="Calibri" pitchFamily="34" charset="-122"/>
                <a:cs typeface="Calibri" pitchFamily="34" charset="-120"/>
              </a:rPr>
              <a:t xml:space="preserve">   doi.org/10.1002/cta.3136</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r>
              <a:rPr lang="en-US" sz="900" b="1" dirty="0">
                <a:solidFill>
                  <a:srgbClr val="000000"/>
                </a:solidFill>
                <a:latin typeface="Calibri" pitchFamily="34" charset="0"/>
                <a:ea typeface="Calibri" pitchFamily="34" charset="-122"/>
                <a:cs typeface="Calibri" pitchFamily="34" charset="-120"/>
              </a:rPr>
              <a:t xml:space="preserve">   ieeexplore.ieee.org/document/9170108</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r>
              <a:rPr lang="en-US" sz="900" b="1" dirty="0">
                <a:solidFill>
                  <a:srgbClr val="000000"/>
                </a:solidFill>
                <a:latin typeface="Calibri" pitchFamily="34" charset="0"/>
                <a:ea typeface="Calibri" pitchFamily="34" charset="-122"/>
                <a:cs typeface="Calibri" pitchFamily="34" charset="-120"/>
              </a:rPr>
              <a:t xml:space="preserve">   ieeexplore.ieee.org/document/10286072</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r>
              <a:rPr lang="en-US" sz="900" b="1" dirty="0">
                <a:solidFill>
                  <a:srgbClr val="000000"/>
                </a:solidFill>
                <a:latin typeface="Calibri" pitchFamily="34" charset="0"/>
                <a:ea typeface="Calibri" pitchFamily="34" charset="-122"/>
                <a:cs typeface="Calibri" pitchFamily="34" charset="-120"/>
              </a:rPr>
              <a:t xml:space="preserve">   ieeexplore.ieee.org/document/10591431</a:t>
            </a:r>
          </a:p>
          <a:p>
            <a:pPr marL="177800" indent="0">
              <a:spcAft>
                <a:spcPts val="12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r>
              <a:rPr lang="en-US" sz="900" b="1" dirty="0">
                <a:solidFill>
                  <a:srgbClr val="000000"/>
                </a:solidFill>
                <a:latin typeface="Calibri" pitchFamily="34" charset="0"/>
                <a:ea typeface="Calibri" pitchFamily="34" charset="-122"/>
                <a:cs typeface="Calibri" pitchFamily="34" charset="-120"/>
              </a:rPr>
              <a:t xml:space="preserve">   ieeexplore.ieee.org/document/11146698</a:t>
            </a:r>
          </a:p>
          <a:p>
            <a:pPr marL="177800" indent="0">
              <a:spcAft>
                <a:spcPts val="0"/>
              </a:spcAft>
              <a:buSzPct val="100000"/>
              <a:buNone/>
            </a:pPr>
            <a:r>
              <a:rPr lang="en-US" sz="850" dirty="0">
                <a:solidFill>
                  <a:srgbClr val="000000"/>
                </a:solidFill>
                <a:latin typeface="Calibri" pitchFamily="34" charset="0"/>
                <a:ea typeface="Calibri" pitchFamily="34" charset="-122"/>
                <a:cs typeface="Calibri" pitchFamily="34" charset="-120"/>
              </a:rPr>
              <a:t xml:space="preserve">All 13 verified against the publisher record </a:t>
            </a:r>
            <a:r>
              <a:rPr lang="en-US" sz="850" dirty="0">
                <a:solidFill>
                  <a:srgbClr val="000000"/>
                </a:solidFill>
                <a:latin typeface="Calibri" pitchFamily="34" charset="0"/>
                <a:ea typeface="Calibri" pitchFamily="34" charset="-122"/>
                <a:cs typeface="Calibri" pitchFamily="34" charset="-120"/>
              </a:rPr>
              <a:t xml:space="preserve">—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