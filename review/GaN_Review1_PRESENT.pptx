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9" r:id="rId5"/>
    <p:sldId id="267" r:id="rId18"/>
    <p:sldId id="322" r:id="rId65"/>
    <p:sldId id="282" r:id="rId33"/>
    <p:sldId id="316" r:id="rId59"/>
    <p:sldId id="261" r:id="rId7"/>
    <p:sldId id="274" r:id="rId25"/>
    <p:sldId id="280" r:id="rId31"/>
    <p:sldId id="278" r:id="rId29"/>
    <p:sldId id="297" r:id="rId40"/>
    <p:sldId id="314" r:id="rId57"/>
    <p:sldId id="307" r:id="rId50"/>
    <p:sldId id="308" r:id="rId51"/>
    <p:sldId id="309" r:id="rId52"/>
    <p:sldId id="273" r:id="rId24"/>
    <p:sldId id="323" r:id="rId66"/>
    <p:sldId id="324" r:id="rId67"/>
    <p:sldId id="326" r:id="rId69"/>
    <p:sldId id="325" r:id="rId68"/>
    <p:sldId id="320" r:id="rId63"/>
    <p:sldId id="319" r:id="rId62"/>
    <p:sldId id="321" r:id="rId64"/>
    <p:sldId id="317" r:id="rId60"/>
    <p:sldId id="262" r:id="rId8"/>
    <p:sldId id="265"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5.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15.xml"/><Relationship Id="rId9" Type="http://schemas.openxmlformats.org/officeDocument/2006/relationships/slide" Target="slides/slide22.xml"/><Relationship Id="rId10" Type="http://schemas.openxmlformats.org/officeDocument/2006/relationships/slide" Target="slides/slide27.xml"/><Relationship Id="rId11" Type="http://schemas.openxmlformats.org/officeDocument/2006/relationships/slide" Target="slides/slide30.xml"/><Relationship Id="rId12" Type="http://schemas.openxmlformats.org/officeDocument/2006/relationships/slide" Target="slides/slide32.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7.xml"/><Relationship Id="rId19" Type="http://schemas.openxmlformats.org/officeDocument/2006/relationships/slide" Target="slides/slide33.xml"/><Relationship Id="rId20" Type="http://schemas.openxmlformats.org/officeDocument/2006/relationships/slide" Target="slides/slide28.xml"/><Relationship Id="rId21" Type="http://schemas.openxmlformats.org/officeDocument/2006/relationships/slide" Target="slides/slide21.xml"/><Relationship Id="rId22" Type="http://schemas.openxmlformats.org/officeDocument/2006/relationships/slide" Target="slides/slide29.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2.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32.xml"/><Relationship Id="rId29" Type="http://schemas.openxmlformats.org/officeDocument/2006/relationships/slide" Target="slides/slide13.xml"/><Relationship Id="rId30" Type="http://schemas.openxmlformats.org/officeDocument/2006/relationships/slide" Target="slides/slide20.xml"/><Relationship Id="rId31" Type="http://schemas.openxmlformats.org/officeDocument/2006/relationships/slide" Target="slides/slide11.xml"/><Relationship Id="rId32" Type="http://schemas.openxmlformats.org/officeDocument/2006/relationships/slide" Target="slides/slide24.xml"/><Relationship Id="rId33" Type="http://schemas.openxmlformats.org/officeDocument/2006/relationships/slide" Target="slides/slide8.xml"/><Relationship Id="rId34" Type="http://schemas.openxmlformats.org/officeDocument/2006/relationships/slide" Target="slides/slide14.xml"/><Relationship Id="rId35" Type="http://schemas.openxmlformats.org/officeDocument/2006/relationships/slide" Target="slides/slide3.xml"/><Relationship Id="rId36" Type="http://schemas.openxmlformats.org/officeDocument/2006/relationships/slide" Target="slides/slide18.xml"/><Relationship Id="rId37" Type="http://schemas.openxmlformats.org/officeDocument/2006/relationships/slide" Target="slides/slide4.xml"/><Relationship Id="rId38" Type="http://schemas.openxmlformats.org/officeDocument/2006/relationships/slide" Target="slides/slide9.xml"/><Relationship Id="rId39" Type="http://schemas.openxmlformats.org/officeDocument/2006/relationships/slide" Target="slides/slide19.xml"/><Relationship Id="rId40" Type="http://schemas.openxmlformats.org/officeDocument/2006/relationships/slide" Target="slides/slide34.xml"/><Relationship Id="rId41" Type="http://schemas.openxmlformats.org/officeDocument/2006/relationships/slide" Target="slides/slide31.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3.5 %, on 36 corners.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4.7 % of the gain over a fixed word and ONE comparator.' Build it in three steps. (1) Choosing the fixed word well is worth 26.5 %. (2) Adapting per corner adds only 2.6 % — a eleventh of the total. (3) And 47 % of even THAT is capturable with a single comparator on bus voltage, not a lookup table; two comparators reach 61 %, which is the 3.4 % figure.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and no silicon has been measured. Do NOT concede the single device model any more either - 24 devices were sampled with Vth, gm, Cgs and Cgd varied jointly, the shipped word stays safe on every one, and the ordering survives on every one.</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36.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7.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0.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GaN synchronous buck converter. (a) output charging from zero and settling; (b) three switching cycles; (c) power in against power out. 100 V DC in, 48.56 V DC out at 4.876 A, 97.70 % efficient.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 (That 1.65 V is our device model’s; how much the result depends on the model is itself a finding, and it has its own slide.)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Zhang, Yu, Leng, Cui, Deng &amp; Ng (2020)  —  IEEE ISPSD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segmented gate driver for E-mode GaN HEMTs: the output stage is split into slices, and drive strength is selected by a pattern rather than set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Same device, same architecture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GaN HEMTs in a bridge, a sliced output stage, strength chosen by a code. That is the structure this project starts from.</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How we extend it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Theirs is an ASIC with a fixed pattern set, chosen at design time. We make every field programmable from an FPGA — slices, dead time, Miller clamp, off-bias rail — add the clamp and the −2 V rail, and measure what choosing the pattern per operating point is worth.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 J. Zhang, J. Yu, Y. Leng, W. T. Cui, G. Q. Deng and W. T. Ng, </a:t>
            </a:r>
            <a:r>
              <a:rPr lang="en-US" sz="1150" b="1"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a:t>
            </a:r>
            <a:r>
              <a:rPr lang="en-US" sz="1150" dirty="0">
                <a:solidFill>
                  <a:srgbClr val="000000"/>
                </a:solidFill>
                <a:latin typeface="Calibri" pitchFamily="34" charset="0"/>
                <a:ea typeface="Calibri" pitchFamily="34" charset="-122"/>
                <a:cs typeface="Calibri" pitchFamily="34" charset="-120"/>
              </a:rPr>
              <a:t xml:space="preserve"> in Proc. IEEE 32nd Int. Symp. Power Semicond. Devices ICs (ISPSD), 2020, pp. 102–105.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closest published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538728"/>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p>
                      <a:r>
                        <a:rPr sz="1050" b="1">
                          <a:solidFill>
                            <a:srgbClr val="000000"/>
                          </a:solidFill>
                          <a:latin typeface="Calibri"/>
                        </a:rPr>
                        <a:t>PAPER</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Base paper. Same device, same architecture: E-mode GaN, segmented output stage, strength set by a pattern. Theirs is an ASIC with a fixed pattern set. We make every field programmable from an FPGA and price what the pattern space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2.6 %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[10] is the base paper: E-mode GaN, segmented output stage, strength chosen by a pattern. All four are verified against the publisher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5</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36 operating points, all of them, in ngspice — then report the two numbers separately instead of adding them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converter, and the driver that switches 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Every one of them is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48.6 V DC out at 4.88 A: 236.9 W delivered, 97.7 %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Fig. 2 — </a:t>
            </a:r>
            <a:r>
              <a:rPr lang="en-US" sz="1200" b="1" dirty="0">
                <a:solidFill>
                  <a:srgbClr val="000000"/>
                </a:solidFill>
                <a:latin typeface="Calibri" pitchFamily="34" charset="0"/>
                <a:ea typeface="Calibri" pitchFamily="34" charset="-122"/>
                <a:cs typeface="Calibri" pitchFamily="34" charset="-120"/>
              </a:rPr>
              <a:t> Drawn diagram, not simulation output. </a:t>
            </a:r>
            <a:r>
              <a:rPr lang="en-US" sz="1200" dirty="0">
                <a:solidFill>
                  <a:srgbClr val="000000"/>
                </a:solidFill>
                <a:latin typeface="Calibri" pitchFamily="34" charset="0"/>
                <a:ea typeface="Calibri" pitchFamily="34" charset="-122"/>
                <a:cs typeface="Calibri" pitchFamily="34" charset="-120"/>
              </a:rPr>
              <a:t>One switching edge, followed through. Top row: the controller's decision. Bottom row: the circuit's response. Only the shaded diamond is decided at run time.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6016752"/>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and measuring what it is worth is the project's question.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circuit_ltspice.png"/>
          <p:cNvPicPr>
            <a:picLocks noChangeAspect="1"/>
          </p:cNvPicPr>
          <p:nvPr/>
        </p:nvPicPr>
        <p:blipFill>
          <a:blip r:embed="rId6"/>
          <a:stretch>
            <a:fillRect/>
          </a:stretch>
        </p:blipFill>
        <p:spPr>
          <a:xfrm>
            <a:off x="2534035" y="1060704"/>
            <a:ext cx="7123625" cy="4828032"/>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GaN synchronous buck converter, ltspice/BUCK_converter.asc. “Buck” means step-down: 100 V in, 48.6 V out. The two yellow blocks are the segmented gate drivers, the part this project designs. Around them: the 100 V supply with its power-loop parasitics, the two GaN HEMTs, the output filter and a 10 Ω load.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14</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models/zhangdrv.lib</a:t>
            </a:r>
            <a:r>
              <a:rPr lang="en-US" sz="1250" dirty="0">
                <a:solidFill>
                  <a:srgbClr val="000000"/>
                </a:solidFill>
                <a:latin typeface="Calibri" pitchFamily="34" charset="0"/>
                <a:ea typeface="Calibri" pitchFamily="34" charset="-122"/>
                <a:cs typeface="Calibri" pitchFamily="34" charset="-120"/>
              </a:rPr>
              <a:t> is Zhang et al.'s driver: seven slices brought in as a timed pattern across the switching edge, the pattern picked by one bias resistor,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at its best setting</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+0.407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staged pattern on its own already clears the 1.4 V threshold, at the best setting in their own stated range.</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constant code is worse than their staged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6.3× the base paper's best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stages its slices over time and picks the pattern with one resistor; we add two things they do not have and make every field programmable. Both clear the threshold — theirs works, and we quote it at its best setting — but ours clears it by 6.3× more, and ours is the one whose settings can then be searched in full. Across their own stated range their margin runs +0.407 V down to −0.278 V, so quoting them anywhere worse would be picking the opponent.</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Command: python3 scripts/basepaper_compare.py — four ngspice runs, prints this table.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90 %</a:t>
            </a:r>
            <a:endParaRPr lang="en-US" sz="2800" dirty="0"/>
          </a:p>
        </p:txBody>
      </p:sp>
      <p:sp>
        <p:nvSpPr>
          <p:cNvPr id="5" name="TextBox 4"/>
          <p:cNvSpPr txBox="1"/>
          <p:nvPr/>
        </p:nvSpPr>
        <p:spPr>
          <a:xfrm>
            <a:off x="640080" y="1078992"/>
            <a:ext cx="11064240" cy="420624"/>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Counted, not asserted. </a:t>
            </a:r>
            <a:r>
              <a:rPr lang="en-US" sz="1200" dirty="0">
                <a:solidFill>
                  <a:srgbClr val="000000"/>
                </a:solidFill>
                <a:latin typeface="Calibri" pitchFamily="34" charset="0"/>
                <a:ea typeface="Calibri" pitchFamily="34" charset="-122"/>
                <a:cs typeface="Calibri" pitchFamily="34" charset="-120"/>
              </a:rPr>
              <a:t xml:space="preserve">13 blocks, weighted by how much of the project each is. 11 are finished. The weights are on the slide so they can be argued with.</a:t>
            </a:r>
          </a:p>
        </p:txBody>
      </p:sp>
      <p:graphicFrame>
        <p:nvGraphicFramePr>
          <p:cNvPr id="6" name="Table 5"/>
          <p:cNvGraphicFramePr>
            <a:graphicFrameLocks noGrp="1"/>
          </p:cNvGraphicFramePr>
          <p:nvPr/>
        </p:nvGraphicFramePr>
        <p:xfrm>
          <a:off x="566928" y="1591056"/>
          <a:ext cx="11100814" cy="4069080"/>
        </p:xfrm>
        <a:graphic>
          <a:graphicData uri="http://schemas.openxmlformats.org/drawingml/2006/table">
            <a:tbl>
              <a:tblPr firstRow="1">
                <a:tableStyleId>{5C22544A-7EE6-4342-B048-85BDC9FD1C3A}</a:tableStyleId>
              </a:tblPr>
              <a:tblGrid>
                <a:gridCol w="444032"/>
                <a:gridCol w="3996293"/>
                <a:gridCol w="888065"/>
                <a:gridCol w="5772424"/>
              </a:tblGrid>
              <a:tr h="290648">
                <a:tc>
                  <a:txBody>
                    <a:bodyPr wrap="square"/>
                    <a:lstStyle/>
                    <a:p>
                      <a:r>
                        <a:rPr sz="1000" b="1">
                          <a:latin typeface="Calibri"/>
                        </a:rPr>
                        <a:t/>
                      </a:r>
                    </a:p>
                  </a:txBody>
                  <a:tcPr marL="50292" marR="50292" marT="27432" marB="27432"/>
                </a:tc>
                <a:tc>
                  <a:txBody>
                    <a:bodyPr wrap="square"/>
                    <a:lstStyle/>
                    <a:p>
                      <a:r>
                        <a:rPr sz="1000" b="1">
                          <a:latin typeface="Calibri"/>
                        </a:rPr>
                        <a:t>Block of work</a:t>
                      </a:r>
                    </a:p>
                  </a:txBody>
                  <a:tcPr marL="50292" marR="50292" marT="27432" marB="27432"/>
                </a:tc>
                <a:tc>
                  <a:txBody>
                    <a:bodyPr wrap="square"/>
                    <a:lstStyle/>
                    <a:p>
                      <a:r>
                        <a:rPr sz="1000" b="1">
                          <a:latin typeface="Calibri"/>
                        </a:rPr>
                        <a:t>Weight</a:t>
                      </a:r>
                    </a:p>
                  </a:txBody>
                  <a:tcPr marL="50292" marR="50292" marT="27432" marB="27432"/>
                </a:tc>
                <a:tc>
                  <a:txBody>
                    <a:bodyPr wrap="square"/>
                    <a:lstStyle/>
                    <a:p>
                      <a:r>
                        <a:rPr sz="1000" b="1">
                          <a:latin typeface="Calibri"/>
                        </a:rPr>
                        <a:t>Evidence, or why not yet</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itself, built and converting</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100 V → 48.6 V at 4.88 A, 97.7 % efficient (buck.cir)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device choice justified against silicon</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5.9 W vs 17.3 W at 500 kHz; 3 sweeps, 4 duty profiles</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base paper implemented, not just cited</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zhangdrv.lib in our deck and in the converter — at 100 V only</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segmented driver; the fault reproduced and fixed</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−0.249 V → +2.576 V, one change at a time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full study: 720 words × 4 corners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60,533 transients over 36 corners — all on dpt.cir, not the converter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How much controller that justifies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ladder + leave-one-corner-out; two implementations agree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FPGA: RTL written, verified, synthesised, timing met</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8 properties; 20 LUT / 20 FF; 200 MHz, 1.996 ns slack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two halves made to meet in one simulation</a:t>
                      </a:r>
                    </a:p>
                  </a:txBody>
                  <a:tcPr marL="50292" marR="50292" marT="27432" marB="27432"/>
                </a:tc>
                <a:tc>
                  <a:txBody>
                    <a:bodyPr wrap="square"/>
                    <a:lstStyle/>
                    <a:p>
                      <a:r>
                        <a:rPr sz="900" b="0">
                          <a:latin typeface="Calibri"/>
                        </a:rPr>
                        <a:t>5</a:t>
                      </a:r>
                    </a:p>
                  </a:txBody>
                  <a:tcPr marL="50292" marR="50292" marT="27432" marB="27432"/>
                </a:tc>
                <a:tc>
                  <a:txBody>
                    <a:bodyPr wrap="square"/>
                    <a:lstStyle/>
                    <a:p>
                      <a:r>
                        <a:rPr sz="900" b="0">
                          <a:latin typeface="Calibri"/>
                        </a:rPr>
                        <a:t>RTL VCD drives the SPICE slices; agree to 0.081 V</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Closed-loop regulation, disturbed on purpose</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type-III loop: 0.01 % error through a 2x load and a 20 % line step</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Transistor-level output stage, on a real PDK</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latin typeface="Calibri"/>
                        </a:rPr>
                        <a:t>SKY130 5 V devices: sign and ordering of the result both survive</a:t>
                      </a:r>
                    </a:p>
                  </a:txBody>
                  <a:tcPr marL="50292" marR="50292" marT="27432" marB="27432"/>
                </a:tc>
              </a:tr>
              <a:tr h="290648">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Place-and-route on a chosen board</a:t>
                      </a:r>
                    </a:p>
                  </a:txBody>
                  <a:tcPr marL="50292" marR="50292" marT="27432" marB="27432"/>
                </a:tc>
                <a:tc>
                  <a:txBody>
                    <a:bodyPr wrap="square"/>
                    <a:lstStyle/>
                    <a:p>
                      <a:r>
                        <a:rPr sz="900" b="0">
                          <a:latin typeface="Calibri"/>
                        </a:rPr>
                        <a:t>3</a:t>
                      </a:r>
                    </a:p>
                  </a:txBody>
                  <a:tcPr marL="50292" marR="50292" marT="27432" marB="27432"/>
                </a:tc>
                <a:tc>
                  <a:txBody>
                    <a:bodyPr wrap="square"/>
                    <a:lstStyle/>
                    <a:p>
                      <a:r>
                        <a:rPr sz="900" b="0">
                          <a:solidFill>
                            <a:srgbClr val="555555"/>
                          </a:solidFill>
                          <a:latin typeface="Calibri"/>
                        </a:rPr>
                        <a:t>Needs real package pins and an MMCM for the clock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swept across its stated envelope</a:t>
                      </a:r>
                    </a:p>
                  </a:txBody>
                  <a:tcPr marL="50292" marR="50292" marT="27432" marB="27432"/>
                </a:tc>
                <a:tc>
                  <a:txBody>
                    <a:bodyPr wrap="square"/>
                    <a:lstStyle/>
                    <a:p>
                      <a:r>
                        <a:rPr sz="900" b="0">
                          <a:latin typeface="Calibri"/>
                        </a:rPr>
                        <a:t>10</a:t>
                      </a:r>
                    </a:p>
                  </a:txBody>
                  <a:tcPr marL="50292" marR="50292" marT="27432" marB="27432"/>
                </a:tc>
                <a:tc>
                  <a:txBody>
                    <a:bodyPr wrap="square"/>
                    <a:lstStyle/>
                    <a:p>
                      <a:r>
                        <a:rPr sz="900" b="0">
                          <a:latin typeface="Calibri"/>
                        </a:rPr>
                        <a:t>8 bus×load points: margin +2.14 to +2.61 V everywhere, and the envelope corrected to 50–150 V because a 200 V part cannot run a 200 V bus</a:t>
                      </a:r>
                    </a:p>
                  </a:txBody>
                  <a:tcPr marL="50292" marR="50292" marT="27432" marB="27432"/>
                </a:tc>
              </a:tr>
              <a:tr h="290656">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A hardware half-bridge, measured</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solidFill>
                            <a:srgbClr val="555555"/>
                          </a:solidFill>
                          <a:latin typeface="Calibri"/>
                        </a:rPr>
                        <a:t>Review-III. Until then this is a simulation study, and is titled as one</a:t>
                      </a:r>
                    </a:p>
                  </a:txBody>
                  <a:tcPr marL="50292" marR="50292" marT="27432" marB="27432"/>
                </a:tc>
              </a:tr>
            </a:tbl>
          </a:graphicData>
        </a:graphic>
      </p:graphicFrame>
      <p:sp>
        <p:nvSpPr>
          <p:cNvPr id="7" name="TextBox 6"/>
          <p:cNvSpPr txBox="1"/>
          <p:nvPr/>
        </p:nvSpPr>
        <p:spPr>
          <a:xfrm>
            <a:off x="640080" y="5797296"/>
            <a:ext cx="10698480" cy="822960"/>
          </a:xfrm>
          <a:prstGeom prst="rect">
            <a:avLst/>
          </a:prstGeom>
          <a:noFill/>
        </p:spPr>
        <p:txBody>
          <a:bodyPr wrap="square" lIns="0" tIns="0" rIns="0" bIns="0">
            <a:spAutoFit/>
          </a:bodyPr>
          <a:lstStyle/>
          <a:p>
            <a:pPr marL="177800" indent="0">
              <a:spcAft>
                <a:spcPts val="140"/>
              </a:spcAft>
              <a:buSzPct val="100000"/>
              <a:buNone/>
            </a:pPr>
            <a:r>
              <a:rPr lang="en-US" sz="1250" b="1" dirty="0">
                <a:solidFill>
                  <a:srgbClr val="000000"/>
                </a:solidFill>
                <a:latin typeface="Calibri" pitchFamily="34" charset="0"/>
                <a:ea typeface="Calibri" pitchFamily="34" charset="-122"/>
                <a:cs typeface="Calibri" pitchFamily="34" charset="-120"/>
              </a:rPr>
              <a:t xml:space="preserve">90 of 100 done. </a:t>
            </a:r>
            <a:r>
              <a:rPr lang="en-US" sz="1250" dirty="0">
                <a:solidFill>
                  <a:srgbClr val="000000"/>
                </a:solidFill>
                <a:latin typeface="Calibri" pitchFamily="34" charset="0"/>
                <a:ea typeface="Calibri" pitchFamily="34" charset="-122"/>
                <a:cs typeface="Calibri" pitchFamily="34" charset="-120"/>
              </a:rPr>
              <a:t xml:space="preserve">Review-I's rubric asks for 50 %. The remaining 10 % is place-and-route on a chosen board and a hardware half-bridge on a bench. The simulation is finished, and simulating harder will not deliver either.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Plainly: the simulation is finished, across the envelope and not just at one point. Nothing has been measured on silicon.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34440"/>
            <a:ext cx="11064240" cy="4846320"/>
          </a:xfrm>
          <a:prstGeom prst="rect">
            <a:avLst/>
          </a:prstGeom>
          <a:noFill/>
        </p:spPr>
        <p:txBody>
          <a:bodyPr wrap="square" lIns="0" tIns="0" rIns="0" bIns="0">
            <a:spAutoFit/>
          </a:bodyPr>
          <a:lstStyle/>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Where we are</a:t>
            </a:r>
          </a:p>
          <a:p>
            <a:pPr marL="177800" indent="-177800">
              <a:spcAft>
                <a:spcPts val="260"/>
              </a:spcAft>
              <a:buSzPct val="100000"/>
              <a:buChar char="•"/>
            </a:pPr>
            <a:r>
              <a:rPr lang="en-US" sz="1300" dirty="0">
                <a:solidFill>
                  <a:srgbClr val="000000"/>
                </a:solidFill>
                <a:latin typeface="Calibri" pitchFamily="34" charset="0"/>
                <a:ea typeface="Calibri" pitchFamily="34" charset="-122"/>
                <a:cs typeface="Calibri" pitchFamily="34" charset="-120"/>
              </a:rPr>
              <a:t xml:space="preserve">90 % by the count on the previous slide. The converter is built and regulating, the fault is reproduced and fixed, the 720-word study is run, the controller is written, verified and synthesised, its output drives the SPICE power stage directly, and the driver has been rebuilt in real transistors.</a:t>
            </a:r>
          </a:p>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What is actually left — and it is not more simulating</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Place-and-route on a chosen board. </a:t>
            </a:r>
            <a:r>
              <a:rPr lang="en-US" sz="1300" dirty="0">
                <a:solidFill>
                  <a:srgbClr val="000000"/>
                </a:solidFill>
                <a:latin typeface="Calibri" pitchFamily="34" charset="0"/>
                <a:ea typeface="Calibri" pitchFamily="34" charset="-122"/>
                <a:cs typeface="Calibri" pitchFamily="34" charset="-120"/>
              </a:rPr>
              <a:t xml:space="preserve">Synthesis is done; the flow stops there because the XDC pins are placeholders. Doing it properly also means driving the 200 MHz clock from an MMCM rather than straight off a pin, which is what makes 34 clock-to-pin paths fail today.</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A hardware half-bridge, measured. </a:t>
            </a:r>
            <a:r>
              <a:rPr lang="en-US" sz="1300" dirty="0">
                <a:solidFill>
                  <a:srgbClr val="000000"/>
                </a:solidFill>
                <a:latin typeface="Calibri" pitchFamily="34" charset="0"/>
                <a:ea typeface="Calibri" pitchFamily="34" charset="-122"/>
                <a:cs typeface="Calibri" pitchFamily="34" charset="-120"/>
              </a:rPr>
              <a:t xml:space="preserve">This is the whole of the remaining honest risk. Everything in this deck is a simulation of a converter that has never been built, and one behavioural GaN model underlies all of it.</a:t>
            </a:r>
          </a:p>
          <a:p>
            <a:pPr marL="177800" indent="-177800">
              <a:spcAft>
                <a:spcPts val="0"/>
              </a:spcAft>
              <a:buSzPct val="100000"/>
              <a:buChar char="•"/>
            </a:pPr>
            <a:r>
              <a:rPr lang="en-US" sz="1200" dirty="0">
                <a:solidFill>
                  <a:srgbClr val="000000"/>
                </a:solidFill>
                <a:latin typeface="Calibri" pitchFamily="34" charset="0"/>
                <a:ea typeface="Calibri" pitchFamily="34" charset="-122"/>
                <a:cs typeface="Calibri" pitchFamily="34" charset="-120"/>
              </a:rPr>
              <a:t xml:space="preserve">Also worth doing: transcribe the silicon MOSFET datasheet digits rather than using datasheet-class values, and re-run the ceiling on the transistor-level stage now that it is known to work.</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sp>
        <p:nvSpPr>
          <p:cNvPr id="5" name="Text 2"/>
          <p:cNvSpPr txBox="1"/>
          <p:nvPr/>
        </p:nvSpPr>
        <p:spPr>
          <a:xfrm>
            <a:off x="640080" y="1325880"/>
            <a:ext cx="10881360" cy="228600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Fig. 9 — </a:t>
            </a:r>
            <a:r>
              <a:rPr lang="en-US" sz="1000" dirty="0" b="1">
                <a:solidFill>
                  <a:srgbClr val="000000"/>
                </a:solidFill>
                <a:latin typeface="Calibri" pitchFamily="34" charset="0"/>
                <a:ea typeface="Calibri" pitchFamily="34" charset="-122"/>
                <a:cs typeface="Calibri" pitchFamily="34" charset="-120"/>
              </a:rPr>
              <a:t> Icarus Verilog output. </a:t>
            </a:r>
            <a:r>
              <a:rPr lang="en-US" sz="1000" dirty="0">
                <a:solidFill>
                  <a:srgbClr val="000000"/>
                </a:solidFill>
                <a:latin typeface="Calibri" pitchFamily="34" charset="0"/>
                <a:ea typeface="Calibri" pitchFamily="34" charset="-122"/>
                <a:cs typeface="Calibri" pitchFamily="34" charset="-120"/>
              </a:rPr>
              <a:t>Icarus Verilog VCD of seg_gate_ctrl.v. The pull-up banks never overlap; the shaded interval is the dead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the setting well beats re-tuning it — and by how much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(a) five settings at 100 V / 10 A, one ngspice run each; (b) dead-time sweep at two operating points. Cheapest dead time: 15 ns at full load, 5 ns at light load.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Which tool did what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tools.png"/>
          <p:cNvPicPr>
            <a:picLocks noChangeAspect="1"/>
          </p:cNvPicPr>
          <p:nvPr/>
        </p:nvPicPr>
        <p:blipFill>
          <a:blip r:embed="rId4"/>
          <a:stretch>
            <a:fillRect/>
          </a:stretch>
        </p:blipFill>
        <p:spPr>
          <a:xfrm>
            <a:off x="1188795" y="1234440"/>
            <a:ext cx="9814106" cy="4297680"/>
          </a:xfrm>
          <a:prstGeom prst="rect">
            <a:avLst/>
          </a:prstGeom>
        </p:spPr>
      </p:pic>
      <p:sp>
        <p:nvSpPr>
          <p:cNvPr id="6" name="TextBox 5"/>
          <p:cNvSpPr txBox="1"/>
          <p:nvPr/>
        </p:nvSpPr>
        <p:spPr>
          <a:xfrm>
            <a:off x="502920" y="5724144"/>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Division of work between the two circuit simulators. All ≈ 35,000 transients are ngspice; LTspice provides an independent check of the crosstalk result.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and what fixes 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Gate–source voltage of the off-state device at low-side turn-on, 100 V / 10 A. No clamp: +1.65 V against a 1.4 V threshold. Clamp and −2 V rail: −1.18 V, margin 2.576 V.</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Power lost and peak switch-node voltage against pull-up slice count, measured on the running converter. Eight runs of sim/buck.cir; minimum loss at four slices.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3.5 %</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Cost of one fixed control word against the true per-corner optimum, four operating points, 2,880 transients. Penalty 1.1 / 2.3 / 12.7 / 3.8 %.</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3.5 %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over 36 corners (= 2.6 %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Over 36 points the fixed word costs 0.01 % to 14.2 %; worst is 200 V / 2 A / 125 °C.</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3.5 % on the full 36-corner grid — 720 words at each, 25,911 transients. The four-corner study said 5.2 %.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Segmented gate drivers set drive strength by a pattern fixed at design time [10]. Papers on active gate drivers report one number — the improvement over a conventional driver — and that number adds two separate effects together. Only the second needs a sensor, an ADC and a lookup table. Separating them means running every setting at every operating point.</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26.5 %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46 %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1.2 %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b="1">
                <a:solidFill>
                  <a:srgbClr val="000000"/>
                </a:solidFill>
                <a:latin typeface="Calibri" pitchFamily="34" charset="0"/>
                <a:ea typeface="Calibri" pitchFamily="34" charset="-122"/>
                <a:cs typeface="Calibri" pitchFamily="34" charset="-120"/>
              </a:rPr>
              <a:t>Adaptation is 8.9 % of the total gain — 2.6 points of 29.0, over 36 operating points; the other 91.1 % comes from the fixed word and needs no sensing. </a:t>
            </a:r>
            <a:r>
              <a:rPr lang="en-US" sz="1300" dirty="0">
                <a:solidFill>
                  <a:srgbClr val="000000"/>
                </a:solidFill>
                <a:latin typeface="Calibri" pitchFamily="34" charset="0"/>
                <a:ea typeface="Calibri" pitchFamily="34" charset="-122"/>
                <a:cs typeface="Calibri" pitchFamily="34" charset="-120"/>
              </a:rPr>
              <a:t>Full sensing, ADC and lookup table justify 4.7 % of the total gain over a fixed word plus one comparator (load current at 10 A, which takes 47 % of the adaptive gap), or 3.4 % over a fixed word plus two. One threshold cannot do better: ten distinct best words spread over the 36 corners, and bus, load and temperature each disagree internally. The four-corner study named bus voltage at 75 V here; on the full grid the comparator is load current.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@FIG@ </a:t>
            </a:r>
            <a:r>
              <a:rPr lang="en-US" sz="1200" dirty="0">
                <a:solidFill>
                  <a:srgbClr val="000000"/>
                </a:solidFill>
                <a:latin typeface="Calibri" pitchFamily="34" charset="0"/>
                <a:ea typeface="Calibri" pitchFamily="34" charset="-122"/>
                <a:cs typeface="Calibri" pitchFamily="34" charset="-120"/>
              </a:rPr>
              <a:t>Ceiling on operating-point scheduling against power-loop inductance. Eight values, 7,200 transients. Scheduling pays only below about 2.5 nH.</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ngspice waveforms from sim/dpt.cir, failing and shipped configurations. 22 s. Click to play.</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What it shows</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TOP row: the switch node. </a:t>
            </a:r>
            <a:r>
              <a:rPr lang="en-US" sz="1250" dirty="0">
                <a:solidFill>
                  <a:srgbClr val="000000"/>
                </a:solidFill>
                <a:latin typeface="Calibri" pitchFamily="34" charset="0"/>
                <a:ea typeface="Calibri" pitchFamily="34" charset="-122"/>
                <a:cs typeface="Calibri" pitchFamily="34" charset="-120"/>
              </a:rPr>
              <a:t>The low-side device turns on and the voltage collapses from 100 V in a few nanoseconds. That fast drop is the cause.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BOTTOM row: the gate of the OFF device. </a:t>
            </a:r>
            <a:r>
              <a:rPr lang="en-US" sz="1250" dirty="0">
                <a:solidFill>
                  <a:srgbClr val="000000"/>
                </a:solidFill>
                <a:latin typeface="Calibri" pitchFamily="34" charset="0"/>
                <a:ea typeface="Calibri" pitchFamily="34" charset="-122"/>
                <a:cs typeface="Calibri" pitchFamily="34" charset="-120"/>
              </a:rPr>
              <a:t>The fast drop pushes charge through C</a:t>
            </a:r>
            <a:r>
              <a:rPr lang="en-US" sz="1250" dirty="0">
                <a:solidFill>
                  <a:srgbClr val="000000"/>
                </a:solidFill>
                <a:latin typeface="Calibri" pitchFamily="34" charset="0"/>
                <a:ea typeface="Calibri" pitchFamily="34" charset="-122"/>
                <a:cs typeface="Calibri" pitchFamily="34" charset="-120"/>
              </a:rPr>
              <a:t>GD</a:t>
            </a:r>
            <a:r>
              <a:rPr lang="en-US" sz="1250" dirty="0">
                <a:solidFill>
                  <a:srgbClr val="000000"/>
                </a:solidFill>
                <a:latin typeface="Calibri" pitchFamily="34" charset="0"/>
                <a:ea typeface="Calibri" pitchFamily="34" charset="-122"/>
                <a:cs typeface="Calibri" pitchFamily="34" charset="-120"/>
              </a:rPr>
              <a:t> and lifts that gate.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LEFT, failing: </a:t>
            </a:r>
            <a:r>
              <a:rPr lang="en-US" sz="1250" dirty="0">
                <a:solidFill>
                  <a:srgbClr val="000000"/>
                </a:solidFill>
                <a:latin typeface="Calibri" pitchFamily="34" charset="0"/>
                <a:ea typeface="Calibri" pitchFamily="34" charset="-122"/>
                <a:cs typeface="Calibri" pitchFamily="34" charset="-120"/>
              </a:rPr>
              <a:t>the gate reaches +1.65 V, above the 1.4 V line drawn on the plot. The device turns on when it must not.</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RIGHT, shipped: </a:t>
            </a:r>
            <a:r>
              <a:rPr lang="en-US" sz="1250" dirty="0">
                <a:solidFill>
                  <a:srgbClr val="000000"/>
                </a:solidFill>
                <a:latin typeface="Calibri" pitchFamily="34" charset="0"/>
                <a:ea typeface="Calibri" pitchFamily="34" charset="-122"/>
                <a:cs typeface="Calibri" pitchFamily="34" charset="-120"/>
              </a:rPr>
              <a:t>same circuit, same setting, plus the gate clamp and −2 V rail. Peak −1.18 V,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Both panels are the same simulation; only the clamp and the off rail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What the data supports</a:t>
            </a:r>
          </a:p>
          <a:p>
            <a:pPr marL="177800" indent="0">
              <a:spcAft>
                <a:spcPts val="260"/>
              </a:spcAft>
              <a:buSzPct val="100000"/>
              <a:buNone/>
            </a:pPr>
            <a:r>
              <a:rPr lang="en-US" sz="1350" dirty="0">
                <a:solidFill>
                  <a:srgbClr val="000000"/>
                </a:solidFill>
                <a:latin typeface="Calibri" pitchFamily="34" charset="0"/>
                <a:ea typeface="Calibri" pitchFamily="34" charset="-122"/>
                <a:cs typeface="Calibri" pitchFamily="34" charset="-120"/>
              </a:rPr>
              <a:t>The converter works: 100 V DC in, 48.6 V DC out at 4.88 A — 236.9 W, 97.7 % efficient.</a:t>
            </a:r>
          </a:p>
          <a:p>
            <a:pPr marL="177800" indent="0">
              <a:spcAft>
                <a:spcPts val="200"/>
              </a:spcAft>
              <a:buSzPct val="100000"/>
              <a:buNone/>
            </a:pPr>
            <a:r>
              <a:rPr lang="en-US" sz="1700" dirty="0">
                <a:solidFill>
                  <a:srgbClr val="000000"/>
                </a:solidFill>
                <a:latin typeface="Calibri" pitchFamily="34" charset="0"/>
                <a:ea typeface="Calibri" pitchFamily="34" charset="-122"/>
                <a:cs typeface="Calibri" pitchFamily="34" charset="-120"/>
              </a:rPr>
              <a:t>Picking the setting well: 26.5 %.   Changing it per operating point: 2.6 %.</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One comparator — load current at 10 A — gets 47 % of that 2.6 %; two comparators get 61 %.</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one bus-voltage comparator — not a sensor, an ADC and a lookup table.</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Review-II — close the loop on the converter, then re-run the setting study with it closed.</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Review-III — measure what a two-setting controller saves at the light-load point, where the best dead time differs.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Every number in this deck is regenerated by a named script, in ngspice or in Vivado — 60,533 transient simulations across every study.</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result in LTspice, on the drawn circuit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ltspice_annotated.png"/>
          <p:cNvPicPr>
            <a:picLocks noChangeAspect="1"/>
          </p:cNvPicPr>
          <p:nvPr/>
        </p:nvPicPr>
        <p:blipFill>
          <a:blip r:embed="rId4"/>
          <a:stretch>
            <a:fillRect/>
          </a:stretch>
        </p:blipFill>
        <p:spPr>
          <a:xfrm>
            <a:off x="1957534" y="1170432"/>
            <a:ext cx="8276626" cy="4389120"/>
          </a:xfrm>
          <a:prstGeom prst="rect">
            <a:avLst/>
          </a:prstGeom>
        </p:spPr>
      </p:pic>
      <p:sp>
        <p:nvSpPr>
          <p:cNvPr id="6" name="TextBox 5"/>
          <p:cNvSpPr txBox="1"/>
          <p:nvPr/>
        </p:nvSpPr>
        <p:spPr>
          <a:xfrm>
            <a:off x="502920" y="5742432"/>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Switch node and off-state gate–source voltage, read from the LTspice .raw file. LTspice +1.647556 / −1.176857 V; ngspice +1.6486 / −1.1757 V on the same netlist.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Inside the segmented gate driver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egdrv_inside.png"/>
          <p:cNvPicPr>
            <a:picLocks noChangeAspect="1"/>
          </p:cNvPicPr>
          <p:nvPr/>
        </p:nvPicPr>
        <p:blipFill>
          <a:blip r:embed="rId4"/>
          <a:stretch>
            <a:fillRect/>
          </a:stretch>
        </p:blipFill>
        <p:spPr>
          <a:xfrm>
            <a:off x="2011762" y="1170432"/>
            <a:ext cx="816816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Contents of models/segdrv.lib, drawn as ltspice/SEGDRV_inside.asc: eight pull-up slices from the +5 V rail to the gate, eight pull-down slices to the off rail, and the Miller clamp on its own 0.5 Ω path. It runs: the gate charges to 5.000 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we run ngspice</a:t>
            </a:r>
            <a:endParaRPr lang="en-US" sz="2800" dirty="0"/>
          </a:p>
        </p:txBody>
      </p:sp>
      <p:pic>
        <p:nvPicPr>
          <p:cNvPr id="5" name="Picture 4" descr="fig_howrun.png"/>
          <p:cNvPicPr>
            <a:picLocks noChangeAspect="1"/>
          </p:cNvPicPr>
          <p:nvPr/>
        </p:nvPicPr>
        <p:blipFill>
          <a:blip r:embed="rId4"/>
          <a:stretch>
            <a:fillRect/>
          </a:stretch>
        </p:blipFill>
        <p:spPr>
          <a:xfrm>
            <a:off x="1688439" y="1170432"/>
            <a:ext cx="881481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One case end to end: the parameters set into sim/dpt.cir, the command, what the simulator wrote, and the window the measurement is taken over. Full load, 100 V / 10 A, no clamp: +1.6486 V against a 1.4 V threshold.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ngspice runs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netlis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Power stage of sim/buck.cir. ngspice reads the circuit as a netlist, not a schematic; it is the same converter the schematic draws. ngspice 48.56 V, LTspice 48.84 V.</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the work was run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method.png"/>
          <p:cNvPicPr>
            <a:picLocks noChangeAspect="1"/>
          </p:cNvPicPr>
          <p:nvPr/>
        </p:nvPicPr>
        <p:blipFill>
          <a:blip r:embed="rId4"/>
          <a:stretch>
            <a:fillRect/>
          </a:stretch>
        </p:blipFill>
        <p:spPr>
          <a:xfrm>
            <a:off x="1481776" y="1170432"/>
            <a:ext cx="9228143"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Method, in the order carried out. Steps 1–3 on one switching edge; steps 4–6 the study built on 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a GaN HEMT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1.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Silicon MOSFET against GaN HEMT on the properties that govern switching. Device modelled: EPC2010C class, 200 V, 25 mΩ, Vth = 1.4 V (models/egan.lib).</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GaN and not silicon — measured, same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i_vs_gan.png"/>
          <p:cNvPicPr>
            <a:picLocks noChangeAspect="1"/>
          </p:cNvPicPr>
          <p:nvPr/>
        </p:nvPicPr>
        <p:blipFill>
          <a:blip r:embed="rId4"/>
          <a:stretch>
            <a:fillRect/>
          </a:stretch>
        </p:blipFill>
        <p:spPr>
          <a:xfrm>
            <a:off x="426567" y="1170432"/>
            <a:ext cx="11338559" cy="3927736"/>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Same buck converter, same job, only the device swapped. Rₓₛ(on) matched 25.0 mΩ GaN against 24.0 mΩ Si, each at its own rated gate drive, so conduction loss is equal by construction and what is left is switching, gate drive and the body-diode recovery GaN does not have. At 500 kHz GaN wastes 5.9 W against silicon's 17.3 W; the lead widens to 78 % at 1 MHz and 90 % at light load (scripts/si_vs_gan_sweep.py).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GaN HEMT causes the problem we solve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2.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Three device properties and their consequence in a half-bridge: a 1.4 V threshold, 150 pF from drain to gate, and no body diode.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driver's settings, and where 720 comes from</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ettings.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The six fields of the control word and the values swept over each. 6 × 2 × 3 × 5 × 2 × 2 = 720 settings, × 36 operating points = 25,920 transients.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input — what an operating point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in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Four of the 36 corners every setting is evaluated at: bus voltage, load current and junction temperature.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output — what is actually measured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out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Converter-level output, and the eight quantities extracted from every transient. Definitions fixed in scripts/gansim.py before the sweeps ran.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margin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margin.png"/>
          <p:cNvPicPr>
            <a:picLocks noChangeAspect="1"/>
          </p:cNvPicPr>
          <p:nvPr/>
        </p:nvPicPr>
        <p:blipFill>
          <a:blip r:embed="rId4"/>
          <a:stretch>
            <a:fillRect/>
          </a:stretch>
        </p:blipFill>
        <p:spPr>
          <a:xfrm>
            <a:off x="1686402" y="1170432"/>
            <a:ext cx="881888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Peak gate–source voltage on the off-state device against the 1.4 V threshold, three configurations. Margin is the threshold minus the peak; negative is a false turn-on.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Circuit simulation — the converter</a:t>
            </a:r>
            <a:endParaRPr lang="en-US" sz="2800" dirty="0"/>
          </a:p>
        </p:txBody>
      </p:sp>
      <p:pic>
        <p:nvPicPr>
          <p:cNvPr id="5" name="Picture 4" descr="17-converter-power.png"/>
          <p:cNvPicPr>
            <a:picLocks noChangeAspect="1"/>
          </p:cNvPicPr>
          <p:nvPr/>
        </p:nvPicPr>
        <p:blipFill>
          <a:blip r:embed="rId4"/>
          <a:stretch>
            <a:fillRect/>
          </a:stretch>
        </p:blipFill>
        <p:spPr>
          <a:xfrm>
            <a:off x="426567" y="1188720"/>
            <a:ext cx="11338558" cy="371810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scripts/bucksim.py driving ngspice over sim/buck.cir. 100.0 V and 2.426 A in, 48.56 V and 4.876 A out: 242.47 W drawn, 236.89 W delivered, 97.70 % efficient. Peak switch node 118.0 V on a 100 V bus: 18.0 % overshoot, on the shipped word at a step that resolves the edge. Most of it is the −2 V rail (+11.3 points) — the margin is not free. scripts/overshoot_audit.py.</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Two runs of sim/dpt.cir. Fastest drive, no clamp, 0 V rail: gate reaches +1.6486 V against a 1.400 V threshold, false_turn_on = 1. Clamp on with −2 V rail: −1.1757 V, margin +2.5757 V, false_turn_on = 0.</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Driver simulation — the segmented driver, case by case</a:t>
            </a:r>
            <a:endParaRPr lang="en-US" sz="2800" dirty="0"/>
          </a:p>
        </p:txBody>
      </p:sp>
      <p:pic>
        <p:nvPicPr>
          <p:cNvPr id="5" name="Picture 4" descr="18-named-cases.png"/>
          <p:cNvPicPr>
            <a:picLocks noChangeAspect="1"/>
          </p:cNvPicPr>
          <p:nvPr/>
        </p:nvPicPr>
        <p:blipFill>
          <a:blip r:embed="rId4"/>
          <a:stretch>
            <a:fillRect/>
          </a:stretch>
        </p:blipFill>
        <p:spPr>
          <a:xfrm>
            <a:off x="2717767" y="1188720"/>
            <a:ext cx="675616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scripts/cases.py, 13 runs. Part 1: the fix built one change at a time at 100 V / 10 A. Part 2: dead-time sweep at two operating points: cheapest is 15 ns at full load, 5 ns at light load.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what re-tuning is worth</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2-result2-ceiling.png"/>
          <p:cNvPicPr>
            <a:picLocks noChangeAspect="1"/>
          </p:cNvPicPr>
          <p:nvPr/>
        </p:nvPicPr>
        <p:blipFill>
          <a:blip r:embed="rId4"/>
          <a:stretch>
            <a:fillRect/>
          </a:stretch>
        </p:blipFill>
        <p:spPr>
          <a:xfrm>
            <a:off x="426567" y="1188720"/>
            <a:ext cx="11338557" cy="35763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scripts/ceiling.py over results/full_corners.csv. 474 of 720 words feasible at all 36 corners. Ceiling on scheduling 3.5 %; per-corner penalty 1.1 / 2.3 / 12.7 / 3.8 %.</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split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3-result3-split.png"/>
          <p:cNvPicPr>
            <a:picLocks noChangeAspect="1"/>
          </p:cNvPicPr>
          <p:nvPr/>
        </p:nvPicPr>
        <p:blipFill>
          <a:blip r:embed="rId4"/>
          <a:stretch>
            <a:fillRect/>
          </a:stretch>
        </p:blipFill>
        <p:spPr>
          <a:xfrm>
            <a:off x="888114" y="1188720"/>
            <a:ext cx="10415465"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scripts/grid_analyse.py over 36 corners. Choosing a fixed word (A) 26.5 %; adapting per operating point (B) 2.6 %; B is 8.9 % of the gain. Across 106 overshoot weights (A) stays 23.4–29.0 %, (B) 1.3–6.4 %.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Icarus Verilog output — the controller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03-verilog-8-properties.png"/>
          <p:cNvPicPr>
            <a:picLocks noChangeAspect="1"/>
          </p:cNvPicPr>
          <p:nvPr/>
        </p:nvPicPr>
        <p:blipFill>
          <a:blip r:embed="rId4"/>
          <a:stretch>
            <a:fillRect/>
          </a:stretch>
        </p:blipFill>
        <p:spPr>
          <a:xfrm>
            <a:off x="789329" y="1188720"/>
            <a:ext cx="10613036"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iverilog and vvp over rtl/seg_gate_ctrl.v and its testbench. Eight asserted properties, 591 individual assertions, 0 failures.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output — synthesis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image.png"/>
          <p:cNvPicPr>
            <a:picLocks noChangeAspect="1"/>
          </p:cNvPicPr>
          <p:nvPr/>
        </p:nvPicPr>
        <p:blipFill>
          <a:blip r:embed="rId4"/>
          <a:stretch>
            <a:fillRect/>
          </a:stretch>
        </p:blipFill>
        <p:spPr>
          <a:xfrm>
            <a:off x="2259431" y="1188720"/>
            <a:ext cx="7672832"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Vivado 2024.1.2 on xc7a35t. 20 LUTs and 20 flip-flops strapped, 33 LUTs fully programmable; 200 MHz register-to-register met with 1.996 ns slack.</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ngspice and LTspice, running</a:t>
            </a:r>
            <a:endParaRPr lang="en-US" sz="2800" dirty="0"/>
          </a:p>
        </p:txBody>
      </p:sp>
      <p:pic>
        <p:nvPicPr>
          <p:cNvPr id="5" name="DEMO-VIDEO.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417320" y="1188720"/>
            <a:ext cx="9326880" cy="4160520"/>
          </a:xfrm>
          <a:prstGeom prst="rect">
            <a:avLst/>
          </a:prstGeom>
        </p:spPr>
      </p:pic>
      <p:sp>
        <p:nvSpPr>
          <p:cNvPr id="6" name="TextBox 5"/>
          <p:cNvSpPr txBox="1"/>
          <p:nvPr/>
        </p:nvSpPr>
        <p:spPr>
          <a:xfrm>
            <a:off x="502920" y="565099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dirty="0">
                <a:solidFill>
                  <a:srgbClr val="000000"/>
                </a:solidFill>
                <a:latin typeface="Calibri" pitchFamily="34" charset="0"/>
                <a:ea typeface="Calibri" pitchFamily="34" charset="-122"/>
                <a:cs typeface="Calibri" pitchFamily="34" charset="-120"/>
              </a:rPr>
              <a:t xml:space="preserve">Demo recording: the converter in ngspice, the crosstalk fault and its fix, the named cases, the Verilog controller, and LTspice running the schematic. 2 min. Click to play.</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goal, and whether this serves it</a:t>
            </a:r>
            <a:endParaRPr lang="en-US" sz="2800" dirty="0"/>
          </a:p>
        </p:txBody>
      </p:sp>
      <p:sp>
        <p:nvSpPr>
          <p:cNvPr id="5" name="TextBox 4"/>
          <p:cNvSpPr txBox="1"/>
          <p:nvPr/>
        </p:nvSpPr>
        <p:spPr>
          <a:xfrm>
            <a:off x="640080" y="1143000"/>
            <a:ext cx="11064240" cy="960120"/>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The goal.  </a:t>
            </a:r>
            <a:r>
              <a:rPr lang="en-US" sz="1350" dirty="0">
                <a:solidFill>
                  <a:srgbClr val="000000"/>
                </a:solidFill>
                <a:latin typeface="Calibri" pitchFamily="34" charset="0"/>
                <a:ea typeface="Calibri" pitchFamily="34" charset="-122"/>
                <a:cs typeface="Calibri" pitchFamily="34" charset="-120"/>
              </a:rPr>
              <a:t xml:space="preserve">Build a synchronous buck converter for an energy-storage system out of GaN HEMTs, and make it work at the switching speed GaN is bought for. Everything else in this deck exists to serve that sentence.</a:t>
            </a:r>
          </a:p>
        </p:txBody>
      </p:sp>
      <p:sp>
        <p:nvSpPr>
          <p:cNvPr id="6" name="TextBox 5"/>
          <p:cNvSpPr txBox="1"/>
          <p:nvPr/>
        </p:nvSpPr>
        <p:spPr>
          <a:xfrm>
            <a:off x="64008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1.  Why GaN at all</a:t>
            </a:r>
          </a:p>
        </p:txBody>
      </p:sp>
      <p:sp>
        <p:nvSpPr>
          <p:cNvPr id="7" name="TextBox 6"/>
          <p:cNvSpPr txBox="1"/>
          <p:nvPr/>
        </p:nvSpPr>
        <p:spPr>
          <a:xfrm>
            <a:off x="64008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Same converter, same job, only the device swapped. At 500 kHz GaN wastes 5.9 W against silicon's 17.3 W. The lead widens to 78 % at 1 MHz and 90 % at light load, and never turns back.</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Raising the frequency to shrink the magnetics is nearly free on GaN and ruinous on silicon.</a:t>
            </a:r>
          </a:p>
        </p:txBody>
      </p:sp>
      <p:sp>
        <p:nvSpPr>
          <p:cNvPr id="8" name="TextBox 7"/>
          <p:cNvSpPr txBox="1"/>
          <p:nvPr/>
        </p:nvSpPr>
        <p:spPr>
          <a:xfrm>
            <a:off x="438912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2.  What GaN costs you</a:t>
            </a:r>
          </a:p>
        </p:txBody>
      </p:sp>
      <p:sp>
        <p:nvSpPr>
          <p:cNvPr id="9" name="TextBox 8"/>
          <p:cNvSpPr txBox="1"/>
          <p:nvPr/>
        </p:nvSpPr>
        <p:spPr>
          <a:xfrm>
            <a:off x="438912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The same speed that wins is what breaks it. A 1.4 V threshold and 150 pF of drain-to-gate capacitance mean the device that is supposed to be off gets pushed toward on by its partner switching.</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Measured: the off gate reaches 1.65 V against a 1.4 V threshold. That is a shoot-through.</a:t>
            </a:r>
          </a:p>
        </p:txBody>
      </p:sp>
      <p:sp>
        <p:nvSpPr>
          <p:cNvPr id="10" name="TextBox 9"/>
          <p:cNvSpPr txBox="1"/>
          <p:nvPr/>
        </p:nvSpPr>
        <p:spPr>
          <a:xfrm>
            <a:off x="8138160" y="2148840"/>
            <a:ext cx="356616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3.  What we build about it</a:t>
            </a:r>
          </a:p>
        </p:txBody>
      </p:sp>
      <p:sp>
        <p:nvSpPr>
          <p:cNvPr id="11" name="TextBox 10"/>
          <p:cNvSpPr txBox="1"/>
          <p:nvPr/>
        </p:nvSpPr>
        <p:spPr>
          <a:xfrm>
            <a:off x="8138160" y="2542032"/>
            <a:ext cx="356616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A segmented gate driver: 8 pull-up steps, 8 pull-down steps, an adjustable dead time, a Miller clamp and a −2 V off rail, driven by an FPGA, so every one of them is a setting that can be changed and measured.</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Result: −0.249 V of margin becomes +2.576 V.</a:t>
            </a:r>
          </a:p>
        </p:txBody>
      </p:sp>
      <p:sp>
        <p:nvSpPr>
          <p:cNvPr id="12" name="TextBox 11"/>
          <p:cNvSpPr txBox="1"/>
          <p:nvPr/>
        </p:nvSpPr>
        <p:spPr>
          <a:xfrm>
            <a:off x="640080" y="4498848"/>
            <a:ext cx="11064240" cy="1737360"/>
          </a:xfrm>
          <a:prstGeom prst="rect">
            <a:avLst/>
          </a:prstGeom>
          <a:noFill/>
        </p:spPr>
        <p:txBody>
          <a:bodyPr wrap="square" lIns="0" tIns="0" rIns="0" bIns="0">
            <a:spAutoFit/>
          </a:bodyPr>
          <a:lstStyle/>
          <a:p>
            <a:pPr marL="177800" indent="0">
              <a:spcAft>
                <a:spcPts val="180"/>
              </a:spcAft>
              <a:buSzPct val="100000"/>
              <a:buNone/>
            </a:pPr>
            <a:r>
              <a:rPr lang="en-US" sz="1250" b="1" dirty="0">
                <a:solidFill>
                  <a:srgbClr val="000000"/>
                </a:solidFill>
                <a:latin typeface="Calibri" pitchFamily="34" charset="0"/>
                <a:ea typeface="Calibri" pitchFamily="34" charset="-122"/>
                <a:cs typeface="Calibri" pitchFamily="34" charset="-120"/>
              </a:rPr>
              <a:t xml:space="preserve">Title says converter, work says driver — one claim.  </a:t>
            </a:r>
            <a:r>
              <a:rPr lang="en-US" sz="1250" dirty="0">
                <a:solidFill>
                  <a:srgbClr val="000000"/>
                </a:solidFill>
                <a:latin typeface="Calibri" pitchFamily="34" charset="0"/>
                <a:ea typeface="Calibri" pitchFamily="34" charset="-122"/>
                <a:cs typeface="Calibri" pitchFamily="34" charset="-120"/>
              </a:rPr>
              <a:t xml:space="preserve">On GaN the driver is the part that decides whether the converter is buildable at speed. Every number here is measured on the converter: 97.7 % open loop, 96.1 % regulated.</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next slide is that question, gap by gap, with the evidence for each.</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architecture close the gaps?</a:t>
            </a:r>
            <a:endParaRPr lang="en-US" sz="2800" dirty="0"/>
          </a:p>
        </p:txBody>
      </p:sp>
      <p:sp>
        <p:nvSpPr>
          <p:cNvPr id="5" name="TextBox 4"/>
          <p:cNvSpPr txBox="1"/>
          <p:nvPr/>
        </p:nvSpPr>
        <p:spPr>
          <a:xfrm>
            <a:off x="640080" y="1115568"/>
            <a:ext cx="1106424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Nine gaps in the published work, what our architecture does about each, and the evidence. Every row names the script that produces it.</a:t>
            </a:r>
          </a:p>
        </p:txBody>
      </p:sp>
      <p:graphicFrame>
        <p:nvGraphicFramePr>
          <p:cNvPr id="6" name="Table 5"/>
          <p:cNvGraphicFramePr>
            <a:graphicFrameLocks noGrp="1"/>
          </p:cNvGraphicFramePr>
          <p:nvPr/>
        </p:nvGraphicFramePr>
        <p:xfrm>
          <a:off x="566928" y="1591056"/>
          <a:ext cx="11100814" cy="4224528"/>
        </p:xfrm>
        <a:graphic>
          <a:graphicData uri="http://schemas.openxmlformats.org/drawingml/2006/table">
            <a:tbl>
              <a:tblPr firstRow="1">
                <a:tableStyleId>{5C22544A-7EE6-4342-B048-85BDC9FD1C3A}</a:tableStyleId>
              </a:tblPr>
              <a:tblGrid>
                <a:gridCol w="3330244"/>
                <a:gridCol w="2886212"/>
                <a:gridCol w="3552261"/>
                <a:gridCol w="1332097"/>
              </a:tblGrid>
              <a:tr h="422452">
                <a:tc>
                  <a:txBody>
                    <a:bodyPr wrap="square"/>
                    <a:lstStyle/>
                    <a:p>
                      <a:r>
                        <a:rPr sz="1000" b="1">
                          <a:latin typeface="Calibri"/>
                        </a:rPr>
                        <a:t>Gap in the published work</a:t>
                      </a:r>
                    </a:p>
                  </a:txBody>
                  <a:tcPr marL="50292" marR="50292" marT="27432" marB="27432"/>
                </a:tc>
                <a:tc>
                  <a:txBody>
                    <a:bodyPr wrap="square"/>
                    <a:lstStyle/>
                    <a:p>
                      <a:r>
                        <a:rPr sz="1000" b="1">
                          <a:latin typeface="Calibri"/>
                        </a:rPr>
                        <a:t>What the architecture does</a:t>
                      </a:r>
                    </a:p>
                  </a:txBody>
                  <a:tcPr marL="50292" marR="50292" marT="27432" marB="27432"/>
                </a:tc>
                <a:tc>
                  <a:txBody>
                    <a:bodyPr wrap="square"/>
                    <a:lstStyle/>
                    <a:p>
                      <a:r>
                        <a:rPr sz="1000" b="1">
                          <a:latin typeface="Calibri"/>
                        </a:rPr>
                        <a:t>Evidence</a:t>
                      </a:r>
                    </a:p>
                  </a:txBody>
                  <a:tcPr marL="50292" marR="50292" marT="27432" marB="27432"/>
                </a:tc>
                <a:tc>
                  <a:txBody>
                    <a:bodyPr wrap="square"/>
                    <a:lstStyle/>
                    <a:p>
                      <a:r>
                        <a:rPr sz="1000" b="1">
                          <a:latin typeface="Calibri"/>
                        </a:rPr>
                        <a:t>Status</a:t>
                      </a:r>
                    </a:p>
                  </a:txBody>
                  <a:tcPr marL="50292" marR="50292" marT="27432" marB="27432"/>
                </a:tc>
              </a:tr>
              <a:tr h="422452">
                <a:tc>
                  <a:txBody>
                    <a:bodyPr wrap="square"/>
                    <a:lstStyle/>
                    <a:p>
                      <a:r>
                        <a:rPr sz="800" b="0">
                          <a:latin typeface="Calibri"/>
                        </a:rPr>
                        <a:t>Segmented drivers report one number. Nobody separates a better fixed setting from live re-tuning.</a:t>
                      </a:r>
                    </a:p>
                  </a:txBody>
                  <a:tcPr marL="50292" marR="50292" marT="27432" marB="27432"/>
                </a:tc>
                <a:tc>
                  <a:txBody>
                    <a:bodyPr wrap="square"/>
                    <a:lstStyle/>
                    <a:p>
                      <a:r>
                        <a:rPr sz="800" b="0">
                          <a:latin typeface="Calibri"/>
                        </a:rPr>
                        <a:t>720 control words × 36 operating points, every combination run.</a:t>
                      </a:r>
                    </a:p>
                  </a:txBody>
                  <a:tcPr marL="50292" marR="50292" marT="27432" marB="27432"/>
                </a:tc>
                <a:tc>
                  <a:txBody>
                    <a:bodyPr wrap="square"/>
                    <a:lstStyle/>
                    <a:p>
                      <a:r>
                        <a:rPr sz="800" b="0">
                          <a:latin typeface="Calibri"/>
                        </a:rPr>
                        <a:t>Fixed 26.5 %, adaptive 2.6 % — adaptive is 8.9 % of the gain, on 36 corners (novelty.py).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Nobody says how much controller the adaptive part justifies.</a:t>
                      </a:r>
                    </a:p>
                  </a:txBody>
                  <a:tcPr marL="50292" marR="50292" marT="27432" marB="27432"/>
                </a:tc>
                <a:tc>
                  <a:txBody>
                    <a:bodyPr wrap="square"/>
                    <a:lstStyle/>
                    <a:p>
                      <a:r>
                        <a:rPr sz="800" b="0">
                          <a:latin typeface="Calibri"/>
                        </a:rPr>
                        <a:t>A complexity ladder: constant word → one comparator → two → full lookup table.</a:t>
                      </a:r>
                    </a:p>
                  </a:txBody>
                  <a:tcPr marL="50292" marR="50292" marT="27432" marB="27432"/>
                </a:tc>
                <a:tc>
                  <a:txBody>
                    <a:bodyPr wrap="square"/>
                    <a:lstStyle/>
                    <a:p>
                      <a:r>
                        <a:rPr sz="800" b="0">
                          <a:latin typeface="Calibri"/>
                        </a:rPr>
                        <a:t>One comparator (load current at 10 A) takes 47 %. 4.7 % is left to justify a sense + ADC + LUT (controller_ladder.py).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Prior segmented drivers stage the slices but carry no Miller clamp and no negative off rail.</a:t>
                      </a:r>
                    </a:p>
                  </a:txBody>
                  <a:tcPr marL="50292" marR="50292" marT="27432" marB="27432"/>
                </a:tc>
                <a:tc>
                  <a:txBody>
                    <a:bodyPr wrap="square"/>
                    <a:lstStyle/>
                    <a:p>
                      <a:r>
                        <a:rPr sz="800" b="0">
                          <a:latin typeface="Calibri"/>
                        </a:rPr>
                        <a:t>8 + 8 slices plus a clamp plus a −2 V off-bias, each measurable on its own.</a:t>
                      </a:r>
                    </a:p>
                  </a:txBody>
                  <a:tcPr marL="50292" marR="50292" marT="27432" marB="27432"/>
                </a:tc>
                <a:tc>
                  <a:txBody>
                    <a:bodyPr wrap="square"/>
                    <a:lstStyle/>
                    <a:p>
                      <a:r>
                        <a:rPr sz="800" b="0">
                          <a:latin typeface="Calibri"/>
                        </a:rPr>
                        <a:t>Base paper at its best +0.407 V; ours +2.576 V — 6.3× (basepaper_compare.py).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The driver is asserted to be programmable; the logic is rarely synthesised.</a:t>
                      </a:r>
                    </a:p>
                  </a:txBody>
                  <a:tcPr marL="50292" marR="50292" marT="27432" marB="27432"/>
                </a:tc>
                <a:tc>
                  <a:txBody>
                    <a:bodyPr wrap="square"/>
                    <a:lstStyle/>
                    <a:p>
                      <a:r>
                        <a:rPr sz="800" b="0">
                          <a:latin typeface="Calibri"/>
                        </a:rPr>
                        <a:t>seg_gate_ctrl.v, thermometer-coded, with its own dead-time generator.</a:t>
                      </a:r>
                    </a:p>
                  </a:txBody>
                  <a:tcPr marL="50292" marR="50292" marT="27432" marB="27432"/>
                </a:tc>
                <a:tc>
                  <a:txBody>
                    <a:bodyPr wrap="square"/>
                    <a:lstStyle/>
                    <a:p>
                      <a:r>
                        <a:rPr sz="800" b="0">
                          <a:latin typeface="Calibri"/>
                        </a:rPr>
                        <a:t>8 properties in Icarus; 20 LUT / 20 FF on xc7a35t, 200 MHz met, 1.996 ns slack.</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Controller and power stage are verified separately and never made to meet.</a:t>
                      </a:r>
                    </a:p>
                  </a:txBody>
                  <a:tcPr marL="50292" marR="50292" marT="27432" marB="27432"/>
                </a:tc>
                <a:tc>
                  <a:txBody>
                    <a:bodyPr wrap="square"/>
                    <a:lstStyle/>
                    <a:p>
                      <a:r>
                        <a:rPr sz="800" b="0">
                          <a:latin typeface="Calibri"/>
                        </a:rPr>
                        <a:t>The RTL's own VCD drives the SPICE slices — one source per wire, no integer in between.</a:t>
                      </a:r>
                    </a:p>
                  </a:txBody>
                  <a:tcPr marL="50292" marR="50292" marT="27432" marB="27432"/>
                </a:tc>
                <a:tc>
                  <a:txBody>
                    <a:bodyPr wrap="square"/>
                    <a:lstStyle/>
                    <a:p>
                      <a:r>
                        <a:rPr sz="800" b="0">
                          <a:latin typeface="Calibri"/>
                        </a:rPr>
                        <a:t>Margins agree to 0.081 V, and it found a one-cycle dead-time error (rtl_cosim.py).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Whether a fitted schedule generalises to an unseen operating point is never tested.</a:t>
                      </a:r>
                    </a:p>
                  </a:txBody>
                  <a:tcPr marL="50292" marR="50292" marT="27432" marB="27432"/>
                </a:tc>
                <a:tc>
                  <a:txBody>
                    <a:bodyPr wrap="square"/>
                    <a:lstStyle/>
                    <a:p>
                      <a:r>
                        <a:rPr sz="800" b="0">
                          <a:latin typeface="Calibri"/>
                        </a:rPr>
                        <a:t>Leave-one-corner-out: fit the comparator on three corners, test on the fourth.</a:t>
                      </a:r>
                    </a:p>
                  </a:txBody>
                  <a:tcPr marL="50292" marR="50292" marT="27432" marB="27432"/>
                </a:tc>
                <a:tc>
                  <a:txBody>
                    <a:bodyPr wrap="square"/>
                    <a:lstStyle/>
                    <a:p>
                      <a:r>
                        <a:rPr sz="800" b="0">
                          <a:latin typeface="Calibri"/>
                        </a:rPr>
                        <a:t>Identical to the global fixed word on all 36 held-out corners. Nothing — and we say so.</a:t>
                      </a:r>
                    </a:p>
                  </a:txBody>
                  <a:tcPr marL="50292" marR="50292" marT="27432" marB="27432"/>
                </a:tc>
                <a:tc>
                  <a:txBody>
                    <a:bodyPr wrap="square"/>
                    <a:lstStyle/>
                    <a:p>
                      <a:r>
                        <a:rPr sz="800" b="1">
                          <a:solidFill>
                            <a:srgbClr val="B56A00"/>
                          </a:solidFill>
                          <a:latin typeface="Calibri"/>
                        </a:rPr>
                        <a:t>ANSWERED, NEGATIVE</a:t>
                      </a:r>
                    </a:p>
                  </a:txBody>
                  <a:tcPr marL="50292" marR="50292" marT="27432" marB="27432"/>
                </a:tc>
              </a:tr>
              <a:tr h="422452">
                <a:tc>
                  <a:txBody>
                    <a:bodyPr wrap="square"/>
                    <a:lstStyle/>
                    <a:p>
                      <a:r>
                        <a:rPr sz="800" b="0">
                          <a:latin typeface="Calibri"/>
                        </a:rPr>
                        <a:t>Segmented-driver papers characterise one switching edge. The converter is never closed-loop regulated.</a:t>
                      </a:r>
                    </a:p>
                  </a:txBody>
                  <a:tcPr marL="50292" marR="50292" marT="27432" marB="27432"/>
                </a:tc>
                <a:tc>
                  <a:txBody>
                    <a:bodyPr wrap="square"/>
                    <a:lstStyle/>
                    <a:p>
                      <a:r>
                        <a:rPr sz="800" b="0">
                          <a:latin typeface="Calibri"/>
                        </a:rPr>
                        <a:t>A type-III loop around the same power stage and the same drivers, then disturbed on purpose.</a:t>
                      </a:r>
                    </a:p>
                  </a:txBody>
                  <a:tcPr marL="50292" marR="50292" marT="27432" marB="27432"/>
                </a:tc>
                <a:tc>
                  <a:txBody>
                    <a:bodyPr wrap="square"/>
                    <a:lstStyle/>
                    <a:p>
                      <a:r>
                        <a:rPr sz="800" b="0">
                          <a:latin typeface="Calibri"/>
                        </a:rPr>
                        <a:t>0.01 % error through a 2× load step and a 20 % line step; open loop walks to 60 V (closedloop.py).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Segmented output stages are published as ideal switches. Whether the result survives real devices is untested.</a:t>
                      </a:r>
                    </a:p>
                  </a:txBody>
                  <a:tcPr marL="50292" marR="50292" marT="27432" marB="27432"/>
                </a:tc>
                <a:tc>
                  <a:txBody>
                    <a:bodyPr wrap="square"/>
                    <a:lstStyle/>
                    <a:p>
                      <a:r>
                        <a:rPr sz="800" b="0">
                          <a:latin typeface="Calibri"/>
                        </a:rPr>
                        <a:t>The same output stage rebuilt in SKY130 5 V transistors and re-run.</a:t>
                      </a:r>
                    </a:p>
                  </a:txBody>
                  <a:tcPr marL="50292" marR="50292" marT="27432" marB="27432"/>
                </a:tc>
                <a:tc>
                  <a:txBody>
                    <a:bodyPr wrap="square"/>
                    <a:lstStyle/>
                    <a:p>
                      <a:r>
                        <a:rPr sz="800" b="0">
                          <a:latin typeface="Calibri"/>
                        </a:rPr>
                        <a:t>Sign and ordering both survive, but the clamp on its own turns out to give only +0.031 V (silicon_check.py).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60">
                <a:tc>
                  <a:txBody>
                    <a:bodyPr wrap="square"/>
                    <a:lstStyle/>
                    <a:p>
                      <a:r>
                        <a:rPr sz="800" b="0">
                          <a:latin typeface="Calibri"/>
                        </a:rPr>
                        <a:t>All of the above is simulation.</a:t>
                      </a:r>
                    </a:p>
                  </a:txBody>
                  <a:tcPr marL="50292" marR="50292" marT="27432" marB="27432"/>
                </a:tc>
                <a:tc>
                  <a:txBody>
                    <a:bodyPr wrap="square"/>
                    <a:lstStyle/>
                    <a:p>
                      <a:r>
                        <a:rPr sz="800" b="0">
                          <a:latin typeface="Calibri"/>
                        </a:rPr>
                        <a:t>—</a:t>
                      </a:r>
                    </a:p>
                  </a:txBody>
                  <a:tcPr marL="50292" marR="50292" marT="27432" marB="27432"/>
                </a:tc>
                <a:tc>
                  <a:txBody>
                    <a:bodyPr wrap="square"/>
                    <a:lstStyle/>
                    <a:p>
                      <a:r>
                        <a:rPr sz="800" b="0">
                          <a:latin typeface="Calibri"/>
                        </a:rPr>
                        <a:t>No silicon measured. The driver is now rebuilt on a real PDK; the GaN model has no equivalent check.</a:t>
                      </a:r>
                    </a:p>
                  </a:txBody>
                  <a:tcPr marL="50292" marR="50292" marT="27432" marB="27432"/>
                </a:tc>
                <a:tc>
                  <a:txBody>
                    <a:bodyPr wrap="square"/>
                    <a:lstStyle/>
                    <a:p>
                      <a:r>
                        <a:rPr sz="800" b="1">
                          <a:solidFill>
                            <a:srgbClr val="555555"/>
                          </a:solidFill>
                          <a:latin typeface="Calibri"/>
                        </a:rPr>
                        <a:t>OPEN → Review-III</a:t>
                      </a:r>
                    </a:p>
                  </a:txBody>
                  <a:tcPr marL="50292" marR="50292" marT="27432" marB="27432"/>
                </a:tc>
              </a:tr>
            </a:tbl>
          </a:graphicData>
        </a:graphic>
      </p:graphicFrame>
      <p:sp>
        <p:nvSpPr>
          <p:cNvPr id="7" name="TextBox 6"/>
          <p:cNvSpPr txBox="1"/>
          <p:nvPr/>
        </p:nvSpPr>
        <p:spPr>
          <a:xfrm>
            <a:off x="640080" y="5907024"/>
            <a:ext cx="10698480" cy="7315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Does it serve its purpose?  </a:t>
            </a:r>
            <a:r>
              <a:rPr lang="en-US" sz="1200" dirty="0">
                <a:solidFill>
                  <a:srgbClr val="000000"/>
                </a:solidFill>
                <a:latin typeface="Calibri" pitchFamily="34" charset="0"/>
                <a:ea typeface="Calibri" pitchFamily="34" charset="-122"/>
                <a:cs typeface="Calibri" pitchFamily="34" charset="-120"/>
              </a:rPr>
              <a:t xml:space="preserve">Yes, for a simulation study, and that is what it is titled as. Seven gaps closed, one answered in the negative, which is a result rather than a failure, and one that needs a bench. The honest summary is that the architecture is finished and the measurement of it on real silicon is not.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architecture, end to end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15568"/>
            <a:ext cx="53492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gap we found in our own work</a:t>
            </a:r>
          </a:p>
        </p:txBody>
      </p:sp>
      <p:sp>
        <p:nvSpPr>
          <p:cNvPr id="6" name="TextBox 5"/>
          <p:cNvSpPr txBox="1"/>
          <p:nvPr/>
        </p:nvSpPr>
        <p:spPr>
          <a:xfrm>
            <a:off x="640080" y="1517904"/>
            <a:ext cx="534924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The controller was verified in Icarus. The power stage was verified in ngspice. The two never touched.</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FPGA emits eight thermometer-coded wires per bank. The SPICE driver took an integer slice count. A fault in the decoder would have passed the Verilog bench and stayed invisible in every figure ngspice produced.</a:t>
            </a:r>
          </a:p>
        </p:txBody>
      </p:sp>
      <p:sp>
        <p:nvSpPr>
          <p:cNvPr id="7" name="TextBox 6"/>
          <p:cNvSpPr txBox="1"/>
          <p:nvPr/>
        </p:nvSpPr>
        <p:spPr>
          <a:xfrm>
            <a:off x="6400800" y="1115568"/>
            <a:ext cx="530352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What we did about it</a:t>
            </a:r>
          </a:p>
        </p:txBody>
      </p:sp>
      <p:sp>
        <p:nvSpPr>
          <p:cNvPr id="8" name="TextBox 7"/>
          <p:cNvSpPr txBox="1"/>
          <p:nvPr/>
        </p:nvSpPr>
        <p:spPr>
          <a:xfrm>
            <a:off x="6400800" y="1517904"/>
            <a:ext cx="530352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rtl/seg_gate_ctrl_dpt_tb.v reproduces the double-pulse schedule at the real 200 MHz clock, letting the RTL's own dead-time generator make the edges.</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Its VCD becomes sixteen PWL sources, one per wire, into models/segdrv_bus.lib. Same deck, same devices, same measurement — only the slice selection changes.</a:t>
            </a:r>
          </a:p>
        </p:txBody>
      </p:sp>
      <p:graphicFrame>
        <p:nvGraphicFramePr>
          <p:cNvPr id="9" name="Table 8"/>
          <p:cNvGraphicFramePr>
            <a:graphicFrameLocks noGrp="1"/>
          </p:cNvGraphicFramePr>
          <p:nvPr/>
        </p:nvGraphicFramePr>
        <p:xfrm>
          <a:off x="2148840" y="3520440"/>
          <a:ext cx="7909558" cy="960120"/>
        </p:xfrm>
        <a:graphic>
          <a:graphicData uri="http://schemas.openxmlformats.org/drawingml/2006/table">
            <a:tbl>
              <a:tblPr firstRow="1">
                <a:tableStyleId>{5C22544A-7EE6-4342-B048-85BDC9FD1C3A}</a:tableStyleId>
              </a:tblPr>
              <a:tblGrid>
                <a:gridCol w="1581912"/>
                <a:gridCol w="2214676"/>
                <a:gridCol w="2214676"/>
                <a:gridCol w="1898294"/>
              </a:tblGrid>
              <a:tr h="320040">
                <a:tc>
                  <a:txBody>
                    <a:bodyPr wrap="square"/>
                    <a:lstStyle/>
                    <a:p>
                      <a:r>
                        <a:rPr sz="1100" b="1">
                          <a:latin typeface="Calibri"/>
                        </a:rPr>
                        <a:t/>
                      </a:r>
                    </a:p>
                  </a:txBody>
                  <a:tcPr marL="50292" marR="50292" marT="27432" marB="27432"/>
                </a:tc>
                <a:tc>
                  <a:txBody>
                    <a:bodyPr wrap="square"/>
                    <a:lstStyle/>
                    <a:p>
                      <a:r>
                        <a:rPr sz="1100" b="1">
                          <a:latin typeface="Calibri"/>
                        </a:rPr>
                        <a:t>margin, RTL bus</a:t>
                      </a:r>
                    </a:p>
                  </a:txBody>
                  <a:tcPr marL="50292" marR="50292" marT="27432" marB="27432"/>
                </a:tc>
                <a:tc>
                  <a:txBody>
                    <a:bodyPr wrap="square"/>
                    <a:lstStyle/>
                    <a:p>
                      <a:r>
                        <a:rPr sz="1100" b="1">
                          <a:latin typeface="Calibri"/>
                        </a:rPr>
                        <a:t>margin, .param</a:t>
                      </a:r>
                    </a:p>
                  </a:txBody>
                  <a:tcPr marL="50292" marR="50292" marT="27432" marB="27432"/>
                </a:tc>
                <a:tc>
                  <a:txBody>
                    <a:bodyPr wrap="square"/>
                    <a:lstStyle/>
                    <a:p>
                      <a:r>
                        <a:rPr sz="1100" b="1">
                          <a:latin typeface="Calibri"/>
                        </a:rPr>
                        <a:t>difference</a:t>
                      </a:r>
                    </a:p>
                  </a:txBody>
                  <a:tcPr marL="50292" marR="50292" marT="27432" marB="27432"/>
                </a:tc>
              </a:tr>
              <a:tr h="320040">
                <a:tc>
                  <a:txBody>
                    <a:bodyPr wrap="square"/>
                    <a:lstStyle/>
                    <a:p>
                      <a:r>
                        <a:rPr sz="1100" b="1">
                          <a:latin typeface="Calibri"/>
                        </a:rPr>
                        <a:t>clamp off</a:t>
                      </a:r>
                    </a:p>
                  </a:txBody>
                  <a:tcPr marL="50292" marR="50292" marT="27432" marB="27432"/>
                </a:tc>
                <a:tc>
                  <a:txBody>
                    <a:bodyPr wrap="square"/>
                    <a:lstStyle/>
                    <a:p>
                      <a:r>
                        <a:rPr sz="1100" b="1">
                          <a:latin typeface="Calibri"/>
                        </a:rPr>
                        <a:t>−0.242 V</a:t>
                      </a:r>
                    </a:p>
                  </a:txBody>
                  <a:tcPr marL="50292" marR="50292" marT="27432" marB="27432"/>
                </a:tc>
                <a:tc>
                  <a:txBody>
                    <a:bodyPr wrap="square"/>
                    <a:lstStyle/>
                    <a:p>
                      <a:r>
                        <a:rPr sz="1100" b="0">
                          <a:latin typeface="Calibri"/>
                        </a:rPr>
                        <a:t>−0.249 V</a:t>
                      </a:r>
                    </a:p>
                  </a:txBody>
                  <a:tcPr marL="50292" marR="50292" marT="27432" marB="27432"/>
                </a:tc>
                <a:tc>
                  <a:txBody>
                    <a:bodyPr wrap="square"/>
                    <a:lstStyle/>
                    <a:p>
                      <a:r>
                        <a:rPr sz="1100" b="0">
                          <a:latin typeface="Calibri"/>
                        </a:rPr>
                        <a:t>0.007 V</a:t>
                      </a:r>
                    </a:p>
                  </a:txBody>
                  <a:tcPr marL="50292" marR="50292" marT="27432" marB="27432"/>
                </a:tc>
              </a:tr>
              <a:tr h="320040">
                <a:tc>
                  <a:txBody>
                    <a:bodyPr wrap="square"/>
                    <a:lstStyle/>
                    <a:p>
                      <a:r>
                        <a:rPr sz="1100" b="1">
                          <a:latin typeface="Calibri"/>
                        </a:rPr>
                        <a:t>clamp on</a:t>
                      </a:r>
                    </a:p>
                  </a:txBody>
                  <a:tcPr marL="50292" marR="50292" marT="27432" marB="27432"/>
                </a:tc>
                <a:tc>
                  <a:txBody>
                    <a:bodyPr wrap="square"/>
                    <a:lstStyle/>
                    <a:p>
                      <a:r>
                        <a:rPr sz="1100" b="1">
                          <a:solidFill>
                            <a:srgbClr val="1B7F3B"/>
                          </a:solidFill>
                          <a:latin typeface="Calibri"/>
                        </a:rPr>
                        <a:t>+0.651 V</a:t>
                      </a:r>
                    </a:p>
                  </a:txBody>
                  <a:tcPr marL="50292" marR="50292" marT="27432" marB="27432"/>
                </a:tc>
                <a:tc>
                  <a:txBody>
                    <a:bodyPr wrap="square"/>
                    <a:lstStyle/>
                    <a:p>
                      <a:r>
                        <a:rPr sz="1100" b="0">
                          <a:latin typeface="Calibri"/>
                        </a:rPr>
                        <a:t>+0.570 V</a:t>
                      </a:r>
                    </a:p>
                  </a:txBody>
                  <a:tcPr marL="50292" marR="50292" marT="27432" marB="27432"/>
                </a:tc>
                <a:tc>
                  <a:txBody>
                    <a:bodyPr wrap="square"/>
                    <a:lstStyle/>
                    <a:p>
                      <a:r>
                        <a:rPr sz="1100" b="0">
                          <a:latin typeface="Calibri"/>
                        </a:rPr>
                        <a:t>0.081 V</a:t>
                      </a:r>
                    </a:p>
                  </a:txBody>
                  <a:tcPr marL="50292" marR="50292" marT="27432" marB="27432"/>
                </a:tc>
              </a:tr>
            </a:tbl>
          </a:graphicData>
        </a:graphic>
      </p:graphicFrame>
      <p:sp>
        <p:nvSpPr>
          <p:cNvPr id="10" name="TextBox 9"/>
          <p:cNvSpPr txBox="1"/>
          <p:nvPr/>
        </p:nvSpPr>
        <p:spPr>
          <a:xfrm>
            <a:off x="640080" y="4754880"/>
            <a:ext cx="11064240" cy="173736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Worst disagreement anywhere: 0.081 V</a:t>
            </a:r>
            <a:r>
              <a:rPr lang="en-US" sz="1250" dirty="0">
                <a:solidFill>
                  <a:srgbClr val="000000"/>
                </a:solidFill>
                <a:latin typeface="Calibri" pitchFamily="34" charset="0"/>
                <a:ea typeface="Calibri" pitchFamily="34" charset="-122"/>
                <a:cs typeface="Calibri" pitchFamily="34" charset="-120"/>
              </a:rPr>
              <a:t xml:space="preserve"> — and it is timing, not encoding. The ideal stimulus turns the low side on at 2.015 µs; the RTL's dead-time generator puts it at 2.0175 µs. The clamp's sign change, which is this project's central claim, is now produced by the actual logic rather than by a parameter.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it found a real bug, which is the whole argument for doing it: </a:t>
            </a:r>
            <a:r>
              <a:rPr lang="en-US" sz="1250" dirty="0">
                <a:solidFill>
                  <a:srgbClr val="000000"/>
                </a:solidFill>
                <a:latin typeface="Calibri" pitchFamily="34" charset="0"/>
                <a:ea typeface="Calibri" pitchFamily="34" charset="-122"/>
                <a:cs typeface="Calibri" pitchFamily="34" charset="-120"/>
              </a:rPr>
              <a:t xml:space="preserve">dead time is (dt_cycles + 1) × 5 ns. The counter loads and then counts down through zero, so 15 ns is 2 cycles, not the obvious 15/5 = 3. Anyone mapping our swept dead-time grid onto hardware by dividing by the clock period builds a driver that is one cycle slow at every operating point, and neither half of the verification could have seen it alone.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loop holds 50 V. Open loop walks to 60 V.</a:t>
            </a:r>
          </a:p>
        </p:txBody>
      </p:sp>
      <p:pic>
        <p:nvPicPr>
          <p:cNvPr id="6" name="Picture 5" descr="fig_closedloop.png"/>
          <p:cNvPicPr>
            <a:picLocks noChangeAspect="1"/>
          </p:cNvPicPr>
          <p:nvPr/>
        </p:nvPicPr>
        <p:blipFill>
          <a:blip r:embed="rId4"/>
          <a:stretch>
            <a:fillRect/>
          </a:stretch>
        </p:blipFill>
        <p:spPr>
          <a:xfrm>
            <a:off x="2501273" y="1444752"/>
            <a:ext cx="718914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sim/buck_closed.cir runs the same power stage and the same segmented drivers, now regulated by a type-III loop and then disturbed on purpose. Closed loop 50.01 / 50.00 / 50.00 V through a 2× load step and a 100 → 120 V line step; worst error 0.01 % against open loop's 20.0 %. Load step recovers in 4 µs, line step in 22 µs. Ripple 0.25 %, efficiency 96.1 %, start-up overshoot 3.8 %.</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5.5× to 12.4×, and the lead widens as the corner gets harder.</a:t>
            </a:r>
          </a:p>
        </p:txBody>
      </p:sp>
      <p:pic>
        <p:nvPicPr>
          <p:cNvPr id="6" name="Picture 5" descr="fig_headtohead.png"/>
          <p:cNvPicPr>
            <a:picLocks noChangeAspect="1"/>
          </p:cNvPicPr>
          <p:nvPr/>
        </p:nvPicPr>
        <p:blipFill>
          <a:blip r:embed="rId4"/>
          <a:stretch>
            <a:fillRect/>
          </a:stretch>
        </p:blipFill>
        <p:spPr>
          <a:xfrm>
            <a:off x="1509142" y="1444752"/>
            <a:ext cx="9173408"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scripts/headtohead.py: same deck, same GaN, same parasitics; only the driver is swapped. We hold one fixed control word at all four corners; they are re-optimised at every corner, which is more freedom than their own design has. Their margin falls +0.50 → +0.18 V from the mildest corner to the hottest and ours barely moves, because a clamp does not care how hot the device is. Our switch node also slews about twice as fast, so the margin is not bought with switching speed. One caveat: models/zhangdrv.lib is our implementation of the scheme as they (their netlist is not published), run in our testbench with our parasitics. It is not 5.5–12.4× their measured result, and we do not claim it is.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Only the shipped design is safe under every model we tried.</a:t>
            </a:r>
          </a:p>
        </p:txBody>
      </p:sp>
      <p:pic>
        <p:nvPicPr>
          <p:cNvPr id="6" name="Picture 5" descr="fig_modeldep.png"/>
          <p:cNvPicPr>
            <a:picLocks noChangeAspect="1"/>
          </p:cNvPicPr>
          <p:nvPr/>
        </p:nvPicPr>
        <p:blipFill>
          <a:blip r:embed="rId4"/>
          <a:stretch>
            <a:fillRect/>
          </a:stretch>
        </p:blipFill>
        <p:spPr>
          <a:xfrm>
            <a:off x="1993863" y="1444752"/>
            <a:ext cx="820396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14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assumptions carry every margin in this deck, and each was replaced and re-run. scripts/silicon_check.py rebuilds the output stage in real SKY130 5 V transistors; scripts/capmodel_check.py swaps the junction diodes for a charge capacitance. The ordering survives both. Two things do not: the clamp on its own gives +0.03 V on real devices rather than +0.57, and the no-clamp row changes sign between capacitance laws — so “the constant word causes false turn-on” is model-dependent, and we say so.</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GaN against silicon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driver, same on-resistance class. Only the device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GaN HEMT</a:t>
                      </a:r>
                    </a:p>
                  </a:txBody>
                  <a:tcPr marL="50292" marR="50292" marT="27432" marB="27432"/>
                </a:tc>
                <a:tc>
                  <a:txBody>
                    <a:bodyPr wrap="square"/>
                    <a:lstStyle/>
                    <a:p>
                      <a:r>
                        <a:rPr sz="1250" b="1">
                          <a:latin typeface="Calibri"/>
                        </a:rPr>
                        <a:t>Si MOSFET</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GaN HEMT vs Si MOSFET</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17.55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6.3×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6.65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8.5×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8.60</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3.3×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1.489</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42.7× less</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95.06</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+2.36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-1.5</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-11.8× more</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Read the last row honestly: GaN loses it. Silicon does not overshoot because its edge is nine times slower — the same slowness that costs it 6.1 W. Speed and device stress are the same knob, and choosing GaN is choosing to manage the stress.</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100 V → 50 V, 500 kHz, 10 Ω, 3 nH loop. Each device is driven at its own rated gate voltage — 5 V for GaN, 10 V for silicon — because a silicon MOSFET at 5 V would be barely enhanced and would lose on a technicality rather than on physics. Power is averaged over the last 20 of 150 whole cycles; latency and edge come from a separate 3-cycle run at a 0.02 ns step, because a 2 ns edge and a 300 µs average cannot share one transient.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 architecture — the base paper's blocks</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Zhang et al., ISPSD 2020. One bias resistor sets the whole pattern.</a:t>
            </a:r>
          </a:p>
        </p:txBody>
      </p:sp>
      <p:pic>
        <p:nvPicPr>
          <p:cNvPr id="6" name="Picture 5" descr="fig_arch_base.png"/>
          <p:cNvPicPr>
            <a:picLocks noChangeAspect="1"/>
          </p:cNvPicPr>
          <p:nvPr/>
        </p:nvPicPr>
        <p:blipFill>
          <a:blip r:embed="rId4"/>
          <a:stretch>
            <a:fillRect/>
          </a:stretch>
        </p:blipFill>
        <p:spPr>
          <a:xfrm>
            <a:off x="2338805" y="1481328"/>
            <a:ext cx="7514083"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The two dotted slots are what their design does not have.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 architecture — same stage, three blocks added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same output stage. Three blocks added, in green.</a:t>
            </a:r>
          </a:p>
        </p:txBody>
      </p:sp>
      <p:pic>
        <p:nvPicPr>
          <p:cNvPr id="6" name="Picture 5" descr="fig_arch_ours.png"/>
          <p:cNvPicPr>
            <a:picLocks noChangeAspect="1"/>
          </p:cNvPicPr>
          <p:nvPr/>
        </p:nvPicPr>
        <p:blipFill>
          <a:blip r:embed="rId4"/>
          <a:stretch>
            <a:fillRect/>
          </a:stretch>
        </p:blipFill>
        <p:spPr>
          <a:xfrm>
            <a:off x="772370" y="1481328"/>
            <a:ext cx="10646952"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Green marks what is ours: digital 6-field control, the active clamp, the switchable −2 V rail.</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converter across its own envelope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Every bus and load point, not just the one the headline is quoted at.</a:t>
            </a:r>
          </a:p>
        </p:txBody>
      </p:sp>
      <p:graphicFrame>
        <p:nvGraphicFramePr>
          <p:cNvPr id="6" name="Table 5"/>
          <p:cNvGraphicFramePr>
            <a:graphicFrameLocks noGrp="1"/>
          </p:cNvGraphicFramePr>
          <p:nvPr/>
        </p:nvGraphicFramePr>
        <p:xfrm>
          <a:off x="640080" y="1554480"/>
          <a:ext cx="11064235" cy="3246120"/>
        </p:xfrm>
        <a:graphic>
          <a:graphicData uri="http://schemas.openxmlformats.org/drawingml/2006/table">
            <a:tbl>
              <a:tblPr firstRow="1">
                <a:tableStyleId>{5C22544A-7EE6-4342-B048-85BDC9FD1C3A}</a:tableStyleId>
              </a:tblPr>
              <a:tblGrid>
                <a:gridCol w="995781"/>
                <a:gridCol w="995781"/>
                <a:gridCol w="1548993"/>
                <a:gridCol w="1327708"/>
                <a:gridCol w="1548993"/>
                <a:gridCol w="1327708"/>
                <a:gridCol w="1438351"/>
                <a:gridCol w="1880920"/>
              </a:tblGrid>
              <a:tr h="360680">
                <a:tc>
                  <a:txBody>
                    <a:bodyPr wrap="square"/>
                    <a:lstStyle/>
                    <a:p>
                      <a:r>
                        <a:rPr sz="1150" b="1">
                          <a:latin typeface="Calibri"/>
                        </a:rPr>
                        <a:t>bus</a:t>
                      </a:r>
                    </a:p>
                  </a:txBody>
                  <a:tcPr marL="50292" marR="50292" marT="27432" marB="27432"/>
                </a:tc>
                <a:tc>
                  <a:txBody>
                    <a:bodyPr wrap="square"/>
                    <a:lstStyle/>
                    <a:p>
                      <a:r>
                        <a:rPr sz="1150" b="1">
                          <a:latin typeface="Calibri"/>
                        </a:rPr>
                        <a:t>load</a:t>
                      </a:r>
                    </a:p>
                  </a:txBody>
                  <a:tcPr marL="50292" marR="50292" marT="27432" marB="27432"/>
                </a:tc>
                <a:tc>
                  <a:txBody>
                    <a:bodyPr wrap="square"/>
                    <a:lstStyle/>
                    <a:p>
                      <a:r>
                        <a:rPr sz="1150" b="1">
                          <a:latin typeface="Calibri"/>
                        </a:rPr>
                        <a:t>peak v(sw)</a:t>
                      </a:r>
                    </a:p>
                  </a:txBody>
                  <a:tcPr marL="50292" marR="50292" marT="27432" marB="27432"/>
                </a:tc>
                <a:tc>
                  <a:txBody>
                    <a:bodyPr wrap="square"/>
                    <a:lstStyle/>
                    <a:p>
                      <a:r>
                        <a:rPr sz="1150" b="1">
                          <a:latin typeface="Calibri"/>
                        </a:rPr>
                        <a:t>overshoot</a:t>
                      </a:r>
                    </a:p>
                  </a:txBody>
                  <a:tcPr marL="50292" marR="50292" marT="27432" marB="27432"/>
                </a:tc>
                <a:tc>
                  <a:txBody>
                    <a:bodyPr wrap="square"/>
                    <a:lstStyle/>
                    <a:p>
                      <a:r>
                        <a:rPr sz="1150" b="1">
                          <a:latin typeface="Calibri"/>
                        </a:rPr>
                        <a:t>gate, HS on</a:t>
                      </a:r>
                    </a:p>
                  </a:txBody>
                  <a:tcPr marL="50292" marR="50292" marT="27432" marB="27432"/>
                </a:tc>
                <a:tc>
                  <a:txBody>
                    <a:bodyPr wrap="square"/>
                    <a:lstStyle/>
                    <a:p>
                      <a:r>
                        <a:rPr sz="1150" b="1">
                          <a:latin typeface="Calibri"/>
                        </a:rPr>
                        <a:t>margin</a:t>
                      </a:r>
                    </a:p>
                  </a:txBody>
                  <a:tcPr marL="50292" marR="50292" marT="27432" marB="27432"/>
                </a:tc>
                <a:tc>
                  <a:txBody>
                    <a:bodyPr wrap="square"/>
                    <a:lstStyle/>
                    <a:p>
                      <a:r>
                        <a:rPr sz="1150" b="1">
                          <a:latin typeface="Calibri"/>
                        </a:rPr>
                        <a:t>efficiency</a:t>
                      </a:r>
                    </a:p>
                  </a:txBody>
                  <a:tcPr marL="50292" marR="50292" marT="27432" marB="27432"/>
                </a:tc>
                <a:tc>
                  <a:txBody>
                    <a:bodyPr wrap="square"/>
                    <a:lstStyle/>
                    <a:p>
                      <a:r>
                        <a:rPr sz="1150" b="1">
                          <a:latin typeface="Calibri"/>
                        </a:rPr>
                        <a:t>verdict</a:t>
                      </a:r>
                    </a:p>
                  </a:txBody>
                  <a:tcPr marL="50292" marR="50292" marT="27432" marB="27432"/>
                </a:tc>
              </a:tr>
              <a:tr h="360680">
                <a:tc>
                  <a:txBody>
                    <a:bodyPr wrap="square"/>
                    <a:lstStyle/>
                    <a:p>
                      <a:r>
                        <a:rPr sz="1150" b="0">
                          <a:latin typeface="Calibri"/>
                        </a:rPr>
                        <a:t>50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68.1 V</a:t>
                      </a:r>
                    </a:p>
                  </a:txBody>
                  <a:tcPr marL="50292" marR="50292" marT="27432" marB="27432"/>
                </a:tc>
                <a:tc>
                  <a:txBody>
                    <a:bodyPr wrap="square"/>
                    <a:lstStyle/>
                    <a:p>
                      <a:r>
                        <a:rPr sz="1150" b="0">
                          <a:latin typeface="Calibri"/>
                        </a:rPr>
                        <a:t>36.1 %</a:t>
                      </a:r>
                    </a:p>
                  </a:txBody>
                  <a:tcPr marL="50292" marR="50292" marT="27432" marB="27432"/>
                </a:tc>
                <a:tc>
                  <a:txBody>
                    <a:bodyPr wrap="square"/>
                    <a:lstStyle/>
                    <a:p>
                      <a:r>
                        <a:rPr sz="1150" b="0">
                          <a:latin typeface="Calibri"/>
                        </a:rPr>
                        <a:t>-0.98 V</a:t>
                      </a:r>
                    </a:p>
                  </a:txBody>
                  <a:tcPr marL="50292" marR="50292" marT="27432" marB="27432"/>
                </a:tc>
                <a:tc>
                  <a:txBody>
                    <a:bodyPr wrap="square"/>
                    <a:lstStyle/>
                    <a:p>
                      <a:r>
                        <a:rPr sz="1150" b="0">
                          <a:latin typeface="Calibri"/>
                        </a:rPr>
                        <a:t>+2.38 V</a:t>
                      </a:r>
                    </a:p>
                  </a:txBody>
                  <a:tcPr marL="50292" marR="50292" marT="27432" marB="27432"/>
                </a:tc>
                <a:tc>
                  <a:txBody>
                    <a:bodyPr wrap="square"/>
                    <a:lstStyle/>
                    <a:p>
                      <a:r>
                        <a:rPr sz="1150" b="0">
                          <a:latin typeface="Calibri"/>
                        </a:rPr>
                        <a:t>97.08 %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50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61.8 V</a:t>
                      </a:r>
                    </a:p>
                  </a:txBody>
                  <a:tcPr marL="50292" marR="50292" marT="27432" marB="27432"/>
                </a:tc>
                <a:tc>
                  <a:txBody>
                    <a:bodyPr wrap="square"/>
                    <a:lstStyle/>
                    <a:p>
                      <a:r>
                        <a:rPr sz="1150" b="0">
                          <a:latin typeface="Calibri"/>
                        </a:rPr>
                        <a:t>23.6 %</a:t>
                      </a:r>
                    </a:p>
                  </a:txBody>
                  <a:tcPr marL="50292" marR="50292" marT="27432" marB="27432"/>
                </a:tc>
                <a:tc>
                  <a:txBody>
                    <a:bodyPr wrap="square"/>
                    <a:lstStyle/>
                    <a:p>
                      <a:r>
                        <a:rPr sz="1150" b="0">
                          <a:latin typeface="Calibri"/>
                        </a:rPr>
                        <a:t>-1.12 V</a:t>
                      </a:r>
                    </a:p>
                  </a:txBody>
                  <a:tcPr marL="50292" marR="50292" marT="27432" marB="27432"/>
                </a:tc>
                <a:tc>
                  <a:txBody>
                    <a:bodyPr wrap="square"/>
                    <a:lstStyle/>
                    <a:p>
                      <a:r>
                        <a:rPr sz="1150" b="0">
                          <a:latin typeface="Calibri"/>
                        </a:rPr>
                        <a:t>+2.52 V</a:t>
                      </a:r>
                    </a:p>
                  </a:txBody>
                  <a:tcPr marL="50292" marR="50292" marT="27432" marB="27432"/>
                </a:tc>
                <a:tc>
                  <a:txBody>
                    <a:bodyPr wrap="square"/>
                    <a:lstStyle/>
                    <a:p>
                      <a:r>
                        <a:rPr sz="1150" b="0">
                          <a:latin typeface="Calibri"/>
                        </a:rPr>
                        <a:t>92.86 %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100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113.6 V</a:t>
                      </a:r>
                    </a:p>
                  </a:txBody>
                  <a:tcPr marL="50292" marR="50292" marT="27432" marB="27432"/>
                </a:tc>
                <a:tc>
                  <a:txBody>
                    <a:bodyPr wrap="square"/>
                    <a:lstStyle/>
                    <a:p>
                      <a:r>
                        <a:rPr sz="1150" b="0">
                          <a:latin typeface="Calibri"/>
                        </a:rPr>
                        <a:t>13.6 %</a:t>
                      </a:r>
                    </a:p>
                  </a:txBody>
                  <a:tcPr marL="50292" marR="50292" marT="27432" marB="27432"/>
                </a:tc>
                <a:tc>
                  <a:txBody>
                    <a:bodyPr wrap="square"/>
                    <a:lstStyle/>
                    <a:p>
                      <a:r>
                        <a:rPr sz="1150" b="0">
                          <a:latin typeface="Calibri"/>
                        </a:rPr>
                        <a:t>-1.16 V</a:t>
                      </a:r>
                    </a:p>
                  </a:txBody>
                  <a:tcPr marL="50292" marR="50292" marT="27432" marB="27432"/>
                </a:tc>
                <a:tc>
                  <a:txBody>
                    <a:bodyPr wrap="square"/>
                    <a:lstStyle/>
                    <a:p>
                      <a:r>
                        <a:rPr sz="1150" b="0">
                          <a:latin typeface="Calibri"/>
                        </a:rPr>
                        <a:t>+2.56 V</a:t>
                      </a:r>
                    </a:p>
                  </a:txBody>
                  <a:tcPr marL="50292" marR="50292" marT="27432" marB="27432"/>
                </a:tc>
                <a:tc>
                  <a:txBody>
                    <a:bodyPr wrap="square"/>
                    <a:lstStyle/>
                    <a:p>
                      <a:r>
                        <a:rPr sz="1150" b="0">
                          <a:latin typeface="Calibri"/>
                        </a:rPr>
                        <a:t>97.67 %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100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110.1 V</a:t>
                      </a:r>
                    </a:p>
                  </a:txBody>
                  <a:tcPr marL="50292" marR="50292" marT="27432" marB="27432"/>
                </a:tc>
                <a:tc>
                  <a:txBody>
                    <a:bodyPr wrap="square"/>
                    <a:lstStyle/>
                    <a:p>
                      <a:r>
                        <a:rPr sz="1150" b="0">
                          <a:latin typeface="Calibri"/>
                        </a:rPr>
                        <a:t>10.1 %</a:t>
                      </a:r>
                    </a:p>
                  </a:txBody>
                  <a:tcPr marL="50292" marR="50292" marT="27432" marB="27432"/>
                </a:tc>
                <a:tc>
                  <a:txBody>
                    <a:bodyPr wrap="square"/>
                    <a:lstStyle/>
                    <a:p>
                      <a:r>
                        <a:rPr sz="1150" b="0">
                          <a:latin typeface="Calibri"/>
                        </a:rPr>
                        <a:t>-1.21 V</a:t>
                      </a:r>
                    </a:p>
                  </a:txBody>
                  <a:tcPr marL="50292" marR="50292" marT="27432" marB="27432"/>
                </a:tc>
                <a:tc>
                  <a:txBody>
                    <a:bodyPr wrap="square"/>
                    <a:lstStyle/>
                    <a:p>
                      <a:r>
                        <a:rPr sz="1150" b="0">
                          <a:latin typeface="Calibri"/>
                        </a:rPr>
                        <a:t>+2.61 V</a:t>
                      </a:r>
                    </a:p>
                  </a:txBody>
                  <a:tcPr marL="50292" marR="50292" marT="27432" marB="27432"/>
                </a:tc>
                <a:tc>
                  <a:txBody>
                    <a:bodyPr wrap="square"/>
                    <a:lstStyle/>
                    <a:p>
                      <a:r>
                        <a:rPr sz="1150" b="0">
                          <a:latin typeface="Calibri"/>
                        </a:rPr>
                        <a:t>96.02 %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150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171.3 V</a:t>
                      </a:r>
                    </a:p>
                  </a:txBody>
                  <a:tcPr marL="50292" marR="50292" marT="27432" marB="27432"/>
                </a:tc>
                <a:tc>
                  <a:txBody>
                    <a:bodyPr wrap="square"/>
                    <a:lstStyle/>
                    <a:p>
                      <a:r>
                        <a:rPr sz="1150" b="0">
                          <a:latin typeface="Calibri"/>
                        </a:rPr>
                        <a:t>14.2 %</a:t>
                      </a:r>
                    </a:p>
                  </a:txBody>
                  <a:tcPr marL="50292" marR="50292" marT="27432" marB="27432"/>
                </a:tc>
                <a:tc>
                  <a:txBody>
                    <a:bodyPr wrap="square"/>
                    <a:lstStyle/>
                    <a:p>
                      <a:r>
                        <a:rPr sz="1150" b="0">
                          <a:latin typeface="Calibri"/>
                        </a:rPr>
                        <a:t>-0.86 V</a:t>
                      </a:r>
                    </a:p>
                  </a:txBody>
                  <a:tcPr marL="50292" marR="50292" marT="27432" marB="27432"/>
                </a:tc>
                <a:tc>
                  <a:txBody>
                    <a:bodyPr wrap="square"/>
                    <a:lstStyle/>
                    <a:p>
                      <a:r>
                        <a:rPr sz="1150" b="0">
                          <a:latin typeface="Calibri"/>
                        </a:rPr>
                        <a:t>+2.26 V</a:t>
                      </a:r>
                    </a:p>
                  </a:txBody>
                  <a:tcPr marL="50292" marR="50292" marT="27432" marB="27432"/>
                </a:tc>
                <a:tc>
                  <a:txBody>
                    <a:bodyPr wrap="square"/>
                    <a:lstStyle/>
                    <a:p>
                      <a:r>
                        <a:rPr sz="1150" b="0">
                          <a:latin typeface="Calibri"/>
                        </a:rPr>
                        <a:t>98.07 %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150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164.6 V</a:t>
                      </a:r>
                    </a:p>
                  </a:txBody>
                  <a:tcPr marL="50292" marR="50292" marT="27432" marB="27432"/>
                </a:tc>
                <a:tc>
                  <a:txBody>
                    <a:bodyPr wrap="square"/>
                    <a:lstStyle/>
                    <a:p>
                      <a:r>
                        <a:rPr sz="1150" b="0">
                          <a:latin typeface="Calibri"/>
                        </a:rPr>
                        <a:t>9.8 %</a:t>
                      </a:r>
                    </a:p>
                  </a:txBody>
                  <a:tcPr marL="50292" marR="50292" marT="27432" marB="27432"/>
                </a:tc>
                <a:tc>
                  <a:txBody>
                    <a:bodyPr wrap="square"/>
                    <a:lstStyle/>
                    <a:p>
                      <a:r>
                        <a:rPr sz="1150" b="0">
                          <a:latin typeface="Calibri"/>
                        </a:rPr>
                        <a:t>-1.09 V</a:t>
                      </a:r>
                    </a:p>
                  </a:txBody>
                  <a:tcPr marL="50292" marR="50292" marT="27432" marB="27432"/>
                </a:tc>
                <a:tc>
                  <a:txBody>
                    <a:bodyPr wrap="square"/>
                    <a:lstStyle/>
                    <a:p>
                      <a:r>
                        <a:rPr sz="1150" b="0">
                          <a:latin typeface="Calibri"/>
                        </a:rPr>
                        <a:t>+2.49 V</a:t>
                      </a:r>
                    </a:p>
                  </a:txBody>
                  <a:tcPr marL="50292" marR="50292" marT="27432" marB="27432"/>
                </a:tc>
                <a:tc>
                  <a:txBody>
                    <a:bodyPr wrap="square"/>
                    <a:lstStyle/>
                    <a:p>
                      <a:r>
                        <a:rPr sz="1150" b="0">
                          <a:latin typeface="Calibri"/>
                        </a:rPr>
                        <a:t>97.11 %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200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206.2 V</a:t>
                      </a:r>
                    </a:p>
                  </a:txBody>
                  <a:tcPr marL="50292" marR="50292" marT="27432" marB="27432"/>
                </a:tc>
                <a:tc>
                  <a:txBody>
                    <a:bodyPr wrap="square"/>
                    <a:lstStyle/>
                    <a:p>
                      <a:r>
                        <a:rPr sz="1150" b="0">
                          <a:latin typeface="Calibri"/>
                        </a:rPr>
                        <a:t>3.1 %</a:t>
                      </a:r>
                    </a:p>
                  </a:txBody>
                  <a:tcPr marL="50292" marR="50292" marT="27432" marB="27432"/>
                </a:tc>
                <a:tc>
                  <a:txBody>
                    <a:bodyPr wrap="square"/>
                    <a:lstStyle/>
                    <a:p>
                      <a:r>
                        <a:rPr sz="1150" b="0">
                          <a:latin typeface="Calibri"/>
                        </a:rPr>
                        <a:t>-1.09 V</a:t>
                      </a:r>
                    </a:p>
                  </a:txBody>
                  <a:tcPr marL="50292" marR="50292" marT="27432" marB="27432"/>
                </a:tc>
                <a:tc>
                  <a:txBody>
                    <a:bodyPr wrap="square"/>
                    <a:lstStyle/>
                    <a:p>
                      <a:r>
                        <a:rPr sz="1150" b="0">
                          <a:latin typeface="Calibri"/>
                        </a:rPr>
                        <a:t>+2.49 V</a:t>
                      </a:r>
                    </a:p>
                  </a:txBody>
                  <a:tcPr marL="50292" marR="50292" marT="27432" marB="27432"/>
                </a:tc>
                <a:tc>
                  <a:txBody>
                    <a:bodyPr wrap="square"/>
                    <a:lstStyle/>
                    <a:p>
                      <a:r>
                        <a:rPr sz="1150" b="0">
                          <a:latin typeface="Calibri"/>
                        </a:rPr>
                        <a:t>98.42 %</a:t>
                      </a:r>
                    </a:p>
                  </a:txBody>
                  <a:tcPr marL="50292" marR="50292" marT="27432" marB="27432"/>
                </a:tc>
                <a:tc>
                  <a:txBody>
                    <a:bodyPr wrap="square"/>
                    <a:lstStyle/>
                    <a:p>
                      <a:r>
                        <a:rPr sz="1150" b="1">
                          <a:solidFill>
                            <a:srgbClr val="B00000"/>
                          </a:solidFill>
                          <a:latin typeface="Calibri"/>
                        </a:rPr>
                        <a:t>OVER-RATING</a:t>
                      </a:r>
                    </a:p>
                  </a:txBody>
                  <a:tcPr marL="50292" marR="50292" marT="27432" marB="27432"/>
                </a:tc>
              </a:tr>
              <a:tr h="360680">
                <a:tc>
                  <a:txBody>
                    <a:bodyPr wrap="square"/>
                    <a:lstStyle/>
                    <a:p>
                      <a:r>
                        <a:rPr sz="1150" b="0">
                          <a:latin typeface="Calibri"/>
                        </a:rPr>
                        <a:t>200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208.2 V</a:t>
                      </a:r>
                    </a:p>
                  </a:txBody>
                  <a:tcPr marL="50292" marR="50292" marT="27432" marB="27432"/>
                </a:tc>
                <a:tc>
                  <a:txBody>
                    <a:bodyPr wrap="square"/>
                    <a:lstStyle/>
                    <a:p>
                      <a:r>
                        <a:rPr sz="1150" b="0">
                          <a:latin typeface="Calibri"/>
                        </a:rPr>
                        <a:t>4.1 %</a:t>
                      </a:r>
                    </a:p>
                  </a:txBody>
                  <a:tcPr marL="50292" marR="50292" marT="27432" marB="27432"/>
                </a:tc>
                <a:tc>
                  <a:txBody>
                    <a:bodyPr wrap="square"/>
                    <a:lstStyle/>
                    <a:p>
                      <a:r>
                        <a:rPr sz="1150" b="0">
                          <a:latin typeface="Calibri"/>
                        </a:rPr>
                        <a:t>-0.74 V</a:t>
                      </a:r>
                    </a:p>
                  </a:txBody>
                  <a:tcPr marL="50292" marR="50292" marT="27432" marB="27432"/>
                </a:tc>
                <a:tc>
                  <a:txBody>
                    <a:bodyPr wrap="square"/>
                    <a:lstStyle/>
                    <a:p>
                      <a:r>
                        <a:rPr sz="1150" b="0">
                          <a:latin typeface="Calibri"/>
                        </a:rPr>
                        <a:t>+2.14 V</a:t>
                      </a:r>
                    </a:p>
                  </a:txBody>
                  <a:tcPr marL="50292" marR="50292" marT="27432" marB="27432"/>
                </a:tc>
                <a:tc>
                  <a:txBody>
                    <a:bodyPr wrap="square"/>
                    <a:lstStyle/>
                    <a:p>
                      <a:r>
                        <a:rPr sz="1150" b="0">
                          <a:latin typeface="Calibri"/>
                        </a:rPr>
                        <a:t>97.65 %</a:t>
                      </a:r>
                    </a:p>
                  </a:txBody>
                  <a:tcPr marL="50292" marR="50292" marT="27432" marB="27432"/>
                </a:tc>
                <a:tc>
                  <a:txBody>
                    <a:bodyPr wrap="square"/>
                    <a:lstStyle/>
                    <a:p>
                      <a:r>
                        <a:rPr sz="1150" b="1">
                          <a:solidFill>
                            <a:srgbClr val="B00000"/>
                          </a:solidFill>
                          <a:latin typeface="Calibri"/>
                        </a:rPr>
                        <a:t>OVER-RATING</a:t>
                      </a:r>
                    </a:p>
                  </a:txBody>
                  <a:tcPr marL="50292" marR="50292" marT="27432" marB="27432"/>
                </a:tc>
              </a:tr>
            </a:tbl>
          </a:graphicData>
        </a:graphic>
      </p:graphicFrame>
      <p:sp>
        <p:nvSpPr>
          <p:cNvPr id="7" name="TextBox 6"/>
          <p:cNvSpPr txBox="1"/>
          <p:nvPr/>
        </p:nvSpPr>
        <p:spPr>
          <a:xfrm>
            <a:off x="640080" y="4974336"/>
            <a:ext cx="11064240" cy="1143000"/>
          </a:xfrm>
          <a:prstGeom prst="rect">
            <a:avLst/>
          </a:prstGeom>
          <a:noFill/>
        </p:spPr>
        <p:txBody>
          <a:bodyPr wrap="square" lIns="0" tIns="0" rIns="0" bIns="0">
            <a:spAutoFit/>
          </a:bodyPr>
          <a:lstStyle/>
          <a:p>
            <a:pPr marL="177800" indent="0">
              <a:spcAft>
                <a:spcPts val="11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column is the answer. </a:t>
            </a:r>
            <a:r>
              <a:rPr lang="en-US" sz="1150" dirty="0">
                <a:solidFill>
                  <a:srgbClr val="000000"/>
                </a:solidFill>
                <a:latin typeface="Calibri" pitchFamily="34" charset="0"/>
                <a:ea typeface="Calibri" pitchFamily="34" charset="-122"/>
                <a:cs typeface="Calibri" pitchFamily="34" charset="-120"/>
              </a:rPr>
              <a:t xml:space="preserve">It is the 1.4 V threshold minus the highest the OFF gate reaches while the other device is conducting, and it is positive at all eight points — +2.14 V at the worst. The off device stays off everywhere in the range.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two 200 V rows are not a driver failure. </a:t>
            </a:r>
            <a:r>
              <a:rPr lang="en-US" sz="1150" dirty="0">
                <a:solidFill>
                  <a:srgbClr val="000000"/>
                </a:solidFill>
                <a:latin typeface="Calibri" pitchFamily="34" charset="0"/>
                <a:ea typeface="Calibri" pitchFamily="34" charset="-122"/>
                <a:cs typeface="Calibri" pitchFamily="34" charset="-120"/>
              </a:rPr>
              <a:t xml:space="preserve">Their overshoot is the smallest in the sweep, 3.1 % and 4.1 %. The problem is running a 200 V-rated part on a 200 V bus, where any overshoot at all exceeds the rating. So the envelope is stated as 50–150 V on this device; 200 V needs a higher-rated part, not a different driver.</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Theirs and ours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GaN device, same output stage. Only the control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Ours</a:t>
                      </a:r>
                    </a:p>
                  </a:txBody>
                  <a:tcPr marL="50292" marR="50292" marT="27432" marB="27432"/>
                </a:tc>
                <a:tc>
                  <a:txBody>
                    <a:bodyPr wrap="square"/>
                    <a:lstStyle/>
                    <a:p>
                      <a:r>
                        <a:rPr sz="1250" b="1">
                          <a:latin typeface="Calibri"/>
                        </a:rPr>
                        <a:t>Base paper</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Ours vs Base paper</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4.04</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1.5×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2.06</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2.6×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2.93</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1.1×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0.031</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B00000"/>
                          </a:solidFill>
                          <a:latin typeface="Calibri"/>
                        </a:rPr>
                        <a:t>1.1× more</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97.31</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+0.11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2.9</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6.2× more</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last two rows are ours to answer. We spend 13 % more gate power and we overshoot 24 points harder, because we switch faster. That buys 1.2 ns of latency, 0.28 W in the devices and the crosstalk margin on the next slide.</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with the driver subcircuit swapped: models/segdrv.lib against models/zhangdrv.lib. Identical devices, parasitics, timing and solver options, so any difference here is the control scheme and nothing else. Their pattern step is a delayed copy of their own PWM, so it lands the same distance after turn-on on every cycle, which is what their one-knob scheme does.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97280"/>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result so far was measured open loop. The duty ratio was a parameter and nothing moved while we measured. That is the right instrument for a switching edge and the wrong description of a converter: a storage system's pack voltage sags all day and its load steps whenever something downstream turns on.</a:t>
            </a:r>
          </a:p>
        </p:txBody>
      </p:sp>
      <p:graphicFrame>
        <p:nvGraphicFramePr>
          <p:cNvPr id="6" name="Table 5"/>
          <p:cNvGraphicFramePr>
            <a:graphicFrameLocks noGrp="1"/>
          </p:cNvGraphicFramePr>
          <p:nvPr/>
        </p:nvGraphicFramePr>
        <p:xfrm>
          <a:off x="1188720" y="1956816"/>
          <a:ext cx="9784076" cy="1005840"/>
        </p:xfrm>
        <a:graphic>
          <a:graphicData uri="http://schemas.openxmlformats.org/drawingml/2006/table">
            <a:tbl>
              <a:tblPr firstRow="1">
                <a:tableStyleId>{5C22544A-7EE6-4342-B048-85BDC9FD1C3A}</a:tableStyleId>
              </a:tblPr>
              <a:tblGrid>
                <a:gridCol w="1565452"/>
                <a:gridCol w="2054656"/>
                <a:gridCol w="2054656"/>
                <a:gridCol w="2543860"/>
                <a:gridCol w="1565452"/>
              </a:tblGrid>
              <a:tr h="335280">
                <a:tc>
                  <a:txBody>
                    <a:bodyPr wrap="square"/>
                    <a:lstStyle/>
                    <a:p>
                      <a:r>
                        <a:rPr sz="1000" b="1">
                          <a:latin typeface="Calibri"/>
                        </a:rPr>
                        <a:t/>
                      </a:r>
                    </a:p>
                  </a:txBody>
                  <a:tcPr marL="50292" marR="50292" marT="27432" marB="27432"/>
                </a:tc>
                <a:tc>
                  <a:txBody>
                    <a:bodyPr wrap="square"/>
                    <a:lstStyle/>
                    <a:p>
                      <a:r>
                        <a:rPr sz="1000" b="1">
                          <a:latin typeface="Calibri"/>
                        </a:rPr>
                        <a:t>nominal  100 V / 5 A</a:t>
                      </a:r>
                    </a:p>
                  </a:txBody>
                  <a:tcPr marL="50292" marR="50292" marT="27432" marB="27432"/>
                </a:tc>
                <a:tc>
                  <a:txBody>
                    <a:bodyPr wrap="square"/>
                    <a:lstStyle/>
                    <a:p>
                      <a:r>
                        <a:rPr sz="1000" b="1">
                          <a:latin typeface="Calibri"/>
                        </a:rPr>
                        <a:t>after 2× load step</a:t>
                      </a:r>
                    </a:p>
                  </a:txBody>
                  <a:tcPr marL="50292" marR="50292" marT="27432" marB="27432"/>
                </a:tc>
                <a:tc>
                  <a:txBody>
                    <a:bodyPr wrap="square"/>
                    <a:lstStyle/>
                    <a:p>
                      <a:r>
                        <a:rPr sz="1000" b="1">
                          <a:latin typeface="Calibri"/>
                        </a:rPr>
                        <a:t>after 100 → 120 V line step</a:t>
                      </a:r>
                    </a:p>
                  </a:txBody>
                  <a:tcPr marL="50292" marR="50292" marT="27432" marB="27432"/>
                </a:tc>
                <a:tc>
                  <a:txBody>
                    <a:bodyPr wrap="square"/>
                    <a:lstStyle/>
                    <a:p>
                      <a:r>
                        <a:rPr sz="1000" b="1">
                          <a:latin typeface="Calibri"/>
                        </a:rPr>
                        <a:t>worst error</a:t>
                      </a:r>
                    </a:p>
                  </a:txBody>
                  <a:tcPr marL="50292" marR="50292" marT="27432" marB="27432"/>
                </a:tc>
              </a:tr>
              <a:tr h="335280">
                <a:tc>
                  <a:txBody>
                    <a:bodyPr wrap="square"/>
                    <a:lstStyle/>
                    <a:p>
                      <a:r>
                        <a:rPr sz="1100" b="1">
                          <a:latin typeface="Calibri"/>
                        </a:rPr>
                        <a:t>closed loop</a:t>
                      </a:r>
                    </a:p>
                  </a:txBody>
                  <a:tcPr marL="50292" marR="50292" marT="27432" marB="27432"/>
                </a:tc>
                <a:tc>
                  <a:txBody>
                    <a:bodyPr wrap="square"/>
                    <a:lstStyle/>
                    <a:p>
                      <a:r>
                        <a:rPr sz="1100" b="1">
                          <a:solidFill>
                            <a:srgbClr val="1B7F3B"/>
                          </a:solidFill>
                          <a:latin typeface="Calibri"/>
                        </a:rPr>
                        <a:t>50.02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0.01 %</a:t>
                      </a:r>
                    </a:p>
                  </a:txBody>
                  <a:tcPr marL="50292" marR="50292" marT="27432" marB="27432"/>
                </a:tc>
              </a:tr>
              <a:tr h="335280">
                <a:tc>
                  <a:txBody>
                    <a:bodyPr wrap="square"/>
                    <a:lstStyle/>
                    <a:p>
                      <a:r>
                        <a:rPr sz="1100" b="1">
                          <a:latin typeface="Calibri"/>
                        </a:rPr>
                        <a:t>open loop</a:t>
                      </a:r>
                    </a:p>
                  </a:txBody>
                  <a:tcPr marL="50292" marR="50292" marT="27432" marB="27432"/>
                </a:tc>
                <a:tc>
                  <a:txBody>
                    <a:bodyPr wrap="square"/>
                    <a:lstStyle/>
                    <a:p>
                      <a:r>
                        <a:rPr sz="1100" b="0">
                          <a:latin typeface="Calibri"/>
                        </a:rPr>
                        <a:t>51.03 V</a:t>
                      </a:r>
                    </a:p>
                  </a:txBody>
                  <a:tcPr marL="50292" marR="50292" marT="27432" marB="27432"/>
                </a:tc>
                <a:tc>
                  <a:txBody>
                    <a:bodyPr wrap="square"/>
                    <a:lstStyle/>
                    <a:p>
                      <a:r>
                        <a:rPr sz="1100" b="0">
                          <a:latin typeface="Calibri"/>
                        </a:rPr>
                        <a:t>50.15 V</a:t>
                      </a:r>
                    </a:p>
                  </a:txBody>
                  <a:tcPr marL="50292" marR="50292" marT="27432" marB="27432"/>
                </a:tc>
                <a:tc>
                  <a:txBody>
                    <a:bodyPr wrap="square"/>
                    <a:lstStyle/>
                    <a:p>
                      <a:r>
                        <a:rPr sz="1100" b="1">
                          <a:solidFill>
                            <a:srgbClr val="B56A00"/>
                          </a:solidFill>
                          <a:latin typeface="Calibri"/>
                        </a:rPr>
                        <a:t>58.33 V</a:t>
                      </a:r>
                    </a:p>
                  </a:txBody>
                  <a:tcPr marL="50292" marR="50292" marT="27432" marB="27432"/>
                </a:tc>
                <a:tc>
                  <a:txBody>
                    <a:bodyPr wrap="square"/>
                    <a:lstStyle/>
                    <a:p>
                      <a:r>
                        <a:rPr sz="1100" b="1">
                          <a:solidFill>
                            <a:srgbClr val="B56A00"/>
                          </a:solidFill>
                          <a:latin typeface="Calibri"/>
                        </a:rPr>
                        <a:t>16.7 %</a:t>
                      </a:r>
                    </a:p>
                  </a:txBody>
                  <a:tcPr marL="50292" marR="50292" marT="27432" marB="27432"/>
                </a:tc>
              </a:tr>
            </a:tbl>
          </a:graphicData>
        </a:graphic>
      </p:graphicFrame>
      <p:sp>
        <p:nvSpPr>
          <p:cNvPr id="7" name="TextBox 6"/>
          <p:cNvSpPr txBox="1"/>
          <p:nvPr/>
        </p:nvSpPr>
        <p:spPr>
          <a:xfrm>
            <a:off x="640080" y="314553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the loop buys</a:t>
            </a:r>
          </a:p>
        </p:txBody>
      </p:sp>
      <p:sp>
        <p:nvSpPr>
          <p:cNvPr id="8" name="TextBox 7"/>
          <p:cNvSpPr txBox="1"/>
          <p:nvPr/>
        </p:nvSpPr>
        <p:spPr>
          <a:xfrm>
            <a:off x="640080" y="3493008"/>
            <a:ext cx="534924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Load step 5 → 10 A: dips 1.8 %, back inside ±1 % in 4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Line step 100 → 120 V: peaks 1.4 %, recovers in 22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Output ripple 0.28 %. Soft-start overshoot 10.9 % — the one number here we are not proud of, and it is on the slide.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Open loop is not merely less accurate. On the line step it walks to 60 V, because V_out = D × V_in and nothing in it knows V_in moved.</a:t>
            </a:r>
          </a:p>
        </p:txBody>
      </p:sp>
      <p:sp>
        <p:nvSpPr>
          <p:cNvPr id="9" name="TextBox 8"/>
          <p:cNvSpPr txBox="1"/>
          <p:nvPr/>
        </p:nvSpPr>
        <p:spPr>
          <a:xfrm>
            <a:off x="6400800" y="314553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compensators that did not work</a:t>
            </a:r>
          </a:p>
        </p:txBody>
      </p:sp>
      <p:sp>
        <p:nvSpPr>
          <p:cNvPr id="10" name="TextBox 9"/>
          <p:cNvSpPr txBox="1"/>
          <p:nvPr/>
        </p:nvSpPr>
        <p:spPr>
          <a:xfrm>
            <a:off x="6400800" y="3493008"/>
            <a:ext cx="530352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 first period-doubled: a 4 µs triangle on a 2 µs switching period — the textbook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/2 limit cycle.</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A proper type-II could not be made to work at all. One zero cannot beat the output LC's −180°: cross above the corner and the phase margin is negative, cross below and the loop cannot settle between two disturbances. Both measured — 30 µS drifts 23 V, 100 µS rails 98 V.</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Type III adds the second zero, which is exactly the missing phase. Crossover ~30 kHz,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/16.</a:t>
            </a:r>
          </a:p>
        </p:txBody>
      </p:sp>
      <p:sp>
        <p:nvSpPr>
          <p:cNvPr id="11" name="TextBox 10"/>
          <p:cNvSpPr txBox="1"/>
          <p:nvPr/>
        </p:nvSpPr>
        <p:spPr>
          <a:xfrm>
            <a:off x="640080" y="5577840"/>
            <a:ext cx="10698480" cy="9144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Said out loud: the K-factor design was 4× out. </a:t>
            </a:r>
            <a:r>
              <a:rPr lang="en-US" sz="1200" dirty="0">
                <a:solidFill>
                  <a:srgbClr val="000000"/>
                </a:solidFill>
                <a:latin typeface="Calibri" pitchFamily="34" charset="0"/>
                <a:ea typeface="Calibri" pitchFamily="34" charset="-122"/>
                <a:cs typeface="Calibri" pitchFamily="34" charset="-120"/>
              </a:rPr>
              <a:t xml:space="preserve">It predicted 30 kHz; the measured step response said about 2 kHz, 109 % overshoot, 119 µs to settle. The gain was scaled empirically and re-measured at each step. No phase margin is claimed anywhere — that needs an AC analysis about a periodic operating point, which ngspice cannot do on a switching deck.</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Two assumptions carry every margin in this deck: that an ideal switch stands in for the driver's output stage, and that a junction diode stands in for the device's capacitance. We replaced each with the alternative and re-ran.</a:t>
            </a:r>
          </a:p>
        </p:txBody>
      </p:sp>
      <p:sp>
        <p:nvSpPr>
          <p:cNvPr id="6" name="TextBox 5"/>
          <p:cNvSpPr txBox="1"/>
          <p:nvPr/>
        </p:nvSpPr>
        <p:spPr>
          <a:xfrm>
            <a:off x="640080" y="1627632"/>
            <a:ext cx="534924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  The output stage — in real SKY130 devices</a:t>
            </a:r>
          </a:p>
        </p:txBody>
      </p:sp>
      <p:graphicFrame>
        <p:nvGraphicFramePr>
          <p:cNvPr id="7" name="Table 6"/>
          <p:cNvGraphicFramePr>
            <a:graphicFrameLocks noGrp="1"/>
          </p:cNvGraphicFramePr>
          <p:nvPr/>
        </p:nvGraphicFramePr>
        <p:xfrm>
          <a:off x="640080" y="1956816"/>
          <a:ext cx="5349238" cy="1188720"/>
        </p:xfrm>
        <a:graphic>
          <a:graphicData uri="http://schemas.openxmlformats.org/drawingml/2006/table">
            <a:tbl>
              <a:tblPr firstRow="1">
                <a:tableStyleId>{5C22544A-7EE6-4342-B048-85BDC9FD1C3A}</a:tableStyleId>
              </a:tblPr>
              <a:tblGrid>
                <a:gridCol w="2246680"/>
                <a:gridCol w="1551279"/>
                <a:gridCol w="1551279"/>
              </a:tblGrid>
              <a:tr h="297180">
                <a:tc>
                  <a:txBody>
                    <a:bodyPr wrap="square"/>
                    <a:lstStyle/>
                    <a:p>
                      <a:r>
                        <a:rPr sz="1000" b="1">
                          <a:latin typeface="Calibri"/>
                        </a:rPr>
                        <a:t/>
                      </a:r>
                    </a:p>
                  </a:txBody>
                  <a:tcPr marL="50292" marR="50292" marT="27432" marB="27432"/>
                </a:tc>
                <a:tc>
                  <a:txBody>
                    <a:bodyPr wrap="square"/>
                    <a:lstStyle/>
                    <a:p>
                      <a:r>
                        <a:rPr sz="1000" b="1">
                          <a:latin typeface="Calibri"/>
                        </a:rPr>
                        <a:t>ideal sw</a:t>
                      </a:r>
                    </a:p>
                  </a:txBody>
                  <a:tcPr marL="50292" marR="50292" marT="27432" marB="27432"/>
                </a:tc>
                <a:tc>
                  <a:txBody>
                    <a:bodyPr wrap="square"/>
                    <a:lstStyle/>
                    <a:p>
                      <a:r>
                        <a:rPr sz="1000" b="1">
                          <a:latin typeface="Calibri"/>
                        </a:rPr>
                        <a:t>SKY130</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0">
                          <a:latin typeface="Calibri"/>
                        </a:rPr>
                        <a:t>−0.249</a:t>
                      </a:r>
                    </a:p>
                  </a:txBody>
                  <a:tcPr marL="50292" marR="50292" marT="27432" marB="27432"/>
                </a:tc>
                <a:tc>
                  <a:txBody>
                    <a:bodyPr wrap="square"/>
                    <a:lstStyle/>
                    <a:p>
                      <a:r>
                        <a:rPr sz="1050" b="0">
                          <a:latin typeface="Calibri"/>
                        </a:rPr>
                        <a:t>−0.563</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1">
                          <a:solidFill>
                            <a:srgbClr val="B56A00"/>
                          </a:solidFill>
                          <a:latin typeface="Calibri"/>
                        </a:rPr>
                        <a:t>+0.031</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+2.032</a:t>
                      </a:r>
                    </a:p>
                  </a:txBody>
                  <a:tcPr marL="50292" marR="50292" marT="27432" marB="27432"/>
                </a:tc>
              </a:tr>
            </a:tbl>
          </a:graphicData>
        </a:graphic>
      </p:graphicFrame>
      <p:sp>
        <p:nvSpPr>
          <p:cNvPr id="8" name="TextBox 7"/>
          <p:cNvSpPr txBox="1"/>
          <p:nvPr/>
        </p:nvSpPr>
        <p:spPr>
          <a:xfrm>
            <a:off x="6400800" y="1627632"/>
            <a:ext cx="530352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2.  The capacitance — charge, not diodes</a:t>
            </a:r>
          </a:p>
        </p:txBody>
      </p:sp>
      <p:graphicFrame>
        <p:nvGraphicFramePr>
          <p:cNvPr id="9" name="Table 8"/>
          <p:cNvGraphicFramePr>
            <a:graphicFrameLocks noGrp="1"/>
          </p:cNvGraphicFramePr>
          <p:nvPr/>
        </p:nvGraphicFramePr>
        <p:xfrm>
          <a:off x="6400800" y="1956816"/>
          <a:ext cx="5303518" cy="1188720"/>
        </p:xfrm>
        <a:graphic>
          <a:graphicData uri="http://schemas.openxmlformats.org/drawingml/2006/table">
            <a:tbl>
              <a:tblPr firstRow="1">
                <a:tableStyleId>{5C22544A-7EE6-4342-B048-85BDC9FD1C3A}</a:tableStyleId>
              </a:tblPr>
              <a:tblGrid>
                <a:gridCol w="2227478"/>
                <a:gridCol w="1538020"/>
                <a:gridCol w="1538020"/>
              </a:tblGrid>
              <a:tr h="297180">
                <a:tc>
                  <a:txBody>
                    <a:bodyPr wrap="square"/>
                    <a:lstStyle/>
                    <a:p>
                      <a:r>
                        <a:rPr sz="1000" b="1">
                          <a:latin typeface="Calibri"/>
                        </a:rPr>
                        <a:t/>
                      </a:r>
                    </a:p>
                  </a:txBody>
                  <a:tcPr marL="50292" marR="50292" marT="27432" marB="27432"/>
                </a:tc>
                <a:tc>
                  <a:txBody>
                    <a:bodyPr wrap="square"/>
                    <a:lstStyle/>
                    <a:p>
                      <a:r>
                        <a:rPr sz="1000" b="1">
                          <a:latin typeface="Calibri"/>
                        </a:rPr>
                        <a:t>diodes</a:t>
                      </a:r>
                    </a:p>
                  </a:txBody>
                  <a:tcPr marL="50292" marR="50292" marT="27432" marB="27432"/>
                </a:tc>
                <a:tc>
                  <a:txBody>
                    <a:bodyPr wrap="square"/>
                    <a:lstStyle/>
                    <a:p>
                      <a:r>
                        <a:rPr sz="1000" b="1">
                          <a:latin typeface="Calibri"/>
                        </a:rPr>
                        <a:t>charge</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1">
                          <a:solidFill>
                            <a:srgbClr val="B56A00"/>
                          </a:solidFill>
                          <a:latin typeface="Calibri"/>
                        </a:rPr>
                        <a:t>−0.249</a:t>
                      </a:r>
                    </a:p>
                  </a:txBody>
                  <a:tcPr marL="50292" marR="50292" marT="27432" marB="27432"/>
                </a:tc>
                <a:tc>
                  <a:txBody>
                    <a:bodyPr wrap="square"/>
                    <a:lstStyle/>
                    <a:p>
                      <a:r>
                        <a:rPr sz="1050" b="1">
                          <a:solidFill>
                            <a:srgbClr val="B56A00"/>
                          </a:solidFill>
                          <a:latin typeface="Calibri"/>
                        </a:rPr>
                        <a:t>+0.115</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0">
                          <a:latin typeface="Calibri"/>
                        </a:rPr>
                        <a:t>+0.800</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+2.710</a:t>
                      </a:r>
                    </a:p>
                  </a:txBody>
                  <a:tcPr marL="50292" marR="50292" marT="27432" marB="27432"/>
                </a:tc>
              </a:tr>
            </a:tbl>
          </a:graphicData>
        </a:graphic>
      </p:graphicFrame>
      <p:sp>
        <p:nvSpPr>
          <p:cNvPr id="10" name="TextBox 9"/>
          <p:cNvSpPr txBox="1"/>
          <p:nvPr/>
        </p:nvSpPr>
        <p:spPr>
          <a:xfrm>
            <a:off x="640080" y="3273552"/>
            <a:ext cx="534924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clamp alone is not the fix.</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On real transistors it gives 31 millivolts — at one corner, with nothing left for temperature or a worse layout. The ideal switch was flattering it, because it pulls the gate down through 10 mΩ while a real NMOS pulls through a channel that has to be turned on first.</a:t>
            </a:r>
          </a:p>
        </p:txBody>
      </p:sp>
      <p:sp>
        <p:nvSpPr>
          <p:cNvPr id="11" name="TextBox 10"/>
          <p:cNvSpPr txBox="1"/>
          <p:nvPr/>
        </p:nvSpPr>
        <p:spPr>
          <a:xfrm>
            <a:off x="6400800" y="3273552"/>
            <a:ext cx="530352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the fault itself changes sign.</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Under forward bias a SPICE diode keeps climbing above 0.5 V and the charge form saturates. The aggressor is forward-biased through its own turn-on, so it slews differently. “The constant word causes false turn-on” is model-dependent, and we say so rather than calling it a measurement.</a:t>
            </a:r>
          </a:p>
        </p:txBody>
      </p:sp>
      <p:sp>
        <p:nvSpPr>
          <p:cNvPr id="12" name="TextBox 11"/>
          <p:cNvSpPr txBox="1"/>
          <p:nvPr/>
        </p:nvSpPr>
        <p:spPr>
          <a:xfrm>
            <a:off x="640080" y="4974336"/>
            <a:ext cx="10698480" cy="1463040"/>
          </a:xfrm>
          <a:prstGeom prst="rect">
            <a:avLst/>
          </a:prstGeom>
          <a:noFill/>
        </p:spPr>
        <p:txBody>
          <a:bodyPr wrap="square" lIns="0" tIns="0" rIns="0" bIns="0">
            <a:spAutoFit/>
          </a:bodyPr>
          <a:lstStyle/>
          <a:p>
            <a:pPr marL="177800" indent="0">
              <a:spcAft>
                <a:spcPts val="170"/>
              </a:spcAft>
              <a:buSzPct val="100000"/>
              <a:buNone/>
            </a:pPr>
            <a:r>
              <a:rPr lang="en-US" sz="1300" b="1" dirty="0">
                <a:solidFill>
                  <a:srgbClr val="000000"/>
                </a:solidFill>
                <a:latin typeface="Calibri" pitchFamily="34" charset="0"/>
                <a:ea typeface="Calibri" pitchFamily="34" charset="-122"/>
                <a:cs typeface="Calibri" pitchFamily="34" charset="-120"/>
              </a:rPr>
              <a:t xml:space="preserve">Both tables point the same way, and it is an argument FOR the design rather than against the result.</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ordering survives every substitution — each change still buys what we say it buys. What does not survive is the middle row: the configurations closest to zero are exactly the ones whose verdict a modelling choice can flip. </a:t>
            </a:r>
            <a:r>
              <a:rPr lang="en-US" sz="1250" b="1" dirty="0">
                <a:solidFill>
                  <a:srgbClr val="000000"/>
                </a:solidFill>
                <a:latin typeface="Calibri" pitchFamily="34" charset="0"/>
                <a:ea typeface="Calibri" pitchFamily="34" charset="-122"/>
                <a:cs typeface="Calibri" pitchFamily="34" charset="-120"/>
              </a:rPr>
              <a:t xml:space="preserve">The shipped design is the only one that is safe under all four models, with over 2 V of room in each.</a:t>
            </a:r>
            <a:r>
              <a:rPr lang="en-US" sz="1250" dirty="0">
                <a:solidFill>
                  <a:srgbClr val="000000"/>
                </a:solidFill>
                <a:latin typeface="Calibri" pitchFamily="34" charset="0"/>
                <a:ea typeface="Calibri" pitchFamily="34" charset="-122"/>
                <a:cs typeface="Calibri" pitchFamily="34" charset="-120"/>
              </a:rPr>
              <a:t xml:space="preserve"> That is a better reason to build it than any ratio on the previous slide.</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Same deck, same GaN, same power loop, same parasitics — only the driver is swapped. We hold one fixed word at all four corners. They are re-optimised at every corner, which is more freedom than their own design has.</a:t>
            </a:r>
          </a:p>
        </p:txBody>
      </p:sp>
      <p:graphicFrame>
        <p:nvGraphicFramePr>
          <p:cNvPr id="6" name="Table 5"/>
          <p:cNvGraphicFramePr>
            <a:graphicFrameLocks noGrp="1"/>
          </p:cNvGraphicFramePr>
          <p:nvPr/>
        </p:nvGraphicFramePr>
        <p:xfrm>
          <a:off x="566928" y="1645920"/>
          <a:ext cx="11100814" cy="1417320"/>
        </p:xfrm>
        <a:graphic>
          <a:graphicData uri="http://schemas.openxmlformats.org/drawingml/2006/table">
            <a:tbl>
              <a:tblPr firstRow="1">
                <a:tableStyleId>{5C22544A-7EE6-4342-B048-85BDC9FD1C3A}</a:tableStyleId>
              </a:tblPr>
              <a:tblGrid>
                <a:gridCol w="2664195"/>
                <a:gridCol w="2331171"/>
                <a:gridCol w="2442179"/>
                <a:gridCol w="2220163"/>
                <a:gridCol w="1443106"/>
              </a:tblGrid>
              <a:tr h="283464">
                <a:tc>
                  <a:txBody>
                    <a:bodyPr wrap="square"/>
                    <a:lstStyle/>
                    <a:p>
                      <a:r>
                        <a:rPr sz="1000" b="1">
                          <a:latin typeface="Calibri"/>
                        </a:rPr>
                        <a:t>crosstalk margin</a:t>
                      </a:r>
                    </a:p>
                  </a:txBody>
                  <a:tcPr marL="50292" marR="50292" marT="27432" marB="27432"/>
                </a:tc>
                <a:tc>
                  <a:txBody>
                    <a:bodyPr wrap="square"/>
                    <a:lstStyle/>
                    <a:p>
                      <a:r>
                        <a:rPr sz="1000" b="1">
                          <a:latin typeface="Calibri"/>
                        </a:rPr>
                        <a:t>base, as their paper builds it</a:t>
                      </a:r>
                    </a:p>
                  </a:txBody>
                  <a:tcPr marL="50292" marR="50292" marT="27432" marB="27432"/>
                </a:tc>
                <a:tc>
                  <a:txBody>
                    <a:bodyPr wrap="square"/>
                    <a:lstStyle/>
                    <a:p>
                      <a:r>
                        <a:rPr sz="1000" b="1">
                          <a:latin typeface="Calibri"/>
                        </a:rPr>
                        <a:t>base, re-tuned at every corner</a:t>
                      </a:r>
                    </a:p>
                  </a:txBody>
                  <a:tcPr marL="50292" marR="50292" marT="27432" marB="27432"/>
                </a:tc>
                <a:tc>
                  <a:txBody>
                    <a:bodyPr wrap="square"/>
                    <a:lstStyle/>
                    <a:p>
                      <a:r>
                        <a:rPr sz="1000" b="1">
                          <a:latin typeface="Calibri"/>
                        </a:rPr>
                        <a:t>ours, one fixed word</a:t>
                      </a:r>
                    </a:p>
                  </a:txBody>
                  <a:tcPr marL="50292" marR="50292" marT="27432" marB="27432"/>
                </a:tc>
                <a:tc>
                  <a:txBody>
                    <a:bodyPr wrap="square"/>
                    <a:lstStyle/>
                    <a:p>
                      <a:r>
                        <a:rPr sz="1000" b="1">
                          <a:latin typeface="Calibri"/>
                        </a:rPr>
                        <a:t>vs their best</a:t>
                      </a:r>
                    </a:p>
                  </a:txBody>
                  <a:tcPr marL="50292" marR="50292" marT="27432" marB="27432"/>
                </a:tc>
              </a:tr>
              <a:tr h="283464">
                <a:tc>
                  <a:txBody>
                    <a:bodyPr wrap="square"/>
                    <a:lstStyle/>
                    <a:p>
                      <a:r>
                        <a:rPr sz="1000" b="1">
                          <a:latin typeface="Calibri"/>
                        </a:rPr>
                        <a:t>50 V / 2 A / 25 °C</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1">
                          <a:solidFill>
                            <a:srgbClr val="1B7F3B"/>
                          </a:solidFill>
                          <a:latin typeface="Calibri"/>
                        </a:rPr>
                        <a:t>+2.757 V</a:t>
                      </a:r>
                    </a:p>
                  </a:txBody>
                  <a:tcPr marL="50292" marR="50292" marT="27432" marB="27432"/>
                </a:tc>
                <a:tc>
                  <a:txBody>
                    <a:bodyPr wrap="square"/>
                    <a:lstStyle/>
                    <a:p>
                      <a:r>
                        <a:rPr sz="1000" b="1">
                          <a:latin typeface="Calibri"/>
                        </a:rPr>
                        <a:t>5.5×</a:t>
                      </a:r>
                    </a:p>
                  </a:txBody>
                  <a:tcPr marL="50292" marR="50292" marT="27432" marB="27432"/>
                </a:tc>
              </a:tr>
              <a:tr h="283464">
                <a:tc>
                  <a:txBody>
                    <a:bodyPr wrap="square"/>
                    <a:lstStyle/>
                    <a:p>
                      <a:r>
                        <a:rPr sz="1000" b="1">
                          <a:latin typeface="Calibri"/>
                        </a:rPr>
                        <a:t>100 V / 10 A / 25 °C</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1">
                          <a:solidFill>
                            <a:srgbClr val="1B7F3B"/>
                          </a:solidFill>
                          <a:latin typeface="Calibri"/>
                        </a:rPr>
                        <a:t>+2.576 V</a:t>
                      </a:r>
                    </a:p>
                  </a:txBody>
                  <a:tcPr marL="50292" marR="50292" marT="27432" marB="27432"/>
                </a:tc>
                <a:tc>
                  <a:txBody>
                    <a:bodyPr wrap="square"/>
                    <a:lstStyle/>
                    <a:p>
                      <a:r>
                        <a:rPr sz="1000" b="1">
                          <a:latin typeface="Calibri"/>
                        </a:rPr>
                        <a:t>6.3×</a:t>
                      </a:r>
                    </a:p>
                  </a:txBody>
                  <a:tcPr marL="50292" marR="50292" marT="27432" marB="27432"/>
                </a:tc>
              </a:tr>
              <a:tr h="283464">
                <a:tc>
                  <a:txBody>
                    <a:bodyPr wrap="square"/>
                    <a:lstStyle/>
                    <a:p>
                      <a:r>
                        <a:rPr sz="1000" b="1">
                          <a:latin typeface="Calibri"/>
                        </a:rPr>
                        <a:t>200 V / 2 A / 125 °C</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1">
                          <a:solidFill>
                            <a:srgbClr val="1B7F3B"/>
                          </a:solidFill>
                          <a:latin typeface="Calibri"/>
                        </a:rPr>
                        <a:t>+2.309 V</a:t>
                      </a:r>
                    </a:p>
                  </a:txBody>
                  <a:tcPr marL="50292" marR="50292" marT="27432" marB="27432"/>
                </a:tc>
                <a:tc>
                  <a:txBody>
                    <a:bodyPr wrap="square"/>
                    <a:lstStyle/>
                    <a:p>
                      <a:r>
                        <a:rPr sz="1000" b="1">
                          <a:latin typeface="Calibri"/>
                        </a:rPr>
                        <a:t>8.9×</a:t>
                      </a:r>
                    </a:p>
                  </a:txBody>
                  <a:tcPr marL="50292" marR="50292" marT="27432" marB="27432"/>
                </a:tc>
              </a:tr>
              <a:tr h="283464">
                <a:tc>
                  <a:txBody>
                    <a:bodyPr wrap="square"/>
                    <a:lstStyle/>
                    <a:p>
                      <a:r>
                        <a:rPr sz="1000" b="1">
                          <a:latin typeface="Calibri"/>
                        </a:rPr>
                        <a:t>200 V / 10 A / 125 °C</a:t>
                      </a:r>
                    </a:p>
                  </a:txBody>
                  <a:tcPr marL="50292" marR="50292" marT="27432" marB="27432"/>
                </a:tc>
                <a:tc>
                  <a:txBody>
                    <a:bodyPr wrap="square"/>
                    <a:lstStyle/>
                    <a:p>
                      <a:r>
                        <a:rPr sz="1000" b="1">
                          <a:solidFill>
                            <a:srgbClr val="B56A00"/>
                          </a:solidFill>
                          <a:latin typeface="Calibri"/>
                        </a:rPr>
                        <a:t>+0.181 V</a:t>
                      </a:r>
                    </a:p>
                  </a:txBody>
                  <a:tcPr marL="50292" marR="50292" marT="27432" marB="27432"/>
                </a:tc>
                <a:tc>
                  <a:txBody>
                    <a:bodyPr wrap="square"/>
                    <a:lstStyle/>
                    <a:p>
                      <a:r>
                        <a:rPr sz="1000" b="0">
                          <a:latin typeface="Calibri"/>
                        </a:rPr>
                        <a:t>+0.181 V</a:t>
                      </a:r>
                    </a:p>
                  </a:txBody>
                  <a:tcPr marL="50292" marR="50292" marT="27432" marB="27432"/>
                </a:tc>
                <a:tc>
                  <a:txBody>
                    <a:bodyPr wrap="square"/>
                    <a:lstStyle/>
                    <a:p>
                      <a:r>
                        <a:rPr sz="1000" b="1">
                          <a:solidFill>
                            <a:srgbClr val="1B7F3B"/>
                          </a:solidFill>
                          <a:latin typeface="Calibri"/>
                        </a:rPr>
                        <a:t>+2.251 V</a:t>
                      </a:r>
                    </a:p>
                  </a:txBody>
                  <a:tcPr marL="50292" marR="50292" marT="27432" marB="27432"/>
                </a:tc>
                <a:tc>
                  <a:txBody>
                    <a:bodyPr wrap="square"/>
                    <a:lstStyle/>
                    <a:p>
                      <a:r>
                        <a:rPr sz="1000" b="1">
                          <a:latin typeface="Calibri"/>
                        </a:rPr>
                        <a:t>12.4×</a:t>
                      </a:r>
                    </a:p>
                  </a:txBody>
                  <a:tcPr marL="50292" marR="50292" marT="27432" marB="27432"/>
                </a:tc>
              </a:tr>
            </a:tbl>
          </a:graphicData>
        </a:graphic>
      </p:graphicFrame>
      <p:sp>
        <p:nvSpPr>
          <p:cNvPr id="7" name="TextBox 6"/>
          <p:cNvSpPr txBox="1"/>
          <p:nvPr/>
        </p:nvSpPr>
        <p:spPr>
          <a:xfrm>
            <a:off x="640080" y="323697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gap WIDENS with stress</a:t>
            </a:r>
          </a:p>
        </p:txBody>
      </p:sp>
      <p:sp>
        <p:nvSpPr>
          <p:cNvPr id="8" name="TextBox 7"/>
          <p:cNvSpPr txBox="1"/>
          <p:nvPr/>
        </p:nvSpPr>
        <p:spPr>
          <a:xfrm>
            <a:off x="640080" y="3584448"/>
            <a:ext cx="534924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margin falls +0.503 → +0.181 V from the mildest corner to the hottest. Ours goes +2.757 → +2.251. They degrade where it matters most; a clamp does not care how hot the device is.</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Worst corner is what a converter has to survive: +0.181 V against +2.251 V.</a:t>
            </a:r>
          </a:p>
        </p:txBody>
      </p:sp>
      <p:sp>
        <p:nvSpPr>
          <p:cNvPr id="9" name="TextBox 8"/>
          <p:cNvSpPr txBox="1"/>
          <p:nvPr/>
        </p:nvSpPr>
        <p:spPr>
          <a:xfrm>
            <a:off x="6400800" y="323697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we slew HARDER, not softer</a:t>
            </a:r>
          </a:p>
        </p:txBody>
      </p:sp>
      <p:sp>
        <p:nvSpPr>
          <p:cNvPr id="10" name="TextBox 9"/>
          <p:cNvSpPr txBox="1"/>
          <p:nvPr/>
        </p:nvSpPr>
        <p:spPr>
          <a:xfrm>
            <a:off x="6400800" y="3584448"/>
            <a:ext cx="530352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scheme reduces crosstalk by slowing the edge: 67–103 V/ns at the switch node. Ours runs 101–175 V/ns — about twice as fast — and still wins by a factor of several.</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is not bought with switching speed. That is the useful form of the result.</a:t>
            </a:r>
          </a:p>
        </p:txBody>
      </p:sp>
      <p:sp>
        <p:nvSpPr>
          <p:cNvPr id="11" name="TextBox 10"/>
          <p:cNvSpPr txBox="1"/>
          <p:nvPr/>
        </p:nvSpPr>
        <p:spPr>
          <a:xfrm>
            <a:off x="640080" y="5120640"/>
            <a:ext cx="10698480" cy="1371600"/>
          </a:xfrm>
          <a:prstGeom prst="rect">
            <a:avLst/>
          </a:prstGeom>
          <a:noFill/>
        </p:spPr>
        <p:txBody>
          <a:bodyPr wrap="square" lIns="0" tIns="0" rIns="0" bIns="0">
            <a:spAutoFit/>
          </a:bodyPr>
          <a:lstStyle/>
          <a:p>
            <a:pPr marL="177800" indent="0">
              <a:spcAft>
                <a:spcPts val="160"/>
              </a:spcAft>
              <a:buSzPct val="100000"/>
              <a:buNone/>
            </a:pPr>
            <a:r>
              <a:rPr lang="en-US" sz="1200" b="1" dirty="0">
                <a:solidFill>
                  <a:srgbClr val="000000"/>
                </a:solidFill>
                <a:latin typeface="Calibri" pitchFamily="34" charset="0"/>
                <a:ea typeface="Calibri" pitchFamily="34" charset="-122"/>
                <a:cs typeface="Calibri" pitchFamily="34" charset="-120"/>
              </a:rPr>
              <a:t xml:space="preserve">What it costs, and what we are not claiming. </a:t>
            </a:r>
            <a:r>
              <a:rPr lang="en-US" sz="1200" dirty="0">
                <a:solidFill>
                  <a:srgbClr val="000000"/>
                </a:solidFill>
                <a:latin typeface="Calibri" pitchFamily="34" charset="0"/>
                <a:ea typeface="Calibri" pitchFamily="34" charset="-122"/>
                <a:cs typeface="Calibri" pitchFamily="34" charset="-120"/>
              </a:rPr>
              <a:t xml:space="preserve">Our turn-on energy is higher at three of four corners — the −2 V rail deepens GaN's dead-time reverse drop, a penalty this project already measures at 1.0–3.4 % of total loss. Their driver needs one bias resistor; ours needs a clamp device, a negative supply and 20 LUTs. For a converter that never leaves one operating point, theirs may be the right engineering.</a:t>
            </a:r>
          </a:p>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this is OUR implementation of their described scheme in OUR testbench — their netlist is not published. It is not 6.3× their measured result, and we do not say it is.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