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2" r:id="rId65"/>
    <p:sldId id="282" r:id="rId33"/>
    <p:sldId id="316" r:id="rId59"/>
    <p:sldId id="261" r:id="rId7"/>
    <p:sldId id="274" r:id="rId25"/>
    <p:sldId id="280" r:id="rId31"/>
    <p:sldId id="278" r:id="rId29"/>
    <p:sldId id="297" r:id="rId40"/>
    <p:sldId id="314" r:id="rId57"/>
    <p:sldId id="307" r:id="rId50"/>
    <p:sldId id="308" r:id="rId51"/>
    <p:sldId id="309" r:id="rId52"/>
    <p:sldId id="273" r:id="rId24"/>
    <p:sldId id="323" r:id="rId66"/>
    <p:sldId id="324" r:id="rId67"/>
    <p:sldId id="325" r:id="rId68"/>
    <p:sldId id="320" r:id="rId63"/>
    <p:sldId id="319" r:id="rId62"/>
    <p:sldId id="321" r:id="rId64"/>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their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60,533 transients over 36 corners; fixed 26.5 % vs adaptive 2.6 %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9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128.3 V on a 100 V bus: 28.3 % overshoot, on the shipped word at a step that resolves the edge. The 0 V rail at 0.2 ns reads 17.2 % — scripts/overshoot_audit.py. Without bus decoupling: 168 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2.71</a:t>
                      </a:r>
                    </a:p>
                  </a:txBody>
                  <a:tcPr marL="50292" marR="50292" marT="27432" marB="27432"/>
                </a:tc>
                <a:tc>
                  <a:txBody>
                    <a:bodyPr wrap="square"/>
                    <a:lstStyle/>
                    <a:p>
                      <a:r>
                        <a:rPr sz="1250" b="0">
                          <a:latin typeface="Calibri"/>
                        </a:rPr>
                        <a:t>17.23</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6.4×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0.82</a:t>
                      </a:r>
                    </a:p>
                  </a:txBody>
                  <a:tcPr marL="50292" marR="50292" marT="27432" marB="27432"/>
                </a:tc>
                <a:tc>
                  <a:txBody>
                    <a:bodyPr wrap="square"/>
                    <a:lstStyle/>
                    <a:p>
                      <a:r>
                        <a:rPr sz="1250" b="0">
                          <a:latin typeface="Calibri"/>
                        </a:rPr>
                        <a:t>7.56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9.2×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2.80</a:t>
                      </a:r>
                    </a:p>
                  </a:txBody>
                  <a:tcPr marL="50292" marR="50292" marT="27432" marB="27432"/>
                </a:tc>
                <a:tc>
                  <a:txBody>
                    <a:bodyPr wrap="square"/>
                    <a:lstStyle/>
                    <a:p>
                      <a:r>
                        <a:rPr sz="1250" b="0">
                          <a:latin typeface="Calibri"/>
                        </a:rPr>
                        <a:t>8.92</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3.2×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1.490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97.39</a:t>
                      </a:r>
                    </a:p>
                  </a:txBody>
                  <a:tcPr marL="50292" marR="50292" marT="27432" marB="27432"/>
                </a:tc>
                <a:tc>
                  <a:txBody>
                    <a:bodyPr wrap="square"/>
                    <a:lstStyle/>
                    <a:p>
                      <a:r>
                        <a:rPr sz="1250" b="0">
                          <a:latin typeface="Calibri"/>
                        </a:rPr>
                        <a:t>95.03</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28.3</a:t>
                      </a:r>
                    </a:p>
                  </a:txBody>
                  <a:tcPr marL="50292" marR="50292" marT="27432" marB="27432"/>
                </a:tc>
                <a:tc>
                  <a:txBody>
                    <a:bodyPr wrap="square"/>
                    <a:lstStyle/>
                    <a:p>
                      <a:r>
                        <a:rPr sz="1250" b="0">
                          <a:latin typeface="Calibri"/>
                        </a:rPr>
                        <a:t>-1.6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-17.4×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2.71</a:t>
                      </a:r>
                    </a:p>
                  </a:txBody>
                  <a:tcPr marL="50292" marR="50292" marT="27432" marB="27432"/>
                </a:tc>
                <a:tc>
                  <a:txBody>
                    <a:bodyPr wrap="square"/>
                    <a:lstStyle/>
                    <a:p>
                      <a:r>
                        <a:rPr sz="1250" b="0">
                          <a:latin typeface="Calibri"/>
                        </a:rPr>
                        <a:t>3.91</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1.4×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0.82</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2.80</a:t>
                      </a:r>
                    </a:p>
                  </a:txBody>
                  <a:tcPr marL="50292" marR="50292" marT="27432" marB="27432"/>
                </a:tc>
                <a:tc>
                  <a:txBody>
                    <a:bodyPr wrap="square"/>
                    <a:lstStyle/>
                    <a:p>
                      <a:r>
                        <a:rPr sz="1250" b="0">
                          <a:latin typeface="Calibri"/>
                        </a:rPr>
                        <a:t>3.08</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97.39</a:t>
                      </a:r>
                    </a:p>
                  </a:txBody>
                  <a:tcPr marL="50292" marR="50292" marT="27432" marB="27432"/>
                </a:tc>
                <a:tc>
                  <a:txBody>
                    <a:bodyPr wrap="square"/>
                    <a:lstStyle/>
                    <a:p>
                      <a:r>
                        <a:rPr sz="1250" b="0">
                          <a:latin typeface="Calibri"/>
                        </a:rPr>
                        <a:t>97.28</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28.3</a:t>
                      </a:r>
                    </a:p>
                  </a:txBody>
                  <a:tcPr marL="50292" marR="50292" marT="27432" marB="27432"/>
                </a:tc>
                <a:tc>
                  <a:txBody>
                    <a:bodyPr wrap="square"/>
                    <a:lstStyle/>
                    <a:p>
                      <a:r>
                        <a:rPr sz="1250" b="0">
                          <a:latin typeface="Calibri"/>
                        </a:rPr>
                        <a:t>4.2</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6.7×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