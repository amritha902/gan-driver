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DIAGRAM — DRAWN,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Twelve blocks, weighted by how much of the project each is. Eight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0.05 %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0.05 % error through a 2× load step and a 20 % line step; open loop walks to 58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 V.</a:t>
            </a:r>
          </a:p>
        </p:txBody>
      </p:sp>
      <p:pic>
        <p:nvPicPr>
          <p:cNvPr id="6" name="Picture 5" descr="fig_closedloop.png"/>
          <p:cNvPicPr>
            <a:picLocks noChangeAspect="1"/>
          </p:cNvPicPr>
          <p:nvPr/>
        </p:nvPicPr>
        <p:blipFill>
          <a:blip r:embed="rId4"/>
          <a:stretch>
            <a:fillRect/>
          </a:stretch>
        </p:blipFill>
        <p:spPr>
          <a:xfrm>
            <a:off x="2253371" y="1481328"/>
            <a:ext cx="7684951"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50.01 V through a 2× load step and a 100 → 120 V line step; worst error 0.02 % against open loop's 16.6 %. Load step recovers in 4 µs, line step in 21 µs. Ripple 0.25 %, efficiency 95.9 %,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192817" y="1481328"/>
            <a:ext cx="9806059"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710967" y="1481328"/>
            <a:ext cx="8769759"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50.01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49.58 V</a:t>
                      </a:r>
                    </a:p>
                  </a:txBody>
                  <a:tcPr marL="50292" marR="50292" marT="27432" marB="27432"/>
                </a:tc>
                <a:tc>
                  <a:txBody>
                    <a:bodyPr wrap="square"/>
                    <a:lstStyle/>
                    <a:p>
                      <a:r>
                        <a:rPr sz="1100" b="0">
                          <a:latin typeface="Calibri"/>
                        </a:rPr>
                        <a:t>48.72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1.3 %, recovers in 21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58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