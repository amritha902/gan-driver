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7" r:id="rId3"/>
    <p:sldId id="259" r:id="rId5"/>
    <p:sldId id="267" r:id="rId18"/>
    <p:sldId id="282" r:id="rId33"/>
    <p:sldId id="316" r:id="rId59"/>
    <p:sldId id="261" r:id="rId7"/>
    <p:sldId id="274" r:id="rId25"/>
    <p:sldId id="280" r:id="rId31"/>
    <p:sldId id="278" r:id="rId29"/>
    <p:sldId id="297" r:id="rId40"/>
    <p:sldId id="314" r:id="rId57"/>
    <p:sldId id="307" r:id="rId50"/>
    <p:sldId id="308" r:id="rId51"/>
    <p:sldId id="309" r:id="rId52"/>
    <p:sldId id="317" r:id="rId60"/>
    <p:sldId id="262" r:id="rId8"/>
    <p:sldId id="265" r:id="rId1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35.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10.xml"/><Relationship Id="rId8" Type="http://schemas.openxmlformats.org/officeDocument/2006/relationships/slide" Target="slides/slide15.xml"/><Relationship Id="rId9" Type="http://schemas.openxmlformats.org/officeDocument/2006/relationships/slide" Target="slides/slide22.xml"/><Relationship Id="rId10" Type="http://schemas.openxmlformats.org/officeDocument/2006/relationships/slide" Target="slides/slide27.xml"/><Relationship Id="rId11" Type="http://schemas.openxmlformats.org/officeDocument/2006/relationships/slide" Target="slides/slide30.xml"/><Relationship Id="rId12" Type="http://schemas.openxmlformats.org/officeDocument/2006/relationships/slide" Target="slides/slide32.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7.xml"/><Relationship Id="rId19" Type="http://schemas.openxmlformats.org/officeDocument/2006/relationships/slide" Target="slides/slide33.xml"/><Relationship Id="rId20" Type="http://schemas.openxmlformats.org/officeDocument/2006/relationships/slide" Target="slides/slide28.xml"/><Relationship Id="rId21" Type="http://schemas.openxmlformats.org/officeDocument/2006/relationships/slide" Target="slides/slide21.xml"/><Relationship Id="rId22" Type="http://schemas.openxmlformats.org/officeDocument/2006/relationships/slide" Target="slides/slide29.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2.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32.xml"/><Relationship Id="rId29" Type="http://schemas.openxmlformats.org/officeDocument/2006/relationships/slide" Target="slides/slide13.xml"/><Relationship Id="rId30" Type="http://schemas.openxmlformats.org/officeDocument/2006/relationships/slide" Target="slides/slide20.xml"/><Relationship Id="rId31" Type="http://schemas.openxmlformats.org/officeDocument/2006/relationships/slide" Target="slides/slide11.xml"/><Relationship Id="rId32" Type="http://schemas.openxmlformats.org/officeDocument/2006/relationships/slide" Target="slides/slide24.xml"/><Relationship Id="rId33" Type="http://schemas.openxmlformats.org/officeDocument/2006/relationships/slide" Target="slides/slide8.xml"/><Relationship Id="rId34" Type="http://schemas.openxmlformats.org/officeDocument/2006/relationships/slide" Target="slides/slide14.xml"/><Relationship Id="rId35" Type="http://schemas.openxmlformats.org/officeDocument/2006/relationships/slide" Target="slides/slide3.xml"/><Relationship Id="rId36" Type="http://schemas.openxmlformats.org/officeDocument/2006/relationships/slide" Target="slides/slide18.xml"/><Relationship Id="rId37" Type="http://schemas.openxmlformats.org/officeDocument/2006/relationships/slide" Target="slides/slide4.xml"/><Relationship Id="rId38" Type="http://schemas.openxmlformats.org/officeDocument/2006/relationships/slide" Target="slides/slide9.xml"/><Relationship Id="rId39" Type="http://schemas.openxmlformats.org/officeDocument/2006/relationships/slide" Target="slides/slide19.xml"/><Relationship Id="rId40" Type="http://schemas.openxmlformats.org/officeDocument/2006/relationships/slide" Target="slides/slide34.xml"/><Relationship Id="rId41" Type="http://schemas.openxmlformats.org/officeDocument/2006/relationships/slide" Target="slides/slide31.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SKIP. Template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literature mark. Do not read the table. Eight references, three verified to page level; point at [3], layout sets loop inductance, which decides our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The problem reproduced and fixed. Point at the red X below the threshold line. Then: safety costs 0.04 % — nearly free once the clamp is present.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design chart, and the most USEFUL thing in the deck. Do NOT call it a single crossover: eight points show a BAND. Adaptive control pays from about 2.5 nH down, peaks at 13.5 % at 1.5 nH, then FALLS BACK to 8.1 % at 1.0 nH. Say why, because it is the interesting part: at 1.0 nH only 165 of 720 words are still safe, so the fixed word and the per-corner optima are squeezed into the same narrow region and the gap scheduling exploits shrinks. Below ~2 nH feasibility binds, not optimisation. We checked it is not the clamp-chatter artefact — excluding every chatter point leaves all eight ceilings unchanged to the digit. The literature does not state this trade-off because it never separates the fixed and adaptive halves.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5.2 %. Say plainly this is a NEGATIVE result about the adaptive premise and you are reporting it rather than hiding it. Keep it short — slides 18 and 19 do the real work.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[45 s]  CORE — the novelty slide, and the one sentence the panel should leave with: 'a full sense-plus-ADC-plus-lookup-table is left justifying 7.2 % of the gain over a fixed word and ONE comparator.' Build it in three steps. (1) Choosing the fixed word well is worth 25.1 %. (2) Adapting per corner adds only 3.9 % — a seventh of the total. (3) And 46 % of even THAT is capturable with a single comparator on bus voltage, not a lookup table; two comparators reach 72 %, which is the 3.7 % figure. No published work separates these, because separating them needs the exhaustive search rather than a shortlist. If asked why nobody found this: they report one number.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Play the video. Real captured ngspice output — the failure, the fix, the search. Let it run; do not talk over it.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Close on what the data supports and what it now answers. Do NOT concede EMI as a limitation any more - it was tested: pricing it makes scheduling worth LESS, 5.95 % down to 0.15 %. State the remaining limits yourself instead: the two EMI measures disagree about drive strength, no silicon has been measured, and one device model underlies everything.</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23.xml"/><Relationship Id="rId6" Type="http://schemas.openxmlformats.org/officeDocument/2006/relationships/image" Target="../media/image3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07/relationships/media" Target="../media/media1.mp4"/><Relationship Id="rId3" Type="http://schemas.openxmlformats.org/officeDocument/2006/relationships/image" Target="../media/image1.png"/><Relationship Id="rId4" Type="http://schemas.openxmlformats.org/officeDocument/2006/relationships/video" Target="../media/media1.mp4"/><Relationship Id="rId5" Type="http://schemas.openxmlformats.org/officeDocument/2006/relationships/image" Target="../media/image4.png"/><Relationship Id="rId6" Type="http://schemas.openxmlformats.org/officeDocument/2006/relationships/notesSlide" Target="../notesSlides/notesSlide1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8.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0.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4.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GaN Based Synchronous Buck Converter with an Improved Gate Driver</a:t>
            </a:r>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  ·  09.09.2026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Review-I — 09.09.2026 (5 Marks, 5%)</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Focus: Proposed Solution &amp; 50% Work Completion.</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Duration: 10 minutes.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Presentation contents: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Signed &amp; scanned title slide (Slide 1)</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Problem statement and background</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Literature survey — minimum 8–10 recent references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Existing solutions and their limitations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Proposed solution, scope and methodology</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50% work completed, timeline, tools &amp; technologies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Mark split-up: Problem clarity &amp; relevance (2), Literature survey quality (1), Proposed solution feasibility (1), Presentation quality (1).</a:t>
            </a:r>
            <a:endParaRPr lang="en-US" sz="1500"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we are building — the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onverter.png"/>
          <p:cNvPicPr>
            <a:picLocks noChangeAspect="1"/>
          </p:cNvPicPr>
          <p:nvPr/>
        </p:nvPicPr>
        <p:blipFill>
          <a:blip r:embed="rId4"/>
          <a:stretch>
            <a:fillRect/>
          </a:stretch>
        </p:blipFill>
        <p:spPr>
          <a:xfrm>
            <a:off x="1592779" y="1115568"/>
            <a:ext cx="9006137" cy="4434840"/>
          </a:xfrm>
          <a:prstGeom prst="rect">
            <a:avLst/>
          </a:prstGeom>
        </p:spPr>
      </p:pic>
      <p:sp>
        <p:nvSpPr>
          <p:cNvPr id="6" name="TextBox 5"/>
          <p:cNvSpPr txBox="1"/>
          <p:nvPr/>
        </p:nvSpPr>
        <p:spPr>
          <a:xfrm>
            <a:off x="502920" y="562356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a:t>
            </a:r>
            <a:r>
              <a:rPr lang="en-US" sz="1250" dirty="0">
                <a:solidFill>
                  <a:srgbClr val="000000"/>
                </a:solidFill>
                <a:latin typeface="Calibri" pitchFamily="34" charset="0"/>
                <a:ea typeface="Calibri" pitchFamily="34" charset="-122"/>
                <a:cs typeface="Calibri" pitchFamily="34" charset="-120"/>
              </a:rPr>
              <a:t>GaN synchronous buck converter. (a) output charging from zero and settling; (b) three switching cycles; (c) power in against power out. 100 V DC in, 48.56 V DC out at 4.875 A, 97.62 % efficient.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01</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The problem</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real failure, and the question nobody has answered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When one GaN transistor switches, its fast voltage swing pushes charge into the gate of the other transistor — the one that is supposed to stay OFF. That gate rises to </a:t>
            </a:r>
            <a:r>
              <a:rPr lang="en-US" sz="1500" b="1" dirty="0">
                <a:solidFill>
                  <a:srgbClr val="000000"/>
                </a:solidFill>
                <a:latin typeface="Calibri" pitchFamily="34" charset="0"/>
                <a:ea typeface="Calibri" pitchFamily="34" charset="-122"/>
                <a:cs typeface="Calibri" pitchFamily="34" charset="-120"/>
              </a:rPr>
              <a:t xml:space="preserve">1.65 V, and only 1.4 V is needed to turn it on</a:t>
            </a:r>
            <a:r>
              <a:rPr lang="en-US" sz="1500" dirty="0">
                <a:solidFill>
                  <a:srgbClr val="000000"/>
                </a:solidFill>
                <a:latin typeface="Calibri" pitchFamily="34" charset="0"/>
                <a:ea typeface="Calibri" pitchFamily="34" charset="-122"/>
                <a:cs typeface="Calibri" pitchFamily="34" charset="-120"/>
              </a:rPr>
              <a:t xml:space="preserve">. Both devices conduct at once and the supply shorts through them.</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sit inside EV inverters and battery chargers. GaN is chosen because it switches fast — and that speed is exactly what causes this fault.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Gate drivers that turn the device on in steps, clamp the off gate down, adjust the gap between the two switching edges, and hold the gate at −2 V [1]–[4]. Reported: 30.5 % less overshoot, 75 % less turn-off loss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Nobody has measured what the re-tuning is worth.</a:t>
            </a:r>
            <a:r>
              <a:rPr lang="en-US" sz="1500" dirty="0">
                <a:solidFill>
                  <a:srgbClr val="000000"/>
                </a:solidFill>
                <a:latin typeface="Calibri" pitchFamily="34" charset="0"/>
                <a:ea typeface="Calibri" pitchFamily="34" charset="-122"/>
                <a:cs typeface="Calibri" pitchFamily="34" charset="-120"/>
              </a:rPr>
              <a:t xml:space="preserve"> Those gains mix two different things: picking one good setting, and changing the setting while the converter runs. Only the second needs a sensor, a lookup table and a controller.</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base paper we build on</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0652760" cy="3657600"/>
        </p:xfrm>
        <a:graphic>
          <a:graphicData uri="http://schemas.openxmlformats.org/drawingml/2006/table">
            <a:tbl>
              <a:tblPr/>
              <a:tblGrid>
                <a:gridCol w="109728">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6576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gridSpan="4">
                  <a:txBody>
                    <a:bodyPr wrap="square"/>
                    <a:lstStyle/>
                    <a:p>
                      <a:pPr marL="0" indent="0">
                        <a:buNone/>
                      </a:pPr>
                      <a:r>
                        <a:rPr sz="1050" b="1">
                          <a:solidFill>
                            <a:srgbClr val="000000"/>
                          </a:solidFill>
                          <a:latin typeface="Calibri"/>
                        </a:rPr>
                        <a:t>Zhang, Yu, Leng, Cui, Deng &amp; Ng (2020)  —  IEEE ISPSD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What it does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A segmented gate driver for E-mode GaN HEMTs: the output stage is split into slices, and drive strength is selected by a pattern rather than set by a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Same device, same architecture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GaN HEMTs in a bridge, a sliced output stage, strength chosen by a code. That is the structure this project starts from.</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How we extend it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Theirs is an ASIC with a fixed pattern set, chosen at design time. We make every field programmable from an FPGA — slices, dead time, Miller clamp, off-bias rail — add the clamp and the −2 V rail, and measure what choosing the pattern per operating point is worth.</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 2"/>
          <p:cNvSpPr txBox="1"/>
          <p:nvPr/>
        </p:nvSpPr>
        <p:spPr>
          <a:xfrm>
            <a:off x="548640" y="5897880"/>
            <a:ext cx="11064240" cy="365760"/>
          </a:xfrm>
          <a:prstGeom prst="rect">
            <a:avLst/>
          </a:prstGeom>
          <a:noFill/>
          <a:ln/>
        </p:spPr>
        <p:txBody>
          <a:bodyPr wrap="square" lIns="0" tIns="0" rIns="0" bIns="0" rtlCol="0" anchor="ct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W. J. Zhang, J. Yu, Y. Leng, W. T. Cui, G. Q. Deng and W. T. Ng, </a:t>
            </a:r>
            <a:r>
              <a:rPr lang="en-US" sz="1150" b="1" dirty="0">
                <a:solidFill>
                  <a:srgbClr val="000000"/>
                </a:solidFill>
                <a:latin typeface="Calibri" pitchFamily="34" charset="0"/>
                <a:ea typeface="Calibri" pitchFamily="34" charset="-122"/>
                <a:cs typeface="Calibri" pitchFamily="34" charset="-120"/>
              </a:rPr>
              <a:t xml:space="preserve">“A Segmented Gate Driver for E-mode GaN HEMTs with Simple Driving Strength Pattern Control,”</a:t>
            </a:r>
            <a:r>
              <a:rPr lang="en-US" sz="1150" dirty="0">
                <a:solidFill>
                  <a:srgbClr val="000000"/>
                </a:solidFill>
                <a:latin typeface="Calibri" pitchFamily="34" charset="0"/>
                <a:ea typeface="Calibri" pitchFamily="34" charset="-122"/>
                <a:cs typeface="Calibri" pitchFamily="34" charset="-120"/>
              </a:rPr>
              <a:t xml:space="preserve"> in Proc. IEEE 32nd Int. Symp. Power Semicond. Devices ICs (ISPSD), 2020, pp. 102–105.</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five closest published drivers</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4343400"/>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950" b="1">
                          <a:solidFill>
                            <a:srgbClr val="000000"/>
                          </a:solidFill>
                          <a:latin typeface="Calibri"/>
                        </a:rPr>
                        <a:t>Ref</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Aim  —  what the paper sets out to do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Gap we found  →  what WE fill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p>
                      <a:r>
                        <a:rPr sz="1050" b="1">
                          <a:solidFill>
                            <a:srgbClr val="000000"/>
                          </a:solidFill>
                          <a:latin typeface="Calibri"/>
                        </a:rPr>
                        <a:t>PAPER</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Zhang, Yu, Leng, Cui, Deng &amp; Ng (2020)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Proc. IEEE ISPSD, 2020, pp. 102–105</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7 slices, pattern timing 0.5–5 ns, strength set by one external bias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BASE PAPER. Same device, same architecture: E-mode GaN, segmented output stage, strength set by a pattern. Theirs is an ASIC with a fixed pattern set. We make every field programmable from an FPGA and price what the pattern space buys.  </a:t>
                      </a:r>
                      <a:r>
                        <a:rPr sz="900" b="1">
                          <a:solidFill>
                            <a:srgbClr val="000000"/>
                          </a:solidFill>
                          <a:latin typeface="Calibri"/>
                        </a:rPr>
                        <a:t>WE FILL: </a:t>
                      </a:r>
                      <a:r>
                        <a:rPr sz="900" b="0">
                          <a:solidFill>
                            <a:srgbClr val="000000"/>
                          </a:solidFill>
                          <a:latin typeface="Calibri"/>
                        </a:rPr>
                        <a:t>the price of the pattern space: what an exhaustive search buys over their fixed pattern set.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Tao, Xiao, Luo, He, Zhou, Zhang &amp; Wang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Trans. Power Electron., 39(1), 1343–1352</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  </a:t>
                      </a:r>
                      <a:r>
                        <a:rPr sz="900" b="1">
                          <a:solidFill>
                            <a:srgbClr val="000000"/>
                          </a:solidFill>
                          <a:latin typeface="Calibri"/>
                        </a:rPr>
                        <a:t>WE FILL: </a:t>
                      </a:r>
                      <a:r>
                        <a:rPr sz="900" b="0">
                          <a:solidFill>
                            <a:srgbClr val="000000"/>
                          </a:solidFill>
                          <a:latin typeface="Calibri"/>
                        </a:rPr>
                        <a:t>whether the setting has to change with the operating point at all. It does not: 3.9 % of baseline.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Sun, Yan, Ma &amp; Xu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Trans. Power Electron., 39(11), 14643–14655</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  </a:t>
                      </a:r>
                      <a:r>
                        <a:rPr sz="900" b="1">
                          <a:solidFill>
                            <a:srgbClr val="000000"/>
                          </a:solidFill>
                          <a:latin typeface="Calibri"/>
                        </a:rPr>
                        <a:t>WE FILL: </a:t>
                      </a:r>
                      <a:r>
                        <a:rPr sz="900" b="0">
                          <a:solidFill>
                            <a:srgbClr val="000000"/>
                          </a:solidFill>
                          <a:latin typeface="Calibri"/>
                        </a:rPr>
                        <a:t>both effects in ONE cost function, showing the objectives genuinely conflict (Pareto, slide 16).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Cai, Ye, Lv &amp; Chen (2026)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Trans. Power Electron., 41(1), 279–290</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  </a:t>
                      </a:r>
                      <a:r>
                        <a:rPr sz="900" b="1">
                          <a:solidFill>
                            <a:srgbClr val="000000"/>
                          </a:solidFill>
                          <a:latin typeface="Calibri"/>
                        </a:rPr>
                        <a:t>WE FILL: </a:t>
                      </a:r>
                      <a:r>
                        <a:rPr sz="900" b="0">
                          <a:solidFill>
                            <a:srgbClr val="000000"/>
                          </a:solidFill>
                          <a:latin typeface="Calibri"/>
                        </a:rPr>
                        <a:t>which field is worth scheduling. Only dead time, and only at light load; drive strength is worth 0.00 %.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r h="804672">
                <a:tc>
                  <a:txBody>
                    <a:bodyPr/>
                    <a:lstStyle/>
                    <a:p>
                      <a:pPr marL="0" indent="0">
                        <a:buNone/>
                      </a:pPr>
                      <a:r>
                        <a:rPr lang="en-US" sz="1300" dirty="0">
                          <a:solidFill>
                            <a:srgbClr val="000000"/>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5" name="Text 2"/>
          <p:cNvSpPr txBox="1"/>
          <p:nvPr/>
        </p:nvSpPr>
        <p:spPr>
          <a:xfrm>
            <a:off x="548640" y="6291072"/>
            <a:ext cx="1033272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[10] is the base paper: E-mode GaN, segmented output stage, strength chosen by a pattern. All five are verified against the publisher record.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The gap this project fills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4</a:t>
            </a:r>
          </a:p>
        </p:txBody>
      </p:sp>
      <p:sp>
        <p:nvSpPr>
          <p:cNvPr id="6" name="TextBox 5"/>
          <p:cNvSpPr txBox="1"/>
          <p:nvPr/>
        </p:nvSpPr>
        <p:spPr>
          <a:xfrm>
            <a:off x="640080" y="1234440"/>
            <a:ext cx="11064240" cy="914400"/>
          </a:xfrm>
          <a:prstGeom prst="rect">
            <a:avLst/>
          </a:prstGeom>
          <a:noFill/>
        </p:spPr>
        <p:txBody>
          <a:bodyPr wrap="square" lIns="0" tIns="0" rIns="0" bIns="0">
            <a:spAutoFit/>
          </a:bodyPr>
          <a:lstStyle/>
          <a:p>
            <a:pPr marL="177800" indent="0">
              <a:spcAft>
                <a:spcPts val="120"/>
              </a:spcAft>
              <a:buSzPct val="100000"/>
              <a:buNone/>
            </a:pPr>
            <a:r>
              <a:rPr lang="en-US" sz="1500" dirty="0">
                <a:solidFill>
                  <a:srgbClr val="000000"/>
                </a:solidFill>
                <a:latin typeface="Calibri" pitchFamily="34" charset="0"/>
                <a:ea typeface="Calibri" pitchFamily="34" charset="-122"/>
                <a:cs typeface="Calibri" pitchFamily="34" charset="-120"/>
              </a:rPr>
              <a:t>Every paper on these drivers reports ONE number: how much better it is than a plain driver.</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That number hides two separate effects, and they cost very different hardware.</a:t>
            </a:r>
          </a:p>
        </p:txBody>
      </p:sp>
      <p:sp>
        <p:nvSpPr>
          <p:cNvPr id="7" name="TextBox 6"/>
          <p:cNvSpPr txBox="1"/>
          <p:nvPr/>
        </p:nvSpPr>
        <p:spPr>
          <a:xfrm>
            <a:off x="64008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1  —  a better FIXED setting</a:t>
            </a:r>
          </a:p>
        </p:txBody>
      </p:sp>
      <p:sp>
        <p:nvSpPr>
          <p:cNvPr id="8" name="TextBox 7"/>
          <p:cNvSpPr txBox="1"/>
          <p:nvPr/>
        </p:nvSpPr>
        <p:spPr>
          <a:xfrm>
            <a:off x="64008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Pick one good setting once, at design time. Costs nothing while running: no sensor, no ADC, no lookup table, no controller.</a:t>
            </a:r>
          </a:p>
        </p:txBody>
      </p:sp>
      <p:sp>
        <p:nvSpPr>
          <p:cNvPr id="9" name="TextBox 8"/>
          <p:cNvSpPr txBox="1"/>
          <p:nvPr/>
        </p:nvSpPr>
        <p:spPr>
          <a:xfrm>
            <a:off x="448056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25.1 %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0" name="TextBox 9"/>
          <p:cNvSpPr txBox="1"/>
          <p:nvPr/>
        </p:nvSpPr>
        <p:spPr>
          <a:xfrm>
            <a:off x="640080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2  —  ADAPTING per operating point</a:t>
            </a:r>
          </a:p>
        </p:txBody>
      </p:sp>
      <p:sp>
        <p:nvSpPr>
          <p:cNvPr id="11" name="TextBox 10"/>
          <p:cNvSpPr txBox="1"/>
          <p:nvPr/>
        </p:nvSpPr>
        <p:spPr>
          <a:xfrm>
            <a:off x="640080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Change the setting as load, voltage and temperature move. This is the part that needs the sensing hardware.</a:t>
            </a:r>
          </a:p>
        </p:txBody>
      </p:sp>
      <p:sp>
        <p:nvSpPr>
          <p:cNvPr id="12" name="TextBox 11"/>
          <p:cNvSpPr txBox="1"/>
          <p:nvPr/>
        </p:nvSpPr>
        <p:spPr>
          <a:xfrm>
            <a:off x="1024128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3.9 %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3" name="TextBox 12"/>
          <p:cNvSpPr txBox="1"/>
          <p:nvPr/>
        </p:nvSpPr>
        <p:spPr>
          <a:xfrm>
            <a:off x="640080" y="4526280"/>
            <a:ext cx="11064240" cy="1920240"/>
          </a:xfrm>
          <a:prstGeom prst="rect">
            <a:avLst/>
          </a:prstGeom>
          <a:noFill/>
        </p:spPr>
        <p:txBody>
          <a:bodyPr wrap="square" lIns="0" tIns="0" rIns="0" bIns="0">
            <a:spAutoFit/>
          </a:bodyPr>
          <a:lstStyle/>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THE GAP: </a:t>
            </a:r>
            <a:r>
              <a:rPr lang="en-US" sz="1400" dirty="0">
                <a:solidFill>
                  <a:srgbClr val="000000"/>
                </a:solidFill>
                <a:latin typeface="Calibri" pitchFamily="34" charset="0"/>
                <a:ea typeface="Calibri" pitchFamily="34" charset="-122"/>
                <a:cs typeface="Calibri" pitchFamily="34" charset="-120"/>
              </a:rPr>
              <a:t>nobody separates them. No paper says how much of the benefit actually needs the re-tuning, because separating the two means running every setting at every operating point — and nobody has done that.</a:t>
            </a:r>
          </a:p>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WHY IT MATTERS: </a:t>
            </a:r>
            <a:r>
              <a:rPr lang="en-US" sz="1400" dirty="0">
                <a:solidFill>
                  <a:srgbClr val="000000"/>
                </a:solidFill>
                <a:latin typeface="Calibri" pitchFamily="34" charset="0"/>
                <a:ea typeface="Calibri" pitchFamily="34" charset="-122"/>
                <a:cs typeface="Calibri" pitchFamily="34" charset="-120"/>
              </a:rPr>
              <a:t>only Effect 2 pays for the sensor, ADC and lookup table. If it is small, that hardware is mostly buying something a design-time choice already gives you.</a:t>
            </a:r>
          </a:p>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WHAT WE DO: </a:t>
            </a:r>
            <a:r>
              <a:rPr lang="en-US" sz="1400" dirty="0">
                <a:solidFill>
                  <a:srgbClr val="000000"/>
                </a:solidFill>
                <a:latin typeface="Calibri" pitchFamily="34" charset="0"/>
                <a:ea typeface="Calibri" pitchFamily="34" charset="-122"/>
                <a:cs typeface="Calibri" pitchFamily="34" charset="-120"/>
              </a:rPr>
              <a:t>720 settings × 4 operating points, all of them, in ngspice — then report the two numbers separately instead of adding them together.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02</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built</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converter, and the driver that switches it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Aim, and how we approached it</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find out how much of a gate driver’s benefit needs the driver to re-tune itself while the converter is running, and how much comes from choosing one good setting and leaving it fixed.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GaN buck converter driven by a </a:t>
            </a:r>
            <a:r>
              <a:rPr lang="en-US" sz="1500" b="1" dirty="0">
                <a:solidFill>
                  <a:srgbClr val="000000"/>
                </a:solidFill>
                <a:latin typeface="Calibri" pitchFamily="34" charset="0"/>
                <a:ea typeface="Calibri" pitchFamily="34" charset="-122"/>
                <a:cs typeface="Calibri" pitchFamily="34" charset="-120"/>
              </a:rPr>
              <a:t xml:space="preserve">segmented gate driver</a:t>
            </a:r>
            <a:r>
              <a:rPr lang="en-US" sz="1500" dirty="0">
                <a:solidFill>
                  <a:srgbClr val="000000"/>
                </a:solidFill>
                <a:latin typeface="Calibri" pitchFamily="34" charset="0"/>
                <a:ea typeface="Calibri" pitchFamily="34" charset="-122"/>
                <a:cs typeface="Calibri" pitchFamily="34" charset="-120"/>
              </a:rPr>
              <a:t xml:space="preserve">: 8 pull-up steps, 8 pull-down steps, an adjustable dead time, a Miller clamp and a −2 V off rail — every one of them a setting we can change and measure.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we approached it: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1. Build the converter and check it converts.</a:t>
            </a:r>
            <a:r>
              <a:rPr lang="en-US" sz="1500" dirty="0">
                <a:solidFill>
                  <a:srgbClr val="000000"/>
                </a:solidFill>
                <a:latin typeface="Calibri" pitchFamily="34" charset="0"/>
                <a:ea typeface="Calibri" pitchFamily="34" charset="-122"/>
                <a:cs typeface="Calibri" pitchFamily="34" charset="-120"/>
              </a:rPr>
              <a:t xml:space="preserve"> 100 V DC in, 48.6 V DC out at 4.88 A — 236.9 W delivered, 97.6 % efficient.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2. Recreate the fault.</a:t>
            </a:r>
            <a:r>
              <a:rPr lang="en-US" sz="1500" dirty="0">
                <a:solidFill>
                  <a:srgbClr val="000000"/>
                </a:solidFill>
                <a:latin typeface="Calibri" pitchFamily="34" charset="0"/>
                <a:ea typeface="Calibri" pitchFamily="34" charset="-122"/>
                <a:cs typeface="Calibri" pitchFamily="34" charset="-120"/>
              </a:rPr>
              <a:t xml:space="preserve"> At the fastest setting the gate that should be OFF reaches 1.65 V, against a 1.4 V turn-on threshold.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3. Fix it one change at a time,</a:t>
            </a:r>
            <a:r>
              <a:rPr lang="en-US" sz="1500" dirty="0">
                <a:solidFill>
                  <a:srgbClr val="000000"/>
                </a:solidFill>
                <a:latin typeface="Calibri" pitchFamily="34" charset="0"/>
                <a:ea typeface="Calibri" pitchFamily="34" charset="-122"/>
                <a:cs typeface="Calibri" pitchFamily="34" charset="-120"/>
              </a:rPr>
              <a:t xml:space="preserve"> measuring each change on its own run, not all at once.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4. Ask whether one fixed setting is enough,</a:t>
            </a:r>
            <a:r>
              <a:rPr lang="en-US" sz="1500" dirty="0">
                <a:solidFill>
                  <a:srgbClr val="000000"/>
                </a:solidFill>
                <a:latin typeface="Calibri" pitchFamily="34" charset="0"/>
                <a:ea typeface="Calibri" pitchFamily="34" charset="-122"/>
                <a:cs typeface="Calibri" pitchFamily="34" charset="-120"/>
              </a:rPr>
              <a:t xml:space="preserve"> by running the driver at two operating points and seeing whether the best setting moves.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Scope and tools: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the converter, the driver, its settings, and the FPGA controller.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building hardware. </a:t>
            </a:r>
            <a:r>
              <a:rPr lang="en-US" sz="1500" b="1" dirty="0">
                <a:solidFill>
                  <a:srgbClr val="000000"/>
                </a:solidFill>
                <a:latin typeface="Calibri" pitchFamily="34" charset="0"/>
                <a:ea typeface="Calibri" pitchFamily="34" charset="-122"/>
                <a:cs typeface="Calibri" pitchFamily="34" charset="-120"/>
              </a:rPr>
              <a:t xml:space="preserve">Tools: </a:t>
            </a:r>
            <a:r>
              <a:rPr lang="en-US" sz="1500" dirty="0">
                <a:solidFill>
                  <a:srgbClr val="000000"/>
                </a:solidFill>
                <a:latin typeface="Calibri" pitchFamily="34" charset="0"/>
                <a:ea typeface="Calibri" pitchFamily="34" charset="-122"/>
                <a:cs typeface="Calibri" pitchFamily="34" charset="-120"/>
              </a:rPr>
              <a:t xml:space="preserve">ngspice for every simulation, LTspice to draw the circuit and re-check, Vivado for the FPGA.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it works — one use case, start to finish</a:t>
            </a:r>
            <a:endParaRPr lang="en-US" sz="2800" dirty="0"/>
          </a:p>
        </p:txBody>
      </p:sp>
      <p:pic>
        <p:nvPicPr>
          <p:cNvPr id="5" name="Picture 4" descr="fig_flow.png"/>
          <p:cNvPicPr>
            <a:picLocks noChangeAspect="1"/>
          </p:cNvPicPr>
          <p:nvPr/>
        </p:nvPicPr>
        <p:blipFill>
          <a:blip r:embed="rId4"/>
          <a:stretch>
            <a:fillRect/>
          </a:stretch>
        </p:blipFill>
        <p:spPr>
          <a:xfrm>
            <a:off x="1700784" y="1188720"/>
            <a:ext cx="8792300" cy="4617720"/>
          </a:xfrm>
          <a:prstGeom prst="rect">
            <a:avLst/>
          </a:prstGeom>
        </p:spPr>
      </p:pic>
      <p:sp>
        <p:nvSpPr>
          <p:cNvPr id="6" name="TextBox 5"/>
          <p:cNvSpPr txBox="1"/>
          <p:nvPr/>
        </p:nvSpPr>
        <p:spPr>
          <a:xfrm>
            <a:off x="640080" y="5989320"/>
            <a:ext cx="10241280" cy="41148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Fig. 2 — </a:t>
            </a:r>
            <a:r>
              <a:rPr lang="en-US" sz="1200" dirty="0">
                <a:solidFill>
                  <a:srgbClr val="000000"/>
                </a:solidFill>
                <a:latin typeface="Calibri" pitchFamily="34" charset="0"/>
                <a:ea typeface="Calibri" pitchFamily="34" charset="-122"/>
                <a:cs typeface="Calibri" pitchFamily="34" charset="-120"/>
              </a:rPr>
              <a:t>One switching edge, followed through. Top row: the controller's decision. Bottom row: the circuit's response. Only the shaded diamond is decided at run time.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5" name="Picture 4" descr="fig_architecture.png"/>
          <p:cNvPicPr>
            <a:picLocks noChangeAspect="1"/>
          </p:cNvPicPr>
          <p:nvPr/>
        </p:nvPicPr>
        <p:blipFill>
          <a:blip r:embed="rId4"/>
          <a:stretch>
            <a:fillRect/>
          </a:stretch>
        </p:blipFill>
        <p:spPr>
          <a:xfrm>
            <a:off x="1417320" y="1207008"/>
            <a:ext cx="9362598" cy="4754880"/>
          </a:xfrm>
          <a:prstGeom prst="rect">
            <a:avLst/>
          </a:prstGeom>
        </p:spPr>
      </p:pic>
      <p:sp>
        <p:nvSpPr>
          <p:cNvPr id="6" name="TextBox 5"/>
          <p:cNvSpPr txBox="1"/>
          <p:nvPr/>
        </p:nvSpPr>
        <p:spPr>
          <a:xfrm>
            <a:off x="502920" y="5897880"/>
            <a:ext cx="11201400" cy="68580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dirty="0">
                <a:solidFill>
                  <a:srgbClr val="000000"/>
                </a:solidFill>
                <a:latin typeface="Calibri" pitchFamily="34" charset="0"/>
                <a:ea typeface="Calibri" pitchFamily="34" charset="-122"/>
                <a:cs typeface="Calibri" pitchFamily="34" charset="-120"/>
              </a:rPr>
              <a:t xml:space="preserve">System architecture, left to right: PWM command, FPGA controller, segmented gate driver, power stage. The four driver blocks are what this project designs. Only the dashed block needs sensing — and measuring what it is worth is the project's question.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we simulate</a:t>
            </a:r>
            <a:endParaRPr lang="en-US" sz="2800" dirty="0"/>
          </a:p>
        </p:txBody>
      </p:sp>
      <p:pic>
        <p:nvPicPr>
          <p:cNvPr id="5" name="Picture 4" descr="fig_circuit_ltspice.png"/>
          <p:cNvPicPr>
            <a:picLocks noChangeAspect="1"/>
          </p:cNvPicPr>
          <p:nvPr/>
        </p:nvPicPr>
        <p:blipFill>
          <a:blip r:embed="rId6"/>
          <a:stretch>
            <a:fillRect/>
          </a:stretch>
        </p:blipFill>
        <p:spPr>
          <a:xfrm>
            <a:off x="2534035" y="1060704"/>
            <a:ext cx="7123625" cy="4828032"/>
          </a:xfrm>
          <a:prstGeom prst="rect">
            <a:avLst/>
          </a:prstGeom>
        </p:spPr>
      </p:pic>
      <p:sp>
        <p:nvSpPr>
          <p:cNvPr id="6" name="TextBox 5"/>
          <p:cNvSpPr txBox="1"/>
          <p:nvPr/>
        </p:nvSpPr>
        <p:spPr>
          <a:xfrm>
            <a:off x="502920" y="6016752"/>
            <a:ext cx="11201400" cy="5486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 — </a:t>
            </a:r>
            <a:r>
              <a:rPr lang="en-US" sz="1150" dirty="0">
                <a:solidFill>
                  <a:srgbClr val="000000"/>
                </a:solidFill>
                <a:latin typeface="Calibri" pitchFamily="34" charset="0"/>
                <a:ea typeface="Calibri" pitchFamily="34" charset="-122"/>
                <a:cs typeface="Calibri" pitchFamily="34" charset="-120"/>
              </a:rPr>
              <a:t xml:space="preserve">GaN synchronous buck converter, ltspice/BUCK_converter.asc. “Buck” means step-down: 100 V in, 48.6 V out. The two yellow blocks are the segmented gate drivers — the part this project designs. Around them: the 100 V supply with its power-loop parasitics, the two GaN HEMTs, the output filter and a 10 Ω load.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We implemented the base paper, then ours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14</a:t>
            </a:r>
          </a:p>
        </p:txBody>
      </p:sp>
      <p:sp>
        <p:nvSpPr>
          <p:cNvPr id="6" name="TextBox 5"/>
          <p:cNvSpPr txBox="1"/>
          <p:nvPr/>
        </p:nvSpPr>
        <p:spPr>
          <a:xfrm>
            <a:off x="640080" y="1207008"/>
            <a:ext cx="11064240" cy="86868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Citing a base paper is not a comparison, so we built theirs too. </a:t>
            </a:r>
            <a:r>
              <a:rPr lang="en-US" sz="1250" b="1" dirty="0">
                <a:solidFill>
                  <a:srgbClr val="000000"/>
                </a:solidFill>
                <a:latin typeface="Calibri" pitchFamily="34" charset="0"/>
                <a:ea typeface="Calibri" pitchFamily="34" charset="-122"/>
                <a:cs typeface="Calibri" pitchFamily="34" charset="-120"/>
              </a:rPr>
              <a:t>models/zhangdrv.lib</a:t>
            </a:r>
            <a:r>
              <a:rPr lang="en-US" sz="1250" dirty="0">
                <a:solidFill>
                  <a:srgbClr val="000000"/>
                </a:solidFill>
                <a:latin typeface="Calibri" pitchFamily="34" charset="0"/>
                <a:ea typeface="Calibri" pitchFamily="34" charset="-122"/>
                <a:cs typeface="Calibri" pitchFamily="34" charset="-120"/>
              </a:rPr>
              <a:t> is Zhang et al.'s driver: seven slices brought in as a timed pattern across the switching edge, the pattern picked by one bias resistor, with no gate clamp and no −2 V rail, because those two are ours. It runs inside the same sim/dpt.cir, so only the driver differs.</a:t>
            </a:r>
          </a:p>
        </p:txBody>
      </p:sp>
      <p:sp>
        <p:nvSpPr>
          <p:cNvPr id="7" name="TextBox 6"/>
          <p:cNvSpPr txBox="1"/>
          <p:nvPr/>
        </p:nvSpPr>
        <p:spPr>
          <a:xfrm>
            <a:off x="640080" y="239572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Base paper, at its best setting</a:t>
            </a:r>
          </a:p>
        </p:txBody>
      </p:sp>
      <p:sp>
        <p:nvSpPr>
          <p:cNvPr id="8" name="TextBox 7"/>
          <p:cNvSpPr txBox="1"/>
          <p:nvPr/>
        </p:nvSpPr>
        <p:spPr>
          <a:xfrm>
            <a:off x="4343400" y="234086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+0.407 V</a:t>
            </a:r>
          </a:p>
        </p:txBody>
      </p:sp>
      <p:sp>
        <p:nvSpPr>
          <p:cNvPr id="9" name="TextBox 8"/>
          <p:cNvSpPr txBox="1"/>
          <p:nvPr/>
        </p:nvSpPr>
        <p:spPr>
          <a:xfrm>
            <a:off x="5943600" y="239572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Their staged pattern on its own already clears the 1.4 V threshold, at the best setting in their own stated range.</a:t>
            </a:r>
          </a:p>
        </p:txBody>
      </p:sp>
      <p:sp>
        <p:nvSpPr>
          <p:cNvPr id="10" name="TextBox 9"/>
          <p:cNvSpPr txBox="1"/>
          <p:nvPr/>
        </p:nvSpPr>
        <p:spPr>
          <a:xfrm>
            <a:off x="640080" y="303580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constant code, no clamp</a:t>
            </a:r>
          </a:p>
        </p:txBody>
      </p:sp>
      <p:sp>
        <p:nvSpPr>
          <p:cNvPr id="11" name="TextBox 10"/>
          <p:cNvSpPr txBox="1"/>
          <p:nvPr/>
        </p:nvSpPr>
        <p:spPr>
          <a:xfrm>
            <a:off x="4343400" y="298094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−0.249 V</a:t>
            </a:r>
          </a:p>
        </p:txBody>
      </p:sp>
      <p:sp>
        <p:nvSpPr>
          <p:cNvPr id="12" name="TextBox 11"/>
          <p:cNvSpPr txBox="1"/>
          <p:nvPr/>
        </p:nvSpPr>
        <p:spPr>
          <a:xfrm>
            <a:off x="5943600" y="303580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b="1">
                <a:solidFill>
                  <a:srgbClr val="000000"/>
                </a:solidFill>
                <a:latin typeface="Calibri" pitchFamily="34" charset="0"/>
                <a:ea typeface="Calibri" pitchFamily="34" charset="-122"/>
                <a:cs typeface="Calibri" pitchFamily="34" charset="-120"/>
              </a:rPr>
              <a:t>FALSE TURN-ON. </a:t>
            </a:r>
            <a:r>
              <a:rPr lang="en-US" sz="1150" dirty="0">
                <a:solidFill>
                  <a:srgbClr val="000000"/>
                </a:solidFill>
                <a:latin typeface="Calibri" pitchFamily="34" charset="0"/>
                <a:ea typeface="Calibri" pitchFamily="34" charset="-122"/>
                <a:cs typeface="Calibri" pitchFamily="34" charset="-120"/>
              </a:rPr>
              <a:t>A constant code is worse than their staged one — their idea is real, and we reproduce it.</a:t>
            </a:r>
          </a:p>
        </p:txBody>
      </p:sp>
      <p:sp>
        <p:nvSpPr>
          <p:cNvPr id="13" name="TextBox 12"/>
          <p:cNvSpPr txBox="1"/>
          <p:nvPr/>
        </p:nvSpPr>
        <p:spPr>
          <a:xfrm>
            <a:off x="640080" y="3675887"/>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active Miller clamp on</a:t>
            </a:r>
          </a:p>
        </p:txBody>
      </p:sp>
      <p:sp>
        <p:nvSpPr>
          <p:cNvPr id="14" name="TextBox 13"/>
          <p:cNvSpPr txBox="1"/>
          <p:nvPr/>
        </p:nvSpPr>
        <p:spPr>
          <a:xfrm>
            <a:off x="4343400" y="3621023"/>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+0.570 V</a:t>
            </a:r>
          </a:p>
        </p:txBody>
      </p:sp>
      <p:sp>
        <p:nvSpPr>
          <p:cNvPr id="15" name="TextBox 14"/>
          <p:cNvSpPr txBox="1"/>
          <p:nvPr/>
        </p:nvSpPr>
        <p:spPr>
          <a:xfrm>
            <a:off x="5943600" y="3675887"/>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Only just past the base paper. The clamp on its own is not the story.</a:t>
            </a:r>
          </a:p>
        </p:txBody>
      </p:sp>
      <p:sp>
        <p:nvSpPr>
          <p:cNvPr id="16" name="TextBox 15"/>
          <p:cNvSpPr txBox="1"/>
          <p:nvPr/>
        </p:nvSpPr>
        <p:spPr>
          <a:xfrm>
            <a:off x="640080" y="4315968"/>
            <a:ext cx="3566160" cy="53035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Ours, clamp + −2 V off-bias</a:t>
            </a:r>
          </a:p>
        </p:txBody>
      </p:sp>
      <p:sp>
        <p:nvSpPr>
          <p:cNvPr id="17" name="TextBox 16"/>
          <p:cNvSpPr txBox="1"/>
          <p:nvPr/>
        </p:nvSpPr>
        <p:spPr>
          <a:xfrm>
            <a:off x="4343400" y="426110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+2.576 V</a:t>
            </a:r>
          </a:p>
        </p:txBody>
      </p:sp>
      <p:sp>
        <p:nvSpPr>
          <p:cNvPr id="18" name="TextBox 17"/>
          <p:cNvSpPr txBox="1"/>
          <p:nvPr/>
        </p:nvSpPr>
        <p:spPr>
          <a:xfrm>
            <a:off x="5943600" y="431596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6.3× the base paper's best margin. This is the version we ship.</a:t>
            </a:r>
          </a:p>
        </p:txBody>
      </p:sp>
      <p:sp>
        <p:nvSpPr>
          <p:cNvPr id="19" name="TextBox 18"/>
          <p:cNvSpPr txBox="1"/>
          <p:nvPr/>
        </p:nvSpPr>
        <p:spPr>
          <a:xfrm>
            <a:off x="640080" y="5138928"/>
            <a:ext cx="11064240" cy="1234440"/>
          </a:xfrm>
          <a:prstGeom prst="rect">
            <a:avLst/>
          </a:prstGeom>
          <a:noFill/>
        </p:spPr>
        <p:txBody>
          <a:bodyPr wrap="square" lIns="0" tIns="0" rIns="0" bIns="0">
            <a:spAutoFit/>
          </a:bodyPr>
          <a:lstStyle/>
          <a:p>
            <a:pPr marL="177800" indent="0">
              <a:spcAft>
                <a:spcPts val="150"/>
              </a:spcAft>
              <a:buSzPct val="100000"/>
              <a:buNone/>
            </a:pPr>
            <a:r>
              <a:rPr lang="en-US" sz="1250" b="1" dirty="0">
                <a:solidFill>
                  <a:srgbClr val="000000"/>
                </a:solidFill>
                <a:latin typeface="Calibri" pitchFamily="34" charset="0"/>
                <a:ea typeface="Calibri" pitchFamily="34" charset="-122"/>
                <a:cs typeface="Calibri" pitchFamily="34" charset="-120"/>
              </a:rPr>
              <a:t>What the comparison shows. </a:t>
            </a:r>
            <a:r>
              <a:rPr lang="en-US" sz="1250" dirty="0">
                <a:solidFill>
                  <a:srgbClr val="000000"/>
                </a:solidFill>
                <a:latin typeface="Calibri" pitchFamily="34" charset="0"/>
                <a:ea typeface="Calibri" pitchFamily="34" charset="-122"/>
                <a:cs typeface="Calibri" pitchFamily="34" charset="-120"/>
              </a:rPr>
              <a:t>The base paper stages its slices over TIME and picks the pattern with one resistor; we add two things they do not have and make every field programmable. Both clear the threshold — theirs works, and we quote it at its best setting — but ours clears it by 6.3× more, and ours is the one whose settings can then be searched in full. Across their own stated range their margin runs +0.407 V down to −0.278 V, so quoting them anywhere worse would be picking the opponent.</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Command: python3 scripts/basepaper_compare.py — four ngspice runs, prints this table.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75 %</a:t>
            </a:r>
            <a:endParaRPr lang="en-US" sz="2800" dirty="0"/>
          </a:p>
        </p:txBody>
      </p:sp>
      <p:sp>
        <p:nvSpPr>
          <p:cNvPr id="5" name="TextBox 4"/>
          <p:cNvSpPr txBox="1"/>
          <p:nvPr/>
        </p:nvSpPr>
        <p:spPr>
          <a:xfrm>
            <a:off x="640080" y="1078992"/>
            <a:ext cx="11064240" cy="420624"/>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Counted, not asserted. </a:t>
            </a:r>
            <a:r>
              <a:rPr lang="en-US" sz="1200" dirty="0">
                <a:solidFill>
                  <a:srgbClr val="000000"/>
                </a:solidFill>
                <a:latin typeface="Calibri" pitchFamily="34" charset="0"/>
                <a:ea typeface="Calibri" pitchFamily="34" charset="-122"/>
                <a:cs typeface="Calibri" pitchFamily="34" charset="-120"/>
              </a:rPr>
              <a:t xml:space="preserve">Twelve blocks, weighted by how much of the project each is. Eight are finished. The weights are on the slide so they can be argued with.</a:t>
            </a:r>
          </a:p>
        </p:txBody>
      </p:sp>
      <p:graphicFrame>
        <p:nvGraphicFramePr>
          <p:cNvPr id="6" name="Table 5"/>
          <p:cNvGraphicFramePr>
            <a:graphicFrameLocks noGrp="1"/>
          </p:cNvGraphicFramePr>
          <p:nvPr/>
        </p:nvGraphicFramePr>
        <p:xfrm>
          <a:off x="566928" y="1591056"/>
          <a:ext cx="11100814" cy="4069080"/>
        </p:xfrm>
        <a:graphic>
          <a:graphicData uri="http://schemas.openxmlformats.org/drawingml/2006/table">
            <a:tbl>
              <a:tblPr firstRow="1">
                <a:tableStyleId>{5C22544A-7EE6-4342-B048-85BDC9FD1C3A}</a:tableStyleId>
              </a:tblPr>
              <a:tblGrid>
                <a:gridCol w="444032"/>
                <a:gridCol w="3996293"/>
                <a:gridCol w="888065"/>
                <a:gridCol w="5772424"/>
              </a:tblGrid>
              <a:tr h="313006">
                <a:tc>
                  <a:txBody>
                    <a:bodyPr wrap="square"/>
                    <a:lstStyle/>
                    <a:p>
                      <a:r>
                        <a:rPr sz="1000" b="1">
                          <a:latin typeface="Calibri"/>
                        </a:rPr>
                        <a:t/>
                      </a:r>
                    </a:p>
                  </a:txBody>
                  <a:tcPr marL="50292" marR="50292" marT="27432" marB="27432"/>
                </a:tc>
                <a:tc>
                  <a:txBody>
                    <a:bodyPr wrap="square"/>
                    <a:lstStyle/>
                    <a:p>
                      <a:r>
                        <a:rPr sz="1000" b="1">
                          <a:latin typeface="Calibri"/>
                        </a:rPr>
                        <a:t>Block of work</a:t>
                      </a:r>
                    </a:p>
                  </a:txBody>
                  <a:tcPr marL="50292" marR="50292" marT="27432" marB="27432"/>
                </a:tc>
                <a:tc>
                  <a:txBody>
                    <a:bodyPr wrap="square"/>
                    <a:lstStyle/>
                    <a:p>
                      <a:r>
                        <a:rPr sz="1000" b="1">
                          <a:latin typeface="Calibri"/>
                        </a:rPr>
                        <a:t>Weight</a:t>
                      </a:r>
                    </a:p>
                  </a:txBody>
                  <a:tcPr marL="50292" marR="50292" marT="27432" marB="27432"/>
                </a:tc>
                <a:tc>
                  <a:txBody>
                    <a:bodyPr wrap="square"/>
                    <a:lstStyle/>
                    <a:p>
                      <a:r>
                        <a:rPr sz="1000" b="1">
                          <a:latin typeface="Calibri"/>
                        </a:rPr>
                        <a:t>Evidence, or why not yet</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itself, built and converting</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100 V → 48.6 V at 4.88 A, 97.6 % efficient (buck.cir)</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device choice justified against silicon</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5.9 W vs 17.3 W at 500 kHz; 3 sweeps, 4 duty profiles</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base paper implemented, not just cited</a:t>
                      </a:r>
                    </a:p>
                  </a:txBody>
                  <a:tcPr marL="50292" marR="50292" marT="27432" marB="27432"/>
                </a:tc>
                <a:tc>
                  <a:txBody>
                    <a:bodyPr wrap="square"/>
                    <a:lstStyle/>
                    <a:p>
                      <a:r>
                        <a:rPr sz="900" b="0">
                          <a:latin typeface="Calibri"/>
                        </a:rPr>
                        <a:t>10</a:t>
                      </a:r>
                    </a:p>
                  </a:txBody>
                  <a:tcPr marL="50292" marR="50292" marT="27432" marB="27432"/>
                </a:tc>
                <a:tc>
                  <a:txBody>
                    <a:bodyPr wrap="square"/>
                    <a:lstStyle/>
                    <a:p>
                      <a:r>
                        <a:rPr sz="900" b="0">
                          <a:latin typeface="Calibri"/>
                        </a:rPr>
                        <a:t>zhangdrv.lib in our own deck; quoted at ITS best, +0.407 V</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segmented driver; the fault reproduced and fixed</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−0.249 V → +2.576 V, one change at a time</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full study: 720 words × 4 corners</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34,622 transients; fixed 25.1 % vs adaptive 3.9 %</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How much controller that justifies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ladder + leave-one-corner-out; two implementations agree</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FPGA: RTL written, verified, synthesised, timing met</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8 properties; 20 LUT / 20 FF; 200 MHz, 1.996 ns slack</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two halves made to meet in one simulation</a:t>
                      </a:r>
                    </a:p>
                  </a:txBody>
                  <a:tcPr marL="50292" marR="50292" marT="27432" marB="27432"/>
                </a:tc>
                <a:tc>
                  <a:txBody>
                    <a:bodyPr wrap="square"/>
                    <a:lstStyle/>
                    <a:p>
                      <a:r>
                        <a:rPr sz="900" b="0">
                          <a:latin typeface="Calibri"/>
                        </a:rPr>
                        <a:t>5</a:t>
                      </a:r>
                    </a:p>
                  </a:txBody>
                  <a:tcPr marL="50292" marR="50292" marT="27432" marB="27432"/>
                </a:tc>
                <a:tc>
                  <a:txBody>
                    <a:bodyPr wrap="square"/>
                    <a:lstStyle/>
                    <a:p>
                      <a:r>
                        <a:rPr sz="900" b="0">
                          <a:latin typeface="Calibri"/>
                        </a:rPr>
                        <a:t>RTL VCD drives the SPICE slices; agree to 0.081 V</a:t>
                      </a:r>
                    </a:p>
                  </a:txBody>
                  <a:tcPr marL="50292" marR="50292" marT="27432" marB="27432"/>
                </a:tc>
              </a:tr>
              <a:tr h="313006">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Closed-loop regulation of the converter</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solidFill>
                            <a:srgbClr val="555555"/>
                          </a:solidFill>
                          <a:latin typeface="Calibri"/>
                        </a:rPr>
                        <a:t>Review-II. Changes where it operates, so the study is redone after</a:t>
                      </a:r>
                    </a:p>
                  </a:txBody>
                  <a:tcPr marL="50292" marR="50292" marT="27432" marB="27432"/>
                </a:tc>
              </a:tr>
              <a:tr h="313006">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Transistor-level output stage in Cadence</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solidFill>
                            <a:srgbClr val="555555"/>
                          </a:solidFill>
                          <a:latin typeface="Calibri"/>
                        </a:rPr>
                        <a:t>Review-II. Re-run the ceiling on real devices, not behavioural ones</a:t>
                      </a:r>
                    </a:p>
                  </a:txBody>
                  <a:tcPr marL="50292" marR="50292" marT="27432" marB="27432"/>
                </a:tc>
              </a:tr>
              <a:tr h="313006">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Place-and-route on a chosen board</a:t>
                      </a:r>
                    </a:p>
                  </a:txBody>
                  <a:tcPr marL="50292" marR="50292" marT="27432" marB="27432"/>
                </a:tc>
                <a:tc>
                  <a:txBody>
                    <a:bodyPr wrap="square"/>
                    <a:lstStyle/>
                    <a:p>
                      <a:r>
                        <a:rPr sz="900" b="0">
                          <a:latin typeface="Calibri"/>
                        </a:rPr>
                        <a:t>3</a:t>
                      </a:r>
                    </a:p>
                  </a:txBody>
                  <a:tcPr marL="50292" marR="50292" marT="27432" marB="27432"/>
                </a:tc>
                <a:tc>
                  <a:txBody>
                    <a:bodyPr wrap="square"/>
                    <a:lstStyle/>
                    <a:p>
                      <a:r>
                        <a:rPr sz="900" b="0">
                          <a:solidFill>
                            <a:srgbClr val="555555"/>
                          </a:solidFill>
                          <a:latin typeface="Calibri"/>
                        </a:rPr>
                        <a:t>Needs real package pins and an MMCM for the clock</a:t>
                      </a:r>
                    </a:p>
                  </a:txBody>
                  <a:tcPr marL="50292" marR="50292" marT="27432" marB="27432"/>
                </a:tc>
              </a:tr>
              <a:tr h="313008">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A hardware half-bridge, measured</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solidFill>
                            <a:srgbClr val="555555"/>
                          </a:solidFill>
                          <a:latin typeface="Calibri"/>
                        </a:rPr>
                        <a:t>Review-III. Until then this is a simulation study, and is titled as one</a:t>
                      </a:r>
                    </a:p>
                  </a:txBody>
                  <a:tcPr marL="50292" marR="50292" marT="27432" marB="27432"/>
                </a:tc>
              </a:tr>
            </a:tbl>
          </a:graphicData>
        </a:graphic>
      </p:graphicFrame>
      <p:sp>
        <p:nvSpPr>
          <p:cNvPr id="7" name="TextBox 6"/>
          <p:cNvSpPr txBox="1"/>
          <p:nvPr/>
        </p:nvSpPr>
        <p:spPr>
          <a:xfrm>
            <a:off x="640080" y="5797296"/>
            <a:ext cx="10698480" cy="822960"/>
          </a:xfrm>
          <a:prstGeom prst="rect">
            <a:avLst/>
          </a:prstGeom>
          <a:noFill/>
        </p:spPr>
        <p:txBody>
          <a:bodyPr wrap="square" lIns="0" tIns="0" rIns="0" bIns="0">
            <a:spAutoFit/>
          </a:bodyPr>
          <a:lstStyle/>
          <a:p>
            <a:pPr marL="177800" indent="0">
              <a:spcAft>
                <a:spcPts val="140"/>
              </a:spcAft>
              <a:buSzPct val="100000"/>
              <a:buNone/>
            </a:pPr>
            <a:r>
              <a:rPr lang="en-US" sz="1250" b="1" dirty="0">
                <a:solidFill>
                  <a:srgbClr val="000000"/>
                </a:solidFill>
                <a:latin typeface="Calibri" pitchFamily="34" charset="0"/>
                <a:ea typeface="Calibri" pitchFamily="34" charset="-122"/>
                <a:cs typeface="Calibri" pitchFamily="34" charset="-120"/>
              </a:rPr>
              <a:t xml:space="preserve">75 of 100 done. </a:t>
            </a:r>
            <a:r>
              <a:rPr lang="en-US" sz="1250" dirty="0">
                <a:solidFill>
                  <a:srgbClr val="000000"/>
                </a:solidFill>
                <a:latin typeface="Calibri" pitchFamily="34" charset="0"/>
                <a:ea typeface="Calibri" pitchFamily="34" charset="-122"/>
                <a:cs typeface="Calibri" pitchFamily="34" charset="-120"/>
              </a:rPr>
              <a:t xml:space="preserve">Review-I's rubric asks for 50 %. We are past it because this is a simulation study and the simulation half is finished — the remaining 25 % is the half that needs Cadence, a board and a bench, and no amount of further simulating will deliver it.</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Stated plainly: the architecture is finished. The measurement of it on real silicon is not.</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we are, and what is next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Where we are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 is done. </a:t>
            </a:r>
            <a:r>
              <a:rPr lang="en-US" sz="1500" dirty="0">
                <a:solidFill>
                  <a:srgbClr val="000000"/>
                </a:solidFill>
                <a:latin typeface="Calibri" pitchFamily="34" charset="0"/>
                <a:ea typeface="Calibri" pitchFamily="34" charset="-122"/>
                <a:cs typeface="Calibri" pitchFamily="34" charset="-120"/>
              </a:rPr>
              <a:t xml:space="preserve">The converter is built and converting, the crosstalk fault is reproduced and fixed, the named cases have been run, and the FPGA controller is written and verified.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What we aim to do next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Review-II — close the loop.</a:t>
            </a:r>
            <a:r>
              <a:rPr lang="en-US" sz="1500" dirty="0">
                <a:solidFill>
                  <a:srgbClr val="000000"/>
                </a:solidFill>
                <a:latin typeface="Calibri" pitchFamily="34" charset="0"/>
                <a:ea typeface="Calibri" pitchFamily="34" charset="-122"/>
                <a:cs typeface="Calibri" pitchFamily="34" charset="-120"/>
              </a:rPr>
              <a:t xml:space="preserve"> Add a feedback controller so the output holds its value when the load changes, then re-run the driver-setting study with the loop closed.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Review-III — settle the light-load question.</a:t>
            </a:r>
            <a:r>
              <a:rPr lang="en-US" sz="1500" dirty="0">
                <a:solidFill>
                  <a:srgbClr val="000000"/>
                </a:solidFill>
                <a:latin typeface="Calibri" pitchFamily="34" charset="0"/>
                <a:ea typeface="Calibri" pitchFamily="34" charset="-122"/>
                <a:cs typeface="Calibri" pitchFamily="34" charset="-120"/>
              </a:rPr>
              <a:t xml:space="preserve"> The cheapest dead time is 15 ns at full load and 5 ns at light load. Run the converter at both and measure what a two-setting controller actually saves against one fixed setting — that is the number the whole project turns on.</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Same tools throughout.</a:t>
            </a:r>
            <a:r>
              <a:rPr lang="en-US" sz="1500" dirty="0">
                <a:solidFill>
                  <a:srgbClr val="000000"/>
                </a:solidFill>
                <a:latin typeface="Calibri" pitchFamily="34" charset="0"/>
                <a:ea typeface="Calibri" pitchFamily="34" charset="-122"/>
                <a:cs typeface="Calibri" pitchFamily="34" charset="-120"/>
              </a:rPr>
              <a:t xml:space="preserve"> ngspice for the circuit, Vivado for the FPGA, start to finish.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The risk we already know.</a:t>
            </a:r>
            <a:r>
              <a:rPr lang="en-US" sz="1500" dirty="0">
                <a:solidFill>
                  <a:srgbClr val="000000"/>
                </a:solidFill>
                <a:latin typeface="Calibri" pitchFamily="34" charset="0"/>
                <a:ea typeface="Calibri" pitchFamily="34" charset="-122"/>
                <a:cs typeface="Calibri" pitchFamily="34" charset="-120"/>
              </a:rPr>
              <a:t xml:space="preserve"> Closing the loop changes where the converter actually operates, so the setting study has to be redone afterwards, not before. That ordering is the schedule risk.</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Where the work lives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github.com/Amritha902/gan-driver</a:t>
            </a:r>
            <a:r>
              <a:rPr lang="en-US" sz="1500" dirty="0">
                <a:solidFill>
                  <a:srgbClr val="000000"/>
                </a:solidFill>
                <a:latin typeface="Calibri" pitchFamily="34" charset="0"/>
                <a:ea typeface="Calibri" pitchFamily="34" charset="-122"/>
                <a:cs typeface="Calibri" pitchFamily="34" charset="-120"/>
              </a:rPr>
              <a:t xml:space="preserve"> — the circuits, the scripts, the Verilog and the Vivado reports.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Verilog modules that produce exactly the 720 settings the SPICE model uses.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is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fixed at power-up</a:t>
            </a:r>
            <a:r>
              <a:rPr lang="en-US" sz="1500" dirty="0">
                <a:solidFill>
                  <a:srgbClr val="000000"/>
                </a:solidFill>
                <a:latin typeface="Calibri" pitchFamily="34" charset="0"/>
                <a:ea typeface="Calibri" pitchFamily="34" charset="-122"/>
                <a:cs typeface="Calibri" pitchFamily="34" charset="-120"/>
              </a:rPr>
              <a:t xml:space="preserve"> — worth 5.45 % against 0.00 %.</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checks pass in Icarus Verilog, safe reset included. A deliberately broken version is caught 221 times (sh rtl/mutate.sh).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Built in Vivado 2024.1.2</a:t>
            </a:r>
            <a:r>
              <a:rPr lang="en-US" sz="1500" dirty="0">
                <a:solidFill>
                  <a:srgbClr val="000000"/>
                </a:solidFill>
                <a:latin typeface="Calibri" pitchFamily="34" charset="0"/>
                <a:ea typeface="Calibri" pitchFamily="34" charset="-122"/>
                <a:cs typeface="Calibri" pitchFamily="34" charset="-120"/>
              </a:rPr>
              <a:t xml:space="preserve"> on an xc7a35t FPGA: </a:t>
            </a:r>
            <a:r>
              <a:rPr lang="en-US" sz="1500" b="1" dirty="0">
                <a:solidFill>
                  <a:srgbClr val="000000"/>
                </a:solidFill>
                <a:latin typeface="Calibri" pitchFamily="34" charset="0"/>
                <a:ea typeface="Calibri" pitchFamily="34" charset="-122"/>
                <a:cs typeface="Calibri" pitchFamily="34" charset="-120"/>
              </a:rPr>
              <a:t xml:space="preserve">20 LUTs, 20 flip-flops</a:t>
            </a:r>
            <a:r>
              <a:rPr lang="en-US" sz="1500" dirty="0">
                <a:solidFill>
                  <a:srgbClr val="000000"/>
                </a:solidFill>
                <a:latin typeface="Calibri" pitchFamily="34" charset="0"/>
                <a:ea typeface="Calibri" pitchFamily="34" charset="-122"/>
                <a:cs typeface="Calibri" pitchFamily="34" charset="-120"/>
              </a:rPr>
              <a:t xml:space="preserve"> — 0.10 % of the chip. 200 MHz timing is </a:t>
            </a:r>
            <a:r>
              <a:rPr lang="en-US" sz="1500" b="1" dirty="0">
                <a:solidFill>
                  <a:srgbClr val="000000"/>
                </a:solidFill>
                <a:latin typeface="Calibri" pitchFamily="34" charset="0"/>
                <a:ea typeface="Calibri" pitchFamily="34" charset="-122"/>
                <a:cs typeface="Calibri" pitchFamily="34" charset="-120"/>
              </a:rPr>
              <a:t xml:space="preserve">met, with 1.996 ns to spare</a:t>
            </a:r>
            <a:r>
              <a:rPr lang="en-US" sz="1500" dirty="0">
                <a:solidFill>
                  <a:srgbClr val="000000"/>
                </a:solidFill>
                <a:latin typeface="Calibri" pitchFamily="34" charset="0"/>
                <a:ea typeface="Calibri" pitchFamily="34" charset="-122"/>
                <a:cs typeface="Calibri" pitchFamily="34" charset="-120"/>
              </a:rPr>
              <a:t xml:space="preserv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Timing is met where the logic runs. </a:t>
            </a:r>
            <a:r>
              <a:rPr lang="en-US" sz="1500" dirty="0">
                <a:solidFill>
                  <a:srgbClr val="000000"/>
                </a:solidFill>
                <a:latin typeface="Calibri" pitchFamily="34" charset="0"/>
                <a:ea typeface="Calibri" pitchFamily="34" charset="-122"/>
                <a:cs typeface="Calibri" pitchFamily="34" charset="-120"/>
              </a:rPr>
              <a:t xml:space="preserve">The paths that miss are chip-output paths, where the output pad alone takes 3.49 ns of a 4 ns budget — pad delay, not logic.</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b="1">
                <a:solidFill>
                  <a:srgbClr val="000000"/>
                </a:solidFill>
                <a:latin typeface="Calibri" pitchFamily="34" charset="0"/>
                <a:ea typeface="Calibri" pitchFamily="34" charset="-122"/>
                <a:cs typeface="Calibri" pitchFamily="34" charset="-120"/>
              </a:rPr>
              <a:t>@FIG@ </a:t>
            </a:r>
            <a:r>
              <a:rPr lang="en-US" sz="1000" dirty="0">
                <a:solidFill>
                  <a:srgbClr val="000000"/>
                </a:solidFill>
                <a:latin typeface="Calibri" pitchFamily="34" charset="0"/>
                <a:ea typeface="Calibri" pitchFamily="34" charset="-122"/>
                <a:cs typeface="Calibri" pitchFamily="34" charset="-120"/>
              </a:rPr>
              <a:t>Icarus Verilog VCD of seg_gate_ctrl.v. The pull-up banks never overlap; the shaded interval is the dead time.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 simulation and synthesis, on screen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vivado_simulation.png"/>
          <p:cNvPicPr>
            <a:picLocks noChangeAspect="1"/>
          </p:cNvPicPr>
          <p:nvPr/>
        </p:nvPicPr>
        <p:blipFill>
          <a:blip r:embed="rId5"/>
          <a:stretch>
            <a:fillRect/>
          </a:stretch>
        </p:blipFill>
        <p:spPr>
          <a:xfrm>
            <a:off x="502920" y="1417320"/>
            <a:ext cx="5532120" cy="3111818"/>
          </a:xfrm>
          <a:prstGeom prst="rect">
            <a:avLst/>
          </a:prstGeom>
        </p:spPr>
      </p:pic>
      <p:pic>
        <p:nvPicPr>
          <p:cNvPr id="6" name="Picture 5" descr="vivado_console.png"/>
          <p:cNvPicPr>
            <a:picLocks noChangeAspect="1"/>
          </p:cNvPicPr>
          <p:nvPr/>
        </p:nvPicPr>
        <p:blipFill>
          <a:blip r:embed="rId6"/>
          <a:stretch>
            <a:fillRect/>
          </a:stretch>
        </p:blipFill>
        <p:spPr>
          <a:xfrm>
            <a:off x="6263640" y="1417320"/>
            <a:ext cx="5532120" cy="3111818"/>
          </a:xfrm>
          <a:prstGeom prst="rect">
            <a:avLst/>
          </a:prstGeom>
        </p:spPr>
      </p:pic>
      <p:sp>
        <p:nvSpPr>
          <p:cNvPr id="7" name="TextBox 6"/>
          <p:cNvSpPr txBox="1"/>
          <p:nvPr/>
        </p:nvSpPr>
        <p:spPr>
          <a:xfrm>
            <a:off x="50292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Behavioural simulation. </a:t>
            </a:r>
            <a:r>
              <a:rPr lang="en-US" sz="1150" dirty="0">
                <a:solidFill>
                  <a:srgbClr val="000000"/>
                </a:solidFill>
                <a:latin typeface="Calibri" pitchFamily="34" charset="0"/>
                <a:ea typeface="Calibri" pitchFamily="34" charset="-122"/>
                <a:cs typeface="Calibri" pitchFamily="34" charset="-120"/>
              </a:rPr>
              <a:t xml:space="preserve">fails[31:0] = 0 — every asserted property holds in Vivado's own simulator, a third tool after Icarus and the mutation test.</a:t>
            </a:r>
          </a:p>
        </p:txBody>
      </p:sp>
      <p:sp>
        <p:nvSpPr>
          <p:cNvPr id="8" name="TextBox 7"/>
          <p:cNvSpPr txBox="1"/>
          <p:nvPr/>
        </p:nvSpPr>
        <p:spPr>
          <a:xfrm>
            <a:off x="626364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Synthesis console. </a:t>
            </a:r>
            <a:r>
              <a:rPr lang="en-US" sz="1150" dirty="0">
                <a:solidFill>
                  <a:srgbClr val="000000"/>
                </a:solidFill>
                <a:latin typeface="Calibri" pitchFamily="34" charset="0"/>
                <a:ea typeface="Calibri" pitchFamily="34" charset="-122"/>
                <a:cs typeface="Calibri" pitchFamily="34" charset="-120"/>
              </a:rPr>
              <a:t xml:space="preserve">33 LUTs programmable against 20 strapped — the cost of programmability, printed by the tool.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03</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found</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Choosing the setting well beats re-tuning it — and by how much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cases we ran, one at a time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ases.png"/>
          <p:cNvPicPr>
            <a:picLocks noChangeAspect="1"/>
          </p:cNvPicPr>
          <p:nvPr/>
        </p:nvPicPr>
        <p:blipFill>
          <a:blip r:embed="rId4"/>
          <a:stretch>
            <a:fillRect/>
          </a:stretch>
        </p:blipFill>
        <p:spPr>
          <a:xfrm>
            <a:off x="731367" y="1170432"/>
            <a:ext cx="10728960" cy="4389120"/>
          </a:xfrm>
          <a:prstGeom prst="rect">
            <a:avLst/>
          </a:prstGeom>
        </p:spPr>
      </p:pic>
      <p:sp>
        <p:nvSpPr>
          <p:cNvPr id="6" name="TextBox 5"/>
          <p:cNvSpPr txBox="1"/>
          <p:nvPr/>
        </p:nvSpPr>
        <p:spPr>
          <a:xfrm>
            <a:off x="502920" y="566928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a:t>
            </a:r>
            <a:r>
              <a:rPr lang="en-US" sz="1250" dirty="0">
                <a:solidFill>
                  <a:srgbClr val="000000"/>
                </a:solidFill>
                <a:latin typeface="Calibri" pitchFamily="34" charset="0"/>
                <a:ea typeface="Calibri" pitchFamily="34" charset="-122"/>
                <a:cs typeface="Calibri" pitchFamily="34" charset="-120"/>
              </a:rPr>
              <a:t>(a) five settings at 100 V / 10 A, one ngspice run each; (b) dead-time sweep at two operating points. Cheapest dead time: 15 ns at full load, 5 ns at light load.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Which tool did what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tools.png"/>
          <p:cNvPicPr>
            <a:picLocks noChangeAspect="1"/>
          </p:cNvPicPr>
          <p:nvPr/>
        </p:nvPicPr>
        <p:blipFill>
          <a:blip r:embed="rId4"/>
          <a:stretch>
            <a:fillRect/>
          </a:stretch>
        </p:blipFill>
        <p:spPr>
          <a:xfrm>
            <a:off x="1188795" y="1234440"/>
            <a:ext cx="9814106" cy="4297680"/>
          </a:xfrm>
          <a:prstGeom prst="rect">
            <a:avLst/>
          </a:prstGeom>
        </p:spPr>
      </p:pic>
      <p:sp>
        <p:nvSpPr>
          <p:cNvPr id="6" name="TextBox 5"/>
          <p:cNvSpPr txBox="1"/>
          <p:nvPr/>
        </p:nvSpPr>
        <p:spPr>
          <a:xfrm>
            <a:off x="502920" y="5724144"/>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Division of work between the two circuit simulators. All ≈ 35,000 transients are ngspice; LTspice provides an independent check of the crosstalk result.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1 — crosstalk is real; the clamp fixes it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1_crosstalk.png"/>
          <p:cNvPicPr>
            <a:picLocks noChangeAspect="1"/>
          </p:cNvPicPr>
          <p:nvPr/>
        </p:nvPicPr>
        <p:blipFill>
          <a:blip r:embed="rId4"/>
          <a:stretch>
            <a:fillRect/>
          </a:stretch>
        </p:blipFill>
        <p:spPr>
          <a:xfrm>
            <a:off x="640080" y="1325880"/>
            <a:ext cx="6675120" cy="4238315"/>
          </a:xfrm>
          <a:prstGeom prst="rect">
            <a:avLst/>
          </a:prstGeom>
        </p:spPr>
      </p:pic>
      <p:sp>
        <p:nvSpPr>
          <p:cNvPr id="6" name="TextBox 5"/>
          <p:cNvSpPr txBox="1"/>
          <p:nvPr/>
        </p:nvSpPr>
        <p:spPr>
          <a:xfrm>
            <a:off x="640080" y="5760720"/>
            <a:ext cx="6675120" cy="41148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Gate–source voltage of the off-state device at low-side turn-on, 100 V / 10 A. No clamp: +1.65 V against a 1.4 V threshold. Clamp and −2 V rail: −1.18 V, margin 2.576 V.</a:t>
            </a:r>
          </a:p>
        </p:txBody>
      </p:sp>
      <p:sp>
        <p:nvSpPr>
          <p:cNvPr id="7" name="TextBox 6"/>
          <p:cNvSpPr txBox="1"/>
          <p:nvPr/>
        </p:nvSpPr>
        <p:spPr>
          <a:xfrm>
            <a:off x="7635240" y="1325880"/>
            <a:ext cx="388620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problem is real, and reproduced</a:t>
            </a:r>
          </a:p>
        </p:txBody>
      </p:sp>
      <p:sp>
        <p:nvSpPr>
          <p:cNvPr id="8" name="TextBox 7"/>
          <p:cNvSpPr txBox="1"/>
          <p:nvPr/>
        </p:nvSpPr>
        <p:spPr>
          <a:xfrm>
            <a:off x="7635240" y="182880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1.65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peak on the gate that should be OFF</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threshold is 1.4 V — so it turns on by mistake</a:t>
            </a:r>
          </a:p>
        </p:txBody>
      </p:sp>
      <p:sp>
        <p:nvSpPr>
          <p:cNvPr id="9" name="TextBox 8"/>
          <p:cNvSpPr txBox="1"/>
          <p:nvPr/>
        </p:nvSpPr>
        <p:spPr>
          <a:xfrm>
            <a:off x="7635240" y="306324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2.58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margin with the clamp and the −2 V rail</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fault is removed completely</a:t>
            </a:r>
          </a:p>
        </p:txBody>
      </p:sp>
      <p:sp>
        <p:nvSpPr>
          <p:cNvPr id="10" name="TextBox 9"/>
          <p:cNvSpPr txBox="1"/>
          <p:nvPr/>
        </p:nvSpPr>
        <p:spPr>
          <a:xfrm>
            <a:off x="7635240" y="4343400"/>
            <a:ext cx="3886200" cy="1828800"/>
          </a:xfrm>
          <a:prstGeom prst="rect">
            <a:avLst/>
          </a:prstGeom>
          <a:noFill/>
        </p:spPr>
        <p:txBody>
          <a:bodyPr wrap="square" lIns="0" tIns="0" rIns="0" bIns="0">
            <a:spAutoFit/>
          </a:bodyPr>
          <a:lstStyle/>
          <a:p>
            <a:pPr marL="177800" indent="0">
              <a:spcAft>
                <a:spcPts val="200"/>
              </a:spcAft>
              <a:buSzPct val="100000"/>
              <a:buNone/>
            </a:pPr>
            <a:r>
              <a:rPr lang="en-US" sz="1500" b="1" dirty="0">
                <a:solidFill>
                  <a:srgbClr val="000000"/>
                </a:solidFill>
                <a:latin typeface="Calibri" pitchFamily="34" charset="0"/>
                <a:ea typeface="Calibri" pitchFamily="34" charset="-122"/>
                <a:cs typeface="Calibri" pitchFamily="34" charset="-120"/>
              </a:rPr>
              <a:t>And safety is nearly free</a:t>
            </a:r>
          </a:p>
          <a:p>
            <a:pPr marL="177800" indent="0">
              <a:spcAft>
                <a:spcPts val="200"/>
              </a:spcAft>
              <a:buSzPct val="100000"/>
              <a:buNone/>
            </a:pPr>
            <a:r>
              <a:rPr lang="en-US" sz="1300" dirty="0">
                <a:solidFill>
                  <a:srgbClr val="000000"/>
                </a:solidFill>
                <a:latin typeface="Calibri" pitchFamily="34" charset="0"/>
                <a:ea typeface="Calibri" pitchFamily="34" charset="-122"/>
                <a:cs typeface="Calibri" pitchFamily="34" charset="-120"/>
              </a:rPr>
              <a:t>The lowest-energy setting is already safe at three of the four operating points. At the fourth, safety costs 0.04 % more energy — 3.335 µJ against 3.334 µJ.</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The clamp is worth 9.7–12.2 % of the blended cost, with no sensor and no controller.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2 — the driver setting moves the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buck_tradeoff.png"/>
          <p:cNvPicPr>
            <a:picLocks noChangeAspect="1"/>
          </p:cNvPicPr>
          <p:nvPr/>
        </p:nvPicPr>
        <p:blipFill>
          <a:blip r:embed="rId4"/>
          <a:stretch>
            <a:fillRect/>
          </a:stretch>
        </p:blipFill>
        <p:spPr>
          <a:xfrm>
            <a:off x="666597" y="1188720"/>
            <a:ext cx="10858500" cy="4343400"/>
          </a:xfrm>
          <a:prstGeom prst="rect">
            <a:avLst/>
          </a:prstGeom>
        </p:spPr>
      </p:pic>
      <p:sp>
        <p:nvSpPr>
          <p:cNvPr id="6" name="TextBox 5"/>
          <p:cNvSpPr txBox="1"/>
          <p:nvPr/>
        </p:nvSpPr>
        <p:spPr>
          <a:xfrm>
            <a:off x="502920" y="566928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a:t>
            </a:r>
            <a:r>
              <a:rPr lang="en-US" sz="1250" dirty="0">
                <a:solidFill>
                  <a:srgbClr val="000000"/>
                </a:solidFill>
                <a:latin typeface="Calibri" pitchFamily="34" charset="0"/>
                <a:ea typeface="Calibri" pitchFamily="34" charset="-122"/>
                <a:cs typeface="Calibri" pitchFamily="34" charset="-120"/>
              </a:rPr>
              <a:t>Power lost and peak switch-node voltage against pull-up slice count, measured on the running converter. Eight runs of sim/buck.cir; minimum loss at four slices.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3 — re-tuning is worth only 5.2 %</a:t>
            </a:r>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paper_fig2_ceiling.png"/>
          <p:cNvPicPr>
            <a:picLocks noChangeAspect="1"/>
          </p:cNvPicPr>
          <p:nvPr/>
        </p:nvPicPr>
        <p:blipFill>
          <a:blip r:embed="rId2"/>
          <a:stretch>
            <a:fillRect/>
          </a:stretch>
        </p:blipFill>
        <p:spPr>
          <a:xfrm>
            <a:off x="640080" y="1417320"/>
            <a:ext cx="6035040" cy="3212290"/>
          </a:xfrm>
          <a:prstGeom prst="rect">
            <a:avLst/>
          </a:prstGeom>
        </p:spPr>
      </p:pic>
      <p:sp>
        <p:nvSpPr>
          <p:cNvPr id="6" name="TextBox 5"/>
          <p:cNvSpPr txBox="1"/>
          <p:nvPr/>
        </p:nvSpPr>
        <p:spPr>
          <a:xfrm>
            <a:off x="640080" y="4892040"/>
            <a:ext cx="6035040" cy="41148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Cost of one fixed control word against the true per-corner optimum, four operating points, 2,880 transients. Penalty 1.1 / 2.3 / 12.7 / 3.8 %.</a:t>
            </a:r>
          </a:p>
        </p:txBody>
      </p:sp>
      <p:sp>
        <p:nvSpPr>
          <p:cNvPr id="8" name="TextBox 7"/>
          <p:cNvSpPr txBox="1"/>
          <p:nvPr/>
        </p:nvSpPr>
        <p:spPr>
          <a:xfrm>
            <a:off x="6995160" y="1325880"/>
            <a:ext cx="452628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What re-tuning is actually worth</a:t>
            </a:r>
          </a:p>
        </p:txBody>
      </p:sp>
      <p:sp>
        <p:nvSpPr>
          <p:cNvPr id="9" name="TextBox 8"/>
          <p:cNvSpPr txBox="1"/>
          <p:nvPr/>
        </p:nvSpPr>
        <p:spPr>
          <a:xfrm>
            <a:off x="6995160" y="1828800"/>
            <a:ext cx="45262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5.2 %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the most that re-tuning can ever gain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against the best single fixed setting (= 3.9 % of baseline). One fixed setting is nearly as good.</a:t>
            </a:r>
          </a:p>
        </p:txBody>
      </p:sp>
      <p:sp>
        <p:nvSpPr>
          <p:cNvPr id="10" name="TextBox 9"/>
          <p:cNvSpPr txBox="1"/>
          <p:nvPr/>
        </p:nvSpPr>
        <p:spPr>
          <a:xfrm>
            <a:off x="6995160" y="3035808"/>
            <a:ext cx="4526280" cy="3401568"/>
          </a:xfrm>
          <a:prstGeom prst="rect">
            <a:avLst/>
          </a:prstGeom>
          <a:noFill/>
        </p:spPr>
        <p:txBody>
          <a:bodyPr wrap="square" lIns="0" tIns="0" rIns="0" bIns="0">
            <a:spAutoFit/>
          </a:bodyPr>
          <a:lstStyle/>
          <a:p>
            <a:pPr marL="177800" indent="0">
              <a:spcAft>
                <a:spcPts val="180"/>
              </a:spcAft>
              <a:buSzPct val="100000"/>
              <a:buNone/>
            </a:pPr>
            <a:r>
              <a:rPr lang="en-US" sz="1300" b="1" dirty="0">
                <a:solidFill>
                  <a:srgbClr val="000000"/>
                </a:solidFill>
                <a:latin typeface="Calibri" pitchFamily="34" charset="0"/>
                <a:ea typeface="Calibri" pitchFamily="34" charset="-122"/>
                <a:cs typeface="Calibri" pitchFamily="34" charset="-120"/>
              </a:rPr>
              <a:t>The benefit is not spread out. </a:t>
            </a:r>
            <a:r>
              <a:rPr lang="en-US" sz="1300" dirty="0">
                <a:solidFill>
                  <a:srgbClr val="000000"/>
                </a:solidFill>
                <a:latin typeface="Calibri" pitchFamily="34" charset="0"/>
                <a:ea typeface="Calibri" pitchFamily="34" charset="-122"/>
                <a:cs typeface="Calibri" pitchFamily="34" charset="-120"/>
              </a:rPr>
              <a:t>Three operating points lose only 1–4 % from a fixed setting; one loses 12.7 %.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5.2 % is the generous figure — on a finer 36-point grid it is 2.0 %.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It all comes from the dead time, and that from one operating point. Freezing the dead time costs 5.45 % across four points. Drop the light-load 50 V / 2 A point and it costs 0.00 %: three points want 5 ns, only that one wants 15 ns. So the adaptive hardware shrinks to one light-load detector choosing between two dead times. Freezing the drive strength costs 0.00 % — and that is what these papers actually adjust.</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Steady against the device, not the board. </a:t>
            </a:r>
            <a:r>
              <a:rPr lang="en-US" sz="1300" dirty="0">
                <a:solidFill>
                  <a:srgbClr val="000000"/>
                </a:solidFill>
                <a:latin typeface="Calibri" pitchFamily="34" charset="0"/>
                <a:ea typeface="Calibri" pitchFamily="34" charset="-122"/>
                <a:cs typeface="Calibri" pitchFamily="34" charset="-120"/>
              </a:rPr>
              <a:t>Across 21,600 runs no device parameter moves the answer outside 4.3–7.7 %. Halving the board inductance takes it to 13.5 %, and that is layout, not the transistor [3].</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4 — the two halves nobody separates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261872"/>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Segmented gate drivers set drive strength by a pattern fixed at design time [10]. Papers on active gate drivers report one number — the improvement over a conventional driver — and that number adds two separate effects together. Only the second needs a sensor, an ADC and a lookup table. Separating them means running every setting at every operating point.</a:t>
            </a:r>
          </a:p>
        </p:txBody>
      </p:sp>
      <p:sp>
        <p:nvSpPr>
          <p:cNvPr id="6" name="TextBox 5"/>
          <p:cNvSpPr txBox="1"/>
          <p:nvPr/>
        </p:nvSpPr>
        <p:spPr>
          <a:xfrm>
            <a:off x="640080" y="2212848"/>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(A)   Pick a better FIXED setting</a:t>
            </a:r>
          </a:p>
        </p:txBody>
      </p:sp>
      <p:sp>
        <p:nvSpPr>
          <p:cNvPr id="7" name="TextBox 6"/>
          <p:cNvSpPr txBox="1"/>
          <p:nvPr/>
        </p:nvSpPr>
        <p:spPr>
          <a:xfrm>
            <a:off x="6812280" y="2029967"/>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25.1 %</a:t>
            </a:r>
          </a:p>
        </p:txBody>
      </p:sp>
      <p:sp>
        <p:nvSpPr>
          <p:cNvPr id="8" name="TextBox 7"/>
          <p:cNvSpPr txBox="1"/>
          <p:nvPr/>
        </p:nvSpPr>
        <p:spPr>
          <a:xfrm>
            <a:off x="9006840" y="2249424"/>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no sensing · no LUT</a:t>
            </a:r>
          </a:p>
        </p:txBody>
      </p:sp>
      <p:sp>
        <p:nvSpPr>
          <p:cNvPr id="9" name="TextBox 8"/>
          <p:cNvSpPr txBox="1"/>
          <p:nvPr/>
        </p:nvSpPr>
        <p:spPr>
          <a:xfrm>
            <a:off x="640080" y="3236976"/>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CHANGE it per operating point</a:t>
            </a:r>
          </a:p>
        </p:txBody>
      </p:sp>
      <p:sp>
        <p:nvSpPr>
          <p:cNvPr id="10" name="TextBox 9"/>
          <p:cNvSpPr txBox="1"/>
          <p:nvPr/>
        </p:nvSpPr>
        <p:spPr>
          <a:xfrm>
            <a:off x="6812280" y="3054096"/>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3.9 %</a:t>
            </a:r>
          </a:p>
        </p:txBody>
      </p:sp>
      <p:sp>
        <p:nvSpPr>
          <p:cNvPr id="11" name="TextBox 10"/>
          <p:cNvSpPr txBox="1"/>
          <p:nvPr/>
        </p:nvSpPr>
        <p:spPr>
          <a:xfrm>
            <a:off x="9006840" y="3273552"/>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needs all of it</a:t>
            </a:r>
          </a:p>
        </p:txBody>
      </p:sp>
      <p:sp>
        <p:nvSpPr>
          <p:cNvPr id="12" name="TextBox 11"/>
          <p:cNvSpPr txBox="1"/>
          <p:nvPr/>
        </p:nvSpPr>
        <p:spPr>
          <a:xfrm>
            <a:off x="640080" y="4261104"/>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…but ONE comparator gets 46 % of (B)</a:t>
            </a:r>
          </a:p>
        </p:txBody>
      </p:sp>
      <p:sp>
        <p:nvSpPr>
          <p:cNvPr id="13" name="TextBox 12"/>
          <p:cNvSpPr txBox="1"/>
          <p:nvPr/>
        </p:nvSpPr>
        <p:spPr>
          <a:xfrm>
            <a:off x="6812280" y="4078224"/>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1.8 %</a:t>
            </a:r>
          </a:p>
        </p:txBody>
      </p:sp>
      <p:sp>
        <p:nvSpPr>
          <p:cNvPr id="14" name="TextBox 13"/>
          <p:cNvSpPr txBox="1"/>
          <p:nvPr/>
        </p:nvSpPr>
        <p:spPr>
          <a:xfrm>
            <a:off x="9006840" y="4297680"/>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a threshold, not a LUT</a:t>
            </a:r>
          </a:p>
        </p:txBody>
      </p:sp>
      <p:sp>
        <p:nvSpPr>
          <p:cNvPr id="15" name="TextBox 14"/>
          <p:cNvSpPr txBox="1"/>
          <p:nvPr/>
        </p:nvSpPr>
        <p:spPr>
          <a:xfrm>
            <a:off x="640080" y="5413248"/>
            <a:ext cx="11064240" cy="1005840"/>
          </a:xfrm>
          <a:prstGeom prst="rect">
            <a:avLst/>
          </a:prstGeom>
          <a:noFill/>
        </p:spPr>
        <p:txBody>
          <a:bodyPr wrap="square" lIns="0" tIns="0" rIns="0" bIns="0">
            <a:spAutoFit/>
          </a:bodyPr>
          <a:lstStyle/>
          <a:p>
            <a:pPr marL="177800" indent="0">
              <a:spcAft>
                <a:spcPts val="130"/>
              </a:spcAft>
              <a:buSzPct val="100000"/>
              <a:buNone/>
            </a:pPr>
            <a:r>
              <a:rPr lang="en-US" sz="1300" dirty="0" b="1">
                <a:solidFill>
                  <a:srgbClr val="000000"/>
                </a:solidFill>
                <a:latin typeface="Calibri" pitchFamily="34" charset="0"/>
                <a:ea typeface="Calibri" pitchFamily="34" charset="-122"/>
                <a:cs typeface="Calibri" pitchFamily="34" charset="-120"/>
              </a:rPr>
              <a:t>Adaptation is 13.4 % of the total gain — 3.9 points of 29.0; the other 86.6 % comes from the fixed word and needs no sensing. </a:t>
            </a:r>
            <a:r>
              <a:rPr lang="en-US" sz="1300" dirty="0">
                <a:solidFill>
                  <a:srgbClr val="000000"/>
                </a:solidFill>
                <a:latin typeface="Calibri" pitchFamily="34" charset="0"/>
                <a:ea typeface="Calibri" pitchFamily="34" charset="-122"/>
                <a:cs typeface="Calibri" pitchFamily="34" charset="-120"/>
              </a:rPr>
              <a:t>Full sensing, ADC and lookup table justify 7.2 % of the total gain over a fixed word plus ONE comparator (bus voltage at 75 V, which takes 46 % of the adaptive gap), or 3.7 % over a fixed word plus TWO. One threshold cannot do better: the corner worth isolating shares its bus, its load and its temperature with others. Split is weight-independent: across 106 overshoot weights (A) stays 23.4–29.0 % and (B) 1.3–6.4 %.</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5 — re-tuning only pays below ~2.5 nH</a:t>
            </a:r>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_lloop.png"/>
          <p:cNvPicPr>
            <a:picLocks noChangeAspect="1"/>
          </p:cNvPicPr>
          <p:nvPr/>
        </p:nvPicPr>
        <p:blipFill>
          <a:blip r:embed="rId4"/>
          <a:stretch>
            <a:fillRect/>
          </a:stretch>
        </p:blipFill>
        <p:spPr>
          <a:xfrm>
            <a:off x="1938528" y="1234440"/>
            <a:ext cx="8311896" cy="4478392"/>
          </a:xfrm>
          <a:prstGeom prst="rect">
            <a:avLst/>
          </a:prstGeom>
        </p:spPr>
      </p:pic>
      <p:sp>
        <p:nvSpPr>
          <p:cNvPr id="6" name="TextBox 5"/>
          <p:cNvSpPr txBox="1"/>
          <p:nvPr/>
        </p:nvSpPr>
        <p:spPr>
          <a:xfrm>
            <a:off x="640080" y="5815584"/>
            <a:ext cx="10881360" cy="640080"/>
          </a:xfrm>
          <a:prstGeom prst="rect">
            <a:avLst/>
          </a:prstGeom>
          <a:noFill/>
        </p:spPr>
        <p:txBody>
          <a:bodyPr wrap="square" lIns="0" tIns="0" rIns="0" bIns="0">
            <a:spAutoFit/>
          </a:bodyPr>
          <a:lstStyle/>
          <a:p>
            <a:pPr marL="177800" indent="0">
              <a:spcAft>
                <a:spcPts val="0"/>
              </a:spcAft>
              <a:buSzPct val="100000"/>
              <a:buNone/>
            </a:pPr>
            <a:r>
              <a:rPr lang="en-US" sz="1200" dirty="0" b="1">
                <a:solidFill>
                  <a:srgbClr val="000000"/>
                </a:solidFill>
                <a:latin typeface="Calibri" pitchFamily="34" charset="0"/>
                <a:ea typeface="Calibri" pitchFamily="34" charset="-122"/>
                <a:cs typeface="Calibri" pitchFamily="34" charset="-120"/>
              </a:rPr>
              <a:t>@FIG@ </a:t>
            </a:r>
            <a:r>
              <a:rPr lang="en-US" sz="1200" dirty="0">
                <a:solidFill>
                  <a:srgbClr val="000000"/>
                </a:solidFill>
                <a:latin typeface="Calibri" pitchFamily="34" charset="0"/>
                <a:ea typeface="Calibri" pitchFamily="34" charset="-122"/>
                <a:cs typeface="Calibri" pitchFamily="34" charset="-120"/>
              </a:rPr>
              <a:t>Ceiling on operating-point scheduling against power-loop inductance. Eight values, 7,200 transients. Scheduling pays only below about 2.5 nH.</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demo_crosstalk_explained.mp4">
            <a:hlinkClick r:id="" action="ppaction://media"/>
          </p:cNvPr>
          <p:cNvPicPr>
            <a:picLocks noChangeAspect="1"/>
          </p:cNvPicPr>
          <p:nvPr>
            <a:videoFile r:link="rId4"/>
            <p:extLst>
              <p:ext uri="{DAA4B4D4-6D71-4841-9C94-3DE7FCFB9230}">
                <p14:media xmlns:p14="http://schemas.microsoft.com/office/powerpoint/2010/main" r:embed="rId2"/>
              </p:ext>
            </p:extLst>
          </p:nvPr>
        </p:nvPicPr>
        <p:blipFill>
          <a:blip r:embed="rId5"/>
          <a:stretch>
            <a:fillRect/>
          </a:stretch>
        </p:blipFill>
        <p:spPr>
          <a:xfrm>
            <a:off x="640080" y="1417320"/>
            <a:ext cx="6949440" cy="4050791"/>
          </a:xfrm>
          <a:prstGeom prst="rect">
            <a:avLst/>
          </a:prstGeom>
        </p:spPr>
      </p:pic>
      <p:sp>
        <p:nvSpPr>
          <p:cNvPr id="6" name="TextBox 5"/>
          <p:cNvSpPr txBox="1"/>
          <p:nvPr/>
        </p:nvSpPr>
        <p:spPr>
          <a:xfrm>
            <a:off x="640080" y="5623560"/>
            <a:ext cx="6949440" cy="36576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ngspice waveforms from sim/dpt.cir, failing and shipped configurations. 22 s. Click to play.</a:t>
            </a:r>
          </a:p>
        </p:txBody>
      </p:sp>
      <p:sp>
        <p:nvSpPr>
          <p:cNvPr id="7" name="TextBox 6"/>
          <p:cNvSpPr txBox="1"/>
          <p:nvPr/>
        </p:nvSpPr>
        <p:spPr>
          <a:xfrm>
            <a:off x="7909560" y="1417320"/>
            <a:ext cx="3611880" cy="4206240"/>
          </a:xfrm>
          <a:prstGeom prst="rect">
            <a:avLst/>
          </a:prstGeom>
          <a:noFill/>
        </p:spPr>
        <p:txBody>
          <a:bodyPr wrap="square" lIns="0" tIns="0" rIns="0" bIns="0">
            <a:spAutoFit/>
          </a:bodyPr>
          <a:lstStyle/>
          <a:p>
            <a:pPr marL="177800" indent="0">
              <a:spcAft>
                <a:spcPts val="240"/>
              </a:spcAft>
              <a:buSzPct val="100000"/>
              <a:buNone/>
            </a:pPr>
            <a:r>
              <a:rPr lang="en-US" sz="1500" b="1" dirty="0">
                <a:solidFill>
                  <a:srgbClr val="000000"/>
                </a:solidFill>
                <a:latin typeface="Calibri" pitchFamily="34" charset="0"/>
                <a:ea typeface="Calibri" pitchFamily="34" charset="-122"/>
                <a:cs typeface="Calibri" pitchFamily="34" charset="-120"/>
              </a:rPr>
              <a:t>What it shows</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TOP row: the switch node. </a:t>
            </a:r>
            <a:r>
              <a:rPr lang="en-US" sz="1250" dirty="0">
                <a:solidFill>
                  <a:srgbClr val="000000"/>
                </a:solidFill>
                <a:latin typeface="Calibri" pitchFamily="34" charset="0"/>
                <a:ea typeface="Calibri" pitchFamily="34" charset="-122"/>
                <a:cs typeface="Calibri" pitchFamily="34" charset="-120"/>
              </a:rPr>
              <a:t>The low-side device turns on and the voltage collapses from 100 V in a few nanoseconds. That fast drop is the cause.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BOTTOM row: the gate of the OFF device. </a:t>
            </a:r>
            <a:r>
              <a:rPr lang="en-US" sz="1250" dirty="0">
                <a:solidFill>
                  <a:srgbClr val="000000"/>
                </a:solidFill>
                <a:latin typeface="Calibri" pitchFamily="34" charset="0"/>
                <a:ea typeface="Calibri" pitchFamily="34" charset="-122"/>
                <a:cs typeface="Calibri" pitchFamily="34" charset="-120"/>
              </a:rPr>
              <a:t>The fast drop pushes charge through C</a:t>
            </a:r>
            <a:r>
              <a:rPr lang="en-US" sz="1250" dirty="0">
                <a:solidFill>
                  <a:srgbClr val="000000"/>
                </a:solidFill>
                <a:latin typeface="Calibri" pitchFamily="34" charset="0"/>
                <a:ea typeface="Calibri" pitchFamily="34" charset="-122"/>
                <a:cs typeface="Calibri" pitchFamily="34" charset="-120"/>
              </a:rPr>
              <a:t>GD</a:t>
            </a:r>
            <a:r>
              <a:rPr lang="en-US" sz="1250" dirty="0">
                <a:solidFill>
                  <a:srgbClr val="000000"/>
                </a:solidFill>
                <a:latin typeface="Calibri" pitchFamily="34" charset="0"/>
                <a:ea typeface="Calibri" pitchFamily="34" charset="-122"/>
                <a:cs typeface="Calibri" pitchFamily="34" charset="-120"/>
              </a:rPr>
              <a:t> and lifts that gate.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LEFT, failing: </a:t>
            </a:r>
            <a:r>
              <a:rPr lang="en-US" sz="1250" dirty="0">
                <a:solidFill>
                  <a:srgbClr val="000000"/>
                </a:solidFill>
                <a:latin typeface="Calibri" pitchFamily="34" charset="0"/>
                <a:ea typeface="Calibri" pitchFamily="34" charset="-122"/>
                <a:cs typeface="Calibri" pitchFamily="34" charset="-120"/>
              </a:rPr>
              <a:t>the gate reaches +1.65 V, above the 1.4 V line drawn on the plot. The device turns on when it must not.</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RIGHT, shipped: </a:t>
            </a:r>
            <a:r>
              <a:rPr lang="en-US" sz="1250" dirty="0">
                <a:solidFill>
                  <a:srgbClr val="000000"/>
                </a:solidFill>
                <a:latin typeface="Calibri" pitchFamily="34" charset="0"/>
                <a:ea typeface="Calibri" pitchFamily="34" charset="-122"/>
                <a:cs typeface="Calibri" pitchFamily="34" charset="-120"/>
              </a:rPr>
              <a:t>same circuit, same setting, plus the gate clamp and −2 V rail. Peak −1.18 V, a 2.58 V margin.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Both panels are the same simulation; only the clamp and the off rail differ.</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 &amp; next steps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0">
              <a:spcAft>
                <a:spcPts val="200"/>
              </a:spcAft>
              <a:buSzPct val="100000"/>
              <a:buNone/>
            </a:pPr>
            <a:r>
              <a:rPr lang="en-US" sz="1600" b="1" dirty="0">
                <a:solidFill>
                  <a:srgbClr val="000000"/>
                </a:solidFill>
                <a:latin typeface="Calibri" pitchFamily="34" charset="0"/>
                <a:ea typeface="Calibri" pitchFamily="34" charset="-122"/>
                <a:cs typeface="Calibri" pitchFamily="34" charset="-120"/>
              </a:rPr>
              <a:t>What the data supports</a:t>
            </a:r>
          </a:p>
          <a:p>
            <a:pPr marL="177800" indent="0">
              <a:spcAft>
                <a:spcPts val="260"/>
              </a:spcAft>
              <a:buSzPct val="100000"/>
              <a:buNone/>
            </a:pPr>
            <a:r>
              <a:rPr lang="en-US" sz="1350" dirty="0">
                <a:solidFill>
                  <a:srgbClr val="000000"/>
                </a:solidFill>
                <a:latin typeface="Calibri" pitchFamily="34" charset="0"/>
                <a:ea typeface="Calibri" pitchFamily="34" charset="-122"/>
                <a:cs typeface="Calibri" pitchFamily="34" charset="-120"/>
              </a:rPr>
              <a:t>The converter works: 100 V DC in, 48.6 V DC out at 4.88 A — 236.9 W, 97.6 % efficient.</a:t>
            </a:r>
          </a:p>
          <a:p>
            <a:pPr marL="177800" indent="0">
              <a:spcAft>
                <a:spcPts val="200"/>
              </a:spcAft>
              <a:buSzPct val="100000"/>
              <a:buNone/>
            </a:pPr>
            <a:r>
              <a:rPr lang="en-US" sz="1700" dirty="0">
                <a:solidFill>
                  <a:srgbClr val="000000"/>
                </a:solidFill>
                <a:latin typeface="Calibri" pitchFamily="34" charset="0"/>
                <a:ea typeface="Calibri" pitchFamily="34" charset="-122"/>
                <a:cs typeface="Calibri" pitchFamily="34" charset="-120"/>
              </a:rPr>
              <a:t>Picking the setting well: 25.1 %.   Changing it per operating point: 3.9 %.</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One comparator — bus voltage at 75 V — gets 46 % of that 3.9 %; two comparators get 72 %.</a:t>
            </a:r>
          </a:p>
          <a:p>
            <a:pPr marL="177800" indent="-177800">
              <a:spcAft>
                <a:spcPts val="220"/>
              </a:spcAft>
              <a:buSzPct val="100000"/>
              <a:buChar char="•"/>
            </a:pPr>
            <a:r>
              <a:rPr lang="en-US" sz="1600" dirty="0" b="1">
                <a:solidFill>
                  <a:srgbClr val="000000"/>
                </a:solidFill>
                <a:latin typeface="Calibri" pitchFamily="34" charset="0"/>
                <a:ea typeface="Calibri" pitchFamily="34" charset="-122"/>
                <a:cs typeface="Calibri" pitchFamily="34" charset="-120"/>
              </a:rPr>
              <a:t>What to build: </a:t>
            </a:r>
            <a:r>
              <a:rPr lang="en-US" sz="1600" dirty="0">
                <a:solidFill>
                  <a:srgbClr val="000000"/>
                </a:solidFill>
                <a:latin typeface="Calibri" pitchFamily="34" charset="0"/>
                <a:ea typeface="Calibri" pitchFamily="34" charset="-122"/>
                <a:cs typeface="Calibri" pitchFamily="34" charset="-120"/>
              </a:rPr>
              <a:t>one fixed setting plus one bus-voltage comparator — not a sensor, an ADC and a lookup table.</a:t>
            </a:r>
          </a:p>
          <a:p>
            <a:pPr marL="177800" indent="-177800">
              <a:spcAft>
                <a:spcPts val="340"/>
              </a:spcAft>
              <a:buSzPct val="100000"/>
              <a:buChar char="•"/>
            </a:pPr>
            <a:r>
              <a:rPr lang="en-US" sz="1600" dirty="0">
                <a:solidFill>
                  <a:srgbClr val="000000"/>
                </a:solidFill>
                <a:latin typeface="Calibri" pitchFamily="34" charset="0"/>
                <a:ea typeface="Calibri" pitchFamily="34" charset="-122"/>
                <a:cs typeface="Calibri" pitchFamily="34" charset="-120"/>
              </a:rPr>
              <a:t>The FPGA half is real: 20 LUTs and 20 flip-flops, 200 MHz met with 1.996 ns to spare.</a:t>
            </a:r>
          </a:p>
          <a:p>
            <a:pPr marL="177800" indent="-177800">
              <a:spcAft>
                <a:spcPts val="340"/>
              </a:spcAft>
              <a:buSzPct val="100000"/>
              <a:buChar char="•"/>
            </a:pPr>
            <a:r>
              <a:rPr lang="en-US" sz="1600" dirty="0" b="1">
                <a:solidFill>
                  <a:srgbClr val="000000"/>
                </a:solidFill>
                <a:latin typeface="Calibri" pitchFamily="34" charset="0"/>
                <a:ea typeface="Calibri" pitchFamily="34" charset="-122"/>
                <a:cs typeface="Calibri" pitchFamily="34" charset="-120"/>
              </a:rPr>
              <a:t>What is next</a:t>
            </a:r>
          </a:p>
          <a:p>
            <a:pPr marL="177800" indent="0">
              <a:spcAft>
                <a:spcPts val="240"/>
              </a:spcAft>
              <a:buSzPct val="100000"/>
              <a:buNone/>
            </a:pPr>
            <a:r>
              <a:rPr lang="en-US" sz="1700" dirty="0">
                <a:solidFill>
                  <a:srgbClr val="000000"/>
                </a:solidFill>
                <a:latin typeface="Calibri" pitchFamily="34" charset="0"/>
                <a:ea typeface="Calibri" pitchFamily="34" charset="-122"/>
                <a:cs typeface="Calibri" pitchFamily="34" charset="-120"/>
              </a:rPr>
              <a:t>Review-II — close the loop on the converter, then re-run the setting study with it closed.</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Review-III — measure what a two-setting controller saves at the light-load point, where the best dead time differs.</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Every number in this deck is regenerated by a named script, in ngspice or in Vivado — 34,622 transient simulations across every study.</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(16–30)</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[16]  </a:t>
            </a:r>
            <a:r>
              <a:rPr lang="en-US" sz="900" dirty="0">
                <a:solidFill>
                  <a:srgbClr val="000000"/>
                </a:solidFill>
                <a:latin typeface="Calibri" pitchFamily="34" charset="0"/>
                <a:ea typeface="Calibri" pitchFamily="34" charset="-122"/>
                <a:cs typeface="Calibri" pitchFamily="34" charset="-120"/>
              </a:rPr>
              <a:t xml:space="preserve">Z. Yuan, H. Li, M. Zhang, Z. Yang, S. Zhao, H. Wang, X. Wang and L. Ding, “Influence of Negative Gate Bias on Crosstalk Spike in SiC MOSFETs Half-Bridge Circuit,” IEEE J. Emerg. Sel. Topics Power Electron., vol. 14, no. 3, pp. 3217–3229,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[17]  </a:t>
            </a:r>
            <a:r>
              <a:rPr lang="en-US" sz="900" dirty="0">
                <a:solidFill>
                  <a:srgbClr val="000000"/>
                </a:solidFill>
                <a:latin typeface="Calibri" pitchFamily="34" charset="0"/>
                <a:ea typeface="Calibri" pitchFamily="34" charset="-122"/>
                <a:cs typeface="Calibri" pitchFamily="34" charset="-120"/>
              </a:rPr>
              <a:t xml:space="preserve">L. Zhang, K. Wang, S. Guo and B. Zhu, “A Gate Driver for Crosstalk Suppression of eGaN HEMT Power Devices,” J. Low Power Electron. Appl., vol. 15, no. 3, pp. 38,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[18]  </a:t>
            </a:r>
            <a:r>
              <a:rPr lang="en-US" sz="900" dirty="0">
                <a:solidFill>
                  <a:srgbClr val="000000"/>
                </a:solidFill>
                <a:latin typeface="Calibri" pitchFamily="34" charset="0"/>
                <a:ea typeface="Calibri" pitchFamily="34" charset="-122"/>
                <a:cs typeface="Calibri" pitchFamily="34" charset="-120"/>
              </a:rPr>
              <a:t xml:space="preserve">J. Wu, “Parallel arrangement of MOSFETs, effective suppression of crosstalk: A new gate driver topology,” iEnergy, vol. 2, no. 3, pp. 163–163,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[19]  </a:t>
            </a:r>
            <a:r>
              <a:rPr lang="en-US" sz="900" dirty="0">
                <a:solidFill>
                  <a:srgbClr val="000000"/>
                </a:solidFill>
                <a:latin typeface="Calibri" pitchFamily="34" charset="0"/>
                <a:ea typeface="Calibri" pitchFamily="34" charset="-122"/>
                <a:cs typeface="Calibri" pitchFamily="34" charset="-120"/>
              </a:rPr>
              <a:t xml:space="preserve">Y. Mikhaylov, G. Buticchi and M. Galea, “A gate driver for parallel connected MOSFETs with crosstalk suppression,” iEnergy, vol. 2, no. 3, pp. 240–250,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[20]  </a:t>
            </a:r>
            <a:r>
              <a:rPr lang="en-US" sz="900" dirty="0">
                <a:solidFill>
                  <a:srgbClr val="000000"/>
                </a:solidFill>
                <a:latin typeface="Calibri" pitchFamily="34" charset="0"/>
                <a:ea typeface="Calibri" pitchFamily="34" charset="-122"/>
                <a:cs typeface="Calibri" pitchFamily="34" charset="-120"/>
              </a:rPr>
              <a:t xml:space="preserve">W. Liu and H. Min, “A Load Adaptive Active Gate Driver with Fast-Switching Three-Level Current Source for Overshoot Suppression in GaN-Based Half-Bridge Converters,” IEEE Trans. Power Electron., pp. 1–8,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[21]  </a:t>
            </a:r>
            <a:r>
              <a:rPr lang="en-US" sz="900" dirty="0">
                <a:solidFill>
                  <a:srgbClr val="000000"/>
                </a:solidFill>
                <a:latin typeface="Calibri" pitchFamily="34" charset="0"/>
                <a:ea typeface="Calibri" pitchFamily="34" charset="-122"/>
                <a:cs typeface="Calibri" pitchFamily="34" charset="-120"/>
              </a:rPr>
              <a:t xml:space="preserve">R. Chen, F. Wang, H. Bai and L.M. Tolbert, “A Simple Gate Driver Circuit for Turn-on Overvoltage Suppression of 10 kV SiC MOSFETs With Temporarily Lowering Gate Voltage During dv/dt,” IEEE Trans. Ind. Electron., pp. 1–6,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[22]  </a:t>
            </a:r>
            <a:r>
              <a:rPr lang="en-US" sz="900" dirty="0">
                <a:solidFill>
                  <a:srgbClr val="000000"/>
                </a:solidFill>
                <a:latin typeface="Calibri" pitchFamily="34" charset="0"/>
                <a:ea typeface="Calibri" pitchFamily="34" charset="-122"/>
                <a:cs typeface="Calibri" pitchFamily="34" charset="-120"/>
              </a:rPr>
              <a:t xml:space="preserve">D. Yu, M. Yang, L. Yin, K. Hu, W. Zhang and Q. Fu, “A Dual-Loop Active Gate Driver With Independent Voltage Slew Rate and Overshoot Control for Switching Loss Optimization of SiC MOSFETs,” IEEE Trans. Ind. Electron., pp. 1–12,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[23]  </a:t>
            </a:r>
            <a:r>
              <a:rPr lang="en-US" sz="900" dirty="0">
                <a:solidFill>
                  <a:srgbClr val="000000"/>
                </a:solidFill>
                <a:latin typeface="Calibri" pitchFamily="34" charset="0"/>
                <a:ea typeface="Calibri" pitchFamily="34" charset="-122"/>
                <a:cs typeface="Calibri" pitchFamily="34" charset="-120"/>
              </a:rPr>
              <a:t xml:space="preserve">P. Xiang, R. Hao, J. Cai and X. You, “An Active Gate Driver of SiC MOSFET Module Based on PCB Rogowski Coil for Optimizing Tradeoff Between Overshoot and Switching Loss,” IEEE Trans. Power Electron., vol. 38, no. 1, pp. 245–260,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[24]  </a:t>
            </a:r>
            <a:r>
              <a:rPr lang="en-US" sz="900" dirty="0">
                <a:solidFill>
                  <a:srgbClr val="000000"/>
                </a:solidFill>
                <a:latin typeface="Calibri" pitchFamily="34" charset="0"/>
                <a:ea typeface="Calibri" pitchFamily="34" charset="-122"/>
                <a:cs typeface="Calibri" pitchFamily="34" charset="-120"/>
              </a:rPr>
              <a:t xml:space="preserve">S. Fukunaga, H. Takayama and T. Hikihara, “Slew rate control of switching transient for SiC MOSFET in boost converter using digital active gate driver,” IET Power Electron., vol. 16, no. 3, pp. 472–482,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[25]  </a:t>
            </a:r>
            <a:r>
              <a:rPr lang="en-US" sz="900" dirty="0">
                <a:solidFill>
                  <a:srgbClr val="000000"/>
                </a:solidFill>
                <a:latin typeface="Calibri" pitchFamily="34" charset="0"/>
                <a:ea typeface="Calibri" pitchFamily="34" charset="-122"/>
                <a:cs typeface="Calibri" pitchFamily="34" charset="-120"/>
              </a:rPr>
              <a:t xml:space="preserve">C. Xu, P. Fu, X. Liao, Z. Zhu and L. Liu, “An Integrated Driver With Real-Time Predictive Dead-Time Optimization Technique for GaN-Based Synchronous Buck Converter,” IEEE J. Emerg. Sel. Topics Power Electron., vol. 13, no. 3, pp. 3173–3183,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[26]  </a:t>
            </a:r>
            <a:r>
              <a:rPr lang="en-US" sz="900" dirty="0">
                <a:solidFill>
                  <a:srgbClr val="000000"/>
                </a:solidFill>
                <a:latin typeface="Calibri" pitchFamily="34" charset="0"/>
                <a:ea typeface="Calibri" pitchFamily="34" charset="-122"/>
                <a:cs typeface="Calibri" pitchFamily="34" charset="-120"/>
              </a:rPr>
              <a:t xml:space="preserve">C. Chen, P. Chiu, Y. Chen, P. Wang and Y. Chang, “An Integrated Driver With Adaptive Dead-Time Control for GaN-Based Synchronous Buck Converter,” IEEE Trans. Circuits Syst. II, vol. 69, no. 2, pp. 539–543,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[27]  </a:t>
            </a:r>
            <a:r>
              <a:rPr lang="en-US" sz="900" dirty="0">
                <a:solidFill>
                  <a:srgbClr val="000000"/>
                </a:solidFill>
                <a:latin typeface="Calibri" pitchFamily="34" charset="0"/>
                <a:ea typeface="Calibri" pitchFamily="34" charset="-122"/>
                <a:cs typeface="Calibri" pitchFamily="34" charset="-120"/>
              </a:rPr>
              <a:t xml:space="preserve">J. Tan, Z. Zhou and G. Zou, “A Programmable Gate Driver Module-Based Multistage Voltage Regulation SiC MOSFET Switching Strategy,” Electronics, vol. 13, no. 22, pp. 4379,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[28]  </a:t>
            </a:r>
            <a:r>
              <a:rPr lang="en-US" sz="900" dirty="0">
                <a:solidFill>
                  <a:srgbClr val="000000"/>
                </a:solidFill>
                <a:latin typeface="Calibri" pitchFamily="34" charset="0"/>
                <a:ea typeface="Calibri" pitchFamily="34" charset="-122"/>
                <a:cs typeface="Calibri" pitchFamily="34" charset="-120"/>
              </a:rPr>
              <a:t xml:space="preserve">C. Chen, P. Wang, S. Li, Y. Chen and Y. Chang, “An Integrated Driver With Bang-Bang Dead-Time Control and Charge Sharing Bootstrap Circuit for GaN Synchronous Buck Converter,” IEEE Trans. Power Electron., vol. 37, no. 8, pp. 9503–9514,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[29]  </a:t>
            </a:r>
            <a:r>
              <a:rPr lang="en-US" sz="900" dirty="0">
                <a:solidFill>
                  <a:srgbClr val="000000"/>
                </a:solidFill>
                <a:latin typeface="Calibri" pitchFamily="34" charset="0"/>
                <a:ea typeface="Calibri" pitchFamily="34" charset="-122"/>
                <a:cs typeface="Calibri" pitchFamily="34" charset="-120"/>
              </a:rPr>
              <a:t xml:space="preserve">G.H. Thuc, M. Tsai, C. Chen, J. Fu, W. Wu and W. Lin, “A Current Source Gate Driver with Dual-Edge Adaptive Slew Rate for GaN Devices,” in Proc. 2026 IEEE Applied Power Electronics Conference and Exposition (APEC),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[30]  </a:t>
            </a:r>
            <a:r>
              <a:rPr lang="en-US" sz="900" dirty="0">
                <a:solidFill>
                  <a:srgbClr val="000000"/>
                </a:solidFill>
                <a:latin typeface="Calibri" pitchFamily="34" charset="0"/>
                <a:ea typeface="Calibri" pitchFamily="34" charset="-122"/>
                <a:cs typeface="Calibri" pitchFamily="34" charset="-120"/>
              </a:rPr>
              <a:t xml:space="preserve">G. Wu, Y. Huang, Y. Chen and C. Chen, “Closed-loop Slew Rate Control of Active Current Source Gate Driver with Digital Implementation for SiC MOSFET,” in Proc. 2025 IEEE Energy Conversion Conference Congress and Exposition (ECCE), 2025.</a:t>
            </a:r>
          </a:p>
          <a:p>
            <a:pPr marL="177800" indent="0">
              <a:spcAft>
                <a:spcPts val="160"/>
              </a:spcAft>
              <a:buSzPct val="100000"/>
              <a:buNone/>
            </a:pPr>
            <a:r>
              <a:rPr lang="en-US" sz="850" dirty="0">
                <a:solidFill>
                  <a:srgbClr val="000000"/>
                </a:solidFill>
                <a:latin typeface="Calibri" pitchFamily="34" charset="0"/>
                <a:ea typeface="Calibri" pitchFamily="34" charset="-122"/>
                <a:cs typeface="Calibri" pitchFamily="34" charset="-120"/>
              </a:rPr>
              <a:t xml:space="preserve">All 30 verified against the publisher record — authors, volume, issue and pages resolved through Crossref by DOI and title, not transcribed by hand.</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same result in LTspice, on the drawn circuit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ltspice_annotated.png"/>
          <p:cNvPicPr>
            <a:picLocks noChangeAspect="1"/>
          </p:cNvPicPr>
          <p:nvPr/>
        </p:nvPicPr>
        <p:blipFill>
          <a:blip r:embed="rId4"/>
          <a:stretch>
            <a:fillRect/>
          </a:stretch>
        </p:blipFill>
        <p:spPr>
          <a:xfrm>
            <a:off x="1957534" y="1170432"/>
            <a:ext cx="8276626" cy="4389120"/>
          </a:xfrm>
          <a:prstGeom prst="rect">
            <a:avLst/>
          </a:prstGeom>
        </p:spPr>
      </p:pic>
      <p:sp>
        <p:nvSpPr>
          <p:cNvPr id="6" name="TextBox 5"/>
          <p:cNvSpPr txBox="1"/>
          <p:nvPr/>
        </p:nvSpPr>
        <p:spPr>
          <a:xfrm>
            <a:off x="502920" y="5742432"/>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Switch node and off-state gate–source voltage, read from the LTspice .raw file. LTspice +1.647556 / −1.176857 V; ngspice +1.6486 / −1.1757 V on the same netlist.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Inside the segmented gate driver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segdrv_inside.png"/>
          <p:cNvPicPr>
            <a:picLocks noChangeAspect="1"/>
          </p:cNvPicPr>
          <p:nvPr/>
        </p:nvPicPr>
        <p:blipFill>
          <a:blip r:embed="rId4"/>
          <a:stretch>
            <a:fillRect/>
          </a:stretch>
        </p:blipFill>
        <p:spPr>
          <a:xfrm>
            <a:off x="2011762" y="1170432"/>
            <a:ext cx="816816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Contents of models/segdrv.lib, drawn as ltspice/SEGDRV_inside.asc: eight pull-up slices from the +5 V rail to the gate, eight pull-down slices to the off rail, and the Miller clamp on its own 0.5 Ω path. It runs — the gate charges to 5.000 V.</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we run ngspice</a:t>
            </a:r>
            <a:endParaRPr lang="en-US" sz="2800" dirty="0"/>
          </a:p>
        </p:txBody>
      </p:sp>
      <p:pic>
        <p:nvPicPr>
          <p:cNvPr id="5" name="Picture 4" descr="fig_howrun.png"/>
          <p:cNvPicPr>
            <a:picLocks noChangeAspect="1"/>
          </p:cNvPicPr>
          <p:nvPr/>
        </p:nvPicPr>
        <p:blipFill>
          <a:blip r:embed="rId4"/>
          <a:stretch>
            <a:fillRect/>
          </a:stretch>
        </p:blipFill>
        <p:spPr>
          <a:xfrm>
            <a:off x="1688439" y="1170432"/>
            <a:ext cx="881481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 — </a:t>
            </a:r>
            <a:r>
              <a:rPr lang="en-US" sz="1150" dirty="0">
                <a:solidFill>
                  <a:srgbClr val="000000"/>
                </a:solidFill>
                <a:latin typeface="Calibri" pitchFamily="34" charset="0"/>
                <a:ea typeface="Calibri" pitchFamily="34" charset="-122"/>
                <a:cs typeface="Calibri" pitchFamily="34" charset="-120"/>
              </a:rPr>
              <a:t xml:space="preserve">One case end to end: the parameters set into sim/dpt.cir, the command, what the simulator wrote, and the window the measurement is taken over. Full load, 100 V / 10 A, no clamp: +1.6486 V against a 1.4 V threshold.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ngspice runs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netlis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Power stage of sim/buck.cir. ngspice reads the circuit as a netlist, not a schematic; it is the same converter the schematic draws. ngspice 48.56 V, LTspice 48.84 V.</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the work was run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method.png"/>
          <p:cNvPicPr>
            <a:picLocks noChangeAspect="1"/>
          </p:cNvPicPr>
          <p:nvPr/>
        </p:nvPicPr>
        <p:blipFill>
          <a:blip r:embed="rId4"/>
          <a:stretch>
            <a:fillRect/>
          </a:stretch>
        </p:blipFill>
        <p:spPr>
          <a:xfrm>
            <a:off x="1481776" y="1170432"/>
            <a:ext cx="9228143"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Method, in the order carried out. Steps 1–3 on one switching edge; steps 4–6 the study built on it.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a GaN HEMT 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gan_1.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Silicon MOSFET against GaN HEMT on the properties that govern switching. Device modelled: EPC2010C class, 200 V, 25 mΩ, Vth = 1.4 V (models/egan.lib).</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GaN and not silicon — measured, same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si_vs_gan.png"/>
          <p:cNvPicPr>
            <a:picLocks noChangeAspect="1"/>
          </p:cNvPicPr>
          <p:nvPr/>
        </p:nvPicPr>
        <p:blipFill>
          <a:blip r:embed="rId4"/>
          <a:stretch>
            <a:fillRect/>
          </a:stretch>
        </p:blipFill>
        <p:spPr>
          <a:xfrm>
            <a:off x="426567" y="1170432"/>
            <a:ext cx="11338559" cy="3927736"/>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Same buck converter, same job, only the device swapped. Rₓₛ(on) matched 25.0 mΩ GaN against 24.0 mΩ Si, each at its own rated gate drive, so conduction loss is equal by construction and what is left is switching, gate drive and the body-diode recovery GaN does not have. At 500 kHz GaN wastes 5.9 W against silicon's 17.3 W; the lead widens to 78 % at 1 MHz and 90 % at light load (scripts/si_vs_gan_sweep.py).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the GaN HEMT causes the problem we solve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gan_2.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Three device properties and their consequence in a half-bridge: a 1.4 V threshold, 150 pF from drain to gate, and no body diode.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driver's settings, and where 720 comes from</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settings.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The six fields of the control word and the values swept over each. 6 × 2 × 3 × 5 × 2 × 2 = 720 settings, × 4 operating points = 2,880 transients.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input — what an operating point 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in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The four corners every setting is evaluated at: bus voltage, load current and junction temperature.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output — what is actually measured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out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Converter-level output, and the eight quantities extracted from every transient. Definitions fixed in scripts/gansim.py before the sweeps ran.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margin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margin.png"/>
          <p:cNvPicPr>
            <a:picLocks noChangeAspect="1"/>
          </p:cNvPicPr>
          <p:nvPr/>
        </p:nvPicPr>
        <p:blipFill>
          <a:blip r:embed="rId4"/>
          <a:stretch>
            <a:fillRect/>
          </a:stretch>
        </p:blipFill>
        <p:spPr>
          <a:xfrm>
            <a:off x="1686402" y="1170432"/>
            <a:ext cx="881888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Peak gate–source voltage on the off-state device against the 1.4 V threshold, three configurations. Margin is the threshold minus the peak; negative is a false turn-on.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Circuit simulation — the converter</a:t>
            </a:r>
            <a:endParaRPr lang="en-US" sz="2800" dirty="0"/>
          </a:p>
        </p:txBody>
      </p:sp>
      <p:pic>
        <p:nvPicPr>
          <p:cNvPr id="5" name="Picture 4" descr="17-converter-power.png"/>
          <p:cNvPicPr>
            <a:picLocks noChangeAspect="1"/>
          </p:cNvPicPr>
          <p:nvPr/>
        </p:nvPicPr>
        <p:blipFill>
          <a:blip r:embed="rId4"/>
          <a:stretch>
            <a:fillRect/>
          </a:stretch>
        </p:blipFill>
        <p:spPr>
          <a:xfrm>
            <a:off x="426567" y="1188720"/>
            <a:ext cx="11338558" cy="371810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dirty="0">
                <a:solidFill>
                  <a:srgbClr val="000000"/>
                </a:solidFill>
                <a:latin typeface="Calibri" pitchFamily="34" charset="0"/>
                <a:ea typeface="Calibri" pitchFamily="34" charset="-122"/>
                <a:cs typeface="Calibri" pitchFamily="34" charset="-120"/>
              </a:rPr>
              <a:t xml:space="preserve">scripts/bucksim.py driving ngspice over sim/buck.cir. 100.0 V and 2.426 A in, 48.56 V and 4.875 A out: 242.63 W drawn, 236.85 W delivered, 97.62 % efficient.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simulation — the fault, and the fix</a:t>
            </a:r>
            <a:endParaRPr lang="en-US" sz="2800" dirty="0"/>
          </a:p>
        </p:txBody>
      </p:sp>
      <p:pic>
        <p:nvPicPr>
          <p:cNvPr id="5" name="Picture 4" descr="01-ngspice-crosstalk.png"/>
          <p:cNvPicPr>
            <a:picLocks noChangeAspect="1"/>
          </p:cNvPicPr>
          <p:nvPr/>
        </p:nvPicPr>
        <p:blipFill>
          <a:blip r:embed="rId4"/>
          <a:stretch>
            <a:fillRect/>
          </a:stretch>
        </p:blipFill>
        <p:spPr>
          <a:xfrm>
            <a:off x="426567" y="1188720"/>
            <a:ext cx="11338559" cy="376062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7 — </a:t>
            </a:r>
            <a:r>
              <a:rPr lang="en-US" sz="1150" dirty="0">
                <a:solidFill>
                  <a:srgbClr val="000000"/>
                </a:solidFill>
                <a:latin typeface="Calibri" pitchFamily="34" charset="0"/>
                <a:ea typeface="Calibri" pitchFamily="34" charset="-122"/>
                <a:cs typeface="Calibri" pitchFamily="34" charset="-120"/>
              </a:rPr>
              <a:t xml:space="preserve">Two runs of sim/dpt.cir. Fastest drive, no clamp, 0 V rail: gate reaches +1.6486 V against a 1.400 V threshold, false_turn_on = 1. Clamp on with −2 V rail: −1.1757 V, margin +2.5757 V, false_turn_on = 0.</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Driver simulation — the segmented driver, case by case</a:t>
            </a:r>
            <a:endParaRPr lang="en-US" sz="2800" dirty="0"/>
          </a:p>
        </p:txBody>
      </p:sp>
      <p:pic>
        <p:nvPicPr>
          <p:cNvPr id="5" name="Picture 4" descr="18-named-cases.png"/>
          <p:cNvPicPr>
            <a:picLocks noChangeAspect="1"/>
          </p:cNvPicPr>
          <p:nvPr/>
        </p:nvPicPr>
        <p:blipFill>
          <a:blip r:embed="rId4"/>
          <a:stretch>
            <a:fillRect/>
          </a:stretch>
        </p:blipFill>
        <p:spPr>
          <a:xfrm>
            <a:off x="2717767" y="1188720"/>
            <a:ext cx="675616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8 — </a:t>
            </a:r>
            <a:r>
              <a:rPr lang="en-US" sz="1150" dirty="0">
                <a:solidFill>
                  <a:srgbClr val="000000"/>
                </a:solidFill>
                <a:latin typeface="Calibri" pitchFamily="34" charset="0"/>
                <a:ea typeface="Calibri" pitchFamily="34" charset="-122"/>
                <a:cs typeface="Calibri" pitchFamily="34" charset="-120"/>
              </a:rPr>
              <a:t xml:space="preserve">scripts/cases.py, 13 runs. Part 1: the fix built one change at a time at 100 V / 10 A. Part 2: dead-time sweep at two operating points — cheapest is 15 ns at full load, 5 ns at light load.</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what re-tuning is worth</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12-result2-ceiling.png"/>
          <p:cNvPicPr>
            <a:picLocks noChangeAspect="1"/>
          </p:cNvPicPr>
          <p:nvPr/>
        </p:nvPicPr>
        <p:blipFill>
          <a:blip r:embed="rId4"/>
          <a:stretch>
            <a:fillRect/>
          </a:stretch>
        </p:blipFill>
        <p:spPr>
          <a:xfrm>
            <a:off x="426567" y="1188720"/>
            <a:ext cx="11338557" cy="3576370"/>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scripts/ceiling.py over results/full_corners.csv. 474 of 720 words feasible at all four corners. Ceiling on scheduling 5.2 %; per-corner penalty 1.1 / 2.3 / 12.7 / 3.8 %.</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the split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13-result3-split.png"/>
          <p:cNvPicPr>
            <a:picLocks noChangeAspect="1"/>
          </p:cNvPicPr>
          <p:nvPr/>
        </p:nvPicPr>
        <p:blipFill>
          <a:blip r:embed="rId4"/>
          <a:stretch>
            <a:fillRect/>
          </a:stretch>
        </p:blipFill>
        <p:spPr>
          <a:xfrm>
            <a:off x="888114" y="1188720"/>
            <a:ext cx="10415465"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scripts/novelty.py. Choosing a fixed word (A) 25.1 %; adapting per operating point (B) 3.9 %; B is 13.4 % of the gain. Across 106 overshoot weights (A) stays 23.4–29.0 %, (B) 1.3–6.4 %.</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Icarus Verilog output — the controller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03-verilog-8-properties.png"/>
          <p:cNvPicPr>
            <a:picLocks noChangeAspect="1"/>
          </p:cNvPicPr>
          <p:nvPr/>
        </p:nvPicPr>
        <p:blipFill>
          <a:blip r:embed="rId4"/>
          <a:stretch>
            <a:fillRect/>
          </a:stretch>
        </p:blipFill>
        <p:spPr>
          <a:xfrm>
            <a:off x="789329" y="1188720"/>
            <a:ext cx="10613036"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iverilog and vvp over rtl/seg_gate_ctrl.v and its testbench. Eight asserted properties, 591 individual assertions, 0 failures.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output — synthesis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image.png"/>
          <p:cNvPicPr>
            <a:picLocks noChangeAspect="1"/>
          </p:cNvPicPr>
          <p:nvPr/>
        </p:nvPicPr>
        <p:blipFill>
          <a:blip r:embed="rId4"/>
          <a:stretch>
            <a:fillRect/>
          </a:stretch>
        </p:blipFill>
        <p:spPr>
          <a:xfrm>
            <a:off x="2259431" y="1188720"/>
            <a:ext cx="7672832"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Vivado 2024.1.2 on xc7a35t. 20 LUTs and 20 flip-flops strapped, 33 LUTs fully programmable; 200 MHz register-to-register met with 1.996 ns slack.</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 — ngspice and LTspice, running</a:t>
            </a:r>
            <a:endParaRPr lang="en-US" sz="2800" dirty="0"/>
          </a:p>
        </p:txBody>
      </p:sp>
      <p:sp>
        <p:nvSpPr>
          <p:cNvPr id="5" name="TextBox 4"/>
          <p:cNvSpPr txBox="1"/>
          <p:nvPr/>
        </p:nvSpPr>
        <p:spPr>
          <a:xfrm>
            <a:off x="502920" y="565099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5 — </a:t>
            </a:r>
            <a:r>
              <a:rPr lang="en-US" sz="1150" dirty="0">
                <a:solidFill>
                  <a:srgbClr val="000000"/>
                </a:solidFill>
                <a:latin typeface="Calibri" pitchFamily="34" charset="0"/>
                <a:ea typeface="Calibri" pitchFamily="34" charset="-122"/>
                <a:cs typeface="Calibri" pitchFamily="34" charset="-120"/>
              </a:rPr>
              <a:t xml:space="preserve">Demo recording: the converter in ngspice, the crosstalk fault and its fix, the named cases, the Verilog controller, and LTspice running the schematic. 2 min. Click to play.</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Thank you</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2103120"/>
            <a:ext cx="10881360" cy="2926080"/>
          </a:xfrm>
          <a:prstGeom prst="rect">
            <a:avLst/>
          </a:prstGeom>
          <a:noFill/>
        </p:spPr>
        <p:txBody>
          <a:bodyPr wrap="square" lIns="0" tIns="0" rIns="0" bIns="0">
            <a:spAutoFit/>
          </a:bodyPr>
          <a:lstStyle/>
          <a:p>
            <a:pPr marL="177800" indent="0">
              <a:spcAft>
                <a:spcPts val="400"/>
              </a:spcAft>
              <a:buSzPct val="100000"/>
              <a:buNone/>
            </a:pPr>
            <a:r>
              <a:rPr lang="en-US" sz="2600" b="1" dirty="0">
                <a:solidFill>
                  <a:srgbClr val="000000"/>
                </a:solidFill>
                <a:latin typeface="Calibri" pitchFamily="34" charset="0"/>
                <a:ea typeface="Calibri" pitchFamily="34" charset="-122"/>
                <a:cs typeface="Calibri" pitchFamily="34" charset="-120"/>
              </a:rPr>
              <a:t xml:space="preserve">GaN Based Synchronous Buck Converter with an Improved Gate Driver</a:t>
            </a:r>
          </a:p>
          <a:p>
            <a:pPr marL="177800" indent="0">
              <a:spcAft>
                <a:spcPts val="240"/>
              </a:spcAft>
              <a:buSzPct val="100000"/>
              <a:buNone/>
            </a:pPr>
            <a:r>
              <a:rPr lang="en-US" sz="1500" dirty="0">
                <a:solidFill>
                  <a:srgbClr val="000000"/>
                </a:solidFill>
                <a:latin typeface="Calibri" pitchFamily="34" charset="0"/>
                <a:ea typeface="Calibri" pitchFamily="34" charset="-122"/>
                <a:cs typeface="Calibri" pitchFamily="34" charset="-120"/>
              </a:rPr>
              <a:t xml:space="preserve">Amritha S  23BEC1368     ·     Sanjay Kumar  23BEC1447     ·     Aamir Abdullah  23BPS1197</a:t>
            </a:r>
          </a:p>
          <a:p>
            <a:pPr marL="177800" indent="0">
              <a:spcAft>
                <a:spcPts val="400"/>
              </a:spcAft>
              <a:buSzPct val="100000"/>
              <a:buNone/>
            </a:pPr>
            <a:r>
              <a:rPr lang="en-US" sz="1500" dirty="0">
                <a:solidFill>
                  <a:srgbClr val="000000"/>
                </a:solidFill>
                <a:latin typeface="Calibri" pitchFamily="34" charset="0"/>
                <a:ea typeface="Calibri" pitchFamily="34" charset="-122"/>
                <a:cs typeface="Calibri" pitchFamily="34" charset="-120"/>
              </a:rPr>
              <a:t xml:space="preserve">Guide: Dr. Bindu  —  SENSE, VIT Chennai</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Everything in this deck runs on request: </a:t>
            </a:r>
            <a:r>
              <a:rPr lang="en-US" sz="1400" b="1" dirty="0">
                <a:solidFill>
                  <a:srgbClr val="000000"/>
                </a:solidFill>
                <a:latin typeface="Calibri" pitchFamily="34" charset="0"/>
                <a:ea typeface="Calibri" pitchFamily="34" charset="-122"/>
                <a:cs typeface="Calibri" pitchFamily="34" charset="-120"/>
              </a:rPr>
              <a:t xml:space="preserve">github.com/Amritha902/gan-driver</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goal, and whether this serves it</a:t>
            </a:r>
            <a:endParaRPr lang="en-US" sz="2800" dirty="0"/>
          </a:p>
        </p:txBody>
      </p:sp>
      <p:sp>
        <p:nvSpPr>
          <p:cNvPr id="5" name="TextBox 4"/>
          <p:cNvSpPr txBox="1"/>
          <p:nvPr/>
        </p:nvSpPr>
        <p:spPr>
          <a:xfrm>
            <a:off x="640080" y="1143000"/>
            <a:ext cx="11064240" cy="960120"/>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THE GOAL.  </a:t>
            </a:r>
            <a:r>
              <a:rPr lang="en-US" sz="1350" dirty="0">
                <a:solidFill>
                  <a:srgbClr val="000000"/>
                </a:solidFill>
                <a:latin typeface="Calibri" pitchFamily="34" charset="0"/>
                <a:ea typeface="Calibri" pitchFamily="34" charset="-122"/>
                <a:cs typeface="Calibri" pitchFamily="34" charset="-120"/>
              </a:rPr>
              <a:t xml:space="preserve">Build a synchronous buck converter for an energy-storage system out of GaN HEMTs, and make it work at the switching speed GaN is bought for. Everything else in this deck exists to serve that sentence.</a:t>
            </a:r>
          </a:p>
        </p:txBody>
      </p:sp>
      <p:sp>
        <p:nvSpPr>
          <p:cNvPr id="6" name="TextBox 5"/>
          <p:cNvSpPr txBox="1"/>
          <p:nvPr/>
        </p:nvSpPr>
        <p:spPr>
          <a:xfrm>
            <a:off x="64008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1.  Why GaN at all</a:t>
            </a:r>
          </a:p>
        </p:txBody>
      </p:sp>
      <p:sp>
        <p:nvSpPr>
          <p:cNvPr id="7" name="TextBox 6"/>
          <p:cNvSpPr txBox="1"/>
          <p:nvPr/>
        </p:nvSpPr>
        <p:spPr>
          <a:xfrm>
            <a:off x="64008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Same converter, same job, only the device swapped. At 500 kHz GaN wastes 5.9 W against silicon's 17.3 W. The lead widens to 78 % at 1 MHz and 90 % at light load, and never turns back.</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Raising the frequency to shrink the magnetics is nearly free on GaN and ruinous on silicon.</a:t>
            </a:r>
          </a:p>
        </p:txBody>
      </p:sp>
      <p:sp>
        <p:nvSpPr>
          <p:cNvPr id="8" name="TextBox 7"/>
          <p:cNvSpPr txBox="1"/>
          <p:nvPr/>
        </p:nvSpPr>
        <p:spPr>
          <a:xfrm>
            <a:off x="438912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2.  What GaN costs you</a:t>
            </a:r>
          </a:p>
        </p:txBody>
      </p:sp>
      <p:sp>
        <p:nvSpPr>
          <p:cNvPr id="9" name="TextBox 8"/>
          <p:cNvSpPr txBox="1"/>
          <p:nvPr/>
        </p:nvSpPr>
        <p:spPr>
          <a:xfrm>
            <a:off x="438912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The same speed that wins is what breaks it. A 1.4 V threshold and 150 pF of drain-to-gate capacitance mean the device that is supposed to be OFF gets pushed toward ON by its partner switching.</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Measured: the off gate reaches 1.65 V against a 1.4 V threshold. That is a shoot-through.</a:t>
            </a:r>
          </a:p>
        </p:txBody>
      </p:sp>
      <p:sp>
        <p:nvSpPr>
          <p:cNvPr id="10" name="TextBox 9"/>
          <p:cNvSpPr txBox="1"/>
          <p:nvPr/>
        </p:nvSpPr>
        <p:spPr>
          <a:xfrm>
            <a:off x="8138160" y="2148840"/>
            <a:ext cx="356616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3.  What we build about it</a:t>
            </a:r>
          </a:p>
        </p:txBody>
      </p:sp>
      <p:sp>
        <p:nvSpPr>
          <p:cNvPr id="11" name="TextBox 10"/>
          <p:cNvSpPr txBox="1"/>
          <p:nvPr/>
        </p:nvSpPr>
        <p:spPr>
          <a:xfrm>
            <a:off x="8138160" y="2542032"/>
            <a:ext cx="356616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A segmented gate driver: 8 pull-up steps, 8 pull-down steps, an adjustable dead time, a Miller clamp and a −2 V off rail — driven by an FPGA, so every one of them is a setting that can be changed and measured.</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Result: −0.249 V of margin becomes +2.576 V.</a:t>
            </a:r>
          </a:p>
        </p:txBody>
      </p:sp>
      <p:sp>
        <p:nvSpPr>
          <p:cNvPr id="12" name="TextBox 11"/>
          <p:cNvSpPr txBox="1"/>
          <p:nvPr/>
        </p:nvSpPr>
        <p:spPr>
          <a:xfrm>
            <a:off x="640080" y="4498848"/>
            <a:ext cx="11064240" cy="1737360"/>
          </a:xfrm>
          <a:prstGeom prst="rect">
            <a:avLst/>
          </a:prstGeom>
          <a:noFill/>
        </p:spPr>
        <p:txBody>
          <a:bodyPr wrap="square" lIns="0" tIns="0" rIns="0" bIns="0">
            <a:spAutoFit/>
          </a:bodyPr>
          <a:lstStyle/>
          <a:p>
            <a:pPr marL="177800" indent="0">
              <a:spcAft>
                <a:spcPts val="180"/>
              </a:spcAft>
              <a:buSzPct val="100000"/>
              <a:buNone/>
            </a:pPr>
            <a:r>
              <a:rPr lang="en-US" sz="1250" b="1" dirty="0">
                <a:solidFill>
                  <a:srgbClr val="000000"/>
                </a:solidFill>
                <a:latin typeface="Calibri" pitchFamily="34" charset="0"/>
                <a:ea typeface="Calibri" pitchFamily="34" charset="-122"/>
                <a:cs typeface="Calibri" pitchFamily="34" charset="-120"/>
              </a:rPr>
              <a:t xml:space="preserve">SO THE TEST OF PURPOSE IS NOT “does the converter run”.  </a:t>
            </a:r>
            <a:r>
              <a:rPr lang="en-US" sz="1250" dirty="0">
                <a:solidFill>
                  <a:srgbClr val="000000"/>
                </a:solidFill>
                <a:latin typeface="Calibri" pitchFamily="34" charset="0"/>
                <a:ea typeface="Calibri" pitchFamily="34" charset="-122"/>
                <a:cs typeface="Calibri" pitchFamily="34" charset="-120"/>
              </a:rPr>
              <a:t xml:space="preserve">It runs — 100 V in, 48.6 V out at 4.88 A, 97.6 % efficient. Any textbook buck converter runs. The test is whether the architecture we put around it answers the questions the published work on these drivers leaves open, because that is the only part of this that is ours.</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next slide is that question, gap by gap, with the evidence for each.</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architecture close the gaps?</a:t>
            </a:r>
            <a:endParaRPr lang="en-US" sz="2800" dirty="0"/>
          </a:p>
        </p:txBody>
      </p:sp>
      <p:sp>
        <p:nvSpPr>
          <p:cNvPr id="5" name="TextBox 4"/>
          <p:cNvSpPr txBox="1"/>
          <p:nvPr/>
        </p:nvSpPr>
        <p:spPr>
          <a:xfrm>
            <a:off x="640080" y="1115568"/>
            <a:ext cx="1106424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Six gaps in the published work, what our architecture does about each, and the evidence. Every row names the script that produces it.</a:t>
            </a:r>
          </a:p>
        </p:txBody>
      </p:sp>
      <p:graphicFrame>
        <p:nvGraphicFramePr>
          <p:cNvPr id="6" name="Table 5"/>
          <p:cNvGraphicFramePr>
            <a:graphicFrameLocks noGrp="1"/>
          </p:cNvGraphicFramePr>
          <p:nvPr/>
        </p:nvGraphicFramePr>
        <p:xfrm>
          <a:off x="566928" y="1627632"/>
          <a:ext cx="11100814" cy="4160520"/>
        </p:xfrm>
        <a:graphic>
          <a:graphicData uri="http://schemas.openxmlformats.org/drawingml/2006/table">
            <a:tbl>
              <a:tblPr firstRow="1">
                <a:tableStyleId>{5C22544A-7EE6-4342-B048-85BDC9FD1C3A}</a:tableStyleId>
              </a:tblPr>
              <a:tblGrid>
                <a:gridCol w="3330244"/>
                <a:gridCol w="2886212"/>
                <a:gridCol w="3552261"/>
                <a:gridCol w="1332097"/>
              </a:tblGrid>
              <a:tr h="520065">
                <a:tc>
                  <a:txBody>
                    <a:bodyPr wrap="square"/>
                    <a:lstStyle/>
                    <a:p>
                      <a:r>
                        <a:rPr sz="1050" b="1">
                          <a:latin typeface="Calibri"/>
                        </a:rPr>
                        <a:t>Gap in the published work</a:t>
                      </a:r>
                    </a:p>
                  </a:txBody>
                  <a:tcPr marL="50292" marR="50292" marT="27432" marB="27432"/>
                </a:tc>
                <a:tc>
                  <a:txBody>
                    <a:bodyPr wrap="square"/>
                    <a:lstStyle/>
                    <a:p>
                      <a:r>
                        <a:rPr sz="1050" b="1">
                          <a:latin typeface="Calibri"/>
                        </a:rPr>
                        <a:t>What the architecture does</a:t>
                      </a:r>
                    </a:p>
                  </a:txBody>
                  <a:tcPr marL="50292" marR="50292" marT="27432" marB="27432"/>
                </a:tc>
                <a:tc>
                  <a:txBody>
                    <a:bodyPr wrap="square"/>
                    <a:lstStyle/>
                    <a:p>
                      <a:r>
                        <a:rPr sz="1050" b="1">
                          <a:latin typeface="Calibri"/>
                        </a:rPr>
                        <a:t>Evidence</a:t>
                      </a:r>
                    </a:p>
                  </a:txBody>
                  <a:tcPr marL="50292" marR="50292" marT="27432" marB="27432"/>
                </a:tc>
                <a:tc>
                  <a:txBody>
                    <a:bodyPr wrap="square"/>
                    <a:lstStyle/>
                    <a:p>
                      <a:r>
                        <a:rPr sz="1050" b="1">
                          <a:latin typeface="Calibri"/>
                        </a:rPr>
                        <a:t>Status</a:t>
                      </a:r>
                    </a:p>
                  </a:txBody>
                  <a:tcPr marL="50292" marR="50292" marT="27432" marB="27432"/>
                </a:tc>
              </a:tr>
              <a:tr h="520065">
                <a:tc>
                  <a:txBody>
                    <a:bodyPr wrap="square"/>
                    <a:lstStyle/>
                    <a:p>
                      <a:r>
                        <a:rPr sz="900" b="0">
                          <a:latin typeface="Calibri"/>
                        </a:rPr>
                        <a:t>Segmented drivers report one number. Nobody separates a better FIXED setting from live RE-TUNING.</a:t>
                      </a:r>
                    </a:p>
                  </a:txBody>
                  <a:tcPr marL="50292" marR="50292" marT="27432" marB="27432"/>
                </a:tc>
                <a:tc>
                  <a:txBody>
                    <a:bodyPr wrap="square"/>
                    <a:lstStyle/>
                    <a:p>
                      <a:r>
                        <a:rPr sz="900" b="0">
                          <a:latin typeface="Calibri"/>
                        </a:rPr>
                        <a:t>720 control words × 4 operating points, every combination run.</a:t>
                      </a:r>
                    </a:p>
                  </a:txBody>
                  <a:tcPr marL="50292" marR="50292" marT="27432" marB="27432"/>
                </a:tc>
                <a:tc>
                  <a:txBody>
                    <a:bodyPr wrap="square"/>
                    <a:lstStyle/>
                    <a:p>
                      <a:r>
                        <a:rPr sz="900" b="0">
                          <a:latin typeface="Calibri"/>
                        </a:rPr>
                        <a:t>Fixed 25.1 %, adaptive 3.9 % — adaptive is 13.4 % of the gain (novelty.py).</a:t>
                      </a:r>
                    </a:p>
                  </a:txBody>
                  <a:tcPr marL="50292" marR="50292" marT="27432" marB="27432"/>
                </a:tc>
                <a:tc>
                  <a:txBody>
                    <a:bodyPr wrap="square"/>
                    <a:lstStyle/>
                    <a:p>
                      <a:r>
                        <a:rPr sz="900" b="1">
                          <a:solidFill>
                            <a:srgbClr val="1B7F3B"/>
                          </a:solidFill>
                          <a:latin typeface="Calibri"/>
                        </a:rPr>
                        <a:t>CLOSED</a:t>
                      </a:r>
                    </a:p>
                  </a:txBody>
                  <a:tcPr marL="50292" marR="50292" marT="27432" marB="27432"/>
                </a:tc>
              </a:tr>
              <a:tr h="520065">
                <a:tc>
                  <a:txBody>
                    <a:bodyPr wrap="square"/>
                    <a:lstStyle/>
                    <a:p>
                      <a:r>
                        <a:rPr sz="900" b="0">
                          <a:latin typeface="Calibri"/>
                        </a:rPr>
                        <a:t>Nobody says how much CONTROLLER the adaptive part justifies.</a:t>
                      </a:r>
                    </a:p>
                  </a:txBody>
                  <a:tcPr marL="50292" marR="50292" marT="27432" marB="27432"/>
                </a:tc>
                <a:tc>
                  <a:txBody>
                    <a:bodyPr wrap="square"/>
                    <a:lstStyle/>
                    <a:p>
                      <a:r>
                        <a:rPr sz="900" b="0">
                          <a:latin typeface="Calibri"/>
                        </a:rPr>
                        <a:t>A complexity ladder: constant word → one comparator → two → full lookup table.</a:t>
                      </a:r>
                    </a:p>
                  </a:txBody>
                  <a:tcPr marL="50292" marR="50292" marT="27432" marB="27432"/>
                </a:tc>
                <a:tc>
                  <a:txBody>
                    <a:bodyPr wrap="square"/>
                    <a:lstStyle/>
                    <a:p>
                      <a:r>
                        <a:rPr sz="900" b="0">
                          <a:latin typeface="Calibri"/>
                        </a:rPr>
                        <a:t>One comparator takes 46 % of it. 7.2 % is left to justify a sense + ADC + LUT (controller_ladder.py).</a:t>
                      </a:r>
                    </a:p>
                  </a:txBody>
                  <a:tcPr marL="50292" marR="50292" marT="27432" marB="27432"/>
                </a:tc>
                <a:tc>
                  <a:txBody>
                    <a:bodyPr wrap="square"/>
                    <a:lstStyle/>
                    <a:p>
                      <a:r>
                        <a:rPr sz="900" b="1">
                          <a:solidFill>
                            <a:srgbClr val="1B7F3B"/>
                          </a:solidFill>
                          <a:latin typeface="Calibri"/>
                        </a:rPr>
                        <a:t>CLOSED</a:t>
                      </a:r>
                    </a:p>
                  </a:txBody>
                  <a:tcPr marL="50292" marR="50292" marT="27432" marB="27432"/>
                </a:tc>
              </a:tr>
              <a:tr h="520065">
                <a:tc>
                  <a:txBody>
                    <a:bodyPr wrap="square"/>
                    <a:lstStyle/>
                    <a:p>
                      <a:r>
                        <a:rPr sz="900" b="0">
                          <a:latin typeface="Calibri"/>
                        </a:rPr>
                        <a:t>Prior segmented drivers stage the slices but carry no Miller clamp and no negative off rail.</a:t>
                      </a:r>
                    </a:p>
                  </a:txBody>
                  <a:tcPr marL="50292" marR="50292" marT="27432" marB="27432"/>
                </a:tc>
                <a:tc>
                  <a:txBody>
                    <a:bodyPr wrap="square"/>
                    <a:lstStyle/>
                    <a:p>
                      <a:r>
                        <a:rPr sz="900" b="0">
                          <a:latin typeface="Calibri"/>
                        </a:rPr>
                        <a:t>8 + 8 slices AND a clamp AND a −2 V off-bias, each measurable on its own.</a:t>
                      </a:r>
                    </a:p>
                  </a:txBody>
                  <a:tcPr marL="50292" marR="50292" marT="27432" marB="27432"/>
                </a:tc>
                <a:tc>
                  <a:txBody>
                    <a:bodyPr wrap="square"/>
                    <a:lstStyle/>
                    <a:p>
                      <a:r>
                        <a:rPr sz="900" b="0">
                          <a:latin typeface="Calibri"/>
                        </a:rPr>
                        <a:t>Base paper at its best +0.407 V; ours +2.576 V — 6.3× (basepaper_compare.py).</a:t>
                      </a:r>
                    </a:p>
                  </a:txBody>
                  <a:tcPr marL="50292" marR="50292" marT="27432" marB="27432"/>
                </a:tc>
                <a:tc>
                  <a:txBody>
                    <a:bodyPr wrap="square"/>
                    <a:lstStyle/>
                    <a:p>
                      <a:r>
                        <a:rPr sz="900" b="1">
                          <a:solidFill>
                            <a:srgbClr val="1B7F3B"/>
                          </a:solidFill>
                          <a:latin typeface="Calibri"/>
                        </a:rPr>
                        <a:t>CLOSED</a:t>
                      </a:r>
                    </a:p>
                  </a:txBody>
                  <a:tcPr marL="50292" marR="50292" marT="27432" marB="27432"/>
                </a:tc>
              </a:tr>
              <a:tr h="520065">
                <a:tc>
                  <a:txBody>
                    <a:bodyPr wrap="square"/>
                    <a:lstStyle/>
                    <a:p>
                      <a:r>
                        <a:rPr sz="900" b="0">
                          <a:latin typeface="Calibri"/>
                        </a:rPr>
                        <a:t>The driver is asserted to be programmable; the logic is rarely synthesised.</a:t>
                      </a:r>
                    </a:p>
                  </a:txBody>
                  <a:tcPr marL="50292" marR="50292" marT="27432" marB="27432"/>
                </a:tc>
                <a:tc>
                  <a:txBody>
                    <a:bodyPr wrap="square"/>
                    <a:lstStyle/>
                    <a:p>
                      <a:r>
                        <a:rPr sz="900" b="0">
                          <a:latin typeface="Calibri"/>
                        </a:rPr>
                        <a:t>seg_gate_ctrl.v, thermometer-coded, with its own dead-time generator.</a:t>
                      </a:r>
                    </a:p>
                  </a:txBody>
                  <a:tcPr marL="50292" marR="50292" marT="27432" marB="27432"/>
                </a:tc>
                <a:tc>
                  <a:txBody>
                    <a:bodyPr wrap="square"/>
                    <a:lstStyle/>
                    <a:p>
                      <a:r>
                        <a:rPr sz="900" b="0">
                          <a:latin typeface="Calibri"/>
                        </a:rPr>
                        <a:t>8 properties in Icarus; 20 LUT / 20 FF on xc7a35t, 200 MHz met, 1.996 ns slack.</a:t>
                      </a:r>
                    </a:p>
                  </a:txBody>
                  <a:tcPr marL="50292" marR="50292" marT="27432" marB="27432"/>
                </a:tc>
                <a:tc>
                  <a:txBody>
                    <a:bodyPr wrap="square"/>
                    <a:lstStyle/>
                    <a:p>
                      <a:r>
                        <a:rPr sz="900" b="1">
                          <a:solidFill>
                            <a:srgbClr val="1B7F3B"/>
                          </a:solidFill>
                          <a:latin typeface="Calibri"/>
                        </a:rPr>
                        <a:t>CLOSED</a:t>
                      </a:r>
                    </a:p>
                  </a:txBody>
                  <a:tcPr marL="50292" marR="50292" marT="27432" marB="27432"/>
                </a:tc>
              </a:tr>
              <a:tr h="520065">
                <a:tc>
                  <a:txBody>
                    <a:bodyPr wrap="square"/>
                    <a:lstStyle/>
                    <a:p>
                      <a:r>
                        <a:rPr sz="900" b="0">
                          <a:latin typeface="Calibri"/>
                        </a:rPr>
                        <a:t>Controller and power stage are verified separately and never made to meet.</a:t>
                      </a:r>
                    </a:p>
                  </a:txBody>
                  <a:tcPr marL="50292" marR="50292" marT="27432" marB="27432"/>
                </a:tc>
                <a:tc>
                  <a:txBody>
                    <a:bodyPr wrap="square"/>
                    <a:lstStyle/>
                    <a:p>
                      <a:r>
                        <a:rPr sz="900" b="0">
                          <a:latin typeface="Calibri"/>
                        </a:rPr>
                        <a:t>The RTL's own VCD drives the SPICE slices — one source per wire, no integer in between.</a:t>
                      </a:r>
                    </a:p>
                  </a:txBody>
                  <a:tcPr marL="50292" marR="50292" marT="27432" marB="27432"/>
                </a:tc>
                <a:tc>
                  <a:txBody>
                    <a:bodyPr wrap="square"/>
                    <a:lstStyle/>
                    <a:p>
                      <a:r>
                        <a:rPr sz="900" b="0">
                          <a:latin typeface="Calibri"/>
                        </a:rPr>
                        <a:t>Margins agree to 0.081 V, and it found a one-cycle dead-time error (rtl_cosim.py).</a:t>
                      </a:r>
                    </a:p>
                  </a:txBody>
                  <a:tcPr marL="50292" marR="50292" marT="27432" marB="27432"/>
                </a:tc>
                <a:tc>
                  <a:txBody>
                    <a:bodyPr wrap="square"/>
                    <a:lstStyle/>
                    <a:p>
                      <a:r>
                        <a:rPr sz="900" b="1">
                          <a:solidFill>
                            <a:srgbClr val="1B7F3B"/>
                          </a:solidFill>
                          <a:latin typeface="Calibri"/>
                        </a:rPr>
                        <a:t>CLOSED</a:t>
                      </a:r>
                    </a:p>
                  </a:txBody>
                  <a:tcPr marL="50292" marR="50292" marT="27432" marB="27432"/>
                </a:tc>
              </a:tr>
              <a:tr h="520065">
                <a:tc>
                  <a:txBody>
                    <a:bodyPr wrap="square"/>
                    <a:lstStyle/>
                    <a:p>
                      <a:r>
                        <a:rPr sz="900" b="0">
                          <a:latin typeface="Calibri"/>
                        </a:rPr>
                        <a:t>Whether a fitted schedule GENERALISES to an unseen operating point is never tested.</a:t>
                      </a:r>
                    </a:p>
                  </a:txBody>
                  <a:tcPr marL="50292" marR="50292" marT="27432" marB="27432"/>
                </a:tc>
                <a:tc>
                  <a:txBody>
                    <a:bodyPr wrap="square"/>
                    <a:lstStyle/>
                    <a:p>
                      <a:r>
                        <a:rPr sz="900" b="0">
                          <a:latin typeface="Calibri"/>
                        </a:rPr>
                        <a:t>Leave-one-corner-out: fit the comparator on three corners, test on the fourth.</a:t>
                      </a:r>
                    </a:p>
                  </a:txBody>
                  <a:tcPr marL="50292" marR="50292" marT="27432" marB="27432"/>
                </a:tc>
                <a:tc>
                  <a:txBody>
                    <a:bodyPr wrap="square"/>
                    <a:lstStyle/>
                    <a:p>
                      <a:r>
                        <a:rPr sz="900" b="0">
                          <a:latin typeface="Calibri"/>
                        </a:rPr>
                        <a:t>Worse than the fixed word on 3 of 4 held-out corners. n = 4, so weak — and we say so.</a:t>
                      </a:r>
                    </a:p>
                  </a:txBody>
                  <a:tcPr marL="50292" marR="50292" marT="27432" marB="27432"/>
                </a:tc>
                <a:tc>
                  <a:txBody>
                    <a:bodyPr wrap="square"/>
                    <a:lstStyle/>
                    <a:p>
                      <a:r>
                        <a:rPr sz="900" b="1">
                          <a:solidFill>
                            <a:srgbClr val="B56A00"/>
                          </a:solidFill>
                          <a:latin typeface="Calibri"/>
                        </a:rPr>
                        <a:t>ANSWERED, NEGATIVE</a:t>
                      </a:r>
                    </a:p>
                  </a:txBody>
                  <a:tcPr marL="50292" marR="50292" marT="27432" marB="27432"/>
                </a:tc>
              </a:tr>
              <a:tr h="520065">
                <a:tc>
                  <a:txBody>
                    <a:bodyPr wrap="square"/>
                    <a:lstStyle/>
                    <a:p>
                      <a:r>
                        <a:rPr sz="900" b="0">
                          <a:latin typeface="Calibri"/>
                        </a:rPr>
                        <a:t>All of the above is simulation.</a:t>
                      </a:r>
                    </a:p>
                  </a:txBody>
                  <a:tcPr marL="50292" marR="50292" marT="27432" marB="27432"/>
                </a:tc>
                <a:tc>
                  <a:txBody>
                    <a:bodyPr wrap="square"/>
                    <a:lstStyle/>
                    <a:p>
                      <a:r>
                        <a:rPr sz="900" b="0">
                          <a:latin typeface="Calibri"/>
                        </a:rPr>
                        <a:t>—</a:t>
                      </a:r>
                    </a:p>
                  </a:txBody>
                  <a:tcPr marL="50292" marR="50292" marT="27432" marB="27432"/>
                </a:tc>
                <a:tc>
                  <a:txBody>
                    <a:bodyPr wrap="square"/>
                    <a:lstStyle/>
                    <a:p>
                      <a:r>
                        <a:rPr sz="900" b="0">
                          <a:latin typeface="Calibri"/>
                        </a:rPr>
                        <a:t>No silicon measured. One behavioural device model underlies every number in this deck.</a:t>
                      </a:r>
                    </a:p>
                  </a:txBody>
                  <a:tcPr marL="50292" marR="50292" marT="27432" marB="27432"/>
                </a:tc>
                <a:tc>
                  <a:txBody>
                    <a:bodyPr wrap="square"/>
                    <a:lstStyle/>
                    <a:p>
                      <a:r>
                        <a:rPr sz="900" b="1">
                          <a:solidFill>
                            <a:srgbClr val="555555"/>
                          </a:solidFill>
                          <a:latin typeface="Calibri"/>
                        </a:rPr>
                        <a:t>OPEN → Review-III</a:t>
                      </a:r>
                    </a:p>
                  </a:txBody>
                  <a:tcPr marL="50292" marR="50292" marT="27432" marB="27432"/>
                </a:tc>
              </a:tr>
            </a:tbl>
          </a:graphicData>
        </a:graphic>
      </p:graphicFrame>
      <p:sp>
        <p:nvSpPr>
          <p:cNvPr id="7" name="TextBox 6"/>
          <p:cNvSpPr txBox="1"/>
          <p:nvPr/>
        </p:nvSpPr>
        <p:spPr>
          <a:xfrm>
            <a:off x="640080" y="5907024"/>
            <a:ext cx="10698480" cy="7315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DOES IT SERVE ITS PURPOSE?  </a:t>
            </a:r>
            <a:r>
              <a:rPr lang="en-US" sz="1200" dirty="0">
                <a:solidFill>
                  <a:srgbClr val="000000"/>
                </a:solidFill>
                <a:latin typeface="Calibri" pitchFamily="34" charset="0"/>
                <a:ea typeface="Calibri" pitchFamily="34" charset="-122"/>
                <a:cs typeface="Calibri" pitchFamily="34" charset="-120"/>
              </a:rPr>
              <a:t xml:space="preserve">Yes, for a simulation study, and that is what it is titled as. Five gaps closed, one answered in the negative — which is a result, not a failure — and one that needs a bench. The honest summary is that the architecture is finished and the measurement of it on real silicon is not.</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architecture, end to end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115568"/>
            <a:ext cx="53492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gap we found in our OWN work</a:t>
            </a:r>
          </a:p>
        </p:txBody>
      </p:sp>
      <p:sp>
        <p:nvSpPr>
          <p:cNvPr id="6" name="TextBox 5"/>
          <p:cNvSpPr txBox="1"/>
          <p:nvPr/>
        </p:nvSpPr>
        <p:spPr>
          <a:xfrm>
            <a:off x="640080" y="1517904"/>
            <a:ext cx="534924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The controller was verified in Icarus. The power stage was verified in ngspice. The two never touched.</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The FPGA emits eight thermometer-coded wires per bank. The SPICE driver took an INTEGER slice count. A fault in the decoder would have passed the Verilog bench and stayed invisible in every figure ngspice produced.</a:t>
            </a:r>
          </a:p>
        </p:txBody>
      </p:sp>
      <p:sp>
        <p:nvSpPr>
          <p:cNvPr id="7" name="TextBox 6"/>
          <p:cNvSpPr txBox="1"/>
          <p:nvPr/>
        </p:nvSpPr>
        <p:spPr>
          <a:xfrm>
            <a:off x="6400800" y="1115568"/>
            <a:ext cx="530352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What we did about it</a:t>
            </a:r>
          </a:p>
        </p:txBody>
      </p:sp>
      <p:sp>
        <p:nvSpPr>
          <p:cNvPr id="8" name="TextBox 7"/>
          <p:cNvSpPr txBox="1"/>
          <p:nvPr/>
        </p:nvSpPr>
        <p:spPr>
          <a:xfrm>
            <a:off x="6400800" y="1517904"/>
            <a:ext cx="530352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rtl/seg_gate_ctrl_dpt_tb.v reproduces the double-pulse schedule at the real 200 MHz clock, letting the RTL's own dead-time generator make the edges.</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Its VCD becomes sixteen PWL sources, one per wire, into models/segdrv_bus.lib. Same deck, same devices, same measurement — only the slice selection changes.</a:t>
            </a:r>
          </a:p>
        </p:txBody>
      </p:sp>
      <p:graphicFrame>
        <p:nvGraphicFramePr>
          <p:cNvPr id="9" name="Table 8"/>
          <p:cNvGraphicFramePr>
            <a:graphicFrameLocks noGrp="1"/>
          </p:cNvGraphicFramePr>
          <p:nvPr/>
        </p:nvGraphicFramePr>
        <p:xfrm>
          <a:off x="2148840" y="3520440"/>
          <a:ext cx="7909558" cy="960120"/>
        </p:xfrm>
        <a:graphic>
          <a:graphicData uri="http://schemas.openxmlformats.org/drawingml/2006/table">
            <a:tbl>
              <a:tblPr firstRow="1">
                <a:tableStyleId>{5C22544A-7EE6-4342-B048-85BDC9FD1C3A}</a:tableStyleId>
              </a:tblPr>
              <a:tblGrid>
                <a:gridCol w="1581912"/>
                <a:gridCol w="2214676"/>
                <a:gridCol w="2214676"/>
                <a:gridCol w="1898294"/>
              </a:tblGrid>
              <a:tr h="320040">
                <a:tc>
                  <a:txBody>
                    <a:bodyPr wrap="square"/>
                    <a:lstStyle/>
                    <a:p>
                      <a:r>
                        <a:rPr sz="1100" b="1">
                          <a:latin typeface="Calibri"/>
                        </a:rPr>
                        <a:t/>
                      </a:r>
                    </a:p>
                  </a:txBody>
                  <a:tcPr marL="50292" marR="50292" marT="27432" marB="27432"/>
                </a:tc>
                <a:tc>
                  <a:txBody>
                    <a:bodyPr wrap="square"/>
                    <a:lstStyle/>
                    <a:p>
                      <a:r>
                        <a:rPr sz="1100" b="1">
                          <a:latin typeface="Calibri"/>
                        </a:rPr>
                        <a:t>margin, RTL bus</a:t>
                      </a:r>
                    </a:p>
                  </a:txBody>
                  <a:tcPr marL="50292" marR="50292" marT="27432" marB="27432"/>
                </a:tc>
                <a:tc>
                  <a:txBody>
                    <a:bodyPr wrap="square"/>
                    <a:lstStyle/>
                    <a:p>
                      <a:r>
                        <a:rPr sz="1100" b="1">
                          <a:latin typeface="Calibri"/>
                        </a:rPr>
                        <a:t>margin, .param</a:t>
                      </a:r>
                    </a:p>
                  </a:txBody>
                  <a:tcPr marL="50292" marR="50292" marT="27432" marB="27432"/>
                </a:tc>
                <a:tc>
                  <a:txBody>
                    <a:bodyPr wrap="square"/>
                    <a:lstStyle/>
                    <a:p>
                      <a:r>
                        <a:rPr sz="1100" b="1">
                          <a:latin typeface="Calibri"/>
                        </a:rPr>
                        <a:t>difference</a:t>
                      </a:r>
                    </a:p>
                  </a:txBody>
                  <a:tcPr marL="50292" marR="50292" marT="27432" marB="27432"/>
                </a:tc>
              </a:tr>
              <a:tr h="320040">
                <a:tc>
                  <a:txBody>
                    <a:bodyPr wrap="square"/>
                    <a:lstStyle/>
                    <a:p>
                      <a:r>
                        <a:rPr sz="1100" b="1">
                          <a:latin typeface="Calibri"/>
                        </a:rPr>
                        <a:t>clamp off</a:t>
                      </a:r>
                    </a:p>
                  </a:txBody>
                  <a:tcPr marL="50292" marR="50292" marT="27432" marB="27432"/>
                </a:tc>
                <a:tc>
                  <a:txBody>
                    <a:bodyPr wrap="square"/>
                    <a:lstStyle/>
                    <a:p>
                      <a:r>
                        <a:rPr sz="1100" b="1">
                          <a:latin typeface="Calibri"/>
                        </a:rPr>
                        <a:t>−0.242 V</a:t>
                      </a:r>
                    </a:p>
                  </a:txBody>
                  <a:tcPr marL="50292" marR="50292" marT="27432" marB="27432"/>
                </a:tc>
                <a:tc>
                  <a:txBody>
                    <a:bodyPr wrap="square"/>
                    <a:lstStyle/>
                    <a:p>
                      <a:r>
                        <a:rPr sz="1100" b="0">
                          <a:latin typeface="Calibri"/>
                        </a:rPr>
                        <a:t>−0.249 V</a:t>
                      </a:r>
                    </a:p>
                  </a:txBody>
                  <a:tcPr marL="50292" marR="50292" marT="27432" marB="27432"/>
                </a:tc>
                <a:tc>
                  <a:txBody>
                    <a:bodyPr wrap="square"/>
                    <a:lstStyle/>
                    <a:p>
                      <a:r>
                        <a:rPr sz="1100" b="0">
                          <a:latin typeface="Calibri"/>
                        </a:rPr>
                        <a:t>0.007 V</a:t>
                      </a:r>
                    </a:p>
                  </a:txBody>
                  <a:tcPr marL="50292" marR="50292" marT="27432" marB="27432"/>
                </a:tc>
              </a:tr>
              <a:tr h="320040">
                <a:tc>
                  <a:txBody>
                    <a:bodyPr wrap="square"/>
                    <a:lstStyle/>
                    <a:p>
                      <a:r>
                        <a:rPr sz="1100" b="1">
                          <a:latin typeface="Calibri"/>
                        </a:rPr>
                        <a:t>clamp on</a:t>
                      </a:r>
                    </a:p>
                  </a:txBody>
                  <a:tcPr marL="50292" marR="50292" marT="27432" marB="27432"/>
                </a:tc>
                <a:tc>
                  <a:txBody>
                    <a:bodyPr wrap="square"/>
                    <a:lstStyle/>
                    <a:p>
                      <a:r>
                        <a:rPr sz="1100" b="1">
                          <a:solidFill>
                            <a:srgbClr val="1B7F3B"/>
                          </a:solidFill>
                          <a:latin typeface="Calibri"/>
                        </a:rPr>
                        <a:t>+0.651 V</a:t>
                      </a:r>
                    </a:p>
                  </a:txBody>
                  <a:tcPr marL="50292" marR="50292" marT="27432" marB="27432"/>
                </a:tc>
                <a:tc>
                  <a:txBody>
                    <a:bodyPr wrap="square"/>
                    <a:lstStyle/>
                    <a:p>
                      <a:r>
                        <a:rPr sz="1100" b="0">
                          <a:latin typeface="Calibri"/>
                        </a:rPr>
                        <a:t>+0.570 V</a:t>
                      </a:r>
                    </a:p>
                  </a:txBody>
                  <a:tcPr marL="50292" marR="50292" marT="27432" marB="27432"/>
                </a:tc>
                <a:tc>
                  <a:txBody>
                    <a:bodyPr wrap="square"/>
                    <a:lstStyle/>
                    <a:p>
                      <a:r>
                        <a:rPr sz="1100" b="0">
                          <a:latin typeface="Calibri"/>
                        </a:rPr>
                        <a:t>0.081 V</a:t>
                      </a:r>
                    </a:p>
                  </a:txBody>
                  <a:tcPr marL="50292" marR="50292" marT="27432" marB="27432"/>
                </a:tc>
              </a:tr>
            </a:tbl>
          </a:graphicData>
        </a:graphic>
      </p:graphicFrame>
      <p:sp>
        <p:nvSpPr>
          <p:cNvPr id="10" name="TextBox 9"/>
          <p:cNvSpPr txBox="1"/>
          <p:nvPr/>
        </p:nvSpPr>
        <p:spPr>
          <a:xfrm>
            <a:off x="640080" y="4754880"/>
            <a:ext cx="11064240" cy="1737360"/>
          </a:xfrm>
          <a:prstGeom prst="rect">
            <a:avLst/>
          </a:prstGeom>
          <a:noFill/>
        </p:spPr>
        <p:txBody>
          <a:bodyPr wrap="square" lIns="0" tIns="0" rIns="0" bIns="0">
            <a:spAutoFit/>
          </a:bodyPr>
          <a:lstStyle/>
          <a:p>
            <a:pPr marL="177800" indent="0">
              <a:spcAft>
                <a:spcPts val="170"/>
              </a:spcAft>
              <a:buSzPct val="100000"/>
              <a:buNone/>
            </a:pPr>
            <a:r>
              <a:rPr lang="en-US" sz="1250" b="1" dirty="0">
                <a:solidFill>
                  <a:srgbClr val="000000"/>
                </a:solidFill>
                <a:latin typeface="Calibri" pitchFamily="34" charset="0"/>
                <a:ea typeface="Calibri" pitchFamily="34" charset="-122"/>
                <a:cs typeface="Calibri" pitchFamily="34" charset="-120"/>
              </a:rPr>
              <a:t xml:space="preserve">Worst disagreement anywhere: 0.081 V</a:t>
            </a:r>
            <a:r>
              <a:rPr lang="en-US" sz="1250" dirty="0">
                <a:solidFill>
                  <a:srgbClr val="000000"/>
                </a:solidFill>
                <a:latin typeface="Calibri" pitchFamily="34" charset="0"/>
                <a:ea typeface="Calibri" pitchFamily="34" charset="-122"/>
                <a:cs typeface="Calibri" pitchFamily="34" charset="-120"/>
              </a:rPr>
              <a:t xml:space="preserve"> — and it is timing, not encoding. The ideal stimulus turns the low side on at 2.015 µs; the RTL's dead-time generator puts it at 2.0175 µs. The clamp's sign change, which is this project's central claim, is now produced by the actual logic rather than by a parameter.</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it found a real bug, which is the whole argument for doing it: </a:t>
            </a:r>
            <a:r>
              <a:rPr lang="en-US" sz="1250" dirty="0">
                <a:solidFill>
                  <a:srgbClr val="000000"/>
                </a:solidFill>
                <a:latin typeface="Calibri" pitchFamily="34" charset="0"/>
                <a:ea typeface="Calibri" pitchFamily="34" charset="-122"/>
                <a:cs typeface="Calibri" pitchFamily="34" charset="-120"/>
              </a:rPr>
              <a:t xml:space="preserve">dead time is (dt_cycles + 1) × 5 ns. The counter loads and then counts down THROUGH zero, so 15 ns is 2 cycles, not the obvious 15/5 = 3. Anyone mapping our swept dead-time grid onto hardware by dividing by the clock period builds a driver that is one cycle slow at every operating point — and neither half of the verification could have seen it alone.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