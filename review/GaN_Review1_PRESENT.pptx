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323" r:id="rId66"/>
    <p:sldId id="282" r:id="rId33"/>
    <p:sldId id="317" r:id="rId60"/>
    <p:sldId id="261" r:id="rId7"/>
    <p:sldId id="274" r:id="rId25"/>
    <p:sldId id="280" r:id="rId31"/>
    <p:sldId id="278" r:id="rId29"/>
    <p:sldId id="308" r:id="rId51"/>
    <p:sldId id="297" r:id="rId40"/>
    <p:sldId id="315" r:id="rId58"/>
    <p:sldId id="307" r:id="rId50"/>
    <p:sldId id="309" r:id="rId52"/>
    <p:sldId id="310" r:id="rId53"/>
    <p:sldId id="273" r:id="rId24"/>
    <p:sldId id="324" r:id="rId67"/>
    <p:sldId id="325" r:id="rId68"/>
    <p:sldId id="326" r:id="rId69"/>
    <p:sldId id="328" r:id="rId71"/>
    <p:sldId id="327" r:id="rId70"/>
    <p:sldId id="321" r:id="rId64"/>
    <p:sldId id="320" r:id="rId63"/>
    <p:sldId id="322" r:id="rId65"/>
    <p:sldId id="318" r:id="rId61"/>
    <p:sldId id="332" r:id="rId75"/>
    <p:sldId id="262" r:id="rId8"/>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4.876 A, 97.70 %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5</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236.9 W delivered, 97.7 %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48.6 V at 4.88 A, 97.7 %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5.9 W vs 17.3 W at 500 kHz;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60,533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The remaining 10 % is place-and-route on a chosen board and a hardware half-bridge on a bench. The simulation is finished, and simulating harder will not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Plainly: the simulation is finished, across the envelope and not just at one point. Nothing has been measured on silicon.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10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97.7 %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60,533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4.876 A out: 242.47 W drawn, 236.89 W delivered, 97.70 % efficient. Peak switch node 118.0 V on a 100 V bus: 18.0 % overshoot, on the shipped word at a step that resolves the edge. Most of it is the −2 V rail (+11.3 points) — the margin is not free. scripts/overshoot_audit.py.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5.9 W against silicon's 17.3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97.7 %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1064240"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-11.8×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13 % more gate power and we overshoot 24 points harder, because we switch faster. That buys 1.2 ns of latency, 0.28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hardware, costed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7 of the 10 points outstanding. Not vague — three tiers, and we know which one is which.</a:t>
            </a:r>
          </a:p>
        </p:txBody>
      </p:sp>
      <p:graphicFrame>
        <p:nvGraphicFramePr>
          <p:cNvPr id="6" name="Table 5"/>
          <p:cNvGraphicFramePr>
            <a:graphicFrameLocks noGrp="1"/>
          </p:cNvGraphicFramePr>
          <p:nvPr/>
        </p:nvGraphicFramePr>
        <p:xfrm>
          <a:off x="640080" y="1572768"/>
          <a:ext cx="11064239" cy="2423160"/>
        </p:xfrm>
        <a:graphic>
          <a:graphicData uri="http://schemas.openxmlformats.org/drawingml/2006/table">
            <a:tbl>
              <a:tblPr firstRow="1">
                <a:tableStyleId>{5C22544A-7EE6-4342-B048-85BDC9FD1C3A}</a:tableStyleId>
              </a:tblPr>
              <a:tblGrid>
                <a:gridCol w="2323490"/>
                <a:gridCol w="4425696"/>
                <a:gridCol w="1438351"/>
                <a:gridCol w="1106424"/>
                <a:gridCol w="1770278"/>
              </a:tblGrid>
              <a:tr h="605790">
                <a:tc>
                  <a:txBody>
                    <a:bodyPr wrap="square"/>
                    <a:lstStyle/>
                    <a:p>
                      <a:r>
                        <a:rPr sz="1150" b="1">
                          <a:latin typeface="Calibri"/>
                        </a:rPr>
                        <a:t/>
                      </a:r>
                    </a:p>
                  </a:txBody>
                  <a:tcPr marL="50292" marR="50292" marT="27432" marB="27432"/>
                </a:tc>
                <a:tc>
                  <a:txBody>
                    <a:bodyPr wrap="square"/>
                    <a:lstStyle/>
                    <a:p>
                      <a:r>
                        <a:rPr sz="1150" b="1">
                          <a:latin typeface="Calibri"/>
                        </a:rPr>
                        <a:t>What gets measured</a:t>
                      </a:r>
                    </a:p>
                  </a:txBody>
                  <a:tcPr marL="50292" marR="50292" marT="27432" marB="27432"/>
                </a:tc>
                <a:tc>
                  <a:txBody>
                    <a:bodyPr wrap="square"/>
                    <a:lstStyle/>
                    <a:p>
                      <a:r>
                        <a:rPr sz="1150" b="1">
                          <a:latin typeface="Calibri"/>
                        </a:rPr>
                        <a:t>Cost</a:t>
                      </a:r>
                    </a:p>
                  </a:txBody>
                  <a:tcPr marL="50292" marR="50292" marT="27432" marB="27432"/>
                </a:tc>
                <a:tc>
                  <a:txBody>
                    <a:bodyPr wrap="square"/>
                    <a:lstStyle/>
                    <a:p>
                      <a:r>
                        <a:rPr sz="1150" b="1">
                          <a:latin typeface="Calibri"/>
                        </a:rPr>
                        <a:t>Time</a:t>
                      </a:r>
                    </a:p>
                  </a:txBody>
                  <a:tcPr marL="50292" marR="50292" marT="27432" marB="27432"/>
                </a:tc>
                <a:tc>
                  <a:txBody>
                    <a:bodyPr wrap="square"/>
                    <a:lstStyle/>
                    <a:p>
                      <a:r>
                        <a:rPr sz="1150" b="1">
                          <a:latin typeface="Calibri"/>
                        </a:rPr>
                        <a:t>Status</a:t>
                      </a:r>
                    </a:p>
                  </a:txBody>
                  <a:tcPr marL="50292" marR="50292" marT="27432" marB="27432"/>
                </a:tc>
              </a:tr>
              <a:tr h="605790">
                <a:tc>
                  <a:txBody>
                    <a:bodyPr wrap="square"/>
                    <a:lstStyle/>
                    <a:p>
                      <a:r>
                        <a:rPr sz="1100" b="0">
                          <a:latin typeface="Calibri"/>
                        </a:rPr>
                        <a:t>1.  FPGA on a real board</a:t>
                      </a:r>
                    </a:p>
                  </a:txBody>
                  <a:tcPr marL="50292" marR="50292" marT="27432" marB="27432"/>
                </a:tc>
                <a:tc>
                  <a:txBody>
                    <a:bodyPr wrap="square"/>
                    <a:lstStyle/>
                    <a:p>
                      <a:r>
                        <a:rPr sz="1100" b="0">
                          <a:latin typeface="Calibri"/>
                        </a:rPr>
                        <a:t>The 8+8 slice outputs toggling and dead_time_gen.v sweeping 5–35 ns, on silicon rather than in a report</a:t>
                      </a:r>
                    </a:p>
                  </a:txBody>
                  <a:tcPr marL="50292" marR="50292" marT="27432" marB="27432"/>
                </a:tc>
                <a:tc>
                  <a:txBody>
                    <a:bodyPr wrap="square"/>
                    <a:lstStyle/>
                    <a:p>
                      <a:r>
                        <a:rPr sz="1100" b="0">
                          <a:latin typeface="Calibri"/>
                        </a:rPr>
                        <a:t>₹8–12k
or a lab board</a:t>
                      </a:r>
                    </a:p>
                  </a:txBody>
                  <a:tcPr marL="50292" marR="50292" marT="27432" marB="27432"/>
                </a:tc>
                <a:tc>
                  <a:txBody>
                    <a:bodyPr wrap="square"/>
                    <a:lstStyle/>
                    <a:p>
                      <a:r>
                        <a:rPr sz="1100" b="0">
                          <a:latin typeface="Calibri"/>
                        </a:rPr>
                        <a:t>days</a:t>
                      </a:r>
                    </a:p>
                  </a:txBody>
                  <a:tcPr marL="50292" marR="50292" marT="27432" marB="27432"/>
                </a:tc>
                <a:tc>
                  <a:txBody>
                    <a:bodyPr wrap="square"/>
                    <a:lstStyle/>
                    <a:p>
                      <a:r>
                        <a:rPr sz="1100" b="1">
                          <a:solidFill>
                            <a:srgbClr val="1B7F5F"/>
                          </a:solidFill>
                          <a:latin typeface="Calibri"/>
                        </a:rPr>
                        <a:t>nearest</a:t>
                      </a:r>
                    </a:p>
                  </a:txBody>
                  <a:tcPr marL="50292" marR="50292" marT="27432" marB="27432"/>
                </a:tc>
              </a:tr>
              <a:tr h="605790">
                <a:tc>
                  <a:txBody>
                    <a:bodyPr wrap="square"/>
                    <a:lstStyle/>
                    <a:p>
                      <a:r>
                        <a:rPr sz="1100" b="0">
                          <a:latin typeface="Calibri"/>
                        </a:rPr>
                        <a:t>2.  GaN half-bridge eval board, 48 V</a:t>
                      </a:r>
                    </a:p>
                  </a:txBody>
                  <a:tcPr marL="50292" marR="50292" marT="27432" marB="27432"/>
                </a:tc>
                <a:tc>
                  <a:txBody>
                    <a:bodyPr wrap="square"/>
                    <a:lstStyle/>
                    <a:p>
                      <a:r>
                        <a:rPr sz="1100" b="0">
                          <a:latin typeface="Calibri"/>
                        </a:rPr>
                        <a:t>The OFF device's gate during the other's turn-on, with and without the −2 V rail — our central claim, on real silicon</a:t>
                      </a:r>
                    </a:p>
                  </a:txBody>
                  <a:tcPr marL="50292" marR="50292" marT="27432" marB="27432"/>
                </a:tc>
                <a:tc>
                  <a:txBody>
                    <a:bodyPr wrap="square"/>
                    <a:lstStyle/>
                    <a:p>
                      <a:r>
                        <a:rPr sz="1100" b="0">
                          <a:latin typeface="Calibri"/>
                        </a:rPr>
                        <a:t>₹15–25k</a:t>
                      </a:r>
                    </a:p>
                  </a:txBody>
                  <a:tcPr marL="50292" marR="50292" marT="27432" marB="27432"/>
                </a:tc>
                <a:tc>
                  <a:txBody>
                    <a:bodyPr wrap="square"/>
                    <a:lstStyle/>
                    <a:p>
                      <a:r>
                        <a:rPr sz="1100" b="0">
                          <a:latin typeface="Calibri"/>
                        </a:rPr>
                        <a:t>2–4 weeks</a:t>
                      </a:r>
                    </a:p>
                  </a:txBody>
                  <a:tcPr marL="50292" marR="50292" marT="27432" marB="27432"/>
                </a:tc>
                <a:tc>
                  <a:txBody>
                    <a:bodyPr wrap="square"/>
                    <a:lstStyle/>
                    <a:p>
                      <a:r>
                        <a:rPr sz="1100" b="1">
                          <a:solidFill>
                            <a:srgbClr val="1B7F5F"/>
                          </a:solidFill>
                          <a:latin typeface="Calibri"/>
                        </a:rPr>
                        <a:t>the one that matters</a:t>
                      </a:r>
                    </a:p>
                  </a:txBody>
                  <a:tcPr marL="50292" marR="50292" marT="27432" marB="27432"/>
                </a:tc>
              </a:tr>
              <a:tr h="605790">
                <a:tc>
                  <a:txBody>
                    <a:bodyPr wrap="square"/>
                    <a:lstStyle/>
                    <a:p>
                      <a:r>
                        <a:rPr sz="1100" b="0">
                          <a:latin typeface="Calibri"/>
                        </a:rPr>
                        <a:t>3.  The segmented driver itself</a:t>
                      </a:r>
                    </a:p>
                  </a:txBody>
                  <a:tcPr marL="50292" marR="50292" marT="27432" marB="27432"/>
                </a:tc>
                <a:tc>
                  <a:txBody>
                    <a:bodyPr wrap="square"/>
                    <a:lstStyle/>
                    <a:p>
                      <a:r>
                        <a:rPr sz="1100" b="0">
                          <a:latin typeface="Calibri"/>
                        </a:rPr>
                        <a:t>Everything above, on our own 8-slice stage at 100 V / 500 kHz</a:t>
                      </a:r>
                    </a:p>
                  </a:txBody>
                  <a:tcPr marL="50292" marR="50292" marT="27432" marB="27432"/>
                </a:tc>
                <a:tc>
                  <a:txBody>
                    <a:bodyPr wrap="square"/>
                    <a:lstStyle/>
                    <a:p>
                      <a:r>
                        <a:rPr sz="1100" b="0">
                          <a:latin typeface="Calibri"/>
                        </a:rPr>
                        <a:t>custom PCB,
several spins</a:t>
                      </a:r>
                    </a:p>
                  </a:txBody>
                  <a:tcPr marL="50292" marR="50292" marT="27432" marB="27432"/>
                </a:tc>
                <a:tc>
                  <a:txBody>
                    <a:bodyPr wrap="square"/>
                    <a:lstStyle/>
                    <a:p>
                      <a:r>
                        <a:rPr sz="1100" b="0">
                          <a:latin typeface="Calibri"/>
                        </a:rPr>
                        <a:t>months</a:t>
                      </a:r>
                    </a:p>
                  </a:txBody>
                  <a:tcPr marL="50292" marR="50292" marT="27432" marB="27432"/>
                </a:tc>
                <a:tc>
                  <a:txBody>
                    <a:bodyPr wrap="square"/>
                    <a:lstStyle/>
                    <a:p>
                      <a:r>
                        <a:rPr sz="1100" b="1">
                          <a:solidFill>
                            <a:srgbClr val="B00000"/>
                          </a:solidFill>
                          <a:latin typeface="Calibri"/>
                        </a:rPr>
                        <a:t>Review-III</a:t>
                      </a:r>
                    </a:p>
                  </a:txBody>
                  <a:tcPr marL="50292" marR="50292" marT="27432" marB="27432"/>
                </a:tc>
              </a:tr>
            </a:tbl>
          </a:graphicData>
        </a:graphic>
      </p:graphicFrame>
      <p:sp>
        <p:nvSpPr>
          <p:cNvPr id="7" name="TextBox 6"/>
          <p:cNvSpPr txBox="1"/>
          <p:nvPr/>
        </p:nvSpPr>
        <p:spPr>
          <a:xfrm>
            <a:off x="640080" y="4169663"/>
            <a:ext cx="11064240" cy="192024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constraints we already know, because they decide whether tier 2 produces evidence or noise.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Scope bandwidth. </a:t>
            </a:r>
            <a:r>
              <a:rPr lang="en-US" sz="1200" dirty="0">
                <a:solidFill>
                  <a:srgbClr val="000000"/>
                </a:solidFill>
                <a:latin typeface="Calibri" pitchFamily="34" charset="0"/>
                <a:ea typeface="Calibri" pitchFamily="34" charset="-122"/>
                <a:cs typeface="Calibri" pitchFamily="34" charset="-120"/>
              </a:rPr>
              <a:t xml:space="preserve">Our edge is 0.78 ns. Bandwidth needed is 0.35 / 0.78 ns ≈ 450 MHz to see the edge at all, realistically 1 GHz. On a 100 MHz teaching-lab scope the measurement would be of the scope.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Probe grounding. </a:t>
            </a:r>
            <a:r>
              <a:rPr lang="en-US" sz="1200" dirty="0">
                <a:solidFill>
                  <a:srgbClr val="000000"/>
                </a:solidFill>
                <a:latin typeface="Calibri" pitchFamily="34" charset="0"/>
                <a:ea typeface="Calibri" pitchFamily="34" charset="-122"/>
                <a:cs typeface="Calibri" pitchFamily="34" charset="-120"/>
              </a:rPr>
              <a:t xml:space="preserve">A 10:1 probe with a ground clip carries roughly 10 nH in its ground lead, which manufactures ringing that is not in the circuit. A GaN gate has to be probed with a short pigtail or a coaxial connection, or the trace shows the probe.</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And one thing that is not a constraint but a fact: no commercial IC implements an 8-slice independently controllable segmented driver. Tier 3 is eight single-channel drivers in parallel, enabled per slice, summed through 8 Ω — which is exactly what models/segdrv.lib already describes.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