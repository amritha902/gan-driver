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9" r:id="rId5"/>
    <p:sldId id="267" r:id="rId18"/>
    <p:sldId id="282" r:id="rId33"/>
    <p:sldId id="261" r:id="rId7"/>
    <p:sldId id="274" r:id="rId25"/>
    <p:sldId id="280" r:id="rId31"/>
    <p:sldId id="278" r:id="rId29"/>
    <p:sldId id="297" r:id="rId40"/>
    <p:sldId id="313" r:id="rId56"/>
    <p:sldId id="306" r:id="rId49"/>
    <p:sldId id="307" r:id="rId50"/>
    <p:sldId id="308" r:id="rId51"/>
    <p:sldId id="262" r:id="rId8"/>
    <p:sldId id="265"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5.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15.xml"/><Relationship Id="rId9" Type="http://schemas.openxmlformats.org/officeDocument/2006/relationships/slide" Target="slides/slide22.xml"/><Relationship Id="rId10" Type="http://schemas.openxmlformats.org/officeDocument/2006/relationships/slide" Target="slides/slide27.xml"/><Relationship Id="rId11" Type="http://schemas.openxmlformats.org/officeDocument/2006/relationships/slide" Target="slides/slide30.xml"/><Relationship Id="rId12" Type="http://schemas.openxmlformats.org/officeDocument/2006/relationships/slide" Target="slides/slide3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7.xml"/><Relationship Id="rId19" Type="http://schemas.openxmlformats.org/officeDocument/2006/relationships/slide" Target="slides/slide33.xml"/><Relationship Id="rId20" Type="http://schemas.openxmlformats.org/officeDocument/2006/relationships/slide" Target="slides/slide28.xml"/><Relationship Id="rId21" Type="http://schemas.openxmlformats.org/officeDocument/2006/relationships/slide" Target="slides/slide21.xml"/><Relationship Id="rId22" Type="http://schemas.openxmlformats.org/officeDocument/2006/relationships/slide" Target="slides/slide29.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2.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32.xml"/><Relationship Id="rId29" Type="http://schemas.openxmlformats.org/officeDocument/2006/relationships/slide" Target="slides/slide13.xml"/><Relationship Id="rId30" Type="http://schemas.openxmlformats.org/officeDocument/2006/relationships/slide" Target="slides/slide20.xml"/><Relationship Id="rId31" Type="http://schemas.openxmlformats.org/officeDocument/2006/relationships/slide" Target="slides/slide11.xml"/><Relationship Id="rId32" Type="http://schemas.openxmlformats.org/officeDocument/2006/relationships/slide" Target="slides/slide24.xml"/><Relationship Id="rId33" Type="http://schemas.openxmlformats.org/officeDocument/2006/relationships/slide" Target="slides/slide8.xml"/><Relationship Id="rId34" Type="http://schemas.openxmlformats.org/officeDocument/2006/relationships/slide" Target="slides/slide14.xml"/><Relationship Id="rId35" Type="http://schemas.openxmlformats.org/officeDocument/2006/relationships/slide" Target="slides/slide3.xml"/><Relationship Id="rId36" Type="http://schemas.openxmlformats.org/officeDocument/2006/relationships/slide" Target="slides/slide18.xml"/><Relationship Id="rId37" Type="http://schemas.openxmlformats.org/officeDocument/2006/relationships/slide" Target="slides/slide4.xml"/><Relationship Id="rId38" Type="http://schemas.openxmlformats.org/officeDocument/2006/relationships/slide" Target="slides/slide9.xml"/><Relationship Id="rId39" Type="http://schemas.openxmlformats.org/officeDocument/2006/relationships/slide" Target="slides/slide19.xml"/><Relationship Id="rId40" Type="http://schemas.openxmlformats.org/officeDocument/2006/relationships/slide" Target="slides/slide34.xml"/><Relationship Id="rId41" Type="http://schemas.openxmlformats.org/officeDocument/2006/relationships/slide" Target="slides/slide31.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5.2 %.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3.7 % of the gain over a fixed word and one comparator.' Build it in three steps. (1) Choosing the fixed word well is worth 25.1 %. (2) Adapting per corner adds only 3.9 % — a seventh of the total. (3) And 72 % of even THAT is capturable with a single light-load comparator, not a lookup table.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no silicon has been measured, and one device model underlies everything.</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3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GaN synchronous buck converter. (a) output charging from zero and settling; (b) three switching cycles; (c) power in against power out. 100 V DC in, 48.56 V DC out at 4.875 A, 97.62 % efficient.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Zhang, Yu, Leng, Cui, Deng &amp; Ng (2020)  —  IEEE ISPSD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segmented gate driver for E-mode GaN HEMTs: the output stage is split into slices, and drive strength is selected by a pattern rather than set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Same device, same architecture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GaN HEMTs in a bridge, a sliced output stage, strength chosen by a code. That is the structure this project starts from.</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How we extend it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Theirs is an ASIC with a fixed pattern set, chosen at design time. We make every field programmable from an FPGA — slices, dead time, Miller clamp, off-bias rail — add the clamp and the −2 V rail, and measure what choosing the pattern per operating point is worth.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 J. Zhang, J. Yu, Y. Leng, W. T. Cui, G. Q. Deng and W. T. Ng, </a:t>
            </a:r>
            <a:r>
              <a:rPr lang="en-US" sz="1150" b="1"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a:t>
            </a:r>
            <a:r>
              <a:rPr lang="en-US" sz="1150" dirty="0">
                <a:solidFill>
                  <a:srgbClr val="000000"/>
                </a:solidFill>
                <a:latin typeface="Calibri" pitchFamily="34" charset="0"/>
                <a:ea typeface="Calibri" pitchFamily="34" charset="-122"/>
                <a:cs typeface="Calibri" pitchFamily="34" charset="-120"/>
              </a:rPr>
              <a:t xml:space="preserve"> in Proc. IEEE 32nd Int. Symp. Power Semicond. Devices ICs (ISPSD), 2020, pp. 102–105.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five closest published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434340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p>
                      <a:r>
                        <a:rPr sz="1050" b="1">
                          <a:solidFill>
                            <a:srgbClr val="000000"/>
                          </a:solidFill>
                          <a:latin typeface="Calibri"/>
                        </a:rPr>
                        <a:t>PAPER</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BASE PAPER. Same device, same architecture: E-mode GaN, segmented output stage, strength set by a pattern. Theirs is an ASIC with a fixed pattern set. We make every field programmable from an FPGA and price what the pattern space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3.9 %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804672">
                <a:tc>
                  <a:txBody>
                    <a:bodyPr/>
                    <a:lstStyle/>
                    <a:p>
                      <a:pPr marL="0" indent="0">
                        <a:buNone/>
                      </a:pPr>
                      <a:r>
                        <a:rPr lang="en-US" sz="1300" dirty="0">
                          <a:solidFill>
                            <a:srgbClr val="000000"/>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[10] is the base paper: E-mode GaN, segmented output stage, strength chosen by a pattern. All five are verified against the publisher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4</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25.1 %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3.9 %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4 operating points, all of them, in ngspice — then report the two numbers separately instead of adding them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converter, and the driver that switches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 every one of them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48.6 V DC out at 4.88 A — 236.9 W delivered, 97.6 %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Fig. 2 — </a:t>
            </a:r>
            <a:r>
              <a:rPr lang="en-US" sz="1200" dirty="0">
                <a:solidFill>
                  <a:srgbClr val="000000"/>
                </a:solidFill>
                <a:latin typeface="Calibri" pitchFamily="34" charset="0"/>
                <a:ea typeface="Calibri" pitchFamily="34" charset="-122"/>
                <a:cs typeface="Calibri" pitchFamily="34" charset="-120"/>
              </a:rPr>
              <a:t>One switching edge, followed through. Top row: the controller's decision. Bottom row: the circuit's response. Only the shaded diamond is decided at run time.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5897880"/>
            <a:ext cx="11201400"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 and measuring what it is worth is the project's question.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circuit_ltspice.png"/>
          <p:cNvPicPr>
            <a:picLocks noChangeAspect="1"/>
          </p:cNvPicPr>
          <p:nvPr/>
        </p:nvPicPr>
        <p:blipFill>
          <a:blip r:embed="rId6"/>
          <a:stretch>
            <a:fillRect/>
          </a:stretch>
        </p:blipFill>
        <p:spPr>
          <a:xfrm>
            <a:off x="2534035" y="1060704"/>
            <a:ext cx="7123625" cy="4828032"/>
          </a:xfrm>
          <a:prstGeom prst="rect">
            <a:avLst/>
          </a:prstGeom>
        </p:spPr>
      </p:pic>
      <p:sp>
        <p:nvSpPr>
          <p:cNvPr id="6" name="TextBox 5"/>
          <p:cNvSpPr txBox="1"/>
          <p:nvPr/>
        </p:nvSpPr>
        <p:spPr>
          <a:xfrm>
            <a:off x="502920" y="6016752"/>
            <a:ext cx="11201400"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dirty="0">
                <a:solidFill>
                  <a:srgbClr val="000000"/>
                </a:solidFill>
                <a:latin typeface="Calibri" pitchFamily="34" charset="0"/>
                <a:ea typeface="Calibri" pitchFamily="34" charset="-122"/>
                <a:cs typeface="Calibri" pitchFamily="34" charset="-120"/>
              </a:rPr>
              <a:t xml:space="preserve">GaN synchronous buck converter, ltspice/BUCK_converter.asc. “Buck” means step-down: 100 V in, 48.6 V out. The two yellow blocks are the segmented gate drivers — the part this project designs. Around them: the 100 V supply with its power-loop parasitics, the two GaN HEMTs, the output filter and a 10 Ω load.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14</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models/basedrv.lib</a:t>
            </a:r>
            <a:r>
              <a:rPr lang="en-US" sz="1250" dirty="0">
                <a:solidFill>
                  <a:srgbClr val="000000"/>
                </a:solidFill>
                <a:latin typeface="Calibri" pitchFamily="34" charset="0"/>
                <a:ea typeface="Calibri" pitchFamily="34" charset="-122"/>
                <a:cs typeface="Calibri" pitchFamily="34" charset="-120"/>
              </a:rPr>
              <a:t> is Takayama, Okuda &amp; Hikihara's driver: a multi-bit code that changes DURING the switching edge,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as we built it</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+0.534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changing-in-time code on its own already clears the 1.4 V threshold.</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fast fixed code is worse than their timed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4.8× the base paper's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shapes the gate over TIME; we keep the code steady and add two things they do not have. Both clear the threshold — theirs works — but ours clears it by 4.8× more, and ours is the one whose settings can then be searched in full.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Command: python3 scripts/basepaper_compare.py — four ngspice runs, prints this table.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50 %</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converter is built and it runs.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100 V DC in, 48.6 V DC out at 4.88 A — 236.9 W into the load from 242.6 W drawn, 97.6 % efficient.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fault is reproduced, and fixed.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The off gate reaches 1.65 V against a 1.4 V threshold. With the clamp and the −2 V rail: 2.58 V of margin.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Specific cases run and measured, one at a time.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Five settings at full load, then the same driver swept at two operating points — every number below came off its own ngspice run.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setting measured on the converter itself.</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Across the same knob, power lost moves 4.5 % and peak device voltage moves 50 %, in opposite directions.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FPGA controller is written and verified.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20 LUTs and 20 flip-flops in Vivado, 200 MHz met with 1.996 ns to spare.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Where we are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 is done. </a:t>
            </a:r>
            <a:r>
              <a:rPr lang="en-US" sz="1500" dirty="0">
                <a:solidFill>
                  <a:srgbClr val="000000"/>
                </a:solidFill>
                <a:latin typeface="Calibri" pitchFamily="34" charset="0"/>
                <a:ea typeface="Calibri" pitchFamily="34" charset="-122"/>
                <a:cs typeface="Calibri" pitchFamily="34" charset="-120"/>
              </a:rPr>
              <a:t xml:space="preserve">The converter is built and converting, the crosstalk fault is reproduced and fixed, the named cases have been run, and the FPGA controller is written and verified.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What we aim to do next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 — close the loop.</a:t>
            </a:r>
            <a:r>
              <a:rPr lang="en-US" sz="1500" dirty="0">
                <a:solidFill>
                  <a:srgbClr val="000000"/>
                </a:solidFill>
                <a:latin typeface="Calibri" pitchFamily="34" charset="0"/>
                <a:ea typeface="Calibri" pitchFamily="34" charset="-122"/>
                <a:cs typeface="Calibri" pitchFamily="34" charset="-120"/>
              </a:rPr>
              <a:t xml:space="preserve"> Add a feedback controller so the output holds its value when the load changes, then re-run the driver-setting study with the loop closed.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Review-III — settle the light-load question.</a:t>
            </a:r>
            <a:r>
              <a:rPr lang="en-US" sz="1500" dirty="0">
                <a:solidFill>
                  <a:srgbClr val="000000"/>
                </a:solidFill>
                <a:latin typeface="Calibri" pitchFamily="34" charset="0"/>
                <a:ea typeface="Calibri" pitchFamily="34" charset="-122"/>
                <a:cs typeface="Calibri" pitchFamily="34" charset="-120"/>
              </a:rPr>
              <a:t xml:space="preserve"> The cheapest dead time is 15 ns at full load and 5 ns at light load. Run the converter at both and measure what a two-setting controller actually saves against one fixed setting — that is the number the whole project turns on.</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Same tools throughout.</a:t>
            </a:r>
            <a:r>
              <a:rPr lang="en-US" sz="1500" dirty="0">
                <a:solidFill>
                  <a:srgbClr val="000000"/>
                </a:solidFill>
                <a:latin typeface="Calibri" pitchFamily="34" charset="0"/>
                <a:ea typeface="Calibri" pitchFamily="34" charset="-122"/>
                <a:cs typeface="Calibri" pitchFamily="34" charset="-120"/>
              </a:rPr>
              <a:t xml:space="preserve"> ngspice for the circuit, Vivado for the FPGA, start to finish.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The risk we already know.</a:t>
            </a:r>
            <a:r>
              <a:rPr lang="en-US" sz="1500" dirty="0">
                <a:solidFill>
                  <a:srgbClr val="000000"/>
                </a:solidFill>
                <a:latin typeface="Calibri" pitchFamily="34" charset="0"/>
                <a:ea typeface="Calibri" pitchFamily="34" charset="-122"/>
                <a:cs typeface="Calibri" pitchFamily="34" charset="-120"/>
              </a:rPr>
              <a:t xml:space="preserve"> Closing the loop changes where the converter actually operates, so the setting study has to be redone afterwards, not before. That ordering is the schedule risk.</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Where the work lives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github.com/Amritha902/gan-driver</a:t>
            </a:r>
            <a:r>
              <a:rPr lang="en-US" sz="1500" dirty="0">
                <a:solidFill>
                  <a:srgbClr val="000000"/>
                </a:solidFill>
                <a:latin typeface="Calibri" pitchFamily="34" charset="0"/>
                <a:ea typeface="Calibri" pitchFamily="34" charset="-122"/>
                <a:cs typeface="Calibri" pitchFamily="34" charset="-120"/>
              </a:rPr>
              <a:t xml:space="preserve"> — the circuits, the scripts, the Verilog and the Vivado reports.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@FIG@ </a:t>
            </a:r>
            <a:r>
              <a:rPr lang="en-US" sz="1000" dirty="0">
                <a:solidFill>
                  <a:srgbClr val="000000"/>
                </a:solidFill>
                <a:latin typeface="Calibri" pitchFamily="34" charset="0"/>
                <a:ea typeface="Calibri" pitchFamily="34" charset="-122"/>
                <a:cs typeface="Calibri" pitchFamily="34" charset="-120"/>
              </a:rPr>
              <a:t>Icarus Verilog VCD of seg_gate_ctrl.v. The pull-up banks never overlap; the shaded interval is the dead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the setting well beats re-tuning it — and by how much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(a) five settings at 100 V / 10 A, one ngspice run each; (b) dead-time sweep at two operating points. Cheapest dead time: 15 ns at full load, 5 ns at light load.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Which tool did what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tools.png"/>
          <p:cNvPicPr>
            <a:picLocks noChangeAspect="1"/>
          </p:cNvPicPr>
          <p:nvPr/>
        </p:nvPicPr>
        <p:blipFill>
          <a:blip r:embed="rId4"/>
          <a:stretch>
            <a:fillRect/>
          </a:stretch>
        </p:blipFill>
        <p:spPr>
          <a:xfrm>
            <a:off x="1188795" y="1234440"/>
            <a:ext cx="9814106" cy="4297680"/>
          </a:xfrm>
          <a:prstGeom prst="rect">
            <a:avLst/>
          </a:prstGeom>
        </p:spPr>
      </p:pic>
      <p:sp>
        <p:nvSpPr>
          <p:cNvPr id="6" name="TextBox 5"/>
          <p:cNvSpPr txBox="1"/>
          <p:nvPr/>
        </p:nvSpPr>
        <p:spPr>
          <a:xfrm>
            <a:off x="502920" y="5724144"/>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Division of work between the two circuit simulators. All ≈ 35,000 transients are ngspice; LTspice provides an independent check of the crosstalk result.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the clamp fixes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Gate–source voltage of the off-state device at low-side turn-on, 100 V / 10 A. No clamp: +1.65 V against a 1.4 V threshold. Clamp and −2 V rail: −1.18 V, margin 2.58 V.</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Power lost and peak switch-node voltage against pull-up slice count, measured on the running converter. Eight runs of sim/buck.cir; minimum loss at four slices.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5.2 %</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Cost of one fixed control word against the true per-corner optimum, four operating points, 2,880 transients. Penalty 1.1 / 2.3 / 12.7 / 3.8 %.</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5.2 %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 3.9 %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Three operating points lose only 1–4 % from a fixed setting; one loses 12.7 %.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5.2 % is the generous figure — on a finer 36-point grid it is 2.0 %.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Segmented gate drivers set drive strength by a pattern fixed at design time [10]. Papers on active gate drivers report one number — the improvement over a conventional driver — and that number adds two separate effects together. Only the second needs a sensor, an ADC and a lookup table. Separating them means running every setting at every operating point.</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25.1 %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3.9 %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72 %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2.8 %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a:solidFill>
                  <a:srgbClr val="000000"/>
                </a:solidFill>
                <a:latin typeface="Calibri" pitchFamily="34" charset="0"/>
                <a:ea typeface="Calibri" pitchFamily="34" charset="-122"/>
                <a:cs typeface="Calibri" pitchFamily="34" charset="-120"/>
              </a:rPr>
              <a:t>Full sensing, ADC and lookup table justify 3.7 % of the total gain over a fixed word plus one comparator. Split is weight-independent: across 106 overshoot weights (A) stays 23.4–29.0 % and (B) 1.3–6.4 %.</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@FIG@ </a:t>
            </a:r>
            <a:r>
              <a:rPr lang="en-US" sz="1200" dirty="0">
                <a:solidFill>
                  <a:srgbClr val="000000"/>
                </a:solidFill>
                <a:latin typeface="Calibri" pitchFamily="34" charset="0"/>
                <a:ea typeface="Calibri" pitchFamily="34" charset="-122"/>
                <a:cs typeface="Calibri" pitchFamily="34" charset="-120"/>
              </a:rPr>
              <a:t>Ceiling on operating-point scheduling against power-loop inductance. Eight values, 7,200 transients. Scheduling pays only below about 2.5 nH.</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ngspice waveforms from sim/dpt.cir, failing and shipped configurations. 22 s. Click to play.</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40"/>
              </a:spcAft>
              <a:buSzPct val="100000"/>
              <a:buNone/>
            </a:pPr>
            <a:r>
              <a:rPr lang="en-US" sz="1700" b="1" dirty="0">
                <a:solidFill>
                  <a:srgbClr val="000000"/>
                </a:solidFill>
                <a:latin typeface="Calibri" pitchFamily="34" charset="0"/>
                <a:ea typeface="Calibri" pitchFamily="34" charset="-122"/>
                <a:cs typeface="Calibri" pitchFamily="34" charset="-120"/>
              </a:rPr>
              <a:t>What the data supports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The converter works: 100 V DC in, 48.6 V DC out at 4.88 A — 236.9 W, 97.6 % efficient.</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Picking the setting well: 25.1 %.   Changing it per operating point: 3.9 %.</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One comparator gets 72 % of that 3.9 %.</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a light-load comparator — not a sensor, an ADC and a lookup table.</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Review-II — close the loop on the converter, then re-run the setting study with it closed.</a:t>
            </a:r>
          </a:p>
          <a:p>
            <a:pPr marL="177800" indent="-177800">
              <a:spcAft>
                <a:spcPts val="0"/>
              </a:spcAft>
              <a:buSzPct val="100000"/>
              <a:buChar char="•"/>
            </a:pPr>
            <a:r>
              <a:rPr lang="en-US" sz="1450" dirty="0">
                <a:solidFill>
                  <a:srgbClr val="000000"/>
                </a:solidFill>
                <a:latin typeface="Calibri" pitchFamily="34" charset="0"/>
                <a:ea typeface="Calibri" pitchFamily="34" charset="-122"/>
                <a:cs typeface="Calibri" pitchFamily="34" charset="-120"/>
              </a:rPr>
              <a:t>Review-III — measure what a two-setting controller saves at the light-load point, where the best dead time differs.</a:t>
            </a:r>
          </a:p>
          <a:p>
            <a:pPr marL="177800" indent="-177800">
              <a:spcAft>
                <a:spcPts val="0"/>
              </a:spcAft>
              <a:buSzPct val="100000"/>
              <a:buChar char="•"/>
            </a:pPr>
            <a:r>
              <a:rPr lang="en-US" sz="1450" dirty="0">
                <a:solidFill>
                  <a:srgbClr val="000000"/>
                </a:solidFill>
                <a:latin typeface="Calibri" pitchFamily="34" charset="0"/>
                <a:ea typeface="Calibri" pitchFamily="34" charset="-122"/>
                <a:cs typeface="Calibri" pitchFamily="34" charset="-120"/>
              </a:rPr>
              <a:t>Every number in this deck is regenerated by a named script, in ngspice or in Vivado.</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742432"/>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Switch node and off-state gate–source voltage, read from the LTspice .raw file. LTspice +1.647556 / −1.176857 V; ngspice +1.6486 / −1.1757 V on the same netlist.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Inside the segmented gate driver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egdrv_inside.png"/>
          <p:cNvPicPr>
            <a:picLocks noChangeAspect="1"/>
          </p:cNvPicPr>
          <p:nvPr/>
        </p:nvPicPr>
        <p:blipFill>
          <a:blip r:embed="rId4"/>
          <a:stretch>
            <a:fillRect/>
          </a:stretch>
        </p:blipFill>
        <p:spPr>
          <a:xfrm>
            <a:off x="2011762" y="1170432"/>
            <a:ext cx="816816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Contents of models/segdrv.lib, drawn as ltspice/SEGDRV_inside.asc: eight pull-up slices from the +5 V rail to the gate, eight pull-down slices to the off rail, and the Miller clamp on its own 0.5 Ω path. It runs — the gate charges to 5.000 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we run ngspice</a:t>
            </a:r>
            <a:endParaRPr lang="en-US" sz="2800" dirty="0"/>
          </a:p>
        </p:txBody>
      </p:sp>
      <p:pic>
        <p:nvPicPr>
          <p:cNvPr id="5" name="Picture 4" descr="fig_howrun.png"/>
          <p:cNvPicPr>
            <a:picLocks noChangeAspect="1"/>
          </p:cNvPicPr>
          <p:nvPr/>
        </p:nvPicPr>
        <p:blipFill>
          <a:blip r:embed="rId4"/>
          <a:stretch>
            <a:fillRect/>
          </a:stretch>
        </p:blipFill>
        <p:spPr>
          <a:xfrm>
            <a:off x="1688439" y="1170432"/>
            <a:ext cx="881481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dirty="0">
                <a:solidFill>
                  <a:srgbClr val="000000"/>
                </a:solidFill>
                <a:latin typeface="Calibri" pitchFamily="34" charset="0"/>
                <a:ea typeface="Calibri" pitchFamily="34" charset="-122"/>
                <a:cs typeface="Calibri" pitchFamily="34" charset="-120"/>
              </a:rPr>
              <a:t xml:space="preserve">One case end to end: the parameters set into sim/dpt.cir, the command, what the simulator wrote, and the window the measurement is taken over. Full load, 100 V / 10 A, no clamp: +1.6486 V against a 1.4 V threshold.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ngspice runs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netlis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Power stage of sim/buck.cir. ngspice reads the circuit as a netlist, not a schematic; it is the same converter the schematic draws. ngspice 48.56 V, LTspice 48.84 V.</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the work was run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method.png"/>
          <p:cNvPicPr>
            <a:picLocks noChangeAspect="1"/>
          </p:cNvPicPr>
          <p:nvPr/>
        </p:nvPicPr>
        <p:blipFill>
          <a:blip r:embed="rId4"/>
          <a:stretch>
            <a:fillRect/>
          </a:stretch>
        </p:blipFill>
        <p:spPr>
          <a:xfrm>
            <a:off x="1481776" y="1170432"/>
            <a:ext cx="9228143"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Method, in the order carried out. Steps 1–3 on one switching edge; steps 4–6 the study built on 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a GaN HEMT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1.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Silicon MOSFET against GaN HEMT on the properties that govern switching. Device modelled: EPC2010C class, 200 V, 25 mΩ, Vth = 1.4 V (models/egan.lib).</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GaN HEMT causes the problem we solve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2.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Three device properties and their consequence in a half-bridge: a 1.4 V threshold, 150 pF from drain to gate, and no body diode.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driver's settings, and where 720 comes from</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ettings.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The six fields of the control word and the values swept over each. 6 × 2 × 3 × 5 × 2 × 2 = 720 settings, × 4 operating points = 2,880 transients.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input — what an operating point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in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The four corners every setting is evaluated at: bus voltage, load current and junction temperature.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output — what is actually measured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out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Converter-level output, and the eight quantities extracted from every transient. Definitions fixed in scripts/gansim.py before the sweeps ran.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margin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margin.png"/>
          <p:cNvPicPr>
            <a:picLocks noChangeAspect="1"/>
          </p:cNvPicPr>
          <p:nvPr/>
        </p:nvPicPr>
        <p:blipFill>
          <a:blip r:embed="rId4"/>
          <a:stretch>
            <a:fillRect/>
          </a:stretch>
        </p:blipFill>
        <p:spPr>
          <a:xfrm>
            <a:off x="1686402" y="1170432"/>
            <a:ext cx="881888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Peak gate–source voltage on the off-state device against the 1.4 V threshold, three configurations. Margin is the threshold minus the peak; negative is a false turn-on.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Circuit simulation — the converter</a:t>
            </a:r>
            <a:endParaRPr lang="en-US" sz="2800" dirty="0"/>
          </a:p>
        </p:txBody>
      </p:sp>
      <p:pic>
        <p:nvPicPr>
          <p:cNvPr id="5" name="Picture 4" descr="17-converter-power.png"/>
          <p:cNvPicPr>
            <a:picLocks noChangeAspect="1"/>
          </p:cNvPicPr>
          <p:nvPr/>
        </p:nvPicPr>
        <p:blipFill>
          <a:blip r:embed="rId4"/>
          <a:stretch>
            <a:fillRect/>
          </a:stretch>
        </p:blipFill>
        <p:spPr>
          <a:xfrm>
            <a:off x="426567" y="1188720"/>
            <a:ext cx="11338558" cy="371810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dirty="0">
                <a:solidFill>
                  <a:srgbClr val="000000"/>
                </a:solidFill>
                <a:latin typeface="Calibri" pitchFamily="34" charset="0"/>
                <a:ea typeface="Calibri" pitchFamily="34" charset="-122"/>
                <a:cs typeface="Calibri" pitchFamily="34" charset="-120"/>
              </a:rPr>
              <a:t xml:space="preserve">scripts/bucksim.py driving ngspice over sim/buck.cir. 100.0 V and 2.426 A in, 48.56 V and 4.875 A out: 242.63 W drawn, 236.85 W delivered, 97.62 % efficient.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dirty="0">
                <a:solidFill>
                  <a:srgbClr val="000000"/>
                </a:solidFill>
                <a:latin typeface="Calibri" pitchFamily="34" charset="0"/>
                <a:ea typeface="Calibri" pitchFamily="34" charset="-122"/>
                <a:cs typeface="Calibri" pitchFamily="34" charset="-120"/>
              </a:rPr>
              <a:t xml:space="preserve">Two runs of sim/dpt.cir. Fastest drive, no clamp, 0 V rail: gate reaches +1.6486 V against a 1.400 V threshold, false_turn_on = 1. Clamp on with −2 V rail: −1.1757 V, margin +2.5757 V, false_turn_on = 0.</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Driver simulation — the segmented driver, case by case</a:t>
            </a:r>
            <a:endParaRPr lang="en-US" sz="2800" dirty="0"/>
          </a:p>
        </p:txBody>
      </p:sp>
      <p:pic>
        <p:nvPicPr>
          <p:cNvPr id="5" name="Picture 4" descr="18-named-cases.png"/>
          <p:cNvPicPr>
            <a:picLocks noChangeAspect="1"/>
          </p:cNvPicPr>
          <p:nvPr/>
        </p:nvPicPr>
        <p:blipFill>
          <a:blip r:embed="rId4"/>
          <a:stretch>
            <a:fillRect/>
          </a:stretch>
        </p:blipFill>
        <p:spPr>
          <a:xfrm>
            <a:off x="2717767" y="1188720"/>
            <a:ext cx="675616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dirty="0">
                <a:solidFill>
                  <a:srgbClr val="000000"/>
                </a:solidFill>
                <a:latin typeface="Calibri" pitchFamily="34" charset="0"/>
                <a:ea typeface="Calibri" pitchFamily="34" charset="-122"/>
                <a:cs typeface="Calibri" pitchFamily="34" charset="-120"/>
              </a:rPr>
              <a:t xml:space="preserve">scripts/cases.py, 13 runs. Part 1: the fix built one change at a time at 100 V / 10 A. Part 2: dead-time sweep at two operating points — cheapest is 15 ns at full load, 5 ns at light load.</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what re-tuning is worth</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2-result2-ceiling.png"/>
          <p:cNvPicPr>
            <a:picLocks noChangeAspect="1"/>
          </p:cNvPicPr>
          <p:nvPr/>
        </p:nvPicPr>
        <p:blipFill>
          <a:blip r:embed="rId4"/>
          <a:stretch>
            <a:fillRect/>
          </a:stretch>
        </p:blipFill>
        <p:spPr>
          <a:xfrm>
            <a:off x="426567" y="1188720"/>
            <a:ext cx="11338557" cy="35763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scripts/ceiling.py over results/full_corners.csv. 474 of 720 words feasible at all four corners. Ceiling on scheduling 5.2 %; per-corner penalty 1.1 / 2.3 / 12.7 / 3.8 %.</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split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3-result3-split.png"/>
          <p:cNvPicPr>
            <a:picLocks noChangeAspect="1"/>
          </p:cNvPicPr>
          <p:nvPr/>
        </p:nvPicPr>
        <p:blipFill>
          <a:blip r:embed="rId4"/>
          <a:stretch>
            <a:fillRect/>
          </a:stretch>
        </p:blipFill>
        <p:spPr>
          <a:xfrm>
            <a:off x="888114" y="1188720"/>
            <a:ext cx="10415465"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scripts/novelty.py. Choosing a fixed word (A) 25.1 %; adapting per operating point (B) 3.9 %; B is 13.4 % of the gain. Across 106 overshoot weights (A) stays 23.4–29.0 %, (B) 1.3–6.4 %.</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Icarus Verilog output — the controller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03-verilog-8-properties.png"/>
          <p:cNvPicPr>
            <a:picLocks noChangeAspect="1"/>
          </p:cNvPicPr>
          <p:nvPr/>
        </p:nvPicPr>
        <p:blipFill>
          <a:blip r:embed="rId4"/>
          <a:stretch>
            <a:fillRect/>
          </a:stretch>
        </p:blipFill>
        <p:spPr>
          <a:xfrm>
            <a:off x="789329" y="1188720"/>
            <a:ext cx="10613036"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iverilog and vvp over rtl/seg_gate_ctrl.v and its testbench. Eight asserted properties, 591 individual assertions, 0 failures.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output — synthesis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image.png"/>
          <p:cNvPicPr>
            <a:picLocks noChangeAspect="1"/>
          </p:cNvPicPr>
          <p:nvPr/>
        </p:nvPicPr>
        <p:blipFill>
          <a:blip r:embed="rId4"/>
          <a:stretch>
            <a:fillRect/>
          </a:stretch>
        </p:blipFill>
        <p:spPr>
          <a:xfrm>
            <a:off x="2259431" y="1188720"/>
            <a:ext cx="7672832"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Vivado 2024.1.2 on xc7a35t. 20 LUTs and 20 flip-flops strapped, 33 LUTs fully programmable; 200 MHz register-to-register met with 1.996 ns slack.</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ngspice and LTspice, running</a:t>
            </a:r>
            <a:endParaRPr lang="en-US" sz="2800" dirty="0"/>
          </a:p>
        </p:txBody>
      </p:sp>
      <p:pic>
        <p:nvPicPr>
          <p:cNvPr id="5" name="DEMO-VIDEO.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417320" y="1188720"/>
            <a:ext cx="9326880" cy="4160520"/>
          </a:xfrm>
          <a:prstGeom prst="rect">
            <a:avLst/>
          </a:prstGeom>
        </p:spPr>
      </p:pic>
      <p:sp>
        <p:nvSpPr>
          <p:cNvPr id="6" name="TextBox 5"/>
          <p:cNvSpPr txBox="1"/>
          <p:nvPr/>
        </p:nvSpPr>
        <p:spPr>
          <a:xfrm>
            <a:off x="502920" y="565099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dirty="0">
                <a:solidFill>
                  <a:srgbClr val="000000"/>
                </a:solidFill>
                <a:latin typeface="Calibri" pitchFamily="34" charset="0"/>
                <a:ea typeface="Calibri" pitchFamily="34" charset="-122"/>
                <a:cs typeface="Calibri" pitchFamily="34" charset="-120"/>
              </a:rPr>
              <a:t xml:space="preserve">Demo recording: the converter in ngspice, the crosstalk fault and its fix, the named cases, the Verilog controller, and LTspice running the schematic. 2 min. Click to play.</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